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ad3aab6cc382f0c21e9c9eca3a553adb498f7e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85000"/>
                </a:srgbClr>
              </a:gs>
              <a:gs pos="100000">
                <a:srgbClr val="1E3A5F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95043" y="1116806"/>
            <a:ext cx="4600575" cy="514350"/>
          </a:xfrm>
          <a:prstGeom prst="roundRect">
            <a:avLst>
              <a:gd name="adj" fmla="val 14815"/>
            </a:avLst>
          </a:prstGeom>
          <a:solidFill>
            <a:srgbClr val="D4AF37">
              <a:alpha val="2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85543" y="1240631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150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Implementation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89573" y="1945481"/>
            <a:ext cx="52101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Multi-Angle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Engine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3888581"/>
            <a:ext cx="1524000" cy="5715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D4AF3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790355" y="4250531"/>
            <a:ext cx="46101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Dominating the Moroccan Executive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Longevity Market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9055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Neurofeedback Center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10300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90-Day Strategic Rollout Plan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13154" y="590550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Markets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4579" y="6172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Casablanca • Marrakech • Tanger • Kenitra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138" y="375138"/>
            <a:ext cx="11516751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spc="59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138" y="675249"/>
            <a:ext cx="11666806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138" y="1275471"/>
            <a:ext cx="1200443" cy="56271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393895" y="1631852"/>
            <a:ext cx="3591951" cy="3929575"/>
          </a:xfrm>
          <a:custGeom>
            <a:avLst/>
            <a:gdLst/>
            <a:ahLst/>
            <a:cxnLst/>
            <a:rect l="l" t="t" r="r" b="b"/>
            <a:pathLst>
              <a:path w="3591951" h="3929575">
                <a:moveTo>
                  <a:pt x="37465" y="0"/>
                </a:moveTo>
                <a:lnTo>
                  <a:pt x="3441827" y="0"/>
                </a:lnTo>
                <a:cubicBezTo>
                  <a:pt x="3524733" y="0"/>
                  <a:pt x="3591941" y="67208"/>
                  <a:pt x="3591941" y="150114"/>
                </a:cubicBezTo>
                <a:lnTo>
                  <a:pt x="3591941" y="3779520"/>
                </a:lnTo>
                <a:cubicBezTo>
                  <a:pt x="3591941" y="3862426"/>
                  <a:pt x="3524733" y="3929634"/>
                  <a:pt x="3441827" y="3929634"/>
                </a:cubicBez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3895" y="1631852"/>
            <a:ext cx="37514" cy="3929575"/>
          </a:xfrm>
          <a:custGeom>
            <a:avLst/>
            <a:gdLst/>
            <a:ahLst/>
            <a:cxnLst/>
            <a:rect l="l" t="t" r="r" b="b"/>
            <a:pathLst>
              <a:path w="37514" h="3929575">
                <a:moveTo>
                  <a:pt x="37465" y="0"/>
                </a:moveTo>
                <a:lnTo>
                  <a:pt x="37465" y="0"/>
                </a:lnTo>
                <a:lnTo>
                  <a:pt x="37465" y="3929634"/>
                </a:ln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712763" y="1931963"/>
            <a:ext cx="750277" cy="750277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2642" y="2119532"/>
            <a:ext cx="51581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3095" y="1955409"/>
            <a:ext cx="1631852" cy="70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209" y="3038622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23446" y="23446"/>
                </a:moveTo>
                <a:cubicBezTo>
                  <a:pt x="23446" y="16962"/>
                  <a:pt x="18207" y="11723"/>
                  <a:pt x="11723" y="11723"/>
                </a:cubicBezTo>
                <a:cubicBezTo>
                  <a:pt x="5239" y="11723"/>
                  <a:pt x="0" y="16962"/>
                  <a:pt x="0" y="23446"/>
                </a:cubicBezTo>
                <a:lnTo>
                  <a:pt x="0" y="146538"/>
                </a:lnTo>
                <a:cubicBezTo>
                  <a:pt x="0" y="162731"/>
                  <a:pt x="13115" y="175846"/>
                  <a:pt x="29308" y="175846"/>
                </a:cubicBezTo>
                <a:lnTo>
                  <a:pt x="175846" y="175846"/>
                </a:lnTo>
                <a:cubicBezTo>
                  <a:pt x="182330" y="175846"/>
                  <a:pt x="187569" y="170607"/>
                  <a:pt x="187569" y="164123"/>
                </a:cubicBezTo>
                <a:cubicBezTo>
                  <a:pt x="187569" y="157639"/>
                  <a:pt x="182330" y="152400"/>
                  <a:pt x="175846" y="152400"/>
                </a:cubicBezTo>
                <a:lnTo>
                  <a:pt x="29308" y="152400"/>
                </a:lnTo>
                <a:cubicBezTo>
                  <a:pt x="26084" y="152400"/>
                  <a:pt x="23446" y="149762"/>
                  <a:pt x="23446" y="146538"/>
                </a:cubicBezTo>
                <a:lnTo>
                  <a:pt x="23446" y="23446"/>
                </a:lnTo>
                <a:close/>
                <a:moveTo>
                  <a:pt x="172403" y="55172"/>
                </a:moveTo>
                <a:cubicBezTo>
                  <a:pt x="176982" y="50592"/>
                  <a:pt x="176982" y="43156"/>
                  <a:pt x="172403" y="38576"/>
                </a:cubicBezTo>
                <a:cubicBezTo>
                  <a:pt x="167823" y="33997"/>
                  <a:pt x="160386" y="33997"/>
                  <a:pt x="155807" y="38576"/>
                </a:cubicBezTo>
                <a:lnTo>
                  <a:pt x="117231" y="77189"/>
                </a:lnTo>
                <a:lnTo>
                  <a:pt x="96203" y="56198"/>
                </a:lnTo>
                <a:cubicBezTo>
                  <a:pt x="91623" y="51618"/>
                  <a:pt x="84186" y="51618"/>
                  <a:pt x="79607" y="56198"/>
                </a:cubicBezTo>
                <a:lnTo>
                  <a:pt x="44438" y="91367"/>
                </a:lnTo>
                <a:cubicBezTo>
                  <a:pt x="39858" y="95946"/>
                  <a:pt x="39858" y="103383"/>
                  <a:pt x="44438" y="107962"/>
                </a:cubicBezTo>
                <a:cubicBezTo>
                  <a:pt x="49017" y="112542"/>
                  <a:pt x="56454" y="112542"/>
                  <a:pt x="61033" y="107962"/>
                </a:cubicBezTo>
                <a:lnTo>
                  <a:pt x="87923" y="81072"/>
                </a:lnTo>
                <a:lnTo>
                  <a:pt x="108951" y="102101"/>
                </a:lnTo>
                <a:cubicBezTo>
                  <a:pt x="113531" y="106680"/>
                  <a:pt x="120968" y="106680"/>
                  <a:pt x="125547" y="102101"/>
                </a:cubicBezTo>
                <a:lnTo>
                  <a:pt x="172439" y="55208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1" name="Text 9"/>
          <p:cNvSpPr/>
          <p:nvPr/>
        </p:nvSpPr>
        <p:spPr>
          <a:xfrm>
            <a:off x="1059766" y="2982351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MENA longevity market gap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2763" y="3873305"/>
            <a:ext cx="234462" cy="187569"/>
          </a:xfrm>
          <a:custGeom>
            <a:avLst/>
            <a:gdLst/>
            <a:ahLst/>
            <a:cxnLst/>
            <a:rect l="l" t="t" r="r" b="b"/>
            <a:pathLst>
              <a:path w="234462" h="187569">
                <a:moveTo>
                  <a:pt x="117231" y="5862"/>
                </a:moveTo>
                <a:cubicBezTo>
                  <a:pt x="138259" y="5862"/>
                  <a:pt x="155331" y="22934"/>
                  <a:pt x="155331" y="43962"/>
                </a:cubicBezTo>
                <a:cubicBezTo>
                  <a:pt x="155331" y="64990"/>
                  <a:pt x="138259" y="82062"/>
                  <a:pt x="117231" y="82062"/>
                </a:cubicBezTo>
                <a:cubicBezTo>
                  <a:pt x="96203" y="82062"/>
                  <a:pt x="79131" y="64990"/>
                  <a:pt x="79131" y="43962"/>
                </a:cubicBezTo>
                <a:cubicBezTo>
                  <a:pt x="79131" y="22934"/>
                  <a:pt x="96203" y="5862"/>
                  <a:pt x="117231" y="5862"/>
                </a:cubicBezTo>
                <a:close/>
                <a:moveTo>
                  <a:pt x="35169" y="32238"/>
                </a:moveTo>
                <a:cubicBezTo>
                  <a:pt x="49727" y="32238"/>
                  <a:pt x="61546" y="44058"/>
                  <a:pt x="61546" y="58615"/>
                </a:cubicBezTo>
                <a:cubicBezTo>
                  <a:pt x="61546" y="73173"/>
                  <a:pt x="49727" y="84992"/>
                  <a:pt x="35169" y="84992"/>
                </a:cubicBezTo>
                <a:cubicBezTo>
                  <a:pt x="20611" y="84992"/>
                  <a:pt x="8792" y="73173"/>
                  <a:pt x="8792" y="58615"/>
                </a:cubicBezTo>
                <a:cubicBezTo>
                  <a:pt x="8792" y="44058"/>
                  <a:pt x="20611" y="32238"/>
                  <a:pt x="35169" y="32238"/>
                </a:cubicBezTo>
                <a:close/>
                <a:moveTo>
                  <a:pt x="0" y="152400"/>
                </a:moveTo>
                <a:cubicBezTo>
                  <a:pt x="0" y="126499"/>
                  <a:pt x="20992" y="105508"/>
                  <a:pt x="46892" y="105508"/>
                </a:cubicBezTo>
                <a:cubicBezTo>
                  <a:pt x="51582" y="105508"/>
                  <a:pt x="56124" y="106204"/>
                  <a:pt x="60410" y="107486"/>
                </a:cubicBezTo>
                <a:cubicBezTo>
                  <a:pt x="48358" y="120968"/>
                  <a:pt x="41031" y="138772"/>
                  <a:pt x="41031" y="158262"/>
                </a:cubicBezTo>
                <a:lnTo>
                  <a:pt x="41031" y="164123"/>
                </a:lnTo>
                <a:cubicBezTo>
                  <a:pt x="41031" y="168299"/>
                  <a:pt x="41910" y="172256"/>
                  <a:pt x="43485" y="175846"/>
                </a:cubicBezTo>
                <a:lnTo>
                  <a:pt x="11723" y="175846"/>
                </a:lnTo>
                <a:cubicBezTo>
                  <a:pt x="5239" y="175846"/>
                  <a:pt x="0" y="170607"/>
                  <a:pt x="0" y="164123"/>
                </a:cubicBezTo>
                <a:lnTo>
                  <a:pt x="0" y="152400"/>
                </a:lnTo>
                <a:close/>
                <a:moveTo>
                  <a:pt x="190976" y="175846"/>
                </a:moveTo>
                <a:cubicBezTo>
                  <a:pt x="192552" y="172256"/>
                  <a:pt x="193431" y="168299"/>
                  <a:pt x="193431" y="164123"/>
                </a:cubicBezTo>
                <a:lnTo>
                  <a:pt x="193431" y="158262"/>
                </a:lnTo>
                <a:cubicBezTo>
                  <a:pt x="193431" y="138772"/>
                  <a:pt x="186104" y="120968"/>
                  <a:pt x="174051" y="107486"/>
                </a:cubicBezTo>
                <a:cubicBezTo>
                  <a:pt x="178337" y="106204"/>
                  <a:pt x="182880" y="105508"/>
                  <a:pt x="187569" y="105508"/>
                </a:cubicBezTo>
                <a:cubicBezTo>
                  <a:pt x="213470" y="105508"/>
                  <a:pt x="234462" y="126499"/>
                  <a:pt x="234462" y="152400"/>
                </a:cubicBezTo>
                <a:lnTo>
                  <a:pt x="234462" y="164123"/>
                </a:lnTo>
                <a:cubicBezTo>
                  <a:pt x="234462" y="170607"/>
                  <a:pt x="229223" y="175846"/>
                  <a:pt x="222738" y="175846"/>
                </a:cubicBezTo>
                <a:lnTo>
                  <a:pt x="190976" y="175846"/>
                </a:lnTo>
                <a:close/>
                <a:moveTo>
                  <a:pt x="172915" y="58615"/>
                </a:moveTo>
                <a:cubicBezTo>
                  <a:pt x="172915" y="44058"/>
                  <a:pt x="184734" y="32238"/>
                  <a:pt x="199292" y="32238"/>
                </a:cubicBezTo>
                <a:cubicBezTo>
                  <a:pt x="213850" y="32238"/>
                  <a:pt x="225669" y="44058"/>
                  <a:pt x="225669" y="58615"/>
                </a:cubicBezTo>
                <a:cubicBezTo>
                  <a:pt x="225669" y="73173"/>
                  <a:pt x="213850" y="84992"/>
                  <a:pt x="199292" y="84992"/>
                </a:cubicBezTo>
                <a:cubicBezTo>
                  <a:pt x="184734" y="84992"/>
                  <a:pt x="172915" y="73173"/>
                  <a:pt x="172915" y="58615"/>
                </a:cubicBezTo>
                <a:close/>
                <a:moveTo>
                  <a:pt x="58615" y="158262"/>
                </a:moveTo>
                <a:cubicBezTo>
                  <a:pt x="58615" y="125877"/>
                  <a:pt x="84846" y="99646"/>
                  <a:pt x="117231" y="99646"/>
                </a:cubicBezTo>
                <a:cubicBezTo>
                  <a:pt x="149616" y="99646"/>
                  <a:pt x="175846" y="125877"/>
                  <a:pt x="175846" y="158262"/>
                </a:cubicBezTo>
                <a:lnTo>
                  <a:pt x="175846" y="164123"/>
                </a:lnTo>
                <a:cubicBezTo>
                  <a:pt x="175846" y="170607"/>
                  <a:pt x="170607" y="175846"/>
                  <a:pt x="164123" y="175846"/>
                </a:cubicBezTo>
                <a:lnTo>
                  <a:pt x="70338" y="175846"/>
                </a:lnTo>
                <a:cubicBezTo>
                  <a:pt x="63854" y="175846"/>
                  <a:pt x="58615" y="170607"/>
                  <a:pt x="58615" y="164123"/>
                </a:cubicBezTo>
                <a:lnTo>
                  <a:pt x="58615" y="158262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9766" y="3817034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Redefining the target demographic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209" y="4707988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64123" y="93785"/>
                </a:moveTo>
                <a:cubicBezTo>
                  <a:pt x="164123" y="54964"/>
                  <a:pt x="132605" y="23446"/>
                  <a:pt x="93785" y="23446"/>
                </a:cubicBezTo>
                <a:cubicBezTo>
                  <a:pt x="54964" y="23446"/>
                  <a:pt x="23446" y="54964"/>
                  <a:pt x="23446" y="93785"/>
                </a:cubicBezTo>
                <a:cubicBezTo>
                  <a:pt x="23446" y="132605"/>
                  <a:pt x="54964" y="164123"/>
                  <a:pt x="93785" y="164123"/>
                </a:cubicBezTo>
                <a:cubicBezTo>
                  <a:pt x="132605" y="164123"/>
                  <a:pt x="164123" y="132605"/>
                  <a:pt x="164123" y="93785"/>
                </a:cubicBezTo>
                <a:close/>
                <a:moveTo>
                  <a:pt x="0" y="93785"/>
                </a:moveTo>
                <a:cubicBezTo>
                  <a:pt x="0" y="42023"/>
                  <a:pt x="42023" y="0"/>
                  <a:pt x="93785" y="0"/>
                </a:cubicBezTo>
                <a:cubicBezTo>
                  <a:pt x="145546" y="0"/>
                  <a:pt x="187569" y="42023"/>
                  <a:pt x="187569" y="93785"/>
                </a:cubicBezTo>
                <a:cubicBezTo>
                  <a:pt x="187569" y="145546"/>
                  <a:pt x="145546" y="187569"/>
                  <a:pt x="93785" y="187569"/>
                </a:cubicBezTo>
                <a:cubicBezTo>
                  <a:pt x="42023" y="187569"/>
                  <a:pt x="0" y="145546"/>
                  <a:pt x="0" y="93785"/>
                </a:cubicBezTo>
                <a:close/>
                <a:moveTo>
                  <a:pt x="93785" y="123092"/>
                </a:moveTo>
                <a:cubicBezTo>
                  <a:pt x="109960" y="123092"/>
                  <a:pt x="123092" y="109960"/>
                  <a:pt x="123092" y="93785"/>
                </a:cubicBezTo>
                <a:cubicBezTo>
                  <a:pt x="123092" y="77609"/>
                  <a:pt x="109960" y="64477"/>
                  <a:pt x="93785" y="64477"/>
                </a:cubicBezTo>
                <a:cubicBezTo>
                  <a:pt x="77609" y="64477"/>
                  <a:pt x="64477" y="77609"/>
                  <a:pt x="64477" y="93785"/>
                </a:cubicBezTo>
                <a:cubicBezTo>
                  <a:pt x="64477" y="109960"/>
                  <a:pt x="77609" y="123092"/>
                  <a:pt x="93785" y="123092"/>
                </a:cubicBezTo>
                <a:close/>
                <a:moveTo>
                  <a:pt x="93785" y="41031"/>
                </a:moveTo>
                <a:cubicBezTo>
                  <a:pt x="122900" y="41031"/>
                  <a:pt x="146538" y="64669"/>
                  <a:pt x="146538" y="93785"/>
                </a:cubicBezTo>
                <a:cubicBezTo>
                  <a:pt x="146538" y="122900"/>
                  <a:pt x="122900" y="146538"/>
                  <a:pt x="93785" y="146538"/>
                </a:cubicBezTo>
                <a:cubicBezTo>
                  <a:pt x="64669" y="146538"/>
                  <a:pt x="41031" y="122900"/>
                  <a:pt x="41031" y="93785"/>
                </a:cubicBezTo>
                <a:cubicBezTo>
                  <a:pt x="41031" y="64669"/>
                  <a:pt x="64669" y="41031"/>
                  <a:pt x="93785" y="41031"/>
                </a:cubicBezTo>
                <a:close/>
                <a:moveTo>
                  <a:pt x="82062" y="93785"/>
                </a:moveTo>
                <a:cubicBezTo>
                  <a:pt x="82062" y="87314"/>
                  <a:pt x="87314" y="82062"/>
                  <a:pt x="93785" y="82062"/>
                </a:cubicBezTo>
                <a:cubicBezTo>
                  <a:pt x="100255" y="82062"/>
                  <a:pt x="105508" y="87314"/>
                  <a:pt x="105508" y="93785"/>
                </a:cubicBezTo>
                <a:cubicBezTo>
                  <a:pt x="105508" y="100255"/>
                  <a:pt x="100255" y="105508"/>
                  <a:pt x="93785" y="105508"/>
                </a:cubicBezTo>
                <a:cubicBezTo>
                  <a:pt x="87314" y="105508"/>
                  <a:pt x="82062" y="100255"/>
                  <a:pt x="82062" y="93785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9766" y="4651717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positioning for maximum LTV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06399" y="1631852"/>
            <a:ext cx="3591951" cy="3929575"/>
          </a:xfrm>
          <a:custGeom>
            <a:avLst/>
            <a:gdLst/>
            <a:ahLst/>
            <a:cxnLst/>
            <a:rect l="l" t="t" r="r" b="b"/>
            <a:pathLst>
              <a:path w="3591951" h="3929575">
                <a:moveTo>
                  <a:pt x="37465" y="0"/>
                </a:moveTo>
                <a:lnTo>
                  <a:pt x="3441827" y="0"/>
                </a:lnTo>
                <a:cubicBezTo>
                  <a:pt x="3524733" y="0"/>
                  <a:pt x="3591941" y="67208"/>
                  <a:pt x="3591941" y="150114"/>
                </a:cubicBezTo>
                <a:lnTo>
                  <a:pt x="3591941" y="3779520"/>
                </a:lnTo>
                <a:cubicBezTo>
                  <a:pt x="3591941" y="3862426"/>
                  <a:pt x="3524733" y="3929634"/>
                  <a:pt x="3441827" y="3929634"/>
                </a:cubicBez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306399" y="1631852"/>
            <a:ext cx="37514" cy="3929575"/>
          </a:xfrm>
          <a:custGeom>
            <a:avLst/>
            <a:gdLst/>
            <a:ahLst/>
            <a:cxnLst/>
            <a:rect l="l" t="t" r="r" b="b"/>
            <a:pathLst>
              <a:path w="37514" h="3929575">
                <a:moveTo>
                  <a:pt x="37465" y="0"/>
                </a:moveTo>
                <a:lnTo>
                  <a:pt x="37465" y="0"/>
                </a:lnTo>
                <a:lnTo>
                  <a:pt x="37465" y="3929634"/>
                </a:ln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5267" y="1931963"/>
            <a:ext cx="750277" cy="75027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94592" y="2119532"/>
            <a:ext cx="58146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25599" y="1955409"/>
            <a:ext cx="1613095" cy="70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Multi-Angle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48713" y="3038622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46892" y="117231"/>
                </a:moveTo>
                <a:lnTo>
                  <a:pt x="8975" y="117231"/>
                </a:lnTo>
                <a:cubicBezTo>
                  <a:pt x="-147" y="117231"/>
                  <a:pt x="-5752" y="107303"/>
                  <a:pt x="-1062" y="99463"/>
                </a:cubicBezTo>
                <a:lnTo>
                  <a:pt x="18317" y="67151"/>
                </a:lnTo>
                <a:cubicBezTo>
                  <a:pt x="21505" y="61839"/>
                  <a:pt x="27220" y="58615"/>
                  <a:pt x="33411" y="58615"/>
                </a:cubicBezTo>
                <a:lnTo>
                  <a:pt x="68214" y="58615"/>
                </a:lnTo>
                <a:cubicBezTo>
                  <a:pt x="96093" y="11393"/>
                  <a:pt x="137673" y="9012"/>
                  <a:pt x="165479" y="13079"/>
                </a:cubicBezTo>
                <a:cubicBezTo>
                  <a:pt x="170168" y="13775"/>
                  <a:pt x="173831" y="17438"/>
                  <a:pt x="174491" y="22091"/>
                </a:cubicBezTo>
                <a:cubicBezTo>
                  <a:pt x="178557" y="49896"/>
                  <a:pt x="176176" y="91477"/>
                  <a:pt x="128954" y="119356"/>
                </a:cubicBezTo>
                <a:lnTo>
                  <a:pt x="128954" y="154158"/>
                </a:lnTo>
                <a:cubicBezTo>
                  <a:pt x="128954" y="160350"/>
                  <a:pt x="125730" y="166065"/>
                  <a:pt x="120418" y="169252"/>
                </a:cubicBezTo>
                <a:lnTo>
                  <a:pt x="88106" y="188632"/>
                </a:lnTo>
                <a:cubicBezTo>
                  <a:pt x="80303" y="193321"/>
                  <a:pt x="70338" y="187679"/>
                  <a:pt x="70338" y="178594"/>
                </a:cubicBezTo>
                <a:lnTo>
                  <a:pt x="70338" y="140677"/>
                </a:lnTo>
                <a:cubicBezTo>
                  <a:pt x="70338" y="127745"/>
                  <a:pt x="59824" y="117231"/>
                  <a:pt x="46892" y="117231"/>
                </a:cubicBezTo>
                <a:lnTo>
                  <a:pt x="46856" y="117231"/>
                </a:lnTo>
                <a:close/>
                <a:moveTo>
                  <a:pt x="146538" y="58615"/>
                </a:moveTo>
                <a:cubicBezTo>
                  <a:pt x="146538" y="48910"/>
                  <a:pt x="138659" y="41031"/>
                  <a:pt x="128954" y="41031"/>
                </a:cubicBezTo>
                <a:cubicBezTo>
                  <a:pt x="119249" y="41031"/>
                  <a:pt x="111369" y="48910"/>
                  <a:pt x="111369" y="58615"/>
                </a:cubicBezTo>
                <a:cubicBezTo>
                  <a:pt x="111369" y="68321"/>
                  <a:pt x="119249" y="76200"/>
                  <a:pt x="128954" y="76200"/>
                </a:cubicBezTo>
                <a:cubicBezTo>
                  <a:pt x="138659" y="76200"/>
                  <a:pt x="146538" y="68321"/>
                  <a:pt x="146538" y="5861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972270" y="2982351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Profit-First Setup (Days 1-7)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48713" y="3873305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68959" y="6924"/>
                </a:moveTo>
                <a:cubicBezTo>
                  <a:pt x="173172" y="8792"/>
                  <a:pt x="175846" y="12969"/>
                  <a:pt x="175846" y="17585"/>
                </a:cubicBezTo>
                <a:lnTo>
                  <a:pt x="175846" y="169985"/>
                </a:lnTo>
                <a:cubicBezTo>
                  <a:pt x="175846" y="174601"/>
                  <a:pt x="173172" y="178777"/>
                  <a:pt x="168959" y="180645"/>
                </a:cubicBezTo>
                <a:cubicBezTo>
                  <a:pt x="164746" y="182514"/>
                  <a:pt x="159873" y="181818"/>
                  <a:pt x="156393" y="178777"/>
                </a:cubicBezTo>
                <a:lnTo>
                  <a:pt x="139321" y="163867"/>
                </a:lnTo>
                <a:cubicBezTo>
                  <a:pt x="123349" y="149909"/>
                  <a:pt x="103163" y="141776"/>
                  <a:pt x="82025" y="140787"/>
                </a:cubicBezTo>
                <a:lnTo>
                  <a:pt x="82025" y="175846"/>
                </a:lnTo>
                <a:cubicBezTo>
                  <a:pt x="82025" y="182330"/>
                  <a:pt x="76786" y="187569"/>
                  <a:pt x="70302" y="187569"/>
                </a:cubicBezTo>
                <a:lnTo>
                  <a:pt x="58579" y="187569"/>
                </a:lnTo>
                <a:cubicBezTo>
                  <a:pt x="52094" y="187569"/>
                  <a:pt x="46856" y="182330"/>
                  <a:pt x="46856" y="175846"/>
                </a:cubicBezTo>
                <a:lnTo>
                  <a:pt x="46856" y="140677"/>
                </a:lnTo>
                <a:cubicBezTo>
                  <a:pt x="20992" y="140677"/>
                  <a:pt x="0" y="119685"/>
                  <a:pt x="0" y="93785"/>
                </a:cubicBezTo>
                <a:cubicBezTo>
                  <a:pt x="0" y="67884"/>
                  <a:pt x="20992" y="46892"/>
                  <a:pt x="46892" y="46892"/>
                </a:cubicBezTo>
                <a:lnTo>
                  <a:pt x="77849" y="46892"/>
                </a:lnTo>
                <a:cubicBezTo>
                  <a:pt x="100489" y="46819"/>
                  <a:pt x="122323" y="38576"/>
                  <a:pt x="139358" y="23703"/>
                </a:cubicBezTo>
                <a:lnTo>
                  <a:pt x="156430" y="8792"/>
                </a:lnTo>
                <a:cubicBezTo>
                  <a:pt x="159873" y="5752"/>
                  <a:pt x="164819" y="5056"/>
                  <a:pt x="168995" y="6924"/>
                </a:cubicBezTo>
                <a:close/>
                <a:moveTo>
                  <a:pt x="82062" y="117231"/>
                </a:moveTo>
                <a:lnTo>
                  <a:pt x="82062" y="117304"/>
                </a:lnTo>
                <a:cubicBezTo>
                  <a:pt x="107816" y="118293"/>
                  <a:pt x="132544" y="127745"/>
                  <a:pt x="152400" y="144194"/>
                </a:cubicBezTo>
                <a:lnTo>
                  <a:pt x="152400" y="43339"/>
                </a:lnTo>
                <a:cubicBezTo>
                  <a:pt x="132544" y="59788"/>
                  <a:pt x="107816" y="69239"/>
                  <a:pt x="82062" y="70229"/>
                </a:cubicBezTo>
                <a:lnTo>
                  <a:pt x="82062" y="117231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972270" y="3817034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 Marketing Execution (Days 8-45)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25267" y="4707988"/>
            <a:ext cx="234462" cy="187569"/>
          </a:xfrm>
          <a:custGeom>
            <a:avLst/>
            <a:gdLst/>
            <a:ahLst/>
            <a:cxnLst/>
            <a:rect l="l" t="t" r="r" b="b"/>
            <a:pathLst>
              <a:path w="234462" h="187569">
                <a:moveTo>
                  <a:pt x="128954" y="0"/>
                </a:moveTo>
                <a:cubicBezTo>
                  <a:pt x="128954" y="-6484"/>
                  <a:pt x="123715" y="-11723"/>
                  <a:pt x="117231" y="-11723"/>
                </a:cubicBezTo>
                <a:cubicBezTo>
                  <a:pt x="110746" y="-11723"/>
                  <a:pt x="105508" y="-6484"/>
                  <a:pt x="105508" y="0"/>
                </a:cubicBezTo>
                <a:lnTo>
                  <a:pt x="105508" y="23446"/>
                </a:lnTo>
                <a:lnTo>
                  <a:pt x="70338" y="23446"/>
                </a:lnTo>
                <a:cubicBezTo>
                  <a:pt x="50922" y="23446"/>
                  <a:pt x="35169" y="39199"/>
                  <a:pt x="35169" y="58615"/>
                </a:cubicBezTo>
                <a:lnTo>
                  <a:pt x="35169" y="140677"/>
                </a:lnTo>
                <a:cubicBezTo>
                  <a:pt x="35169" y="160093"/>
                  <a:pt x="50922" y="175846"/>
                  <a:pt x="70338" y="175846"/>
                </a:cubicBezTo>
                <a:lnTo>
                  <a:pt x="164123" y="175846"/>
                </a:lnTo>
                <a:cubicBezTo>
                  <a:pt x="183539" y="175846"/>
                  <a:pt x="199292" y="160093"/>
                  <a:pt x="199292" y="140677"/>
                </a:cubicBezTo>
                <a:lnTo>
                  <a:pt x="199292" y="58615"/>
                </a:lnTo>
                <a:cubicBezTo>
                  <a:pt x="199292" y="39199"/>
                  <a:pt x="183539" y="23446"/>
                  <a:pt x="164123" y="23446"/>
                </a:cubicBezTo>
                <a:lnTo>
                  <a:pt x="128954" y="23446"/>
                </a:lnTo>
                <a:lnTo>
                  <a:pt x="128954" y="0"/>
                </a:lnTo>
                <a:close/>
                <a:moveTo>
                  <a:pt x="58615" y="134815"/>
                </a:moveTo>
                <a:cubicBezTo>
                  <a:pt x="58615" y="129943"/>
                  <a:pt x="62535" y="126023"/>
                  <a:pt x="67408" y="126023"/>
                </a:cubicBezTo>
                <a:lnTo>
                  <a:pt x="79131" y="126023"/>
                </a:lnTo>
                <a:cubicBezTo>
                  <a:pt x="84003" y="126023"/>
                  <a:pt x="87923" y="129943"/>
                  <a:pt x="87923" y="134815"/>
                </a:cubicBezTo>
                <a:cubicBezTo>
                  <a:pt x="87923" y="139688"/>
                  <a:pt x="84003" y="143608"/>
                  <a:pt x="79131" y="143608"/>
                </a:cubicBezTo>
                <a:lnTo>
                  <a:pt x="67408" y="143608"/>
                </a:lnTo>
                <a:cubicBezTo>
                  <a:pt x="62535" y="143608"/>
                  <a:pt x="58615" y="139688"/>
                  <a:pt x="58615" y="134815"/>
                </a:cubicBezTo>
                <a:close/>
                <a:moveTo>
                  <a:pt x="102577" y="134815"/>
                </a:moveTo>
                <a:cubicBezTo>
                  <a:pt x="102577" y="129943"/>
                  <a:pt x="106497" y="126023"/>
                  <a:pt x="111369" y="126023"/>
                </a:cubicBezTo>
                <a:lnTo>
                  <a:pt x="123092" y="126023"/>
                </a:lnTo>
                <a:cubicBezTo>
                  <a:pt x="127965" y="126023"/>
                  <a:pt x="131885" y="129943"/>
                  <a:pt x="131885" y="134815"/>
                </a:cubicBezTo>
                <a:cubicBezTo>
                  <a:pt x="131885" y="139688"/>
                  <a:pt x="127965" y="143608"/>
                  <a:pt x="123092" y="143608"/>
                </a:cubicBezTo>
                <a:lnTo>
                  <a:pt x="111369" y="143608"/>
                </a:lnTo>
                <a:cubicBezTo>
                  <a:pt x="106497" y="143608"/>
                  <a:pt x="102577" y="139688"/>
                  <a:pt x="102577" y="134815"/>
                </a:cubicBezTo>
                <a:close/>
                <a:moveTo>
                  <a:pt x="146538" y="134815"/>
                </a:moveTo>
                <a:cubicBezTo>
                  <a:pt x="146538" y="129943"/>
                  <a:pt x="150458" y="126023"/>
                  <a:pt x="155331" y="126023"/>
                </a:cubicBezTo>
                <a:lnTo>
                  <a:pt x="167054" y="126023"/>
                </a:lnTo>
                <a:cubicBezTo>
                  <a:pt x="171926" y="126023"/>
                  <a:pt x="175846" y="129943"/>
                  <a:pt x="175846" y="134815"/>
                </a:cubicBezTo>
                <a:cubicBezTo>
                  <a:pt x="175846" y="139688"/>
                  <a:pt x="171926" y="143608"/>
                  <a:pt x="167054" y="143608"/>
                </a:cubicBezTo>
                <a:lnTo>
                  <a:pt x="155331" y="143608"/>
                </a:lnTo>
                <a:cubicBezTo>
                  <a:pt x="150458" y="143608"/>
                  <a:pt x="146538" y="139688"/>
                  <a:pt x="146538" y="134815"/>
                </a:cubicBezTo>
                <a:close/>
                <a:moveTo>
                  <a:pt x="82062" y="64477"/>
                </a:moveTo>
                <a:cubicBezTo>
                  <a:pt x="91767" y="64477"/>
                  <a:pt x="99646" y="72356"/>
                  <a:pt x="99646" y="82062"/>
                </a:cubicBezTo>
                <a:cubicBezTo>
                  <a:pt x="99646" y="91767"/>
                  <a:pt x="91767" y="99646"/>
                  <a:pt x="82062" y="99646"/>
                </a:cubicBezTo>
                <a:cubicBezTo>
                  <a:pt x="72356" y="99646"/>
                  <a:pt x="64477" y="91767"/>
                  <a:pt x="64477" y="82062"/>
                </a:cubicBezTo>
                <a:cubicBezTo>
                  <a:pt x="64477" y="72356"/>
                  <a:pt x="72356" y="64477"/>
                  <a:pt x="82062" y="64477"/>
                </a:cubicBezTo>
                <a:close/>
                <a:moveTo>
                  <a:pt x="134815" y="82062"/>
                </a:moveTo>
                <a:cubicBezTo>
                  <a:pt x="134815" y="72356"/>
                  <a:pt x="142695" y="64477"/>
                  <a:pt x="152400" y="64477"/>
                </a:cubicBezTo>
                <a:cubicBezTo>
                  <a:pt x="162105" y="64477"/>
                  <a:pt x="169985" y="72356"/>
                  <a:pt x="169985" y="82062"/>
                </a:cubicBezTo>
                <a:cubicBezTo>
                  <a:pt x="169985" y="91767"/>
                  <a:pt x="162105" y="99646"/>
                  <a:pt x="152400" y="99646"/>
                </a:cubicBezTo>
                <a:cubicBezTo>
                  <a:pt x="142695" y="99646"/>
                  <a:pt x="134815" y="91767"/>
                  <a:pt x="134815" y="82062"/>
                </a:cubicBezTo>
                <a:close/>
                <a:moveTo>
                  <a:pt x="23446" y="82062"/>
                </a:moveTo>
                <a:cubicBezTo>
                  <a:pt x="23446" y="75577"/>
                  <a:pt x="18207" y="70338"/>
                  <a:pt x="11723" y="70338"/>
                </a:cubicBezTo>
                <a:cubicBezTo>
                  <a:pt x="5239" y="70338"/>
                  <a:pt x="0" y="75577"/>
                  <a:pt x="0" y="82062"/>
                </a:cubicBezTo>
                <a:lnTo>
                  <a:pt x="0" y="117231"/>
                </a:lnTo>
                <a:cubicBezTo>
                  <a:pt x="0" y="123715"/>
                  <a:pt x="5239" y="128954"/>
                  <a:pt x="11723" y="128954"/>
                </a:cubicBezTo>
                <a:cubicBezTo>
                  <a:pt x="18207" y="128954"/>
                  <a:pt x="23446" y="123715"/>
                  <a:pt x="23446" y="117231"/>
                </a:cubicBezTo>
                <a:lnTo>
                  <a:pt x="23446" y="82062"/>
                </a:lnTo>
                <a:close/>
                <a:moveTo>
                  <a:pt x="222738" y="70338"/>
                </a:moveTo>
                <a:cubicBezTo>
                  <a:pt x="216254" y="70338"/>
                  <a:pt x="211015" y="75577"/>
                  <a:pt x="211015" y="82062"/>
                </a:cubicBezTo>
                <a:lnTo>
                  <a:pt x="211015" y="117231"/>
                </a:lnTo>
                <a:cubicBezTo>
                  <a:pt x="211015" y="123715"/>
                  <a:pt x="216254" y="128954"/>
                  <a:pt x="222738" y="128954"/>
                </a:cubicBezTo>
                <a:cubicBezTo>
                  <a:pt x="229223" y="128954"/>
                  <a:pt x="234462" y="123715"/>
                  <a:pt x="234462" y="117231"/>
                </a:cubicBezTo>
                <a:lnTo>
                  <a:pt x="234462" y="82062"/>
                </a:lnTo>
                <a:cubicBezTo>
                  <a:pt x="234462" y="75577"/>
                  <a:pt x="229223" y="70338"/>
                  <a:pt x="222738" y="7033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972270" y="4651717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 Automated Triage (Days 46-90)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8976" y="1631852"/>
            <a:ext cx="3591951" cy="3929575"/>
          </a:xfrm>
          <a:custGeom>
            <a:avLst/>
            <a:gdLst/>
            <a:ahLst/>
            <a:cxnLst/>
            <a:rect l="l" t="t" r="r" b="b"/>
            <a:pathLst>
              <a:path w="3591951" h="3929575">
                <a:moveTo>
                  <a:pt x="37465" y="0"/>
                </a:moveTo>
                <a:lnTo>
                  <a:pt x="3441827" y="0"/>
                </a:lnTo>
                <a:cubicBezTo>
                  <a:pt x="3524733" y="0"/>
                  <a:pt x="3591941" y="67208"/>
                  <a:pt x="3591941" y="150114"/>
                </a:cubicBezTo>
                <a:lnTo>
                  <a:pt x="3591941" y="3779520"/>
                </a:lnTo>
                <a:cubicBezTo>
                  <a:pt x="3591941" y="3862426"/>
                  <a:pt x="3524733" y="3929634"/>
                  <a:pt x="3441827" y="3929634"/>
                </a:cubicBez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8218976" y="1631852"/>
            <a:ext cx="37514" cy="3929575"/>
          </a:xfrm>
          <a:custGeom>
            <a:avLst/>
            <a:gdLst/>
            <a:ahLst/>
            <a:cxnLst/>
            <a:rect l="l" t="t" r="r" b="b"/>
            <a:pathLst>
              <a:path w="37514" h="3929575">
                <a:moveTo>
                  <a:pt x="37465" y="0"/>
                </a:moveTo>
                <a:lnTo>
                  <a:pt x="37465" y="0"/>
                </a:lnTo>
                <a:lnTo>
                  <a:pt x="37465" y="3929634"/>
                </a:lnTo>
                <a:lnTo>
                  <a:pt x="37465" y="3929634"/>
                </a:lnTo>
                <a:cubicBezTo>
                  <a:pt x="27507" y="3929634"/>
                  <a:pt x="17958" y="3925669"/>
                  <a:pt x="10928" y="3918616"/>
                </a:cubicBezTo>
                <a:cubicBezTo>
                  <a:pt x="3899" y="3911562"/>
                  <a:pt x="-34" y="3902000"/>
                  <a:pt x="0" y="3892042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9" name="Shape 27"/>
          <p:cNvSpPr/>
          <p:nvPr/>
        </p:nvSpPr>
        <p:spPr>
          <a:xfrm>
            <a:off x="8537844" y="2236763"/>
            <a:ext cx="750277" cy="750277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705630" y="2424332"/>
            <a:ext cx="58146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38176" y="2260209"/>
            <a:ext cx="1781908" cy="70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61290" y="3343422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0" y="29308"/>
                </a:moveTo>
                <a:cubicBezTo>
                  <a:pt x="0" y="19600"/>
                  <a:pt x="7876" y="11723"/>
                  <a:pt x="17585" y="11723"/>
                </a:cubicBezTo>
                <a:lnTo>
                  <a:pt x="52754" y="11723"/>
                </a:lnTo>
                <a:cubicBezTo>
                  <a:pt x="62462" y="11723"/>
                  <a:pt x="70338" y="19600"/>
                  <a:pt x="70338" y="29308"/>
                </a:cubicBezTo>
                <a:lnTo>
                  <a:pt x="70338" y="35169"/>
                </a:lnTo>
                <a:lnTo>
                  <a:pt x="117231" y="35169"/>
                </a:lnTo>
                <a:lnTo>
                  <a:pt x="117231" y="29308"/>
                </a:lnTo>
                <a:cubicBezTo>
                  <a:pt x="117231" y="19600"/>
                  <a:pt x="125107" y="11723"/>
                  <a:pt x="134815" y="11723"/>
                </a:cubicBezTo>
                <a:lnTo>
                  <a:pt x="169985" y="11723"/>
                </a:lnTo>
                <a:cubicBezTo>
                  <a:pt x="179693" y="11723"/>
                  <a:pt x="187569" y="19600"/>
                  <a:pt x="187569" y="29308"/>
                </a:cubicBezTo>
                <a:lnTo>
                  <a:pt x="187569" y="64477"/>
                </a:lnTo>
                <a:cubicBezTo>
                  <a:pt x="187569" y="74185"/>
                  <a:pt x="179693" y="82062"/>
                  <a:pt x="169985" y="82062"/>
                </a:cubicBezTo>
                <a:lnTo>
                  <a:pt x="134815" y="82062"/>
                </a:lnTo>
                <a:cubicBezTo>
                  <a:pt x="125107" y="82062"/>
                  <a:pt x="117231" y="74185"/>
                  <a:pt x="117231" y="64477"/>
                </a:cubicBezTo>
                <a:lnTo>
                  <a:pt x="117231" y="58615"/>
                </a:lnTo>
                <a:lnTo>
                  <a:pt x="70338" y="58615"/>
                </a:lnTo>
                <a:lnTo>
                  <a:pt x="70338" y="64477"/>
                </a:lnTo>
                <a:cubicBezTo>
                  <a:pt x="70338" y="67151"/>
                  <a:pt x="69716" y="69716"/>
                  <a:pt x="68653" y="71987"/>
                </a:cubicBezTo>
                <a:lnTo>
                  <a:pt x="93785" y="105508"/>
                </a:lnTo>
                <a:lnTo>
                  <a:pt x="123092" y="105508"/>
                </a:lnTo>
                <a:cubicBezTo>
                  <a:pt x="132800" y="105508"/>
                  <a:pt x="140677" y="113384"/>
                  <a:pt x="140677" y="123092"/>
                </a:cubicBezTo>
                <a:lnTo>
                  <a:pt x="140677" y="158262"/>
                </a:lnTo>
                <a:cubicBezTo>
                  <a:pt x="140677" y="167970"/>
                  <a:pt x="132800" y="175846"/>
                  <a:pt x="123092" y="175846"/>
                </a:cubicBezTo>
                <a:lnTo>
                  <a:pt x="87923" y="175846"/>
                </a:lnTo>
                <a:cubicBezTo>
                  <a:pt x="78215" y="175846"/>
                  <a:pt x="70338" y="167970"/>
                  <a:pt x="70338" y="158262"/>
                </a:cubicBezTo>
                <a:lnTo>
                  <a:pt x="70338" y="123092"/>
                </a:lnTo>
                <a:cubicBezTo>
                  <a:pt x="70338" y="120418"/>
                  <a:pt x="70961" y="117854"/>
                  <a:pt x="72024" y="115582"/>
                </a:cubicBezTo>
                <a:lnTo>
                  <a:pt x="46892" y="82062"/>
                </a:lnTo>
                <a:lnTo>
                  <a:pt x="17585" y="82062"/>
                </a:lnTo>
                <a:cubicBezTo>
                  <a:pt x="7876" y="82062"/>
                  <a:pt x="0" y="74185"/>
                  <a:pt x="0" y="64477"/>
                </a:cubicBezTo>
                <a:lnTo>
                  <a:pt x="0" y="29308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1"/>
          <p:cNvSpPr/>
          <p:nvPr/>
        </p:nvSpPr>
        <p:spPr>
          <a:xfrm>
            <a:off x="8884847" y="3287151"/>
            <a:ext cx="2316480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ecosystem architecture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61290" y="3873305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1723" y="11723"/>
                </a:moveTo>
                <a:cubicBezTo>
                  <a:pt x="18207" y="11723"/>
                  <a:pt x="23446" y="16962"/>
                  <a:pt x="23446" y="23446"/>
                </a:cubicBezTo>
                <a:lnTo>
                  <a:pt x="23446" y="146538"/>
                </a:lnTo>
                <a:cubicBezTo>
                  <a:pt x="23446" y="149762"/>
                  <a:pt x="26084" y="152400"/>
                  <a:pt x="29308" y="152400"/>
                </a:cubicBezTo>
                <a:lnTo>
                  <a:pt x="175846" y="152400"/>
                </a:lnTo>
                <a:cubicBezTo>
                  <a:pt x="182330" y="152400"/>
                  <a:pt x="187569" y="157639"/>
                  <a:pt x="187569" y="164123"/>
                </a:cubicBezTo>
                <a:cubicBezTo>
                  <a:pt x="187569" y="170607"/>
                  <a:pt x="182330" y="175846"/>
                  <a:pt x="175846" y="175846"/>
                </a:cubicBezTo>
                <a:lnTo>
                  <a:pt x="29308" y="175846"/>
                </a:lnTo>
                <a:cubicBezTo>
                  <a:pt x="13115" y="175846"/>
                  <a:pt x="0" y="162731"/>
                  <a:pt x="0" y="146538"/>
                </a:cubicBezTo>
                <a:lnTo>
                  <a:pt x="0" y="23446"/>
                </a:lnTo>
                <a:cubicBezTo>
                  <a:pt x="0" y="16962"/>
                  <a:pt x="5239" y="11723"/>
                  <a:pt x="11723" y="11723"/>
                </a:cubicBezTo>
                <a:close/>
                <a:moveTo>
                  <a:pt x="46892" y="35169"/>
                </a:moveTo>
                <a:cubicBezTo>
                  <a:pt x="46892" y="28685"/>
                  <a:pt x="52131" y="23446"/>
                  <a:pt x="58615" y="23446"/>
                </a:cubicBezTo>
                <a:lnTo>
                  <a:pt x="128954" y="23446"/>
                </a:lnTo>
                <a:cubicBezTo>
                  <a:pt x="135438" y="23446"/>
                  <a:pt x="140677" y="28685"/>
                  <a:pt x="140677" y="35169"/>
                </a:cubicBezTo>
                <a:cubicBezTo>
                  <a:pt x="140677" y="41654"/>
                  <a:pt x="135438" y="46892"/>
                  <a:pt x="128954" y="46892"/>
                </a:cubicBezTo>
                <a:lnTo>
                  <a:pt x="58615" y="46892"/>
                </a:lnTo>
                <a:cubicBezTo>
                  <a:pt x="52131" y="46892"/>
                  <a:pt x="46892" y="41654"/>
                  <a:pt x="46892" y="35169"/>
                </a:cubicBezTo>
                <a:close/>
                <a:moveTo>
                  <a:pt x="58615" y="64477"/>
                </a:moveTo>
                <a:lnTo>
                  <a:pt x="105508" y="64477"/>
                </a:lnTo>
                <a:cubicBezTo>
                  <a:pt x="111992" y="64477"/>
                  <a:pt x="117231" y="69716"/>
                  <a:pt x="117231" y="76200"/>
                </a:cubicBezTo>
                <a:cubicBezTo>
                  <a:pt x="117231" y="82684"/>
                  <a:pt x="111992" y="87923"/>
                  <a:pt x="105508" y="87923"/>
                </a:cubicBezTo>
                <a:lnTo>
                  <a:pt x="58615" y="87923"/>
                </a:lnTo>
                <a:cubicBezTo>
                  <a:pt x="52131" y="87923"/>
                  <a:pt x="46892" y="82684"/>
                  <a:pt x="46892" y="76200"/>
                </a:cubicBezTo>
                <a:cubicBezTo>
                  <a:pt x="46892" y="69716"/>
                  <a:pt x="52131" y="64477"/>
                  <a:pt x="58615" y="64477"/>
                </a:cubicBezTo>
                <a:close/>
                <a:moveTo>
                  <a:pt x="58615" y="105508"/>
                </a:moveTo>
                <a:lnTo>
                  <a:pt x="152400" y="105508"/>
                </a:lnTo>
                <a:cubicBezTo>
                  <a:pt x="158884" y="105508"/>
                  <a:pt x="164123" y="110746"/>
                  <a:pt x="164123" y="117231"/>
                </a:cubicBezTo>
                <a:cubicBezTo>
                  <a:pt x="164123" y="123715"/>
                  <a:pt x="158884" y="128954"/>
                  <a:pt x="152400" y="128954"/>
                </a:cubicBezTo>
                <a:lnTo>
                  <a:pt x="58615" y="128954"/>
                </a:lnTo>
                <a:cubicBezTo>
                  <a:pt x="52131" y="128954"/>
                  <a:pt x="46892" y="123715"/>
                  <a:pt x="46892" y="117231"/>
                </a:cubicBezTo>
                <a:cubicBezTo>
                  <a:pt x="46892" y="110746"/>
                  <a:pt x="52131" y="105508"/>
                  <a:pt x="58615" y="10550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5" name="Text 33"/>
          <p:cNvSpPr/>
          <p:nvPr/>
        </p:nvSpPr>
        <p:spPr>
          <a:xfrm>
            <a:off x="8884847" y="3817034"/>
            <a:ext cx="271975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impact &amp; unit economics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73013" y="4707988"/>
            <a:ext cx="164123" cy="187569"/>
          </a:xfrm>
          <a:custGeom>
            <a:avLst/>
            <a:gdLst/>
            <a:ahLst/>
            <a:cxnLst/>
            <a:rect l="l" t="t" r="r" b="b"/>
            <a:pathLst>
              <a:path w="164123" h="187569">
                <a:moveTo>
                  <a:pt x="46892" y="0"/>
                </a:moveTo>
                <a:cubicBezTo>
                  <a:pt x="53377" y="0"/>
                  <a:pt x="58615" y="5239"/>
                  <a:pt x="58615" y="11723"/>
                </a:cubicBezTo>
                <a:lnTo>
                  <a:pt x="58615" y="23446"/>
                </a:lnTo>
                <a:lnTo>
                  <a:pt x="105508" y="23446"/>
                </a:lnTo>
                <a:lnTo>
                  <a:pt x="105508" y="11723"/>
                </a:lnTo>
                <a:cubicBezTo>
                  <a:pt x="105508" y="5239"/>
                  <a:pt x="110746" y="0"/>
                  <a:pt x="117231" y="0"/>
                </a:cubicBezTo>
                <a:cubicBezTo>
                  <a:pt x="123715" y="0"/>
                  <a:pt x="128954" y="5239"/>
                  <a:pt x="128954" y="11723"/>
                </a:cubicBezTo>
                <a:lnTo>
                  <a:pt x="128954" y="23446"/>
                </a:lnTo>
                <a:lnTo>
                  <a:pt x="140677" y="23446"/>
                </a:lnTo>
                <a:cubicBezTo>
                  <a:pt x="153609" y="23446"/>
                  <a:pt x="164123" y="33960"/>
                  <a:pt x="164123" y="46892"/>
                </a:cubicBezTo>
                <a:lnTo>
                  <a:pt x="164123" y="152400"/>
                </a:lnTo>
                <a:cubicBezTo>
                  <a:pt x="164123" y="165332"/>
                  <a:pt x="153609" y="175846"/>
                  <a:pt x="140677" y="175846"/>
                </a:cubicBezTo>
                <a:lnTo>
                  <a:pt x="23446" y="175846"/>
                </a:lnTo>
                <a:cubicBezTo>
                  <a:pt x="10514" y="175846"/>
                  <a:pt x="0" y="165332"/>
                  <a:pt x="0" y="152400"/>
                </a:cubicBezTo>
                <a:lnTo>
                  <a:pt x="0" y="46892"/>
                </a:lnTo>
                <a:cubicBezTo>
                  <a:pt x="0" y="33960"/>
                  <a:pt x="10514" y="23446"/>
                  <a:pt x="23446" y="23446"/>
                </a:cubicBezTo>
                <a:lnTo>
                  <a:pt x="35169" y="23446"/>
                </a:lnTo>
                <a:lnTo>
                  <a:pt x="35169" y="11723"/>
                </a:lnTo>
                <a:cubicBezTo>
                  <a:pt x="35169" y="5239"/>
                  <a:pt x="40408" y="0"/>
                  <a:pt x="46892" y="0"/>
                </a:cubicBezTo>
                <a:close/>
                <a:moveTo>
                  <a:pt x="112981" y="83783"/>
                </a:moveTo>
                <a:cubicBezTo>
                  <a:pt x="115546" y="79680"/>
                  <a:pt x="114300" y="74258"/>
                  <a:pt x="110197" y="71657"/>
                </a:cubicBezTo>
                <a:cubicBezTo>
                  <a:pt x="106094" y="69056"/>
                  <a:pt x="100672" y="70338"/>
                  <a:pt x="98071" y="74442"/>
                </a:cubicBezTo>
                <a:lnTo>
                  <a:pt x="75577" y="110453"/>
                </a:lnTo>
                <a:lnTo>
                  <a:pt x="65686" y="97265"/>
                </a:lnTo>
                <a:cubicBezTo>
                  <a:pt x="62755" y="93382"/>
                  <a:pt x="57260" y="92576"/>
                  <a:pt x="53377" y="95506"/>
                </a:cubicBezTo>
                <a:cubicBezTo>
                  <a:pt x="49493" y="98437"/>
                  <a:pt x="48687" y="103932"/>
                  <a:pt x="51618" y="107816"/>
                </a:cubicBezTo>
                <a:lnTo>
                  <a:pt x="69203" y="131262"/>
                </a:lnTo>
                <a:cubicBezTo>
                  <a:pt x="70925" y="133570"/>
                  <a:pt x="73709" y="134889"/>
                  <a:pt x="76603" y="134779"/>
                </a:cubicBezTo>
                <a:cubicBezTo>
                  <a:pt x="79497" y="134669"/>
                  <a:pt x="82135" y="133130"/>
                  <a:pt x="83673" y="130639"/>
                </a:cubicBezTo>
                <a:lnTo>
                  <a:pt x="112981" y="8374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Text 35"/>
          <p:cNvSpPr/>
          <p:nvPr/>
        </p:nvSpPr>
        <p:spPr>
          <a:xfrm>
            <a:off x="8884847" y="4651717"/>
            <a:ext cx="251342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90-day deployment roadmap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9828" y="5866228"/>
            <a:ext cx="11432345" cy="984738"/>
          </a:xfrm>
          <a:prstGeom prst="roundRect">
            <a:avLst>
              <a:gd name="adj" fmla="val 11429"/>
            </a:avLst>
          </a:prstGeom>
          <a:solidFill>
            <a:srgbClr val="1E3A5F">
              <a:alpha val="30196"/>
            </a:srgbClr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289" y="6217920"/>
            <a:ext cx="281354" cy="281354"/>
          </a:xfrm>
          <a:custGeom>
            <a:avLst/>
            <a:gdLst/>
            <a:ahLst/>
            <a:cxnLst/>
            <a:rect l="l" t="t" r="r" b="b"/>
            <a:pathLst>
              <a:path w="281354" h="281354">
                <a:moveTo>
                  <a:pt x="140677" y="281354"/>
                </a:moveTo>
                <a:cubicBezTo>
                  <a:pt x="218319" y="281354"/>
                  <a:pt x="281354" y="218319"/>
                  <a:pt x="281354" y="140677"/>
                </a:cubicBezTo>
                <a:cubicBezTo>
                  <a:pt x="281354" y="63035"/>
                  <a:pt x="218319" y="0"/>
                  <a:pt x="140677" y="0"/>
                </a:cubicBezTo>
                <a:cubicBezTo>
                  <a:pt x="63035" y="0"/>
                  <a:pt x="0" y="63035"/>
                  <a:pt x="0" y="140677"/>
                </a:cubicBezTo>
                <a:cubicBezTo>
                  <a:pt x="0" y="218319"/>
                  <a:pt x="63035" y="281354"/>
                  <a:pt x="140677" y="281354"/>
                </a:cubicBezTo>
                <a:close/>
                <a:moveTo>
                  <a:pt x="123092" y="87923"/>
                </a:moveTo>
                <a:cubicBezTo>
                  <a:pt x="123092" y="78218"/>
                  <a:pt x="130972" y="70338"/>
                  <a:pt x="140677" y="70338"/>
                </a:cubicBezTo>
                <a:cubicBezTo>
                  <a:pt x="150382" y="70338"/>
                  <a:pt x="158262" y="78218"/>
                  <a:pt x="158262" y="87923"/>
                </a:cubicBezTo>
                <a:cubicBezTo>
                  <a:pt x="158262" y="97628"/>
                  <a:pt x="150382" y="105508"/>
                  <a:pt x="140677" y="105508"/>
                </a:cubicBezTo>
                <a:cubicBezTo>
                  <a:pt x="130972" y="105508"/>
                  <a:pt x="123092" y="97628"/>
                  <a:pt x="123092" y="87923"/>
                </a:cubicBezTo>
                <a:close/>
                <a:moveTo>
                  <a:pt x="118696" y="123092"/>
                </a:moveTo>
                <a:lnTo>
                  <a:pt x="145073" y="123092"/>
                </a:lnTo>
                <a:cubicBezTo>
                  <a:pt x="152382" y="123092"/>
                  <a:pt x="158262" y="128972"/>
                  <a:pt x="158262" y="136281"/>
                </a:cubicBezTo>
                <a:lnTo>
                  <a:pt x="158262" y="184638"/>
                </a:lnTo>
                <a:lnTo>
                  <a:pt x="162658" y="184638"/>
                </a:lnTo>
                <a:cubicBezTo>
                  <a:pt x="169966" y="184638"/>
                  <a:pt x="175846" y="190518"/>
                  <a:pt x="175846" y="197827"/>
                </a:cubicBezTo>
                <a:cubicBezTo>
                  <a:pt x="175846" y="205136"/>
                  <a:pt x="169966" y="211015"/>
                  <a:pt x="162658" y="211015"/>
                </a:cubicBezTo>
                <a:lnTo>
                  <a:pt x="118696" y="211015"/>
                </a:lnTo>
                <a:cubicBezTo>
                  <a:pt x="111388" y="211015"/>
                  <a:pt x="105508" y="205136"/>
                  <a:pt x="105508" y="197827"/>
                </a:cubicBezTo>
                <a:cubicBezTo>
                  <a:pt x="105508" y="190518"/>
                  <a:pt x="111388" y="184638"/>
                  <a:pt x="118696" y="184638"/>
                </a:cubicBezTo>
                <a:lnTo>
                  <a:pt x="131885" y="184638"/>
                </a:lnTo>
                <a:lnTo>
                  <a:pt x="131885" y="149469"/>
                </a:lnTo>
                <a:lnTo>
                  <a:pt x="118696" y="149469"/>
                </a:lnTo>
                <a:cubicBezTo>
                  <a:pt x="111388" y="149469"/>
                  <a:pt x="105508" y="143589"/>
                  <a:pt x="105508" y="136281"/>
                </a:cubicBezTo>
                <a:cubicBezTo>
                  <a:pt x="105508" y="128972"/>
                  <a:pt x="111388" y="123092"/>
                  <a:pt x="118696" y="12309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0" name="Text 38"/>
          <p:cNvSpPr/>
          <p:nvPr/>
        </p:nvSpPr>
        <p:spPr>
          <a:xfrm>
            <a:off x="1129518" y="6096000"/>
            <a:ext cx="10541391" cy="52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20000"/>
              </a:lnSpc>
            </a:pPr>
            <a:r>
              <a:rPr lang="en-US" sz="1477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Shift acquisition from external referrals (30% cost) to owned digital Hub &amp; Spoke SEO and AI funnels (15% cost), improving net margins by </a:t>
            </a:r>
            <a:pPr>
              <a:lnSpc>
                <a:spcPct val="120000"/>
              </a:lnSpc>
            </a:pPr>
            <a:r>
              <a:rPr lang="en-US" sz="147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points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ebc527bf69a508772f39d9a574561425c896fd4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8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57313"/>
            <a:ext cx="1400175" cy="428625"/>
          </a:xfrm>
          <a:prstGeom prst="roundRect">
            <a:avLst>
              <a:gd name="adj" fmla="val 17778"/>
            </a:avLst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438275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19300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Positioning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76650"/>
            <a:ext cx="1524000" cy="5715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3860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MENA longevity market gap and repositioning for maximum lifetime value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387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51249" y="5257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2651299" y="52387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Demographics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670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4944145" y="5238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Positioning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MENA Longevity Land Grab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223963"/>
            <a:ext cx="5629275" cy="2124075"/>
          </a:xfrm>
          <a:prstGeom prst="roundRect">
            <a:avLst>
              <a:gd name="adj" fmla="val 5381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600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65735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Deficit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095500"/>
            <a:ext cx="75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3796" y="2205038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Moroccans suffer from severe stress/mental health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590800"/>
            <a:ext cx="78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5748" y="2700338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psychiatrists for 37M people (&lt;1 per 100,000)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509963"/>
            <a:ext cx="5629275" cy="2124075"/>
          </a:xfrm>
          <a:prstGeom prst="roundRect">
            <a:avLst>
              <a:gd name="adj" fmla="val 5381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 w="1270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925" y="37719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6269" y="3867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225" y="38290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2925" y="426720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MENA wealth shifting from luxury goods 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648200"/>
            <a:ext cx="293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preventative longevity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5105400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pursuit: 87% NA HNWIs | 100% APAC HNWIs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1223963"/>
            <a:ext cx="5629275" cy="4410075"/>
          </a:xfrm>
          <a:prstGeom prst="roundRect">
            <a:avLst>
              <a:gd name="adj" fmla="val 2592"/>
            </a:avLst>
          </a:pr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0A192F">
                  <a:alpha val="20000"/>
                </a:srgbClr>
              </a:gs>
            </a:gsLst>
            <a:lin ang="2700000" scaled="1"/>
          </a:gra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6500" y="13811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 Index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6025" y="172402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Healthcare Deficit vs. HNWI Wellness Demand</a:t>
            </a:r>
            <a:endParaRPr lang="en-US" sz="1600" dirty="0"/>
          </a:p>
        </p:txBody>
      </p:sp>
      <p:pic>
        <p:nvPicPr>
          <p:cNvPr id="23" name="Image 0" descr="https://kimi-img.moonshot.cn/pub/slides/26-04-20-23:49:17-d7j4lv9ic4ud2p63ok0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34125" y="2028825"/>
            <a:ext cx="5314950" cy="2895600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6338888" y="5005388"/>
            <a:ext cx="5305425" cy="466725"/>
          </a:xfrm>
          <a:prstGeom prst="roundRect">
            <a:avLst>
              <a:gd name="adj" fmla="val 16327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50323" y="51577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6667500" y="512445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Biohacking Opportunity Zone: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deficit meets demand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00050" y="5715000"/>
            <a:ext cx="3686175" cy="762000"/>
          </a:xfrm>
          <a:custGeom>
            <a:avLst/>
            <a:gdLst/>
            <a:ahLst/>
            <a:cxnLst/>
            <a:rect l="l" t="t" r="r" b="b"/>
            <a:pathLst>
              <a:path w="3686175" h="7620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685800"/>
                </a:lnTo>
                <a:cubicBezTo>
                  <a:pt x="3686175" y="727856"/>
                  <a:pt x="3652031" y="762000"/>
                  <a:pt x="36099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00050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9" name="Text 26"/>
          <p:cNvSpPr/>
          <p:nvPr/>
        </p:nvSpPr>
        <p:spPr>
          <a:xfrm>
            <a:off x="500063" y="58293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Addressable Market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76250" y="6057900"/>
            <a:ext cx="3552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6.3M People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60800" y="5715000"/>
            <a:ext cx="3686175" cy="762000"/>
          </a:xfrm>
          <a:custGeom>
            <a:avLst/>
            <a:gdLst/>
            <a:ahLst/>
            <a:cxnLst/>
            <a:rect l="l" t="t" r="r" b="b"/>
            <a:pathLst>
              <a:path w="3686175" h="7620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685800"/>
                </a:lnTo>
                <a:cubicBezTo>
                  <a:pt x="3686175" y="727856"/>
                  <a:pt x="3652031" y="762000"/>
                  <a:pt x="36099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260800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0"/>
          <p:cNvSpPr/>
          <p:nvPr/>
        </p:nvSpPr>
        <p:spPr>
          <a:xfrm>
            <a:off x="4360813" y="58293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Gap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37000" y="6057900"/>
            <a:ext cx="3552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99.7% Unmet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121625" y="5715000"/>
            <a:ext cx="3686175" cy="762000"/>
          </a:xfrm>
          <a:custGeom>
            <a:avLst/>
            <a:gdLst/>
            <a:ahLst/>
            <a:cxnLst/>
            <a:rect l="l" t="t" r="r" b="b"/>
            <a:pathLst>
              <a:path w="3686175" h="7620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685800"/>
                </a:lnTo>
                <a:cubicBezTo>
                  <a:pt x="3686175" y="727856"/>
                  <a:pt x="3652031" y="762000"/>
                  <a:pt x="36099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8121625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7" name="Text 34"/>
          <p:cNvSpPr/>
          <p:nvPr/>
        </p:nvSpPr>
        <p:spPr>
          <a:xfrm>
            <a:off x="8221638" y="58293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HNWI Growth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197825" y="6057900"/>
            <a:ext cx="3552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+24% YoY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spc="58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Positioning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Redefining the Target Demographic for Maximum LTV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677" y="1136698"/>
            <a:ext cx="880024" cy="36668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375844" y="1329203"/>
            <a:ext cx="5619320" cy="4546791"/>
          </a:xfrm>
          <a:prstGeom prst="roundRect">
            <a:avLst>
              <a:gd name="adj" fmla="val 2419"/>
            </a:avLst>
          </a:pr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0A192F">
                  <a:alpha val="20000"/>
                </a:srgbClr>
              </a:gs>
            </a:gsLst>
            <a:lin ang="2700000" scaled="1"/>
          </a:gradFill>
          <a:ln w="2540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349" y="1540042"/>
            <a:ext cx="440012" cy="440012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8144" y="1668379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80211" y="88805"/>
                </a:moveTo>
                <a:cubicBezTo>
                  <a:pt x="103926" y="88805"/>
                  <a:pt x="123180" y="69550"/>
                  <a:pt x="123180" y="45835"/>
                </a:cubicBezTo>
                <a:cubicBezTo>
                  <a:pt x="123180" y="22119"/>
                  <a:pt x="103926" y="2865"/>
                  <a:pt x="80211" y="2865"/>
                </a:cubicBezTo>
                <a:cubicBezTo>
                  <a:pt x="56495" y="2865"/>
                  <a:pt x="37241" y="22119"/>
                  <a:pt x="37241" y="45835"/>
                </a:cubicBezTo>
                <a:cubicBezTo>
                  <a:pt x="37241" y="69550"/>
                  <a:pt x="56495" y="88805"/>
                  <a:pt x="80211" y="88805"/>
                </a:cubicBezTo>
                <a:close/>
                <a:moveTo>
                  <a:pt x="69575" y="108857"/>
                </a:moveTo>
                <a:cubicBezTo>
                  <a:pt x="34304" y="108857"/>
                  <a:pt x="5729" y="137432"/>
                  <a:pt x="5729" y="172703"/>
                </a:cubicBezTo>
                <a:cubicBezTo>
                  <a:pt x="5729" y="178576"/>
                  <a:pt x="10492" y="183338"/>
                  <a:pt x="16364" y="183338"/>
                </a:cubicBezTo>
                <a:lnTo>
                  <a:pt x="144057" y="183338"/>
                </a:lnTo>
                <a:cubicBezTo>
                  <a:pt x="149929" y="183338"/>
                  <a:pt x="154692" y="178576"/>
                  <a:pt x="154692" y="172703"/>
                </a:cubicBezTo>
                <a:cubicBezTo>
                  <a:pt x="154692" y="137432"/>
                  <a:pt x="126117" y="108857"/>
                  <a:pt x="90846" y="108857"/>
                </a:cubicBezTo>
                <a:lnTo>
                  <a:pt x="69575" y="10885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118364" y="1521708"/>
            <a:ext cx="327258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Mental Health Patient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8364" y="1815050"/>
            <a:ext cx="322675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Positioning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8349" y="2145059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6686" y="2277979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12295" y="64168"/>
                </a:moveTo>
                <a:cubicBezTo>
                  <a:pt x="112295" y="37607"/>
                  <a:pt x="90730" y="16042"/>
                  <a:pt x="64168" y="16042"/>
                </a:cubicBezTo>
                <a:cubicBezTo>
                  <a:pt x="37607" y="16042"/>
                  <a:pt x="16042" y="37607"/>
                  <a:pt x="16042" y="64168"/>
                </a:cubicBezTo>
                <a:cubicBezTo>
                  <a:pt x="16042" y="90730"/>
                  <a:pt x="37607" y="112295"/>
                  <a:pt x="64168" y="112295"/>
                </a:cubicBezTo>
                <a:cubicBezTo>
                  <a:pt x="90730" y="112295"/>
                  <a:pt x="112295" y="90730"/>
                  <a:pt x="112295" y="64168"/>
                </a:cubicBezTo>
                <a:close/>
                <a:moveTo>
                  <a:pt x="0" y="64168"/>
                </a:moveTo>
                <a:cubicBezTo>
                  <a:pt x="0" y="28753"/>
                  <a:pt x="28753" y="0"/>
                  <a:pt x="64168" y="0"/>
                </a:cubicBezTo>
                <a:cubicBezTo>
                  <a:pt x="99584" y="0"/>
                  <a:pt x="128337" y="28753"/>
                  <a:pt x="128337" y="64168"/>
                </a:cubicBezTo>
                <a:cubicBezTo>
                  <a:pt x="128337" y="99584"/>
                  <a:pt x="99584" y="128337"/>
                  <a:pt x="64168" y="128337"/>
                </a:cubicBezTo>
                <a:cubicBezTo>
                  <a:pt x="28753" y="128337"/>
                  <a:pt x="0" y="99584"/>
                  <a:pt x="0" y="64168"/>
                </a:cubicBezTo>
                <a:close/>
                <a:moveTo>
                  <a:pt x="64168" y="84221"/>
                </a:moveTo>
                <a:cubicBezTo>
                  <a:pt x="75236" y="84221"/>
                  <a:pt x="84221" y="75236"/>
                  <a:pt x="84221" y="64168"/>
                </a:cubicBezTo>
                <a:cubicBezTo>
                  <a:pt x="84221" y="53101"/>
                  <a:pt x="75236" y="44116"/>
                  <a:pt x="64168" y="44116"/>
                </a:cubicBezTo>
                <a:cubicBezTo>
                  <a:pt x="53101" y="44116"/>
                  <a:pt x="44116" y="53101"/>
                  <a:pt x="44116" y="64168"/>
                </a:cubicBezTo>
                <a:cubicBezTo>
                  <a:pt x="44116" y="75236"/>
                  <a:pt x="53101" y="84221"/>
                  <a:pt x="64168" y="84221"/>
                </a:cubicBezTo>
                <a:close/>
                <a:moveTo>
                  <a:pt x="64168" y="28074"/>
                </a:moveTo>
                <a:cubicBezTo>
                  <a:pt x="84090" y="28074"/>
                  <a:pt x="100263" y="44247"/>
                  <a:pt x="100263" y="64168"/>
                </a:cubicBezTo>
                <a:cubicBezTo>
                  <a:pt x="100263" y="84090"/>
                  <a:pt x="84090" y="100263"/>
                  <a:pt x="64168" y="100263"/>
                </a:cubicBezTo>
                <a:cubicBezTo>
                  <a:pt x="44247" y="100263"/>
                  <a:pt x="28074" y="84090"/>
                  <a:pt x="28074" y="64168"/>
                </a:cubicBezTo>
                <a:cubicBezTo>
                  <a:pt x="28074" y="44247"/>
                  <a:pt x="44247" y="28074"/>
                  <a:pt x="64168" y="28074"/>
                </a:cubicBezTo>
                <a:close/>
                <a:moveTo>
                  <a:pt x="56147" y="64168"/>
                </a:moveTo>
                <a:cubicBezTo>
                  <a:pt x="56147" y="59741"/>
                  <a:pt x="59741" y="56147"/>
                  <a:pt x="64168" y="56147"/>
                </a:cubicBezTo>
                <a:cubicBezTo>
                  <a:pt x="68595" y="56147"/>
                  <a:pt x="72189" y="59741"/>
                  <a:pt x="72189" y="64168"/>
                </a:cubicBezTo>
                <a:cubicBezTo>
                  <a:pt x="72189" y="68595"/>
                  <a:pt x="68595" y="72189"/>
                  <a:pt x="64168" y="72189"/>
                </a:cubicBezTo>
                <a:cubicBezTo>
                  <a:pt x="59741" y="72189"/>
                  <a:pt x="56147" y="68595"/>
                  <a:pt x="56147" y="6416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290" y="2255062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Motivator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8352" y="2475068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 relief (Anxiety, Insomnia, ADHD)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349" y="2915080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6686" y="3048000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8146" y="24063"/>
                </a:moveTo>
                <a:lnTo>
                  <a:pt x="8146" y="61537"/>
                </a:lnTo>
                <a:cubicBezTo>
                  <a:pt x="8146" y="65798"/>
                  <a:pt x="9826" y="69883"/>
                  <a:pt x="12834" y="72891"/>
                </a:cubicBezTo>
                <a:lnTo>
                  <a:pt x="60960" y="121018"/>
                </a:lnTo>
                <a:cubicBezTo>
                  <a:pt x="67226" y="127284"/>
                  <a:pt x="77378" y="127284"/>
                  <a:pt x="83645" y="121018"/>
                </a:cubicBezTo>
                <a:lnTo>
                  <a:pt x="121118" y="83544"/>
                </a:lnTo>
                <a:cubicBezTo>
                  <a:pt x="127384" y="77278"/>
                  <a:pt x="127384" y="67126"/>
                  <a:pt x="121118" y="60860"/>
                </a:cubicBezTo>
                <a:lnTo>
                  <a:pt x="72992" y="12733"/>
                </a:lnTo>
                <a:cubicBezTo>
                  <a:pt x="69984" y="9700"/>
                  <a:pt x="65923" y="8021"/>
                  <a:pt x="61662" y="8021"/>
                </a:cubicBezTo>
                <a:lnTo>
                  <a:pt x="24188" y="8021"/>
                </a:lnTo>
                <a:cubicBezTo>
                  <a:pt x="15340" y="8021"/>
                  <a:pt x="8146" y="15215"/>
                  <a:pt x="8146" y="24063"/>
                </a:cubicBezTo>
                <a:close/>
                <a:moveTo>
                  <a:pt x="36220" y="28074"/>
                </a:moveTo>
                <a:cubicBezTo>
                  <a:pt x="40647" y="28074"/>
                  <a:pt x="44241" y="31668"/>
                  <a:pt x="44241" y="36095"/>
                </a:cubicBezTo>
                <a:cubicBezTo>
                  <a:pt x="44241" y="40522"/>
                  <a:pt x="40647" y="44116"/>
                  <a:pt x="36220" y="44116"/>
                </a:cubicBezTo>
                <a:cubicBezTo>
                  <a:pt x="31793" y="44116"/>
                  <a:pt x="28199" y="40522"/>
                  <a:pt x="28199" y="36095"/>
                </a:cubicBezTo>
                <a:cubicBezTo>
                  <a:pt x="28199" y="31668"/>
                  <a:pt x="31793" y="28074"/>
                  <a:pt x="36220" y="2807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290" y="3025083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Sensitivity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352" y="3245089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- Compares against standard therapy rates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8349" y="3685101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0644" y="3818021"/>
            <a:ext cx="160421" cy="128337"/>
          </a:xfrm>
          <a:custGeom>
            <a:avLst/>
            <a:gdLst/>
            <a:ahLst/>
            <a:cxnLst/>
            <a:rect l="l" t="t" r="r" b="b"/>
            <a:pathLst>
              <a:path w="160421" h="128337">
                <a:moveTo>
                  <a:pt x="6016" y="-4011"/>
                </a:moveTo>
                <a:cubicBezTo>
                  <a:pt x="2682" y="-4011"/>
                  <a:pt x="0" y="-1328"/>
                  <a:pt x="0" y="2005"/>
                </a:cubicBezTo>
                <a:cubicBezTo>
                  <a:pt x="0" y="5339"/>
                  <a:pt x="2682" y="8021"/>
                  <a:pt x="6016" y="8021"/>
                </a:cubicBezTo>
                <a:lnTo>
                  <a:pt x="17371" y="8021"/>
                </a:lnTo>
                <a:cubicBezTo>
                  <a:pt x="18348" y="8021"/>
                  <a:pt x="19175" y="8723"/>
                  <a:pt x="19351" y="9675"/>
                </a:cubicBezTo>
                <a:lnTo>
                  <a:pt x="32410" y="81439"/>
                </a:lnTo>
                <a:cubicBezTo>
                  <a:pt x="33964" y="90011"/>
                  <a:pt x="41434" y="96253"/>
                  <a:pt x="50157" y="96253"/>
                </a:cubicBezTo>
                <a:lnTo>
                  <a:pt x="114300" y="96253"/>
                </a:lnTo>
                <a:cubicBezTo>
                  <a:pt x="117634" y="96253"/>
                  <a:pt x="120316" y="93571"/>
                  <a:pt x="120316" y="90237"/>
                </a:cubicBezTo>
                <a:cubicBezTo>
                  <a:pt x="120316" y="86903"/>
                  <a:pt x="117634" y="84221"/>
                  <a:pt x="114300" y="84221"/>
                </a:cubicBezTo>
                <a:lnTo>
                  <a:pt x="50157" y="84221"/>
                </a:lnTo>
                <a:cubicBezTo>
                  <a:pt x="47249" y="84221"/>
                  <a:pt x="44768" y="82141"/>
                  <a:pt x="44241" y="79283"/>
                </a:cubicBezTo>
                <a:lnTo>
                  <a:pt x="42963" y="72189"/>
                </a:lnTo>
                <a:lnTo>
                  <a:pt x="119062" y="72189"/>
                </a:lnTo>
                <a:cubicBezTo>
                  <a:pt x="126783" y="72189"/>
                  <a:pt x="133400" y="66700"/>
                  <a:pt x="134829" y="59105"/>
                </a:cubicBezTo>
                <a:lnTo>
                  <a:pt x="142599" y="17521"/>
                </a:lnTo>
                <a:cubicBezTo>
                  <a:pt x="143527" y="12583"/>
                  <a:pt x="139742" y="8021"/>
                  <a:pt x="134704" y="8021"/>
                </a:cubicBezTo>
                <a:lnTo>
                  <a:pt x="31257" y="8021"/>
                </a:lnTo>
                <a:lnTo>
                  <a:pt x="31157" y="7520"/>
                </a:lnTo>
                <a:cubicBezTo>
                  <a:pt x="29954" y="852"/>
                  <a:pt x="24138" y="-4011"/>
                  <a:pt x="17346" y="-4011"/>
                </a:cubicBezTo>
                <a:lnTo>
                  <a:pt x="6016" y="-4011"/>
                </a:lnTo>
                <a:close/>
                <a:moveTo>
                  <a:pt x="52137" y="128337"/>
                </a:moveTo>
                <a:cubicBezTo>
                  <a:pt x="58777" y="128337"/>
                  <a:pt x="64168" y="122946"/>
                  <a:pt x="64168" y="116305"/>
                </a:cubicBezTo>
                <a:cubicBezTo>
                  <a:pt x="64168" y="109665"/>
                  <a:pt x="58777" y="104274"/>
                  <a:pt x="52137" y="104274"/>
                </a:cubicBezTo>
                <a:cubicBezTo>
                  <a:pt x="45496" y="104274"/>
                  <a:pt x="40105" y="109665"/>
                  <a:pt x="40105" y="116305"/>
                </a:cubicBezTo>
                <a:cubicBezTo>
                  <a:pt x="40105" y="122946"/>
                  <a:pt x="45496" y="128337"/>
                  <a:pt x="52137" y="128337"/>
                </a:cubicBezTo>
                <a:close/>
                <a:moveTo>
                  <a:pt x="108284" y="128337"/>
                </a:moveTo>
                <a:cubicBezTo>
                  <a:pt x="114925" y="128337"/>
                  <a:pt x="120316" y="122946"/>
                  <a:pt x="120316" y="116305"/>
                </a:cubicBezTo>
                <a:cubicBezTo>
                  <a:pt x="120316" y="109665"/>
                  <a:pt x="114925" y="104274"/>
                  <a:pt x="108284" y="104274"/>
                </a:cubicBezTo>
                <a:cubicBezTo>
                  <a:pt x="101644" y="104274"/>
                  <a:pt x="96253" y="109665"/>
                  <a:pt x="96253" y="116305"/>
                </a:cubicBezTo>
                <a:cubicBezTo>
                  <a:pt x="96253" y="122946"/>
                  <a:pt x="101644" y="128337"/>
                  <a:pt x="108284" y="12833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" name="Text 18"/>
          <p:cNvSpPr/>
          <p:nvPr/>
        </p:nvSpPr>
        <p:spPr>
          <a:xfrm>
            <a:off x="896290" y="3795104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Delivery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352" y="4015110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A-la-carte, transactional </a:t>
            </a:r>
            <a:pPr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$160 sessions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8349" y="4455122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6686" y="4588042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8337" y="24063"/>
                </a:moveTo>
                <a:cubicBezTo>
                  <a:pt x="128337" y="36646"/>
                  <a:pt x="113523" y="55420"/>
                  <a:pt x="107131" y="62915"/>
                </a:cubicBezTo>
                <a:cubicBezTo>
                  <a:pt x="106179" y="64018"/>
                  <a:pt x="104775" y="64444"/>
                  <a:pt x="103497" y="64168"/>
                </a:cubicBezTo>
                <a:lnTo>
                  <a:pt x="80211" y="64168"/>
                </a:lnTo>
                <a:cubicBezTo>
                  <a:pt x="75774" y="64168"/>
                  <a:pt x="72189" y="67753"/>
                  <a:pt x="72189" y="72189"/>
                </a:cubicBezTo>
                <a:cubicBezTo>
                  <a:pt x="72189" y="76626"/>
                  <a:pt x="75774" y="80211"/>
                  <a:pt x="80211" y="80211"/>
                </a:cubicBezTo>
                <a:lnTo>
                  <a:pt x="104274" y="80211"/>
                </a:lnTo>
                <a:cubicBezTo>
                  <a:pt x="117559" y="80211"/>
                  <a:pt x="128337" y="90989"/>
                  <a:pt x="128337" y="104274"/>
                </a:cubicBezTo>
                <a:cubicBezTo>
                  <a:pt x="128337" y="117559"/>
                  <a:pt x="117559" y="128337"/>
                  <a:pt x="104274" y="128337"/>
                </a:cubicBezTo>
                <a:lnTo>
                  <a:pt x="34992" y="128337"/>
                </a:lnTo>
                <a:cubicBezTo>
                  <a:pt x="37173" y="125855"/>
                  <a:pt x="39830" y="122672"/>
                  <a:pt x="42512" y="119113"/>
                </a:cubicBezTo>
                <a:cubicBezTo>
                  <a:pt x="44091" y="117007"/>
                  <a:pt x="45720" y="114701"/>
                  <a:pt x="47274" y="112295"/>
                </a:cubicBezTo>
                <a:lnTo>
                  <a:pt x="104274" y="112295"/>
                </a:lnTo>
                <a:cubicBezTo>
                  <a:pt x="108710" y="112295"/>
                  <a:pt x="112295" y="108710"/>
                  <a:pt x="112295" y="104274"/>
                </a:cubicBezTo>
                <a:cubicBezTo>
                  <a:pt x="112295" y="99837"/>
                  <a:pt x="108710" y="96253"/>
                  <a:pt x="104274" y="96253"/>
                </a:cubicBezTo>
                <a:lnTo>
                  <a:pt x="80211" y="96253"/>
                </a:lnTo>
                <a:cubicBezTo>
                  <a:pt x="66926" y="96253"/>
                  <a:pt x="56147" y="85474"/>
                  <a:pt x="56147" y="72189"/>
                </a:cubicBezTo>
                <a:cubicBezTo>
                  <a:pt x="56147" y="58905"/>
                  <a:pt x="66926" y="48126"/>
                  <a:pt x="80211" y="48126"/>
                </a:cubicBezTo>
                <a:lnTo>
                  <a:pt x="90187" y="48126"/>
                </a:lnTo>
                <a:cubicBezTo>
                  <a:pt x="84923" y="40231"/>
                  <a:pt x="80211" y="31157"/>
                  <a:pt x="80211" y="24063"/>
                </a:cubicBezTo>
                <a:cubicBezTo>
                  <a:pt x="80211" y="10778"/>
                  <a:pt x="90989" y="0"/>
                  <a:pt x="104274" y="0"/>
                </a:cubicBezTo>
                <a:cubicBezTo>
                  <a:pt x="117559" y="0"/>
                  <a:pt x="128337" y="10778"/>
                  <a:pt x="128337" y="24063"/>
                </a:cubicBezTo>
                <a:close/>
                <a:moveTo>
                  <a:pt x="29352" y="122597"/>
                </a:moveTo>
                <a:cubicBezTo>
                  <a:pt x="28400" y="123675"/>
                  <a:pt x="27547" y="124627"/>
                  <a:pt x="26820" y="125429"/>
                </a:cubicBezTo>
                <a:lnTo>
                  <a:pt x="26369" y="125931"/>
                </a:lnTo>
                <a:lnTo>
                  <a:pt x="26319" y="125880"/>
                </a:lnTo>
                <a:cubicBezTo>
                  <a:pt x="24815" y="127033"/>
                  <a:pt x="22659" y="126883"/>
                  <a:pt x="21306" y="125429"/>
                </a:cubicBezTo>
                <a:cubicBezTo>
                  <a:pt x="14989" y="118561"/>
                  <a:pt x="0" y="100890"/>
                  <a:pt x="0" y="88232"/>
                </a:cubicBezTo>
                <a:cubicBezTo>
                  <a:pt x="0" y="74947"/>
                  <a:pt x="10778" y="64168"/>
                  <a:pt x="24063" y="64168"/>
                </a:cubicBezTo>
                <a:cubicBezTo>
                  <a:pt x="37348" y="64168"/>
                  <a:pt x="48126" y="74947"/>
                  <a:pt x="48126" y="88232"/>
                </a:cubicBezTo>
                <a:cubicBezTo>
                  <a:pt x="48126" y="95751"/>
                  <a:pt x="42837" y="105026"/>
                  <a:pt x="37223" y="112771"/>
                </a:cubicBezTo>
                <a:cubicBezTo>
                  <a:pt x="34541" y="116456"/>
                  <a:pt x="31783" y="119789"/>
                  <a:pt x="29502" y="122421"/>
                </a:cubicBezTo>
                <a:lnTo>
                  <a:pt x="29352" y="122597"/>
                </a:lnTo>
                <a:close/>
                <a:moveTo>
                  <a:pt x="32084" y="88232"/>
                </a:moveTo>
                <a:cubicBezTo>
                  <a:pt x="32084" y="83805"/>
                  <a:pt x="28490" y="80211"/>
                  <a:pt x="24063" y="80211"/>
                </a:cubicBezTo>
                <a:cubicBezTo>
                  <a:pt x="19636" y="80211"/>
                  <a:pt x="16042" y="83805"/>
                  <a:pt x="16042" y="88232"/>
                </a:cubicBezTo>
                <a:cubicBezTo>
                  <a:pt x="16042" y="92659"/>
                  <a:pt x="19636" y="96253"/>
                  <a:pt x="24063" y="96253"/>
                </a:cubicBezTo>
                <a:cubicBezTo>
                  <a:pt x="28490" y="96253"/>
                  <a:pt x="32084" y="92659"/>
                  <a:pt x="32084" y="88232"/>
                </a:cubicBezTo>
                <a:close/>
                <a:moveTo>
                  <a:pt x="104274" y="32084"/>
                </a:moveTo>
                <a:cubicBezTo>
                  <a:pt x="108701" y="32084"/>
                  <a:pt x="112295" y="28490"/>
                  <a:pt x="112295" y="24063"/>
                </a:cubicBezTo>
                <a:cubicBezTo>
                  <a:pt x="112295" y="19636"/>
                  <a:pt x="108701" y="16042"/>
                  <a:pt x="104274" y="16042"/>
                </a:cubicBezTo>
                <a:cubicBezTo>
                  <a:pt x="99847" y="16042"/>
                  <a:pt x="96253" y="19636"/>
                  <a:pt x="96253" y="24063"/>
                </a:cubicBezTo>
                <a:cubicBezTo>
                  <a:pt x="96253" y="28490"/>
                  <a:pt x="99847" y="32084"/>
                  <a:pt x="104274" y="3208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896290" y="4565125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Acquisition Channel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352" y="4785131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Word-of-mouth and localized Near Me search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932" y="5229726"/>
            <a:ext cx="5225143" cy="449179"/>
          </a:xfrm>
          <a:prstGeom prst="roundRect">
            <a:avLst>
              <a:gd name="adj" fmla="val 16327"/>
            </a:avLst>
          </a:pr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51" y="5344313"/>
            <a:ext cx="506930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| </a:t>
            </a:r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Risk: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| </a:t>
            </a:r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15-20%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5762" y="1329203"/>
            <a:ext cx="5619320" cy="4546791"/>
          </a:xfrm>
          <a:prstGeom prst="roundRect">
            <a:avLst>
              <a:gd name="adj" fmla="val 2419"/>
            </a:avLst>
          </a:pr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0A192F">
                  <a:alpha val="20000"/>
                </a:srgbClr>
              </a:gs>
            </a:gsLst>
            <a:lin ang="2700000" scaled="1"/>
          </a:gradFill>
          <a:ln w="254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8267" y="1540042"/>
            <a:ext cx="440012" cy="440012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05145" y="1668379"/>
            <a:ext cx="206256" cy="183338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112080" y="31225"/>
                </a:moveTo>
                <a:cubicBezTo>
                  <a:pt x="115374" y="28611"/>
                  <a:pt x="117451" y="24564"/>
                  <a:pt x="117451" y="20053"/>
                </a:cubicBezTo>
                <a:cubicBezTo>
                  <a:pt x="117451" y="12139"/>
                  <a:pt x="111041" y="5729"/>
                  <a:pt x="103128" y="5729"/>
                </a:cubicBezTo>
                <a:cubicBezTo>
                  <a:pt x="95214" y="5729"/>
                  <a:pt x="88805" y="12139"/>
                  <a:pt x="88805" y="20053"/>
                </a:cubicBezTo>
                <a:cubicBezTo>
                  <a:pt x="88805" y="24564"/>
                  <a:pt x="90917" y="28611"/>
                  <a:pt x="94176" y="31225"/>
                </a:cubicBezTo>
                <a:lnTo>
                  <a:pt x="69683" y="69755"/>
                </a:lnTo>
                <a:cubicBezTo>
                  <a:pt x="66102" y="75376"/>
                  <a:pt x="58475" y="76773"/>
                  <a:pt x="53139" y="72762"/>
                </a:cubicBezTo>
                <a:lnTo>
                  <a:pt x="31834" y="56828"/>
                </a:lnTo>
                <a:cubicBezTo>
                  <a:pt x="33445" y="54536"/>
                  <a:pt x="34376" y="51707"/>
                  <a:pt x="34376" y="48699"/>
                </a:cubicBezTo>
                <a:cubicBezTo>
                  <a:pt x="34376" y="40786"/>
                  <a:pt x="27966" y="34376"/>
                  <a:pt x="20053" y="34376"/>
                </a:cubicBezTo>
                <a:cubicBezTo>
                  <a:pt x="12139" y="34376"/>
                  <a:pt x="5729" y="40786"/>
                  <a:pt x="5729" y="48699"/>
                </a:cubicBezTo>
                <a:cubicBezTo>
                  <a:pt x="5729" y="56505"/>
                  <a:pt x="11996" y="62879"/>
                  <a:pt x="19766" y="63023"/>
                </a:cubicBezTo>
                <a:lnTo>
                  <a:pt x="31440" y="140906"/>
                </a:lnTo>
                <a:cubicBezTo>
                  <a:pt x="33123" y="152114"/>
                  <a:pt x="42755" y="160421"/>
                  <a:pt x="54106" y="160421"/>
                </a:cubicBezTo>
                <a:lnTo>
                  <a:pt x="152149" y="160421"/>
                </a:lnTo>
                <a:cubicBezTo>
                  <a:pt x="163501" y="160421"/>
                  <a:pt x="173133" y="152114"/>
                  <a:pt x="174816" y="140906"/>
                </a:cubicBezTo>
                <a:lnTo>
                  <a:pt x="186489" y="63023"/>
                </a:lnTo>
                <a:cubicBezTo>
                  <a:pt x="194260" y="62879"/>
                  <a:pt x="200526" y="56505"/>
                  <a:pt x="200526" y="48699"/>
                </a:cubicBezTo>
                <a:cubicBezTo>
                  <a:pt x="200526" y="40786"/>
                  <a:pt x="194117" y="34376"/>
                  <a:pt x="186203" y="34376"/>
                </a:cubicBezTo>
                <a:cubicBezTo>
                  <a:pt x="178289" y="34376"/>
                  <a:pt x="171880" y="40786"/>
                  <a:pt x="171880" y="48699"/>
                </a:cubicBezTo>
                <a:cubicBezTo>
                  <a:pt x="171880" y="51707"/>
                  <a:pt x="172811" y="54536"/>
                  <a:pt x="174422" y="56828"/>
                </a:cubicBezTo>
                <a:lnTo>
                  <a:pt x="153152" y="72798"/>
                </a:lnTo>
                <a:cubicBezTo>
                  <a:pt x="147817" y="76809"/>
                  <a:pt x="140189" y="75412"/>
                  <a:pt x="136609" y="69790"/>
                </a:cubicBezTo>
                <a:lnTo>
                  <a:pt x="112080" y="3122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6938282" y="1521708"/>
            <a:ext cx="248423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Executive Biohacker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8282" y="1815050"/>
            <a:ext cx="243840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Positioning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8267" y="2145059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16604" y="2277979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12295" y="64168"/>
                </a:moveTo>
                <a:cubicBezTo>
                  <a:pt x="112295" y="37607"/>
                  <a:pt x="90730" y="16042"/>
                  <a:pt x="64168" y="16042"/>
                </a:cubicBezTo>
                <a:cubicBezTo>
                  <a:pt x="37607" y="16042"/>
                  <a:pt x="16042" y="37607"/>
                  <a:pt x="16042" y="64168"/>
                </a:cubicBezTo>
                <a:cubicBezTo>
                  <a:pt x="16042" y="90730"/>
                  <a:pt x="37607" y="112295"/>
                  <a:pt x="64168" y="112295"/>
                </a:cubicBezTo>
                <a:cubicBezTo>
                  <a:pt x="90730" y="112295"/>
                  <a:pt x="112295" y="90730"/>
                  <a:pt x="112295" y="64168"/>
                </a:cubicBezTo>
                <a:close/>
                <a:moveTo>
                  <a:pt x="0" y="64168"/>
                </a:moveTo>
                <a:cubicBezTo>
                  <a:pt x="0" y="28753"/>
                  <a:pt x="28753" y="0"/>
                  <a:pt x="64168" y="0"/>
                </a:cubicBezTo>
                <a:cubicBezTo>
                  <a:pt x="99584" y="0"/>
                  <a:pt x="128337" y="28753"/>
                  <a:pt x="128337" y="64168"/>
                </a:cubicBezTo>
                <a:cubicBezTo>
                  <a:pt x="128337" y="99584"/>
                  <a:pt x="99584" y="128337"/>
                  <a:pt x="64168" y="128337"/>
                </a:cubicBezTo>
                <a:cubicBezTo>
                  <a:pt x="28753" y="128337"/>
                  <a:pt x="0" y="99584"/>
                  <a:pt x="0" y="64168"/>
                </a:cubicBezTo>
                <a:close/>
                <a:moveTo>
                  <a:pt x="64168" y="84221"/>
                </a:moveTo>
                <a:cubicBezTo>
                  <a:pt x="75236" y="84221"/>
                  <a:pt x="84221" y="75236"/>
                  <a:pt x="84221" y="64168"/>
                </a:cubicBezTo>
                <a:cubicBezTo>
                  <a:pt x="84221" y="53101"/>
                  <a:pt x="75236" y="44116"/>
                  <a:pt x="64168" y="44116"/>
                </a:cubicBezTo>
                <a:cubicBezTo>
                  <a:pt x="53101" y="44116"/>
                  <a:pt x="44116" y="53101"/>
                  <a:pt x="44116" y="64168"/>
                </a:cubicBezTo>
                <a:cubicBezTo>
                  <a:pt x="44116" y="75236"/>
                  <a:pt x="53101" y="84221"/>
                  <a:pt x="64168" y="84221"/>
                </a:cubicBezTo>
                <a:close/>
                <a:moveTo>
                  <a:pt x="64168" y="28074"/>
                </a:moveTo>
                <a:cubicBezTo>
                  <a:pt x="84090" y="28074"/>
                  <a:pt x="100263" y="44247"/>
                  <a:pt x="100263" y="64168"/>
                </a:cubicBezTo>
                <a:cubicBezTo>
                  <a:pt x="100263" y="84090"/>
                  <a:pt x="84090" y="100263"/>
                  <a:pt x="64168" y="100263"/>
                </a:cubicBezTo>
                <a:cubicBezTo>
                  <a:pt x="44247" y="100263"/>
                  <a:pt x="28074" y="84090"/>
                  <a:pt x="28074" y="64168"/>
                </a:cubicBezTo>
                <a:cubicBezTo>
                  <a:pt x="28074" y="44247"/>
                  <a:pt x="44247" y="28074"/>
                  <a:pt x="64168" y="28074"/>
                </a:cubicBezTo>
                <a:close/>
                <a:moveTo>
                  <a:pt x="56147" y="64168"/>
                </a:moveTo>
                <a:cubicBezTo>
                  <a:pt x="56147" y="59741"/>
                  <a:pt x="59741" y="56147"/>
                  <a:pt x="64168" y="56147"/>
                </a:cubicBezTo>
                <a:cubicBezTo>
                  <a:pt x="68595" y="56147"/>
                  <a:pt x="72189" y="59741"/>
                  <a:pt x="72189" y="64168"/>
                </a:cubicBezTo>
                <a:cubicBezTo>
                  <a:pt x="72189" y="68595"/>
                  <a:pt x="68595" y="72189"/>
                  <a:pt x="64168" y="72189"/>
                </a:cubicBezTo>
                <a:cubicBezTo>
                  <a:pt x="59741" y="72189"/>
                  <a:pt x="56147" y="68595"/>
                  <a:pt x="56147" y="6416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6716208" y="2255062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Motivator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8270" y="2475068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cognitive performance, reaction time, burnout prevention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8267" y="2915080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16604" y="3048000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8146" y="24063"/>
                </a:moveTo>
                <a:lnTo>
                  <a:pt x="8146" y="61537"/>
                </a:lnTo>
                <a:cubicBezTo>
                  <a:pt x="8146" y="65798"/>
                  <a:pt x="9826" y="69883"/>
                  <a:pt x="12834" y="72891"/>
                </a:cubicBezTo>
                <a:lnTo>
                  <a:pt x="60960" y="121018"/>
                </a:lnTo>
                <a:cubicBezTo>
                  <a:pt x="67226" y="127284"/>
                  <a:pt x="77378" y="127284"/>
                  <a:pt x="83645" y="121018"/>
                </a:cubicBezTo>
                <a:lnTo>
                  <a:pt x="121118" y="83544"/>
                </a:lnTo>
                <a:cubicBezTo>
                  <a:pt x="127384" y="77278"/>
                  <a:pt x="127384" y="67126"/>
                  <a:pt x="121118" y="60860"/>
                </a:cubicBezTo>
                <a:lnTo>
                  <a:pt x="72992" y="12733"/>
                </a:lnTo>
                <a:cubicBezTo>
                  <a:pt x="69984" y="9700"/>
                  <a:pt x="65923" y="8021"/>
                  <a:pt x="61662" y="8021"/>
                </a:cubicBezTo>
                <a:lnTo>
                  <a:pt x="24188" y="8021"/>
                </a:lnTo>
                <a:cubicBezTo>
                  <a:pt x="15340" y="8021"/>
                  <a:pt x="8146" y="15215"/>
                  <a:pt x="8146" y="24063"/>
                </a:cubicBezTo>
                <a:close/>
                <a:moveTo>
                  <a:pt x="36220" y="28074"/>
                </a:moveTo>
                <a:cubicBezTo>
                  <a:pt x="40647" y="28074"/>
                  <a:pt x="44241" y="31668"/>
                  <a:pt x="44241" y="36095"/>
                </a:cubicBezTo>
                <a:cubicBezTo>
                  <a:pt x="44241" y="40522"/>
                  <a:pt x="40647" y="44116"/>
                  <a:pt x="36220" y="44116"/>
                </a:cubicBezTo>
                <a:cubicBezTo>
                  <a:pt x="31793" y="44116"/>
                  <a:pt x="28199" y="40522"/>
                  <a:pt x="28199" y="36095"/>
                </a:cubicBezTo>
                <a:cubicBezTo>
                  <a:pt x="28199" y="31668"/>
                  <a:pt x="31793" y="28074"/>
                  <a:pt x="36220" y="28074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6716208" y="3025083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Sensitivity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8270" y="3245089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- Views brain training as </a:t>
            </a:r>
            <a:pPr>
              <a:lnSpc>
                <a:spcPct val="130000"/>
              </a:lnSpc>
            </a:pPr>
            <a:r>
              <a:rPr lang="en-US" sz="115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ROI-generating investment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8267" y="3685101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00562" y="3818021"/>
            <a:ext cx="160421" cy="128337"/>
          </a:xfrm>
          <a:custGeom>
            <a:avLst/>
            <a:gdLst/>
            <a:ahLst/>
            <a:cxnLst/>
            <a:rect l="l" t="t" r="r" b="b"/>
            <a:pathLst>
              <a:path w="160421" h="128337">
                <a:moveTo>
                  <a:pt x="6016" y="-4011"/>
                </a:moveTo>
                <a:cubicBezTo>
                  <a:pt x="2682" y="-4011"/>
                  <a:pt x="0" y="-1328"/>
                  <a:pt x="0" y="2005"/>
                </a:cubicBezTo>
                <a:cubicBezTo>
                  <a:pt x="0" y="5339"/>
                  <a:pt x="2682" y="8021"/>
                  <a:pt x="6016" y="8021"/>
                </a:cubicBezTo>
                <a:lnTo>
                  <a:pt x="17371" y="8021"/>
                </a:lnTo>
                <a:cubicBezTo>
                  <a:pt x="18348" y="8021"/>
                  <a:pt x="19175" y="8723"/>
                  <a:pt x="19351" y="9675"/>
                </a:cubicBezTo>
                <a:lnTo>
                  <a:pt x="32410" y="81439"/>
                </a:lnTo>
                <a:cubicBezTo>
                  <a:pt x="33964" y="90011"/>
                  <a:pt x="41434" y="96253"/>
                  <a:pt x="50157" y="96253"/>
                </a:cubicBezTo>
                <a:lnTo>
                  <a:pt x="114300" y="96253"/>
                </a:lnTo>
                <a:cubicBezTo>
                  <a:pt x="117634" y="96253"/>
                  <a:pt x="120316" y="93571"/>
                  <a:pt x="120316" y="90237"/>
                </a:cubicBezTo>
                <a:cubicBezTo>
                  <a:pt x="120316" y="86903"/>
                  <a:pt x="117634" y="84221"/>
                  <a:pt x="114300" y="84221"/>
                </a:cubicBezTo>
                <a:lnTo>
                  <a:pt x="50157" y="84221"/>
                </a:lnTo>
                <a:cubicBezTo>
                  <a:pt x="47249" y="84221"/>
                  <a:pt x="44768" y="82141"/>
                  <a:pt x="44241" y="79283"/>
                </a:cubicBezTo>
                <a:lnTo>
                  <a:pt x="42963" y="72189"/>
                </a:lnTo>
                <a:lnTo>
                  <a:pt x="119062" y="72189"/>
                </a:lnTo>
                <a:cubicBezTo>
                  <a:pt x="126783" y="72189"/>
                  <a:pt x="133400" y="66700"/>
                  <a:pt x="134829" y="59105"/>
                </a:cubicBezTo>
                <a:lnTo>
                  <a:pt x="142599" y="17521"/>
                </a:lnTo>
                <a:cubicBezTo>
                  <a:pt x="143527" y="12583"/>
                  <a:pt x="139742" y="8021"/>
                  <a:pt x="134704" y="8021"/>
                </a:cubicBezTo>
                <a:lnTo>
                  <a:pt x="31257" y="8021"/>
                </a:lnTo>
                <a:lnTo>
                  <a:pt x="31157" y="7520"/>
                </a:lnTo>
                <a:cubicBezTo>
                  <a:pt x="29954" y="852"/>
                  <a:pt x="24138" y="-4011"/>
                  <a:pt x="17346" y="-4011"/>
                </a:cubicBezTo>
                <a:lnTo>
                  <a:pt x="6016" y="-4011"/>
                </a:lnTo>
                <a:close/>
                <a:moveTo>
                  <a:pt x="52137" y="128337"/>
                </a:moveTo>
                <a:cubicBezTo>
                  <a:pt x="58777" y="128337"/>
                  <a:pt x="64168" y="122946"/>
                  <a:pt x="64168" y="116305"/>
                </a:cubicBezTo>
                <a:cubicBezTo>
                  <a:pt x="64168" y="109665"/>
                  <a:pt x="58777" y="104274"/>
                  <a:pt x="52137" y="104274"/>
                </a:cubicBezTo>
                <a:cubicBezTo>
                  <a:pt x="45496" y="104274"/>
                  <a:pt x="40105" y="109665"/>
                  <a:pt x="40105" y="116305"/>
                </a:cubicBezTo>
                <a:cubicBezTo>
                  <a:pt x="40105" y="122946"/>
                  <a:pt x="45496" y="128337"/>
                  <a:pt x="52137" y="128337"/>
                </a:cubicBezTo>
                <a:close/>
                <a:moveTo>
                  <a:pt x="108284" y="128337"/>
                </a:moveTo>
                <a:cubicBezTo>
                  <a:pt x="114925" y="128337"/>
                  <a:pt x="120316" y="122946"/>
                  <a:pt x="120316" y="116305"/>
                </a:cubicBezTo>
                <a:cubicBezTo>
                  <a:pt x="120316" y="109665"/>
                  <a:pt x="114925" y="104274"/>
                  <a:pt x="108284" y="104274"/>
                </a:cubicBezTo>
                <a:cubicBezTo>
                  <a:pt x="101644" y="104274"/>
                  <a:pt x="96253" y="109665"/>
                  <a:pt x="96253" y="116305"/>
                </a:cubicBezTo>
                <a:cubicBezTo>
                  <a:pt x="96253" y="122946"/>
                  <a:pt x="101644" y="128337"/>
                  <a:pt x="108284" y="128337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6716208" y="3795104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Delivery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8270" y="4015110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Concierge annual retainers &amp; comprehensive diagnostic packages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8267" y="4455122"/>
            <a:ext cx="5234310" cy="660018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16604" y="4588042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8337" y="24063"/>
                </a:moveTo>
                <a:cubicBezTo>
                  <a:pt x="128337" y="36646"/>
                  <a:pt x="113523" y="55420"/>
                  <a:pt x="107131" y="62915"/>
                </a:cubicBezTo>
                <a:cubicBezTo>
                  <a:pt x="106179" y="64018"/>
                  <a:pt x="104775" y="64444"/>
                  <a:pt x="103497" y="64168"/>
                </a:cubicBezTo>
                <a:lnTo>
                  <a:pt x="80211" y="64168"/>
                </a:lnTo>
                <a:cubicBezTo>
                  <a:pt x="75774" y="64168"/>
                  <a:pt x="72189" y="67753"/>
                  <a:pt x="72189" y="72189"/>
                </a:cubicBezTo>
                <a:cubicBezTo>
                  <a:pt x="72189" y="76626"/>
                  <a:pt x="75774" y="80211"/>
                  <a:pt x="80211" y="80211"/>
                </a:cubicBezTo>
                <a:lnTo>
                  <a:pt x="104274" y="80211"/>
                </a:lnTo>
                <a:cubicBezTo>
                  <a:pt x="117559" y="80211"/>
                  <a:pt x="128337" y="90989"/>
                  <a:pt x="128337" y="104274"/>
                </a:cubicBezTo>
                <a:cubicBezTo>
                  <a:pt x="128337" y="117559"/>
                  <a:pt x="117559" y="128337"/>
                  <a:pt x="104274" y="128337"/>
                </a:cubicBezTo>
                <a:lnTo>
                  <a:pt x="34992" y="128337"/>
                </a:lnTo>
                <a:cubicBezTo>
                  <a:pt x="37173" y="125855"/>
                  <a:pt x="39830" y="122672"/>
                  <a:pt x="42512" y="119113"/>
                </a:cubicBezTo>
                <a:cubicBezTo>
                  <a:pt x="44091" y="117007"/>
                  <a:pt x="45720" y="114701"/>
                  <a:pt x="47274" y="112295"/>
                </a:cubicBezTo>
                <a:lnTo>
                  <a:pt x="104274" y="112295"/>
                </a:lnTo>
                <a:cubicBezTo>
                  <a:pt x="108710" y="112295"/>
                  <a:pt x="112295" y="108710"/>
                  <a:pt x="112295" y="104274"/>
                </a:cubicBezTo>
                <a:cubicBezTo>
                  <a:pt x="112295" y="99837"/>
                  <a:pt x="108710" y="96253"/>
                  <a:pt x="104274" y="96253"/>
                </a:cubicBezTo>
                <a:lnTo>
                  <a:pt x="80211" y="96253"/>
                </a:lnTo>
                <a:cubicBezTo>
                  <a:pt x="66926" y="96253"/>
                  <a:pt x="56147" y="85474"/>
                  <a:pt x="56147" y="72189"/>
                </a:cubicBezTo>
                <a:cubicBezTo>
                  <a:pt x="56147" y="58905"/>
                  <a:pt x="66926" y="48126"/>
                  <a:pt x="80211" y="48126"/>
                </a:cubicBezTo>
                <a:lnTo>
                  <a:pt x="90187" y="48126"/>
                </a:lnTo>
                <a:cubicBezTo>
                  <a:pt x="84923" y="40231"/>
                  <a:pt x="80211" y="31157"/>
                  <a:pt x="80211" y="24063"/>
                </a:cubicBezTo>
                <a:cubicBezTo>
                  <a:pt x="80211" y="10778"/>
                  <a:pt x="90989" y="0"/>
                  <a:pt x="104274" y="0"/>
                </a:cubicBezTo>
                <a:cubicBezTo>
                  <a:pt x="117559" y="0"/>
                  <a:pt x="128337" y="10778"/>
                  <a:pt x="128337" y="24063"/>
                </a:cubicBezTo>
                <a:close/>
                <a:moveTo>
                  <a:pt x="29352" y="122597"/>
                </a:moveTo>
                <a:cubicBezTo>
                  <a:pt x="28400" y="123675"/>
                  <a:pt x="27547" y="124627"/>
                  <a:pt x="26820" y="125429"/>
                </a:cubicBezTo>
                <a:lnTo>
                  <a:pt x="26369" y="125931"/>
                </a:lnTo>
                <a:lnTo>
                  <a:pt x="26319" y="125880"/>
                </a:lnTo>
                <a:cubicBezTo>
                  <a:pt x="24815" y="127033"/>
                  <a:pt x="22659" y="126883"/>
                  <a:pt x="21306" y="125429"/>
                </a:cubicBezTo>
                <a:cubicBezTo>
                  <a:pt x="14989" y="118561"/>
                  <a:pt x="0" y="100890"/>
                  <a:pt x="0" y="88232"/>
                </a:cubicBezTo>
                <a:cubicBezTo>
                  <a:pt x="0" y="74947"/>
                  <a:pt x="10778" y="64168"/>
                  <a:pt x="24063" y="64168"/>
                </a:cubicBezTo>
                <a:cubicBezTo>
                  <a:pt x="37348" y="64168"/>
                  <a:pt x="48126" y="74947"/>
                  <a:pt x="48126" y="88232"/>
                </a:cubicBezTo>
                <a:cubicBezTo>
                  <a:pt x="48126" y="95751"/>
                  <a:pt x="42837" y="105026"/>
                  <a:pt x="37223" y="112771"/>
                </a:cubicBezTo>
                <a:cubicBezTo>
                  <a:pt x="34541" y="116456"/>
                  <a:pt x="31783" y="119789"/>
                  <a:pt x="29502" y="122421"/>
                </a:cubicBezTo>
                <a:lnTo>
                  <a:pt x="29352" y="122597"/>
                </a:lnTo>
                <a:close/>
                <a:moveTo>
                  <a:pt x="32084" y="88232"/>
                </a:moveTo>
                <a:cubicBezTo>
                  <a:pt x="32084" y="83805"/>
                  <a:pt x="28490" y="80211"/>
                  <a:pt x="24063" y="80211"/>
                </a:cubicBezTo>
                <a:cubicBezTo>
                  <a:pt x="19636" y="80211"/>
                  <a:pt x="16042" y="83805"/>
                  <a:pt x="16042" y="88232"/>
                </a:cubicBezTo>
                <a:cubicBezTo>
                  <a:pt x="16042" y="92659"/>
                  <a:pt x="19636" y="96253"/>
                  <a:pt x="24063" y="96253"/>
                </a:cubicBezTo>
                <a:cubicBezTo>
                  <a:pt x="28490" y="96253"/>
                  <a:pt x="32084" y="92659"/>
                  <a:pt x="32084" y="88232"/>
                </a:cubicBezTo>
                <a:close/>
                <a:moveTo>
                  <a:pt x="104274" y="32084"/>
                </a:moveTo>
                <a:cubicBezTo>
                  <a:pt x="108701" y="32084"/>
                  <a:pt x="112295" y="28490"/>
                  <a:pt x="112295" y="24063"/>
                </a:cubicBezTo>
                <a:cubicBezTo>
                  <a:pt x="112295" y="19636"/>
                  <a:pt x="108701" y="16042"/>
                  <a:pt x="104274" y="16042"/>
                </a:cubicBezTo>
                <a:cubicBezTo>
                  <a:pt x="99847" y="16042"/>
                  <a:pt x="96253" y="19636"/>
                  <a:pt x="96253" y="24063"/>
                </a:cubicBezTo>
                <a:cubicBezTo>
                  <a:pt x="96253" y="28490"/>
                  <a:pt x="99847" y="32084"/>
                  <a:pt x="104274" y="32084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6716208" y="4565125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Acquisition Channel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98270" y="4785131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Corporate Outreach and targeted LinkedIn HR funnels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2851" y="5229726"/>
            <a:ext cx="5225143" cy="449179"/>
          </a:xfrm>
          <a:prstGeom prst="roundRect">
            <a:avLst>
              <a:gd name="adj" fmla="val 16327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0769" y="5344313"/>
            <a:ext cx="506930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2.18x Higher | </a:t>
            </a:r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80%+ | </a:t>
            </a:r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Margin:</a:t>
            </a:r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25-30%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71260" y="6036415"/>
            <a:ext cx="11449480" cy="815856"/>
          </a:xfrm>
          <a:prstGeom prst="roundRect">
            <a:avLst>
              <a:gd name="adj" fmla="val 13483"/>
            </a:avLst>
          </a:prstGeom>
          <a:gradFill rotWithShape="1" flip="none">
            <a:gsLst>
              <a:gs pos="0">
                <a:srgbClr val="D4AF37">
                  <a:alpha val="20000"/>
                </a:srgbClr>
              </a:gs>
              <a:gs pos="100000">
                <a:srgbClr val="64FFDA">
                  <a:alpha val="20000"/>
                </a:srgbClr>
              </a:gs>
            </a:gsLst>
            <a:lin ang="0" scaled="1"/>
          </a:gra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3558" y="6306839"/>
            <a:ext cx="206256" cy="275008"/>
          </a:xfrm>
          <a:custGeom>
            <a:avLst/>
            <a:gdLst/>
            <a:ahLst/>
            <a:cxnLst/>
            <a:rect l="l" t="t" r="r" b="b"/>
            <a:pathLst>
              <a:path w="206256" h="275008">
                <a:moveTo>
                  <a:pt x="157324" y="206256"/>
                </a:moveTo>
                <a:cubicBezTo>
                  <a:pt x="161245" y="194278"/>
                  <a:pt x="169087" y="183428"/>
                  <a:pt x="177949" y="174082"/>
                </a:cubicBezTo>
                <a:cubicBezTo>
                  <a:pt x="195513" y="155605"/>
                  <a:pt x="206256" y="130629"/>
                  <a:pt x="206256" y="103128"/>
                </a:cubicBezTo>
                <a:cubicBezTo>
                  <a:pt x="206256" y="46193"/>
                  <a:pt x="160063" y="0"/>
                  <a:pt x="103128" y="0"/>
                </a:cubicBezTo>
                <a:cubicBezTo>
                  <a:pt x="46193" y="0"/>
                  <a:pt x="0" y="46193"/>
                  <a:pt x="0" y="103128"/>
                </a:cubicBezTo>
                <a:cubicBezTo>
                  <a:pt x="0" y="130629"/>
                  <a:pt x="10742" y="155605"/>
                  <a:pt x="28306" y="174082"/>
                </a:cubicBezTo>
                <a:cubicBezTo>
                  <a:pt x="37169" y="183428"/>
                  <a:pt x="45065" y="194278"/>
                  <a:pt x="48932" y="206256"/>
                </a:cubicBezTo>
                <a:lnTo>
                  <a:pt x="157270" y="206256"/>
                </a:lnTo>
                <a:close/>
                <a:moveTo>
                  <a:pt x="154692" y="232038"/>
                </a:moveTo>
                <a:lnTo>
                  <a:pt x="51564" y="232038"/>
                </a:lnTo>
                <a:lnTo>
                  <a:pt x="51564" y="240632"/>
                </a:lnTo>
                <a:cubicBezTo>
                  <a:pt x="51564" y="264372"/>
                  <a:pt x="70793" y="283602"/>
                  <a:pt x="94534" y="283602"/>
                </a:cubicBezTo>
                <a:lnTo>
                  <a:pt x="111722" y="283602"/>
                </a:lnTo>
                <a:cubicBezTo>
                  <a:pt x="135463" y="283602"/>
                  <a:pt x="154692" y="264372"/>
                  <a:pt x="154692" y="240632"/>
                </a:cubicBezTo>
                <a:lnTo>
                  <a:pt x="154692" y="232038"/>
                </a:lnTo>
                <a:close/>
                <a:moveTo>
                  <a:pt x="98831" y="60158"/>
                </a:moveTo>
                <a:cubicBezTo>
                  <a:pt x="77453" y="60158"/>
                  <a:pt x="60158" y="77453"/>
                  <a:pt x="60158" y="98831"/>
                </a:cubicBezTo>
                <a:cubicBezTo>
                  <a:pt x="60158" y="105975"/>
                  <a:pt x="54411" y="111722"/>
                  <a:pt x="47267" y="111722"/>
                </a:cubicBezTo>
                <a:cubicBezTo>
                  <a:pt x="40123" y="111722"/>
                  <a:pt x="34376" y="105975"/>
                  <a:pt x="34376" y="98831"/>
                </a:cubicBezTo>
                <a:cubicBezTo>
                  <a:pt x="34376" y="63220"/>
                  <a:pt x="63220" y="34376"/>
                  <a:pt x="98831" y="34376"/>
                </a:cubicBezTo>
                <a:cubicBezTo>
                  <a:pt x="105975" y="34376"/>
                  <a:pt x="111722" y="40123"/>
                  <a:pt x="111722" y="47267"/>
                </a:cubicBezTo>
                <a:cubicBezTo>
                  <a:pt x="111722" y="54411"/>
                  <a:pt x="105975" y="60158"/>
                  <a:pt x="98831" y="6015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3" name="Text 51"/>
          <p:cNvSpPr/>
          <p:nvPr/>
        </p:nvSpPr>
        <p:spPr>
          <a:xfrm>
            <a:off x="1012944" y="6187669"/>
            <a:ext cx="866273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12944" y="6481011"/>
            <a:ext cx="86535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pivoting from transactional to concierge model, we increase average transaction value by </a:t>
            </a:r>
            <a:pPr>
              <a:lnSpc>
                <a:spcPct val="130000"/>
              </a:lnSpc>
            </a:pPr>
            <a:r>
              <a:rPr lang="en-US" sz="115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2.18x</a:t>
            </a:r>
            <a:pPr>
              <a:lnSpc>
                <a:spcPct val="130000"/>
              </a:lnSpc>
            </a:pPr>
            <a:r>
              <a:rPr lang="en-US" sz="115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improve client retention to </a:t>
            </a:r>
            <a:pPr>
              <a:lnSpc>
                <a:spcPct val="130000"/>
              </a:lnSpc>
            </a:pPr>
            <a:r>
              <a:rPr lang="en-US" sz="115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45536" y="6187669"/>
            <a:ext cx="111836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Client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72200" y="6371008"/>
            <a:ext cx="1191699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65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$3,500+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9f9a2abc38c994451d3a73cb25745c681e1333c4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8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57313"/>
            <a:ext cx="1428750" cy="428625"/>
          </a:xfrm>
          <a:prstGeom prst="roundRect">
            <a:avLst>
              <a:gd name="adj" fmla="val 17778"/>
            </a:avLst>
          </a:prstGeom>
          <a:solidFill>
            <a:srgbClr val="64FFDA">
              <a:alpha val="2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4382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19300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Multi-Angle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Engine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76650"/>
            <a:ext cx="1524000" cy="5715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3860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Three-phase implementation: Profit-First Setup, Multi-Channel Execution, and Automated Triage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5288" y="525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387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1-7: Foundation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57847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2" name="Text 9"/>
          <p:cNvSpPr/>
          <p:nvPr/>
        </p:nvSpPr>
        <p:spPr>
          <a:xfrm>
            <a:off x="3029322" y="52387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8-45: Execution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16463" y="5257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4" name="Text 11"/>
          <p:cNvSpPr/>
          <p:nvPr/>
        </p:nvSpPr>
        <p:spPr>
          <a:xfrm>
            <a:off x="5316513" y="52387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46-90: Automation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spc="5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• Days 1-7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"Profit-First"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094" y="1044283"/>
            <a:ext cx="1157413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existing assets and technical tracking to ensure zero wasted ad spend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094" y="1392377"/>
            <a:ext cx="835426" cy="34809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6" name="Shape 4"/>
          <p:cNvSpPr/>
          <p:nvPr/>
        </p:nvSpPr>
        <p:spPr>
          <a:xfrm>
            <a:off x="348094" y="1583829"/>
            <a:ext cx="3715906" cy="4351178"/>
          </a:xfrm>
          <a:custGeom>
            <a:avLst/>
            <a:gdLst/>
            <a:ahLst/>
            <a:cxnLst/>
            <a:rect l="l" t="t" r="r" b="b"/>
            <a:pathLst>
              <a:path w="3715906" h="4351178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4246753"/>
                </a:lnTo>
                <a:cubicBezTo>
                  <a:pt x="3715893" y="4304408"/>
                  <a:pt x="3669154" y="4351147"/>
                  <a:pt x="3611499" y="4351147"/>
                </a:cubicBezTo>
                <a:lnTo>
                  <a:pt x="104394" y="4351147"/>
                </a:lnTo>
                <a:cubicBezTo>
                  <a:pt x="46739" y="4351147"/>
                  <a:pt x="0" y="4304408"/>
                  <a:pt x="0" y="4246753"/>
                </a:cubicBez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48094" y="1583829"/>
            <a:ext cx="3715906" cy="34809"/>
          </a:xfrm>
          <a:custGeom>
            <a:avLst/>
            <a:gdLst/>
            <a:ahLst/>
            <a:cxnLst/>
            <a:rect l="l" t="t" r="r" b="b"/>
            <a:pathLst>
              <a:path w="3715906" h="34809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34798"/>
                </a:lnTo>
                <a:lnTo>
                  <a:pt x="0" y="34798"/>
                </a:ln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522141" y="1775281"/>
            <a:ext cx="487332" cy="487332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7368" y="1879709"/>
            <a:ext cx="32198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3901" y="1810090"/>
            <a:ext cx="199283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Mining &amp; Win-Back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3901" y="2053756"/>
            <a:ext cx="196673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1 • Zero Ad Spend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2141" y="2401850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3974" y="2528034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7615" y="15229"/>
                </a:moveTo>
                <a:cubicBezTo>
                  <a:pt x="4545" y="15229"/>
                  <a:pt x="1761" y="17085"/>
                  <a:pt x="571" y="19941"/>
                </a:cubicBezTo>
                <a:cubicBezTo>
                  <a:pt x="-619" y="22796"/>
                  <a:pt x="48" y="26056"/>
                  <a:pt x="2237" y="28221"/>
                </a:cubicBezTo>
                <a:lnTo>
                  <a:pt x="45687" y="71696"/>
                </a:lnTo>
                <a:lnTo>
                  <a:pt x="45687" y="98989"/>
                </a:lnTo>
                <a:cubicBezTo>
                  <a:pt x="45687" y="101012"/>
                  <a:pt x="46496" y="102939"/>
                  <a:pt x="47924" y="104367"/>
                </a:cubicBezTo>
                <a:lnTo>
                  <a:pt x="63153" y="119596"/>
                </a:lnTo>
                <a:cubicBezTo>
                  <a:pt x="65342" y="121785"/>
                  <a:pt x="68602" y="122428"/>
                  <a:pt x="71458" y="121238"/>
                </a:cubicBezTo>
                <a:cubicBezTo>
                  <a:pt x="74313" y="120048"/>
                  <a:pt x="76146" y="117288"/>
                  <a:pt x="76146" y="114218"/>
                </a:cubicBezTo>
                <a:lnTo>
                  <a:pt x="76146" y="71696"/>
                </a:lnTo>
                <a:lnTo>
                  <a:pt x="119596" y="28245"/>
                </a:lnTo>
                <a:cubicBezTo>
                  <a:pt x="121785" y="26056"/>
                  <a:pt x="122428" y="22796"/>
                  <a:pt x="121238" y="19941"/>
                </a:cubicBezTo>
                <a:cubicBezTo>
                  <a:pt x="120048" y="17085"/>
                  <a:pt x="117288" y="15229"/>
                  <a:pt x="114218" y="15229"/>
                </a:cubicBezTo>
                <a:lnTo>
                  <a:pt x="7615" y="1522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30917" y="2506278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570" y="2749944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database for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"Inactive"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patients (6+ months without visit)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2141" y="3376514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6360" y="3502698"/>
            <a:ext cx="137062" cy="121833"/>
          </a:xfrm>
          <a:custGeom>
            <a:avLst/>
            <a:gdLst/>
            <a:ahLst/>
            <a:cxnLst/>
            <a:rect l="l" t="t" r="r" b="b"/>
            <a:pathLst>
              <a:path w="137062" h="121833">
                <a:moveTo>
                  <a:pt x="127639" y="-6258"/>
                </a:moveTo>
                <a:cubicBezTo>
                  <a:pt x="129971" y="-7091"/>
                  <a:pt x="132541" y="-6496"/>
                  <a:pt x="134302" y="-4759"/>
                </a:cubicBezTo>
                <a:cubicBezTo>
                  <a:pt x="136063" y="-3022"/>
                  <a:pt x="136634" y="-428"/>
                  <a:pt x="135801" y="1904"/>
                </a:cubicBezTo>
                <a:lnTo>
                  <a:pt x="93445" y="120143"/>
                </a:lnTo>
                <a:cubicBezTo>
                  <a:pt x="92255" y="123451"/>
                  <a:pt x="89138" y="125640"/>
                  <a:pt x="85640" y="125640"/>
                </a:cubicBezTo>
                <a:cubicBezTo>
                  <a:pt x="82261" y="125640"/>
                  <a:pt x="79215" y="123594"/>
                  <a:pt x="77954" y="120477"/>
                </a:cubicBezTo>
                <a:lnTo>
                  <a:pt x="62677" y="82880"/>
                </a:lnTo>
                <a:cubicBezTo>
                  <a:pt x="61607" y="80262"/>
                  <a:pt x="62082" y="77264"/>
                  <a:pt x="63915" y="75122"/>
                </a:cubicBezTo>
                <a:lnTo>
                  <a:pt x="86401" y="48376"/>
                </a:lnTo>
                <a:cubicBezTo>
                  <a:pt x="87615" y="46925"/>
                  <a:pt x="87520" y="44807"/>
                  <a:pt x="86187" y="43474"/>
                </a:cubicBezTo>
                <a:cubicBezTo>
                  <a:pt x="84855" y="42142"/>
                  <a:pt x="82713" y="42047"/>
                  <a:pt x="81285" y="43260"/>
                </a:cubicBezTo>
                <a:lnTo>
                  <a:pt x="54539" y="65699"/>
                </a:lnTo>
                <a:cubicBezTo>
                  <a:pt x="52374" y="67508"/>
                  <a:pt x="49399" y="67984"/>
                  <a:pt x="46782" y="66937"/>
                </a:cubicBezTo>
                <a:lnTo>
                  <a:pt x="9066" y="51589"/>
                </a:lnTo>
                <a:cubicBezTo>
                  <a:pt x="5949" y="50327"/>
                  <a:pt x="3902" y="47282"/>
                  <a:pt x="3902" y="43903"/>
                </a:cubicBezTo>
                <a:cubicBezTo>
                  <a:pt x="3902" y="40405"/>
                  <a:pt x="6092" y="37288"/>
                  <a:pt x="9399" y="36098"/>
                </a:cubicBezTo>
                <a:lnTo>
                  <a:pt x="127639" y="-6258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30917" y="3480942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570" y="3724608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personalized WhatsApp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"Health Checkup"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 with exclusive return discount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2141" y="4351178"/>
            <a:ext cx="3367812" cy="661379"/>
          </a:xfrm>
          <a:prstGeom prst="roundRect">
            <a:avLst>
              <a:gd name="adj" fmla="val 1052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3974" y="4477362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15229" y="15229"/>
                </a:moveTo>
                <a:cubicBezTo>
                  <a:pt x="15229" y="11017"/>
                  <a:pt x="11826" y="7615"/>
                  <a:pt x="7615" y="7615"/>
                </a:cubicBezTo>
                <a:cubicBezTo>
                  <a:pt x="3403" y="7615"/>
                  <a:pt x="0" y="11017"/>
                  <a:pt x="0" y="15229"/>
                </a:cubicBezTo>
                <a:lnTo>
                  <a:pt x="0" y="95182"/>
                </a:lnTo>
                <a:cubicBezTo>
                  <a:pt x="0" y="105700"/>
                  <a:pt x="8519" y="114218"/>
                  <a:pt x="19036" y="114218"/>
                </a:cubicBezTo>
                <a:lnTo>
                  <a:pt x="114218" y="114218"/>
                </a:lnTo>
                <a:cubicBezTo>
                  <a:pt x="118430" y="114218"/>
                  <a:pt x="121833" y="110816"/>
                  <a:pt x="121833" y="106604"/>
                </a:cubicBezTo>
                <a:cubicBezTo>
                  <a:pt x="121833" y="102392"/>
                  <a:pt x="118430" y="98989"/>
                  <a:pt x="114218" y="98989"/>
                </a:cubicBezTo>
                <a:lnTo>
                  <a:pt x="19036" y="98989"/>
                </a:lnTo>
                <a:cubicBezTo>
                  <a:pt x="16942" y="98989"/>
                  <a:pt x="15229" y="97276"/>
                  <a:pt x="15229" y="95182"/>
                </a:cubicBezTo>
                <a:lnTo>
                  <a:pt x="15229" y="15229"/>
                </a:lnTo>
                <a:close/>
                <a:moveTo>
                  <a:pt x="111982" y="35836"/>
                </a:moveTo>
                <a:cubicBezTo>
                  <a:pt x="114956" y="32862"/>
                  <a:pt x="114956" y="28031"/>
                  <a:pt x="111982" y="25057"/>
                </a:cubicBezTo>
                <a:cubicBezTo>
                  <a:pt x="109007" y="22082"/>
                  <a:pt x="104177" y="22082"/>
                  <a:pt x="101202" y="25057"/>
                </a:cubicBezTo>
                <a:lnTo>
                  <a:pt x="76146" y="50137"/>
                </a:lnTo>
                <a:lnTo>
                  <a:pt x="62487" y="36502"/>
                </a:lnTo>
                <a:cubicBezTo>
                  <a:pt x="59513" y="33528"/>
                  <a:pt x="54682" y="33528"/>
                  <a:pt x="51708" y="36502"/>
                </a:cubicBezTo>
                <a:lnTo>
                  <a:pt x="28864" y="59346"/>
                </a:lnTo>
                <a:cubicBezTo>
                  <a:pt x="25890" y="62320"/>
                  <a:pt x="25890" y="67151"/>
                  <a:pt x="28864" y="70125"/>
                </a:cubicBezTo>
                <a:cubicBezTo>
                  <a:pt x="31838" y="73100"/>
                  <a:pt x="36669" y="73100"/>
                  <a:pt x="39643" y="70125"/>
                </a:cubicBezTo>
                <a:lnTo>
                  <a:pt x="57109" y="52659"/>
                </a:lnTo>
                <a:lnTo>
                  <a:pt x="70768" y="66318"/>
                </a:lnTo>
                <a:cubicBezTo>
                  <a:pt x="73742" y="69293"/>
                  <a:pt x="78573" y="69293"/>
                  <a:pt x="81547" y="66318"/>
                </a:cubicBezTo>
                <a:lnTo>
                  <a:pt x="112005" y="3586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830917" y="4455606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Result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570" y="4699272"/>
            <a:ext cx="322857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cash flow with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ad spend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6493" y="5330193"/>
            <a:ext cx="3359109" cy="426415"/>
          </a:xfrm>
          <a:prstGeom prst="roundRect">
            <a:avLst>
              <a:gd name="adj" fmla="val 16327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463" y="5438972"/>
            <a:ext cx="32111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</a:t>
            </a:r>
            <a:pPr algn="ctr"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15-25% reactivation 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7707" y="1583829"/>
            <a:ext cx="3715906" cy="4351178"/>
          </a:xfrm>
          <a:custGeom>
            <a:avLst/>
            <a:gdLst/>
            <a:ahLst/>
            <a:cxnLst/>
            <a:rect l="l" t="t" r="r" b="b"/>
            <a:pathLst>
              <a:path w="3715906" h="4351178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4246753"/>
                </a:lnTo>
                <a:cubicBezTo>
                  <a:pt x="3715893" y="4304408"/>
                  <a:pt x="3669154" y="4351147"/>
                  <a:pt x="3611499" y="4351147"/>
                </a:cubicBezTo>
                <a:lnTo>
                  <a:pt x="104394" y="4351147"/>
                </a:lnTo>
                <a:cubicBezTo>
                  <a:pt x="46739" y="4351147"/>
                  <a:pt x="0" y="4304408"/>
                  <a:pt x="0" y="4246753"/>
                </a:cubicBez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4237707" y="1583829"/>
            <a:ext cx="3715906" cy="34809"/>
          </a:xfrm>
          <a:custGeom>
            <a:avLst/>
            <a:gdLst/>
            <a:ahLst/>
            <a:cxnLst/>
            <a:rect l="l" t="t" r="r" b="b"/>
            <a:pathLst>
              <a:path w="3715906" h="34809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34798"/>
                </a:lnTo>
                <a:lnTo>
                  <a:pt x="0" y="34798"/>
                </a:ln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8" name="Shape 26"/>
          <p:cNvSpPr/>
          <p:nvPr/>
        </p:nvSpPr>
        <p:spPr>
          <a:xfrm>
            <a:off x="4411754" y="1775281"/>
            <a:ext cx="487332" cy="487332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28080" y="1879709"/>
            <a:ext cx="35679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03514" y="1810090"/>
            <a:ext cx="234963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SEO &amp; Google Business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03514" y="2053756"/>
            <a:ext cx="232352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2 • Foundation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1754" y="2401850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33587" y="2528034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98989" y="49495"/>
                </a:moveTo>
                <a:cubicBezTo>
                  <a:pt x="98989" y="60417"/>
                  <a:pt x="95444" y="70506"/>
                  <a:pt x="89471" y="78692"/>
                </a:cubicBezTo>
                <a:lnTo>
                  <a:pt x="119596" y="108841"/>
                </a:lnTo>
                <a:cubicBezTo>
                  <a:pt x="122571" y="111815"/>
                  <a:pt x="122571" y="116646"/>
                  <a:pt x="119596" y="119620"/>
                </a:cubicBezTo>
                <a:cubicBezTo>
                  <a:pt x="116622" y="122594"/>
                  <a:pt x="111791" y="122594"/>
                  <a:pt x="108817" y="119620"/>
                </a:cubicBezTo>
                <a:lnTo>
                  <a:pt x="78692" y="89471"/>
                </a:lnTo>
                <a:cubicBezTo>
                  <a:pt x="70506" y="95444"/>
                  <a:pt x="60417" y="98989"/>
                  <a:pt x="49495" y="98989"/>
                </a:cubicBezTo>
                <a:cubicBezTo>
                  <a:pt x="22154" y="98989"/>
                  <a:pt x="0" y="76836"/>
                  <a:pt x="0" y="49495"/>
                </a:cubicBezTo>
                <a:cubicBezTo>
                  <a:pt x="0" y="22154"/>
                  <a:pt x="22154" y="0"/>
                  <a:pt x="49495" y="0"/>
                </a:cubicBezTo>
                <a:cubicBezTo>
                  <a:pt x="76836" y="0"/>
                  <a:pt x="98989" y="22154"/>
                  <a:pt x="98989" y="49495"/>
                </a:cubicBezTo>
                <a:close/>
                <a:moveTo>
                  <a:pt x="49495" y="83760"/>
                </a:moveTo>
                <a:cubicBezTo>
                  <a:pt x="68406" y="83760"/>
                  <a:pt x="83760" y="68406"/>
                  <a:pt x="83760" y="49495"/>
                </a:cubicBezTo>
                <a:cubicBezTo>
                  <a:pt x="83760" y="30583"/>
                  <a:pt x="68406" y="15229"/>
                  <a:pt x="49495" y="15229"/>
                </a:cubicBezTo>
                <a:cubicBezTo>
                  <a:pt x="30583" y="15229"/>
                  <a:pt x="15229" y="30583"/>
                  <a:pt x="15229" y="49495"/>
                </a:cubicBezTo>
                <a:cubicBezTo>
                  <a:pt x="15229" y="68406"/>
                  <a:pt x="30583" y="83760"/>
                  <a:pt x="49495" y="8376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4" name="Text 32"/>
          <p:cNvSpPr/>
          <p:nvPr/>
        </p:nvSpPr>
        <p:spPr>
          <a:xfrm>
            <a:off x="4720530" y="2506278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16183" y="2749944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NAP consistency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(Name, Address, Phone) for Casablanca and Marrakech centers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11754" y="3376514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25973" y="3502698"/>
            <a:ext cx="137062" cy="121833"/>
          </a:xfrm>
          <a:custGeom>
            <a:avLst/>
            <a:gdLst/>
            <a:ahLst/>
            <a:cxnLst/>
            <a:rect l="l" t="t" r="r" b="b"/>
            <a:pathLst>
              <a:path w="137062" h="121833">
                <a:moveTo>
                  <a:pt x="15229" y="15229"/>
                </a:moveTo>
                <a:cubicBezTo>
                  <a:pt x="6829" y="15229"/>
                  <a:pt x="0" y="22058"/>
                  <a:pt x="0" y="30458"/>
                </a:cubicBezTo>
                <a:lnTo>
                  <a:pt x="0" y="91375"/>
                </a:lnTo>
                <a:cubicBezTo>
                  <a:pt x="0" y="99775"/>
                  <a:pt x="6829" y="106604"/>
                  <a:pt x="15229" y="106604"/>
                </a:cubicBezTo>
                <a:lnTo>
                  <a:pt x="121833" y="106604"/>
                </a:lnTo>
                <a:cubicBezTo>
                  <a:pt x="130233" y="106604"/>
                  <a:pt x="137062" y="99775"/>
                  <a:pt x="137062" y="91375"/>
                </a:cubicBezTo>
                <a:lnTo>
                  <a:pt x="137062" y="30458"/>
                </a:lnTo>
                <a:cubicBezTo>
                  <a:pt x="137062" y="22058"/>
                  <a:pt x="130233" y="15229"/>
                  <a:pt x="121833" y="15229"/>
                </a:cubicBezTo>
                <a:lnTo>
                  <a:pt x="15229" y="15229"/>
                </a:lnTo>
                <a:close/>
                <a:moveTo>
                  <a:pt x="19036" y="30458"/>
                </a:moveTo>
                <a:lnTo>
                  <a:pt x="26651" y="30458"/>
                </a:lnTo>
                <a:cubicBezTo>
                  <a:pt x="28745" y="30458"/>
                  <a:pt x="30458" y="32172"/>
                  <a:pt x="30458" y="34266"/>
                </a:cubicBezTo>
                <a:lnTo>
                  <a:pt x="30458" y="41880"/>
                </a:lnTo>
                <a:cubicBezTo>
                  <a:pt x="30458" y="43974"/>
                  <a:pt x="28745" y="45687"/>
                  <a:pt x="26651" y="45687"/>
                </a:cubicBezTo>
                <a:lnTo>
                  <a:pt x="19036" y="45687"/>
                </a:lnTo>
                <a:cubicBezTo>
                  <a:pt x="16942" y="45687"/>
                  <a:pt x="15229" y="43974"/>
                  <a:pt x="15229" y="41880"/>
                </a:cubicBezTo>
                <a:lnTo>
                  <a:pt x="15229" y="34266"/>
                </a:lnTo>
                <a:cubicBezTo>
                  <a:pt x="15229" y="32172"/>
                  <a:pt x="16942" y="30458"/>
                  <a:pt x="19036" y="30458"/>
                </a:cubicBezTo>
                <a:close/>
                <a:moveTo>
                  <a:pt x="15229" y="57109"/>
                </a:moveTo>
                <a:cubicBezTo>
                  <a:pt x="15229" y="55015"/>
                  <a:pt x="16942" y="53302"/>
                  <a:pt x="19036" y="53302"/>
                </a:cubicBezTo>
                <a:lnTo>
                  <a:pt x="26651" y="53302"/>
                </a:lnTo>
                <a:cubicBezTo>
                  <a:pt x="28745" y="53302"/>
                  <a:pt x="30458" y="55015"/>
                  <a:pt x="30458" y="57109"/>
                </a:cubicBezTo>
                <a:lnTo>
                  <a:pt x="30458" y="64724"/>
                </a:lnTo>
                <a:cubicBezTo>
                  <a:pt x="30458" y="66818"/>
                  <a:pt x="28745" y="68531"/>
                  <a:pt x="26651" y="68531"/>
                </a:cubicBezTo>
                <a:lnTo>
                  <a:pt x="19036" y="68531"/>
                </a:lnTo>
                <a:cubicBezTo>
                  <a:pt x="16942" y="68531"/>
                  <a:pt x="15229" y="66818"/>
                  <a:pt x="15229" y="64724"/>
                </a:cubicBezTo>
                <a:lnTo>
                  <a:pt x="15229" y="57109"/>
                </a:lnTo>
                <a:close/>
                <a:moveTo>
                  <a:pt x="41880" y="30458"/>
                </a:moveTo>
                <a:lnTo>
                  <a:pt x="49495" y="30458"/>
                </a:lnTo>
                <a:cubicBezTo>
                  <a:pt x="51589" y="30458"/>
                  <a:pt x="53302" y="32172"/>
                  <a:pt x="53302" y="34266"/>
                </a:cubicBezTo>
                <a:lnTo>
                  <a:pt x="53302" y="41880"/>
                </a:lnTo>
                <a:cubicBezTo>
                  <a:pt x="53302" y="43974"/>
                  <a:pt x="51589" y="45687"/>
                  <a:pt x="49495" y="45687"/>
                </a:cubicBezTo>
                <a:lnTo>
                  <a:pt x="41880" y="45687"/>
                </a:lnTo>
                <a:cubicBezTo>
                  <a:pt x="39786" y="45687"/>
                  <a:pt x="38073" y="43974"/>
                  <a:pt x="38073" y="41880"/>
                </a:cubicBezTo>
                <a:lnTo>
                  <a:pt x="38073" y="34266"/>
                </a:lnTo>
                <a:cubicBezTo>
                  <a:pt x="38073" y="32172"/>
                  <a:pt x="39786" y="30458"/>
                  <a:pt x="41880" y="30458"/>
                </a:cubicBezTo>
                <a:close/>
                <a:moveTo>
                  <a:pt x="38073" y="57109"/>
                </a:moveTo>
                <a:cubicBezTo>
                  <a:pt x="38073" y="55015"/>
                  <a:pt x="39786" y="53302"/>
                  <a:pt x="41880" y="53302"/>
                </a:cubicBezTo>
                <a:lnTo>
                  <a:pt x="49495" y="53302"/>
                </a:lnTo>
                <a:cubicBezTo>
                  <a:pt x="51589" y="53302"/>
                  <a:pt x="53302" y="55015"/>
                  <a:pt x="53302" y="57109"/>
                </a:cubicBezTo>
                <a:lnTo>
                  <a:pt x="53302" y="64724"/>
                </a:lnTo>
                <a:cubicBezTo>
                  <a:pt x="53302" y="66818"/>
                  <a:pt x="51589" y="68531"/>
                  <a:pt x="49495" y="68531"/>
                </a:cubicBezTo>
                <a:lnTo>
                  <a:pt x="41880" y="68531"/>
                </a:lnTo>
                <a:cubicBezTo>
                  <a:pt x="39786" y="68531"/>
                  <a:pt x="38073" y="66818"/>
                  <a:pt x="38073" y="64724"/>
                </a:cubicBezTo>
                <a:lnTo>
                  <a:pt x="38073" y="57109"/>
                </a:lnTo>
                <a:close/>
                <a:moveTo>
                  <a:pt x="41880" y="76146"/>
                </a:moveTo>
                <a:lnTo>
                  <a:pt x="95182" y="76146"/>
                </a:lnTo>
                <a:cubicBezTo>
                  <a:pt x="97276" y="76146"/>
                  <a:pt x="98989" y="77859"/>
                  <a:pt x="98989" y="79953"/>
                </a:cubicBezTo>
                <a:lnTo>
                  <a:pt x="98989" y="87567"/>
                </a:lnTo>
                <a:cubicBezTo>
                  <a:pt x="98989" y="89661"/>
                  <a:pt x="97276" y="91375"/>
                  <a:pt x="95182" y="91375"/>
                </a:cubicBezTo>
                <a:lnTo>
                  <a:pt x="41880" y="91375"/>
                </a:lnTo>
                <a:cubicBezTo>
                  <a:pt x="39786" y="91375"/>
                  <a:pt x="38073" y="89661"/>
                  <a:pt x="38073" y="87567"/>
                </a:cubicBezTo>
                <a:lnTo>
                  <a:pt x="38073" y="79953"/>
                </a:lnTo>
                <a:cubicBezTo>
                  <a:pt x="38073" y="77859"/>
                  <a:pt x="39786" y="76146"/>
                  <a:pt x="41880" y="76146"/>
                </a:cubicBezTo>
                <a:close/>
                <a:moveTo>
                  <a:pt x="60916" y="34266"/>
                </a:moveTo>
                <a:cubicBezTo>
                  <a:pt x="60916" y="32172"/>
                  <a:pt x="62630" y="30458"/>
                  <a:pt x="64724" y="30458"/>
                </a:cubicBezTo>
                <a:lnTo>
                  <a:pt x="72338" y="30458"/>
                </a:lnTo>
                <a:cubicBezTo>
                  <a:pt x="74432" y="30458"/>
                  <a:pt x="76146" y="32172"/>
                  <a:pt x="76146" y="34266"/>
                </a:cubicBezTo>
                <a:lnTo>
                  <a:pt x="76146" y="41880"/>
                </a:lnTo>
                <a:cubicBezTo>
                  <a:pt x="76146" y="43974"/>
                  <a:pt x="74432" y="45687"/>
                  <a:pt x="72338" y="45687"/>
                </a:cubicBezTo>
                <a:lnTo>
                  <a:pt x="64724" y="45687"/>
                </a:lnTo>
                <a:cubicBezTo>
                  <a:pt x="62630" y="45687"/>
                  <a:pt x="60916" y="43974"/>
                  <a:pt x="60916" y="41880"/>
                </a:cubicBezTo>
                <a:lnTo>
                  <a:pt x="60916" y="34266"/>
                </a:lnTo>
                <a:close/>
                <a:moveTo>
                  <a:pt x="64724" y="53302"/>
                </a:moveTo>
                <a:lnTo>
                  <a:pt x="72338" y="53302"/>
                </a:lnTo>
                <a:cubicBezTo>
                  <a:pt x="74432" y="53302"/>
                  <a:pt x="76146" y="55015"/>
                  <a:pt x="76146" y="57109"/>
                </a:cubicBezTo>
                <a:lnTo>
                  <a:pt x="76146" y="64724"/>
                </a:lnTo>
                <a:cubicBezTo>
                  <a:pt x="76146" y="66818"/>
                  <a:pt x="74432" y="68531"/>
                  <a:pt x="72338" y="68531"/>
                </a:cubicBezTo>
                <a:lnTo>
                  <a:pt x="64724" y="68531"/>
                </a:lnTo>
                <a:cubicBezTo>
                  <a:pt x="62630" y="68531"/>
                  <a:pt x="60916" y="66818"/>
                  <a:pt x="60916" y="64724"/>
                </a:cubicBezTo>
                <a:lnTo>
                  <a:pt x="60916" y="57109"/>
                </a:lnTo>
                <a:cubicBezTo>
                  <a:pt x="60916" y="55015"/>
                  <a:pt x="62630" y="53302"/>
                  <a:pt x="64724" y="53302"/>
                </a:cubicBezTo>
                <a:close/>
                <a:moveTo>
                  <a:pt x="83760" y="34266"/>
                </a:moveTo>
                <a:cubicBezTo>
                  <a:pt x="83760" y="32172"/>
                  <a:pt x="85473" y="30458"/>
                  <a:pt x="87567" y="30458"/>
                </a:cubicBezTo>
                <a:lnTo>
                  <a:pt x="95182" y="30458"/>
                </a:lnTo>
                <a:cubicBezTo>
                  <a:pt x="97276" y="30458"/>
                  <a:pt x="98989" y="32172"/>
                  <a:pt x="98989" y="34266"/>
                </a:cubicBezTo>
                <a:lnTo>
                  <a:pt x="98989" y="41880"/>
                </a:lnTo>
                <a:cubicBezTo>
                  <a:pt x="98989" y="43974"/>
                  <a:pt x="97276" y="45687"/>
                  <a:pt x="95182" y="45687"/>
                </a:cubicBezTo>
                <a:lnTo>
                  <a:pt x="87567" y="45687"/>
                </a:lnTo>
                <a:cubicBezTo>
                  <a:pt x="85473" y="45687"/>
                  <a:pt x="83760" y="43974"/>
                  <a:pt x="83760" y="41880"/>
                </a:cubicBezTo>
                <a:lnTo>
                  <a:pt x="83760" y="34266"/>
                </a:lnTo>
                <a:close/>
                <a:moveTo>
                  <a:pt x="87567" y="53302"/>
                </a:moveTo>
                <a:lnTo>
                  <a:pt x="95182" y="53302"/>
                </a:lnTo>
                <a:cubicBezTo>
                  <a:pt x="97276" y="53302"/>
                  <a:pt x="98989" y="55015"/>
                  <a:pt x="98989" y="57109"/>
                </a:cubicBezTo>
                <a:lnTo>
                  <a:pt x="98989" y="64724"/>
                </a:lnTo>
                <a:cubicBezTo>
                  <a:pt x="98989" y="66818"/>
                  <a:pt x="97276" y="68531"/>
                  <a:pt x="95182" y="68531"/>
                </a:cubicBezTo>
                <a:lnTo>
                  <a:pt x="87567" y="68531"/>
                </a:lnTo>
                <a:cubicBezTo>
                  <a:pt x="85473" y="68531"/>
                  <a:pt x="83760" y="66818"/>
                  <a:pt x="83760" y="64724"/>
                </a:cubicBezTo>
                <a:lnTo>
                  <a:pt x="83760" y="57109"/>
                </a:lnTo>
                <a:cubicBezTo>
                  <a:pt x="83760" y="55015"/>
                  <a:pt x="85473" y="53302"/>
                  <a:pt x="87567" y="53302"/>
                </a:cubicBezTo>
                <a:close/>
                <a:moveTo>
                  <a:pt x="106604" y="34266"/>
                </a:moveTo>
                <a:cubicBezTo>
                  <a:pt x="106604" y="32172"/>
                  <a:pt x="108317" y="30458"/>
                  <a:pt x="110411" y="30458"/>
                </a:cubicBezTo>
                <a:lnTo>
                  <a:pt x="118026" y="30458"/>
                </a:lnTo>
                <a:cubicBezTo>
                  <a:pt x="120120" y="30458"/>
                  <a:pt x="121833" y="32172"/>
                  <a:pt x="121833" y="34266"/>
                </a:cubicBezTo>
                <a:lnTo>
                  <a:pt x="121833" y="41880"/>
                </a:lnTo>
                <a:cubicBezTo>
                  <a:pt x="121833" y="43974"/>
                  <a:pt x="120120" y="45687"/>
                  <a:pt x="118026" y="45687"/>
                </a:cubicBezTo>
                <a:lnTo>
                  <a:pt x="110411" y="45687"/>
                </a:lnTo>
                <a:cubicBezTo>
                  <a:pt x="108317" y="45687"/>
                  <a:pt x="106604" y="43974"/>
                  <a:pt x="106604" y="41880"/>
                </a:cubicBezTo>
                <a:lnTo>
                  <a:pt x="106604" y="34266"/>
                </a:lnTo>
                <a:close/>
                <a:moveTo>
                  <a:pt x="110411" y="53302"/>
                </a:moveTo>
                <a:lnTo>
                  <a:pt x="118026" y="53302"/>
                </a:lnTo>
                <a:cubicBezTo>
                  <a:pt x="120120" y="53302"/>
                  <a:pt x="121833" y="55015"/>
                  <a:pt x="121833" y="57109"/>
                </a:cubicBezTo>
                <a:lnTo>
                  <a:pt x="121833" y="64724"/>
                </a:lnTo>
                <a:cubicBezTo>
                  <a:pt x="121833" y="66818"/>
                  <a:pt x="120120" y="68531"/>
                  <a:pt x="118026" y="68531"/>
                </a:cubicBezTo>
                <a:lnTo>
                  <a:pt x="110411" y="68531"/>
                </a:lnTo>
                <a:cubicBezTo>
                  <a:pt x="108317" y="68531"/>
                  <a:pt x="106604" y="66818"/>
                  <a:pt x="106604" y="64724"/>
                </a:cubicBezTo>
                <a:lnTo>
                  <a:pt x="106604" y="57109"/>
                </a:lnTo>
                <a:cubicBezTo>
                  <a:pt x="106604" y="55015"/>
                  <a:pt x="108317" y="53302"/>
                  <a:pt x="110411" y="5330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8" name="Text 36"/>
          <p:cNvSpPr/>
          <p:nvPr/>
        </p:nvSpPr>
        <p:spPr>
          <a:xfrm>
            <a:off x="4720530" y="3480942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16183" y="3724608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"Longevity"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"Biohacking"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keywords to Google Business descriptions and posts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11754" y="4351178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48816" y="4477362"/>
            <a:ext cx="91375" cy="121833"/>
          </a:xfrm>
          <a:custGeom>
            <a:avLst/>
            <a:gdLst/>
            <a:ahLst/>
            <a:cxnLst/>
            <a:rect l="l" t="t" r="r" b="b"/>
            <a:pathLst>
              <a:path w="91375" h="121833">
                <a:moveTo>
                  <a:pt x="0" y="44878"/>
                </a:moveTo>
                <a:cubicBezTo>
                  <a:pt x="0" y="20083"/>
                  <a:pt x="20464" y="0"/>
                  <a:pt x="45687" y="0"/>
                </a:cubicBezTo>
                <a:cubicBezTo>
                  <a:pt x="70911" y="0"/>
                  <a:pt x="91375" y="20083"/>
                  <a:pt x="91375" y="44878"/>
                </a:cubicBezTo>
                <a:cubicBezTo>
                  <a:pt x="91375" y="73266"/>
                  <a:pt x="62773" y="107294"/>
                  <a:pt x="50827" y="120262"/>
                </a:cubicBezTo>
                <a:cubicBezTo>
                  <a:pt x="48019" y="123308"/>
                  <a:pt x="43332" y="123308"/>
                  <a:pt x="40524" y="120262"/>
                </a:cubicBezTo>
                <a:cubicBezTo>
                  <a:pt x="28578" y="107294"/>
                  <a:pt x="-24" y="73266"/>
                  <a:pt x="-24" y="44878"/>
                </a:cubicBezTo>
                <a:close/>
                <a:moveTo>
                  <a:pt x="45687" y="60916"/>
                </a:moveTo>
                <a:cubicBezTo>
                  <a:pt x="54093" y="60916"/>
                  <a:pt x="60916" y="54093"/>
                  <a:pt x="60916" y="45687"/>
                </a:cubicBezTo>
                <a:cubicBezTo>
                  <a:pt x="60916" y="37282"/>
                  <a:pt x="54093" y="30458"/>
                  <a:pt x="45687" y="30458"/>
                </a:cubicBezTo>
                <a:cubicBezTo>
                  <a:pt x="37282" y="30458"/>
                  <a:pt x="30458" y="37282"/>
                  <a:pt x="30458" y="45687"/>
                </a:cubicBezTo>
                <a:cubicBezTo>
                  <a:pt x="30458" y="54093"/>
                  <a:pt x="37282" y="60916"/>
                  <a:pt x="45687" y="60916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2" name="Text 40"/>
          <p:cNvSpPr/>
          <p:nvPr/>
        </p:nvSpPr>
        <p:spPr>
          <a:xfrm>
            <a:off x="4720530" y="4455606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Strategy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16183" y="4699272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location-specific landing pages for each city with localized content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16105" y="5330193"/>
            <a:ext cx="3359109" cy="426415"/>
          </a:xfrm>
          <a:prstGeom prst="roundRect">
            <a:avLst>
              <a:gd name="adj" fmla="val 16327"/>
            </a:avLst>
          </a:prstGeom>
          <a:solidFill>
            <a:srgbClr val="64FFDA">
              <a:alpha val="10196"/>
            </a:srgbClr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90075" y="5438972"/>
            <a:ext cx="32111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 algn="ctr"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Dominate "Near Me" searches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27320" y="1583829"/>
            <a:ext cx="3715906" cy="4351178"/>
          </a:xfrm>
          <a:custGeom>
            <a:avLst/>
            <a:gdLst/>
            <a:ahLst/>
            <a:cxnLst/>
            <a:rect l="l" t="t" r="r" b="b"/>
            <a:pathLst>
              <a:path w="3715906" h="4351178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4246753"/>
                </a:lnTo>
                <a:cubicBezTo>
                  <a:pt x="3715893" y="4304408"/>
                  <a:pt x="3669154" y="4351147"/>
                  <a:pt x="3611499" y="4351147"/>
                </a:cubicBezTo>
                <a:lnTo>
                  <a:pt x="104394" y="4351147"/>
                </a:lnTo>
                <a:cubicBezTo>
                  <a:pt x="46739" y="4351147"/>
                  <a:pt x="0" y="4304408"/>
                  <a:pt x="0" y="4246753"/>
                </a:cubicBez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8127320" y="1583829"/>
            <a:ext cx="3715906" cy="34809"/>
          </a:xfrm>
          <a:custGeom>
            <a:avLst/>
            <a:gdLst/>
            <a:ahLst/>
            <a:cxnLst/>
            <a:rect l="l" t="t" r="r" b="b"/>
            <a:pathLst>
              <a:path w="3715906" h="34809">
                <a:moveTo>
                  <a:pt x="34798" y="0"/>
                </a:moveTo>
                <a:lnTo>
                  <a:pt x="3681095" y="0"/>
                </a:lnTo>
                <a:cubicBezTo>
                  <a:pt x="3700313" y="0"/>
                  <a:pt x="3715893" y="15580"/>
                  <a:pt x="3715893" y="34798"/>
                </a:cubicBezTo>
                <a:lnTo>
                  <a:pt x="3715893" y="34798"/>
                </a:lnTo>
                <a:lnTo>
                  <a:pt x="0" y="34798"/>
                </a:lnTo>
                <a:lnTo>
                  <a:pt x="0" y="34798"/>
                </a:lnTo>
                <a:cubicBezTo>
                  <a:pt x="0" y="15592"/>
                  <a:pt x="15592" y="0"/>
                  <a:pt x="34798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8" name="Shape 46"/>
          <p:cNvSpPr/>
          <p:nvPr/>
        </p:nvSpPr>
        <p:spPr>
          <a:xfrm>
            <a:off x="8301367" y="1775281"/>
            <a:ext cx="487332" cy="487332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16741" y="1879709"/>
            <a:ext cx="35679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93127" y="1810090"/>
            <a:ext cx="127054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Tech Stack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93127" y="2053756"/>
            <a:ext cx="124443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3 • Tracking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01367" y="2401850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15586" y="2528034"/>
            <a:ext cx="137062" cy="121833"/>
          </a:xfrm>
          <a:custGeom>
            <a:avLst/>
            <a:gdLst/>
            <a:ahLst/>
            <a:cxnLst/>
            <a:rect l="l" t="t" r="r" b="b"/>
            <a:pathLst>
              <a:path w="137062" h="121833">
                <a:moveTo>
                  <a:pt x="85854" y="286"/>
                </a:moveTo>
                <a:cubicBezTo>
                  <a:pt x="81809" y="-880"/>
                  <a:pt x="77597" y="1475"/>
                  <a:pt x="76431" y="5521"/>
                </a:cubicBezTo>
                <a:lnTo>
                  <a:pt x="45973" y="112124"/>
                </a:lnTo>
                <a:cubicBezTo>
                  <a:pt x="44807" y="116170"/>
                  <a:pt x="47163" y="120381"/>
                  <a:pt x="51208" y="121547"/>
                </a:cubicBezTo>
                <a:cubicBezTo>
                  <a:pt x="55253" y="122713"/>
                  <a:pt x="59465" y="120358"/>
                  <a:pt x="60631" y="116312"/>
                </a:cubicBezTo>
                <a:lnTo>
                  <a:pt x="91089" y="9709"/>
                </a:lnTo>
                <a:cubicBezTo>
                  <a:pt x="92255" y="5663"/>
                  <a:pt x="89899" y="1452"/>
                  <a:pt x="85854" y="286"/>
                </a:cubicBezTo>
                <a:close/>
                <a:moveTo>
                  <a:pt x="101226" y="32671"/>
                </a:moveTo>
                <a:cubicBezTo>
                  <a:pt x="98252" y="35646"/>
                  <a:pt x="98252" y="40476"/>
                  <a:pt x="101226" y="43451"/>
                </a:cubicBezTo>
                <a:lnTo>
                  <a:pt x="118692" y="60916"/>
                </a:lnTo>
                <a:lnTo>
                  <a:pt x="101226" y="78382"/>
                </a:lnTo>
                <a:cubicBezTo>
                  <a:pt x="98252" y="81357"/>
                  <a:pt x="98252" y="86187"/>
                  <a:pt x="101226" y="89162"/>
                </a:cubicBezTo>
                <a:cubicBezTo>
                  <a:pt x="104201" y="92136"/>
                  <a:pt x="109031" y="92136"/>
                  <a:pt x="112005" y="89162"/>
                </a:cubicBezTo>
                <a:lnTo>
                  <a:pt x="134849" y="66318"/>
                </a:lnTo>
                <a:cubicBezTo>
                  <a:pt x="137824" y="63344"/>
                  <a:pt x="137824" y="58513"/>
                  <a:pt x="134849" y="55539"/>
                </a:cubicBezTo>
                <a:lnTo>
                  <a:pt x="112005" y="32695"/>
                </a:lnTo>
                <a:cubicBezTo>
                  <a:pt x="109031" y="29721"/>
                  <a:pt x="104201" y="29721"/>
                  <a:pt x="101226" y="32695"/>
                </a:cubicBezTo>
                <a:close/>
                <a:moveTo>
                  <a:pt x="35860" y="32671"/>
                </a:moveTo>
                <a:cubicBezTo>
                  <a:pt x="32885" y="29697"/>
                  <a:pt x="28055" y="29697"/>
                  <a:pt x="25080" y="32671"/>
                </a:cubicBezTo>
                <a:lnTo>
                  <a:pt x="2237" y="55515"/>
                </a:lnTo>
                <a:cubicBezTo>
                  <a:pt x="-738" y="58489"/>
                  <a:pt x="-738" y="63320"/>
                  <a:pt x="2237" y="66294"/>
                </a:cubicBezTo>
                <a:lnTo>
                  <a:pt x="25080" y="89138"/>
                </a:lnTo>
                <a:cubicBezTo>
                  <a:pt x="28055" y="92112"/>
                  <a:pt x="32885" y="92112"/>
                  <a:pt x="35860" y="89138"/>
                </a:cubicBezTo>
                <a:cubicBezTo>
                  <a:pt x="38834" y="86164"/>
                  <a:pt x="38834" y="81333"/>
                  <a:pt x="35860" y="78359"/>
                </a:cubicBezTo>
                <a:lnTo>
                  <a:pt x="18394" y="60916"/>
                </a:lnTo>
                <a:lnTo>
                  <a:pt x="35836" y="43451"/>
                </a:lnTo>
                <a:cubicBezTo>
                  <a:pt x="38810" y="40476"/>
                  <a:pt x="38810" y="35646"/>
                  <a:pt x="35836" y="32671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4" name="Text 52"/>
          <p:cNvSpPr/>
          <p:nvPr/>
        </p:nvSpPr>
        <p:spPr>
          <a:xfrm>
            <a:off x="8610142" y="2506278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05796" y="2749944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Pixel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Analytics 4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tracking on all landing pages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01367" y="3376514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23200" y="3502698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60916" y="0"/>
                </a:moveTo>
                <a:cubicBezTo>
                  <a:pt x="62011" y="0"/>
                  <a:pt x="63106" y="238"/>
                  <a:pt x="64105" y="690"/>
                </a:cubicBezTo>
                <a:lnTo>
                  <a:pt x="108936" y="19703"/>
                </a:lnTo>
                <a:cubicBezTo>
                  <a:pt x="114171" y="21916"/>
                  <a:pt x="118073" y="27079"/>
                  <a:pt x="118049" y="33314"/>
                </a:cubicBezTo>
                <a:cubicBezTo>
                  <a:pt x="117931" y="56919"/>
                  <a:pt x="108222" y="100108"/>
                  <a:pt x="67222" y="119739"/>
                </a:cubicBezTo>
                <a:cubicBezTo>
                  <a:pt x="63248" y="121643"/>
                  <a:pt x="58632" y="121643"/>
                  <a:pt x="54658" y="119739"/>
                </a:cubicBezTo>
                <a:cubicBezTo>
                  <a:pt x="13635" y="100108"/>
                  <a:pt x="3950" y="56919"/>
                  <a:pt x="3831" y="33314"/>
                </a:cubicBezTo>
                <a:cubicBezTo>
                  <a:pt x="3807" y="27079"/>
                  <a:pt x="7710" y="21916"/>
                  <a:pt x="12945" y="19703"/>
                </a:cubicBezTo>
                <a:lnTo>
                  <a:pt x="57752" y="690"/>
                </a:lnTo>
                <a:cubicBezTo>
                  <a:pt x="58751" y="238"/>
                  <a:pt x="59822" y="0"/>
                  <a:pt x="60916" y="0"/>
                </a:cubicBezTo>
                <a:close/>
                <a:moveTo>
                  <a:pt x="60916" y="15895"/>
                </a:moveTo>
                <a:lnTo>
                  <a:pt x="60916" y="105866"/>
                </a:lnTo>
                <a:cubicBezTo>
                  <a:pt x="93754" y="89971"/>
                  <a:pt x="102582" y="54753"/>
                  <a:pt x="102797" y="33671"/>
                </a:cubicBezTo>
                <a:lnTo>
                  <a:pt x="60916" y="15919"/>
                </a:lnTo>
                <a:lnTo>
                  <a:pt x="60916" y="1591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8" name="Text 56"/>
          <p:cNvSpPr/>
          <p:nvPr/>
        </p:nvSpPr>
        <p:spPr>
          <a:xfrm>
            <a:off x="8610142" y="3480942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05796" y="3724608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</a:t>
            </a:r>
            <a:pPr>
              <a:lnSpc>
                <a:spcPct val="130000"/>
              </a:lnSpc>
            </a:pPr>
            <a:r>
              <a:rPr lang="en-US" sz="1096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CNDP Law 09-08</a:t>
            </a:r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compliant data storage for all incoming leads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01367" y="4351178"/>
            <a:ext cx="3367812" cy="870236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30815" y="4477362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6604" y="48971"/>
                </a:moveTo>
                <a:cubicBezTo>
                  <a:pt x="103082" y="51303"/>
                  <a:pt x="99037" y="53183"/>
                  <a:pt x="94825" y="54682"/>
                </a:cubicBezTo>
                <a:cubicBezTo>
                  <a:pt x="83641" y="58680"/>
                  <a:pt x="68959" y="60916"/>
                  <a:pt x="53302" y="60916"/>
                </a:cubicBezTo>
                <a:cubicBezTo>
                  <a:pt x="37644" y="60916"/>
                  <a:pt x="22939" y="58656"/>
                  <a:pt x="11779" y="54682"/>
                </a:cubicBezTo>
                <a:cubicBezTo>
                  <a:pt x="7591" y="53183"/>
                  <a:pt x="3522" y="51303"/>
                  <a:pt x="0" y="48971"/>
                </a:cubicBezTo>
                <a:lnTo>
                  <a:pt x="0" y="68531"/>
                </a:lnTo>
                <a:cubicBezTo>
                  <a:pt x="0" y="79049"/>
                  <a:pt x="23867" y="87567"/>
                  <a:pt x="53302" y="87567"/>
                </a:cubicBezTo>
                <a:cubicBezTo>
                  <a:pt x="82737" y="87567"/>
                  <a:pt x="106604" y="79049"/>
                  <a:pt x="106604" y="68531"/>
                </a:cubicBezTo>
                <a:lnTo>
                  <a:pt x="106604" y="48971"/>
                </a:lnTo>
                <a:close/>
                <a:moveTo>
                  <a:pt x="106604" y="30458"/>
                </a:moveTo>
                <a:lnTo>
                  <a:pt x="106604" y="19036"/>
                </a:lnTo>
                <a:cubicBezTo>
                  <a:pt x="106604" y="8519"/>
                  <a:pt x="82737" y="0"/>
                  <a:pt x="53302" y="0"/>
                </a:cubicBezTo>
                <a:cubicBezTo>
                  <a:pt x="23867" y="0"/>
                  <a:pt x="0" y="8519"/>
                  <a:pt x="0" y="19036"/>
                </a:cubicBezTo>
                <a:lnTo>
                  <a:pt x="0" y="30458"/>
                </a:lnTo>
                <a:cubicBezTo>
                  <a:pt x="0" y="40976"/>
                  <a:pt x="23867" y="49495"/>
                  <a:pt x="53302" y="49495"/>
                </a:cubicBezTo>
                <a:cubicBezTo>
                  <a:pt x="82737" y="49495"/>
                  <a:pt x="106604" y="40976"/>
                  <a:pt x="106604" y="30458"/>
                </a:cubicBezTo>
                <a:close/>
                <a:moveTo>
                  <a:pt x="94825" y="92755"/>
                </a:moveTo>
                <a:cubicBezTo>
                  <a:pt x="83665" y="96729"/>
                  <a:pt x="68983" y="98989"/>
                  <a:pt x="53302" y="98989"/>
                </a:cubicBezTo>
                <a:cubicBezTo>
                  <a:pt x="37621" y="98989"/>
                  <a:pt x="22939" y="96729"/>
                  <a:pt x="11779" y="92755"/>
                </a:cubicBezTo>
                <a:cubicBezTo>
                  <a:pt x="7591" y="91256"/>
                  <a:pt x="3522" y="89376"/>
                  <a:pt x="0" y="87044"/>
                </a:cubicBezTo>
                <a:lnTo>
                  <a:pt x="0" y="102797"/>
                </a:lnTo>
                <a:cubicBezTo>
                  <a:pt x="0" y="113314"/>
                  <a:pt x="23867" y="121833"/>
                  <a:pt x="53302" y="121833"/>
                </a:cubicBezTo>
                <a:cubicBezTo>
                  <a:pt x="82737" y="121833"/>
                  <a:pt x="106604" y="113314"/>
                  <a:pt x="106604" y="102797"/>
                </a:cubicBezTo>
                <a:lnTo>
                  <a:pt x="106604" y="87044"/>
                </a:lnTo>
                <a:cubicBezTo>
                  <a:pt x="103082" y="89376"/>
                  <a:pt x="99037" y="91256"/>
                  <a:pt x="94825" y="9275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62" name="Text 60"/>
          <p:cNvSpPr/>
          <p:nvPr/>
        </p:nvSpPr>
        <p:spPr>
          <a:xfrm>
            <a:off x="8610142" y="4455606"/>
            <a:ext cx="301552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Setup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05796" y="4699272"/>
            <a:ext cx="3228574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lead scoring system and automated tagging based on source and intent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05718" y="5330193"/>
            <a:ext cx="3359109" cy="426415"/>
          </a:xfrm>
          <a:prstGeom prst="roundRect">
            <a:avLst>
              <a:gd name="adj" fmla="val 16327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79688" y="5438972"/>
            <a:ext cx="32111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 algn="ctr">
              <a:lnSpc>
                <a:spcPct val="130000"/>
              </a:lnSpc>
            </a:pPr>
            <a:r>
              <a:rPr lang="en-US" sz="1096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100% attribution tracking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2445" y="6078595"/>
            <a:ext cx="11487109" cy="774510"/>
          </a:xfrm>
          <a:prstGeom prst="roundRect">
            <a:avLst>
              <a:gd name="adj" fmla="val 13483"/>
            </a:avLst>
          </a:pr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D4AF37">
                  <a:alpha val="20000"/>
                </a:srgbClr>
              </a:gs>
            </a:gsLst>
            <a:lin ang="0" scaled="1"/>
          </a:gradFill>
          <a:ln w="12700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0844" y="6335315"/>
            <a:ext cx="261071" cy="261071"/>
          </a:xfrm>
          <a:custGeom>
            <a:avLst/>
            <a:gdLst/>
            <a:ahLst/>
            <a:cxnLst/>
            <a:rect l="l" t="t" r="r" b="b"/>
            <a:pathLst>
              <a:path w="261071" h="261071">
                <a:moveTo>
                  <a:pt x="130535" y="261071"/>
                </a:moveTo>
                <a:cubicBezTo>
                  <a:pt x="202580" y="261071"/>
                  <a:pt x="261071" y="202580"/>
                  <a:pt x="261071" y="130535"/>
                </a:cubicBezTo>
                <a:cubicBezTo>
                  <a:pt x="261071" y="58491"/>
                  <a:pt x="202580" y="0"/>
                  <a:pt x="130535" y="0"/>
                </a:cubicBezTo>
                <a:cubicBezTo>
                  <a:pt x="58491" y="0"/>
                  <a:pt x="0" y="58491"/>
                  <a:pt x="0" y="130535"/>
                </a:cubicBezTo>
                <a:cubicBezTo>
                  <a:pt x="0" y="202580"/>
                  <a:pt x="58491" y="261071"/>
                  <a:pt x="130535" y="261071"/>
                </a:cubicBezTo>
                <a:close/>
                <a:moveTo>
                  <a:pt x="173571" y="108457"/>
                </a:moveTo>
                <a:lnTo>
                  <a:pt x="132779" y="173724"/>
                </a:lnTo>
                <a:cubicBezTo>
                  <a:pt x="130637" y="177141"/>
                  <a:pt x="126966" y="179282"/>
                  <a:pt x="122938" y="179486"/>
                </a:cubicBezTo>
                <a:cubicBezTo>
                  <a:pt x="118910" y="179690"/>
                  <a:pt x="115034" y="177854"/>
                  <a:pt x="112638" y="174591"/>
                </a:cubicBezTo>
                <a:lnTo>
                  <a:pt x="88162" y="141957"/>
                </a:lnTo>
                <a:cubicBezTo>
                  <a:pt x="84083" y="136552"/>
                  <a:pt x="85205" y="128904"/>
                  <a:pt x="90610" y="124824"/>
                </a:cubicBezTo>
                <a:cubicBezTo>
                  <a:pt x="96015" y="120745"/>
                  <a:pt x="103663" y="121867"/>
                  <a:pt x="107743" y="127272"/>
                </a:cubicBezTo>
                <a:lnTo>
                  <a:pt x="121510" y="145628"/>
                </a:lnTo>
                <a:lnTo>
                  <a:pt x="152818" y="95505"/>
                </a:lnTo>
                <a:cubicBezTo>
                  <a:pt x="156387" y="89794"/>
                  <a:pt x="163934" y="88009"/>
                  <a:pt x="169696" y="91630"/>
                </a:cubicBezTo>
                <a:cubicBezTo>
                  <a:pt x="175458" y="95250"/>
                  <a:pt x="177192" y="102746"/>
                  <a:pt x="173571" y="10850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68" name="Text 66"/>
          <p:cNvSpPr/>
          <p:nvPr/>
        </p:nvSpPr>
        <p:spPr>
          <a:xfrm>
            <a:off x="961610" y="6222184"/>
            <a:ext cx="71446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Completion Criteria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61610" y="6500660"/>
            <a:ext cx="713593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tracking pixels firing correctly • NAP consistency 100% • Win-Back campaign launched • CNDP compliance verified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974871" y="6222184"/>
            <a:ext cx="172306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Revenue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905252" y="6396231"/>
            <a:ext cx="1792685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56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50-100K MAD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spc="51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• Days 8-45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Multi-Angle Marketing Execution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901" y="965703"/>
            <a:ext cx="11620626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 different segments where they live online with tailored creative assets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901" y="1287604"/>
            <a:ext cx="772562" cy="3219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321901" y="1464650"/>
            <a:ext cx="3742099" cy="4426139"/>
          </a:xfrm>
          <a:custGeom>
            <a:avLst/>
            <a:gdLst/>
            <a:ahLst/>
            <a:cxnLst/>
            <a:rect l="l" t="t" r="r" b="b"/>
            <a:pathLst>
              <a:path w="3742099" h="4426139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4329557"/>
                </a:lnTo>
                <a:cubicBezTo>
                  <a:pt x="3741985" y="4382835"/>
                  <a:pt x="3698813" y="4426007"/>
                  <a:pt x="3645535" y="4426077"/>
                </a:cubicBezTo>
                <a:lnTo>
                  <a:pt x="96647" y="4426077"/>
                </a:lnTo>
                <a:cubicBezTo>
                  <a:pt x="43320" y="4426077"/>
                  <a:pt x="70" y="4382884"/>
                  <a:pt x="0" y="4329557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21901" y="1464650"/>
            <a:ext cx="3742099" cy="32190"/>
          </a:xfrm>
          <a:custGeom>
            <a:avLst/>
            <a:gdLst/>
            <a:ahLst/>
            <a:cxnLst/>
            <a:rect l="l" t="t" r="r" b="b"/>
            <a:pathLst>
              <a:path w="3742099" h="32190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32131"/>
                </a:lnTo>
                <a:lnTo>
                  <a:pt x="0" y="32131"/>
                </a:ln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8" name="Shape 6"/>
          <p:cNvSpPr/>
          <p:nvPr/>
        </p:nvSpPr>
        <p:spPr>
          <a:xfrm>
            <a:off x="482851" y="1641695"/>
            <a:ext cx="450661" cy="450661"/>
          </a:xfrm>
          <a:prstGeom prst="roundRect">
            <a:avLst>
              <a:gd name="adj" fmla="val 50000"/>
            </a:avLst>
          </a:prstGeom>
          <a:solidFill>
            <a:srgbClr val="4267B2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7469" y="1770455"/>
            <a:ext cx="241426" cy="193141"/>
          </a:xfrm>
          <a:custGeom>
            <a:avLst/>
            <a:gdLst/>
            <a:ahLst/>
            <a:cxnLst/>
            <a:rect l="l" t="t" r="r" b="b"/>
            <a:pathLst>
              <a:path w="241426" h="193141">
                <a:moveTo>
                  <a:pt x="241426" y="119921"/>
                </a:moveTo>
                <a:cubicBezTo>
                  <a:pt x="241426" y="154362"/>
                  <a:pt x="226563" y="175939"/>
                  <a:pt x="199818" y="175939"/>
                </a:cubicBezTo>
                <a:cubicBezTo>
                  <a:pt x="176203" y="175939"/>
                  <a:pt x="163679" y="162887"/>
                  <a:pt x="140630" y="124410"/>
                </a:cubicBezTo>
                <a:lnTo>
                  <a:pt x="128786" y="104568"/>
                </a:lnTo>
                <a:cubicBezTo>
                  <a:pt x="125655" y="99852"/>
                  <a:pt x="123316" y="95439"/>
                  <a:pt x="120788" y="91365"/>
                </a:cubicBezTo>
                <a:cubicBezTo>
                  <a:pt x="113206" y="104115"/>
                  <a:pt x="103021" y="122674"/>
                  <a:pt x="103021" y="122674"/>
                </a:cubicBezTo>
                <a:cubicBezTo>
                  <a:pt x="77747" y="166659"/>
                  <a:pt x="63563" y="175939"/>
                  <a:pt x="43834" y="175939"/>
                </a:cubicBezTo>
                <a:cubicBezTo>
                  <a:pt x="16372" y="175939"/>
                  <a:pt x="0" y="154324"/>
                  <a:pt x="0" y="120901"/>
                </a:cubicBezTo>
                <a:cubicBezTo>
                  <a:pt x="0" y="66958"/>
                  <a:pt x="30103" y="15994"/>
                  <a:pt x="69372" y="15994"/>
                </a:cubicBezTo>
                <a:cubicBezTo>
                  <a:pt x="88309" y="15994"/>
                  <a:pt x="104756" y="25312"/>
                  <a:pt x="123995" y="49756"/>
                </a:cubicBezTo>
                <a:cubicBezTo>
                  <a:pt x="137990" y="30857"/>
                  <a:pt x="153456" y="15994"/>
                  <a:pt x="173261" y="15994"/>
                </a:cubicBezTo>
                <a:cubicBezTo>
                  <a:pt x="210644" y="15994"/>
                  <a:pt x="241426" y="63412"/>
                  <a:pt x="241426" y="119921"/>
                </a:cubicBezTo>
                <a:close/>
                <a:moveTo>
                  <a:pt x="108415" y="72503"/>
                </a:moveTo>
                <a:cubicBezTo>
                  <a:pt x="92232" y="49077"/>
                  <a:pt x="81670" y="42136"/>
                  <a:pt x="69033" y="42136"/>
                </a:cubicBezTo>
                <a:cubicBezTo>
                  <a:pt x="45682" y="42136"/>
                  <a:pt x="26104" y="82160"/>
                  <a:pt x="26104" y="121354"/>
                </a:cubicBezTo>
                <a:cubicBezTo>
                  <a:pt x="26104" y="139650"/>
                  <a:pt x="33083" y="149910"/>
                  <a:pt x="44815" y="149910"/>
                </a:cubicBezTo>
                <a:cubicBezTo>
                  <a:pt x="56207" y="149910"/>
                  <a:pt x="63299" y="142743"/>
                  <a:pt x="83745" y="110754"/>
                </a:cubicBezTo>
                <a:cubicBezTo>
                  <a:pt x="83745" y="110754"/>
                  <a:pt x="93062" y="96004"/>
                  <a:pt x="108415" y="72503"/>
                </a:cubicBezTo>
                <a:close/>
                <a:moveTo>
                  <a:pt x="200383" y="149910"/>
                </a:moveTo>
                <a:cubicBezTo>
                  <a:pt x="212530" y="149910"/>
                  <a:pt x="218075" y="139537"/>
                  <a:pt x="218075" y="121656"/>
                </a:cubicBezTo>
                <a:cubicBezTo>
                  <a:pt x="218075" y="74804"/>
                  <a:pt x="197592" y="36629"/>
                  <a:pt x="171601" y="36629"/>
                </a:cubicBezTo>
                <a:cubicBezTo>
                  <a:pt x="159077" y="36629"/>
                  <a:pt x="148552" y="46399"/>
                  <a:pt x="135802" y="66053"/>
                </a:cubicBezTo>
                <a:cubicBezTo>
                  <a:pt x="139348" y="71258"/>
                  <a:pt x="143007" y="76992"/>
                  <a:pt x="146855" y="83179"/>
                </a:cubicBezTo>
                <a:lnTo>
                  <a:pt x="161001" y="106718"/>
                </a:lnTo>
                <a:cubicBezTo>
                  <a:pt x="183144" y="142215"/>
                  <a:pt x="188727" y="149910"/>
                  <a:pt x="200383" y="149910"/>
                </a:cubicBez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10" name="Text 8"/>
          <p:cNvSpPr/>
          <p:nvPr/>
        </p:nvSpPr>
        <p:spPr>
          <a:xfrm>
            <a:off x="1030083" y="1673885"/>
            <a:ext cx="965703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0083" y="1899216"/>
            <a:ext cx="941560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Persona Hook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851" y="2221117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1434" y="2337806"/>
            <a:ext cx="140832" cy="112665"/>
          </a:xfrm>
          <a:custGeom>
            <a:avLst/>
            <a:gdLst/>
            <a:ahLst/>
            <a:cxnLst/>
            <a:rect l="l" t="t" r="r" b="b"/>
            <a:pathLst>
              <a:path w="140832" h="112665">
                <a:moveTo>
                  <a:pt x="70416" y="3521"/>
                </a:moveTo>
                <a:cubicBezTo>
                  <a:pt x="83046" y="3521"/>
                  <a:pt x="93301" y="13775"/>
                  <a:pt x="93301" y="26406"/>
                </a:cubicBezTo>
                <a:cubicBezTo>
                  <a:pt x="93301" y="39037"/>
                  <a:pt x="83046" y="49291"/>
                  <a:pt x="70416" y="49291"/>
                </a:cubicBezTo>
                <a:cubicBezTo>
                  <a:pt x="57785" y="49291"/>
                  <a:pt x="47531" y="39037"/>
                  <a:pt x="47531" y="26406"/>
                </a:cubicBezTo>
                <a:cubicBezTo>
                  <a:pt x="47531" y="13775"/>
                  <a:pt x="57785" y="3521"/>
                  <a:pt x="70416" y="3521"/>
                </a:cubicBezTo>
                <a:close/>
                <a:moveTo>
                  <a:pt x="21125" y="19364"/>
                </a:moveTo>
                <a:cubicBezTo>
                  <a:pt x="29869" y="19364"/>
                  <a:pt x="36968" y="26464"/>
                  <a:pt x="36968" y="35208"/>
                </a:cubicBezTo>
                <a:cubicBezTo>
                  <a:pt x="36968" y="43952"/>
                  <a:pt x="29869" y="51051"/>
                  <a:pt x="21125" y="51051"/>
                </a:cubicBezTo>
                <a:cubicBezTo>
                  <a:pt x="12380" y="51051"/>
                  <a:pt x="5281" y="43952"/>
                  <a:pt x="5281" y="35208"/>
                </a:cubicBezTo>
                <a:cubicBezTo>
                  <a:pt x="5281" y="26464"/>
                  <a:pt x="12380" y="19364"/>
                  <a:pt x="21125" y="19364"/>
                </a:cubicBezTo>
                <a:close/>
                <a:moveTo>
                  <a:pt x="0" y="91541"/>
                </a:moveTo>
                <a:cubicBezTo>
                  <a:pt x="0" y="75983"/>
                  <a:pt x="12609" y="63374"/>
                  <a:pt x="28166" y="63374"/>
                </a:cubicBezTo>
                <a:cubicBezTo>
                  <a:pt x="30983" y="63374"/>
                  <a:pt x="33712" y="63792"/>
                  <a:pt x="36286" y="64563"/>
                </a:cubicBezTo>
                <a:cubicBezTo>
                  <a:pt x="29047" y="72660"/>
                  <a:pt x="24646" y="83355"/>
                  <a:pt x="24646" y="95061"/>
                </a:cubicBezTo>
                <a:lnTo>
                  <a:pt x="24646" y="98582"/>
                </a:lnTo>
                <a:cubicBezTo>
                  <a:pt x="24646" y="101091"/>
                  <a:pt x="25174" y="103467"/>
                  <a:pt x="26120" y="105624"/>
                </a:cubicBezTo>
                <a:lnTo>
                  <a:pt x="7042" y="105624"/>
                </a:lnTo>
                <a:cubicBezTo>
                  <a:pt x="3147" y="105624"/>
                  <a:pt x="0" y="102477"/>
                  <a:pt x="0" y="98582"/>
                </a:cubicBezTo>
                <a:lnTo>
                  <a:pt x="0" y="91541"/>
                </a:lnTo>
                <a:close/>
                <a:moveTo>
                  <a:pt x="114712" y="105624"/>
                </a:moveTo>
                <a:cubicBezTo>
                  <a:pt x="115658" y="103467"/>
                  <a:pt x="116186" y="101091"/>
                  <a:pt x="116186" y="98582"/>
                </a:cubicBezTo>
                <a:lnTo>
                  <a:pt x="116186" y="95061"/>
                </a:lnTo>
                <a:cubicBezTo>
                  <a:pt x="116186" y="83355"/>
                  <a:pt x="111785" y="72660"/>
                  <a:pt x="104546" y="64563"/>
                </a:cubicBezTo>
                <a:cubicBezTo>
                  <a:pt x="107120" y="63792"/>
                  <a:pt x="109849" y="63374"/>
                  <a:pt x="112665" y="63374"/>
                </a:cubicBezTo>
                <a:cubicBezTo>
                  <a:pt x="128223" y="63374"/>
                  <a:pt x="140832" y="75983"/>
                  <a:pt x="140832" y="91541"/>
                </a:cubicBezTo>
                <a:lnTo>
                  <a:pt x="140832" y="98582"/>
                </a:lnTo>
                <a:cubicBezTo>
                  <a:pt x="140832" y="102477"/>
                  <a:pt x="137685" y="105624"/>
                  <a:pt x="133790" y="105624"/>
                </a:cubicBezTo>
                <a:lnTo>
                  <a:pt x="114712" y="105624"/>
                </a:lnTo>
                <a:close/>
                <a:moveTo>
                  <a:pt x="103863" y="35208"/>
                </a:moveTo>
                <a:cubicBezTo>
                  <a:pt x="103863" y="26464"/>
                  <a:pt x="110963" y="19364"/>
                  <a:pt x="119707" y="19364"/>
                </a:cubicBezTo>
                <a:cubicBezTo>
                  <a:pt x="128451" y="19364"/>
                  <a:pt x="135550" y="26464"/>
                  <a:pt x="135550" y="35208"/>
                </a:cubicBezTo>
                <a:cubicBezTo>
                  <a:pt x="135550" y="43952"/>
                  <a:pt x="128451" y="51051"/>
                  <a:pt x="119707" y="51051"/>
                </a:cubicBezTo>
                <a:cubicBezTo>
                  <a:pt x="110963" y="51051"/>
                  <a:pt x="103863" y="43952"/>
                  <a:pt x="103863" y="35208"/>
                </a:cubicBezTo>
                <a:close/>
                <a:moveTo>
                  <a:pt x="35208" y="95061"/>
                </a:moveTo>
                <a:cubicBezTo>
                  <a:pt x="35208" y="75609"/>
                  <a:pt x="50963" y="59853"/>
                  <a:pt x="70416" y="59853"/>
                </a:cubicBezTo>
                <a:cubicBezTo>
                  <a:pt x="89868" y="59853"/>
                  <a:pt x="105624" y="75609"/>
                  <a:pt x="105624" y="95061"/>
                </a:cubicBezTo>
                <a:lnTo>
                  <a:pt x="105624" y="98582"/>
                </a:lnTo>
                <a:cubicBezTo>
                  <a:pt x="105624" y="102477"/>
                  <a:pt x="102477" y="105624"/>
                  <a:pt x="98582" y="105624"/>
                </a:cubicBezTo>
                <a:lnTo>
                  <a:pt x="42250" y="105624"/>
                </a:lnTo>
                <a:cubicBezTo>
                  <a:pt x="38355" y="105624"/>
                  <a:pt x="35208" y="102477"/>
                  <a:pt x="35208" y="98582"/>
                </a:cubicBezTo>
                <a:lnTo>
                  <a:pt x="35208" y="95061"/>
                </a:ln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14" name="Text 12"/>
          <p:cNvSpPr/>
          <p:nvPr/>
        </p:nvSpPr>
        <p:spPr>
          <a:xfrm>
            <a:off x="765073" y="2317687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22" y="2543018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Parents (ADHD/Focus) and High-Stress Professionals in Casablanca &amp; Marrakech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2851" y="3122440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88475" y="3239129"/>
            <a:ext cx="126749" cy="112665"/>
          </a:xfrm>
          <a:custGeom>
            <a:avLst/>
            <a:gdLst/>
            <a:ahLst/>
            <a:cxnLst/>
            <a:rect l="l" t="t" r="r" b="b"/>
            <a:pathLst>
              <a:path w="126749" h="112665">
                <a:moveTo>
                  <a:pt x="21125" y="14083"/>
                </a:moveTo>
                <a:cubicBezTo>
                  <a:pt x="13357" y="14083"/>
                  <a:pt x="7042" y="20399"/>
                  <a:pt x="7042" y="28166"/>
                </a:cubicBezTo>
                <a:lnTo>
                  <a:pt x="7042" y="84499"/>
                </a:lnTo>
                <a:cubicBezTo>
                  <a:pt x="7042" y="92267"/>
                  <a:pt x="13357" y="98582"/>
                  <a:pt x="21125" y="98582"/>
                </a:cubicBezTo>
                <a:lnTo>
                  <a:pt x="77457" y="98582"/>
                </a:lnTo>
                <a:cubicBezTo>
                  <a:pt x="85225" y="98582"/>
                  <a:pt x="91541" y="92267"/>
                  <a:pt x="91541" y="84499"/>
                </a:cubicBezTo>
                <a:lnTo>
                  <a:pt x="91541" y="28166"/>
                </a:lnTo>
                <a:cubicBezTo>
                  <a:pt x="91541" y="20399"/>
                  <a:pt x="85225" y="14083"/>
                  <a:pt x="77457" y="14083"/>
                </a:cubicBezTo>
                <a:lnTo>
                  <a:pt x="21125" y="14083"/>
                </a:lnTo>
                <a:close/>
                <a:moveTo>
                  <a:pt x="102103" y="73937"/>
                </a:moveTo>
                <a:lnTo>
                  <a:pt x="118277" y="86876"/>
                </a:lnTo>
                <a:cubicBezTo>
                  <a:pt x="119201" y="87624"/>
                  <a:pt x="120345" y="88020"/>
                  <a:pt x="121533" y="88020"/>
                </a:cubicBezTo>
                <a:cubicBezTo>
                  <a:pt x="124416" y="88020"/>
                  <a:pt x="126749" y="85687"/>
                  <a:pt x="126749" y="82805"/>
                </a:cubicBezTo>
                <a:lnTo>
                  <a:pt x="126749" y="29861"/>
                </a:lnTo>
                <a:cubicBezTo>
                  <a:pt x="126749" y="26978"/>
                  <a:pt x="124416" y="24646"/>
                  <a:pt x="121533" y="24646"/>
                </a:cubicBezTo>
                <a:cubicBezTo>
                  <a:pt x="120345" y="24646"/>
                  <a:pt x="119201" y="25042"/>
                  <a:pt x="118277" y="25790"/>
                </a:cubicBezTo>
                <a:lnTo>
                  <a:pt x="102103" y="38729"/>
                </a:lnTo>
                <a:lnTo>
                  <a:pt x="102103" y="73937"/>
                </a:ln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18" name="Text 16"/>
          <p:cNvSpPr/>
          <p:nvPr/>
        </p:nvSpPr>
        <p:spPr>
          <a:xfrm>
            <a:off x="765073" y="3219010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422" y="3444341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UGC-style videos (real people, mobile-shot) or static images with clear text overlays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6875" y="4027786"/>
            <a:ext cx="3412150" cy="1005941"/>
          </a:xfrm>
          <a:prstGeom prst="roundRect">
            <a:avLst>
              <a:gd name="adj" fmla="val 6400"/>
            </a:avLst>
          </a:prstGeom>
          <a:solidFill>
            <a:srgbClr val="0A192F">
              <a:alpha val="40000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64" y="4148499"/>
            <a:ext cx="112665" cy="112665"/>
          </a:xfrm>
          <a:custGeom>
            <a:avLst/>
            <a:gdLst/>
            <a:ahLst/>
            <a:cxnLst/>
            <a:rect l="l" t="t" r="r" b="b"/>
            <a:pathLst>
              <a:path w="112665" h="112665">
                <a:moveTo>
                  <a:pt x="112665" y="52812"/>
                </a:moveTo>
                <a:cubicBezTo>
                  <a:pt x="112665" y="81968"/>
                  <a:pt x="87448" y="105624"/>
                  <a:pt x="56333" y="105624"/>
                </a:cubicBezTo>
                <a:cubicBezTo>
                  <a:pt x="48169" y="105624"/>
                  <a:pt x="40423" y="103995"/>
                  <a:pt x="33426" y="101069"/>
                </a:cubicBezTo>
                <a:lnTo>
                  <a:pt x="7372" y="112247"/>
                </a:lnTo>
                <a:cubicBezTo>
                  <a:pt x="5303" y="113127"/>
                  <a:pt x="2927" y="112621"/>
                  <a:pt x="1408" y="110971"/>
                </a:cubicBezTo>
                <a:cubicBezTo>
                  <a:pt x="-110" y="109321"/>
                  <a:pt x="-440" y="106900"/>
                  <a:pt x="616" y="104920"/>
                </a:cubicBezTo>
                <a:lnTo>
                  <a:pt x="11355" y="84631"/>
                </a:lnTo>
                <a:cubicBezTo>
                  <a:pt x="4225" y="75763"/>
                  <a:pt x="0" y="64761"/>
                  <a:pt x="0" y="52812"/>
                </a:cubicBezTo>
                <a:cubicBezTo>
                  <a:pt x="0" y="23655"/>
                  <a:pt x="25218" y="0"/>
                  <a:pt x="56333" y="0"/>
                </a:cubicBezTo>
                <a:cubicBezTo>
                  <a:pt x="87448" y="0"/>
                  <a:pt x="112665" y="23655"/>
                  <a:pt x="112665" y="52812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73120" y="4128380"/>
            <a:ext cx="308164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7469" y="4353711"/>
            <a:ext cx="3275343" cy="579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"Casablanca founders: Your brain is your highest-yielding asset. Are you protecting it? Neurofeedback isn't therapy; it's a 15-minute upgrade to your cognitive ROI."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6875" y="5331485"/>
            <a:ext cx="3412150" cy="394329"/>
          </a:xfrm>
          <a:prstGeom prst="roundRect">
            <a:avLst>
              <a:gd name="adj" fmla="val 16327"/>
            </a:avLst>
          </a:prstGeom>
          <a:solidFill>
            <a:srgbClr val="4267B2">
              <a:alpha val="10196"/>
            </a:srgbClr>
          </a:solidFill>
          <a:ln w="12700">
            <a:solidFill>
              <a:srgbClr val="4267B2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279" y="5432079"/>
            <a:ext cx="327534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4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CTA:</a:t>
            </a:r>
            <a:pPr algn="ctr"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Free Brain Resilience Bilan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24007" y="1464650"/>
            <a:ext cx="3742099" cy="4426139"/>
          </a:xfrm>
          <a:custGeom>
            <a:avLst/>
            <a:gdLst/>
            <a:ahLst/>
            <a:cxnLst/>
            <a:rect l="l" t="t" r="r" b="b"/>
            <a:pathLst>
              <a:path w="3742099" h="4426139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4329557"/>
                </a:lnTo>
                <a:cubicBezTo>
                  <a:pt x="3741985" y="4382835"/>
                  <a:pt x="3698813" y="4426007"/>
                  <a:pt x="3645535" y="4426077"/>
                </a:cubicBezTo>
                <a:lnTo>
                  <a:pt x="96647" y="4426077"/>
                </a:lnTo>
                <a:cubicBezTo>
                  <a:pt x="43320" y="4426077"/>
                  <a:pt x="70" y="4382884"/>
                  <a:pt x="0" y="4329557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4224007" y="1464650"/>
            <a:ext cx="3742099" cy="32190"/>
          </a:xfrm>
          <a:custGeom>
            <a:avLst/>
            <a:gdLst/>
            <a:ahLst/>
            <a:cxnLst/>
            <a:rect l="l" t="t" r="r" b="b"/>
            <a:pathLst>
              <a:path w="3742099" h="32190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32131"/>
                </a:lnTo>
                <a:lnTo>
                  <a:pt x="0" y="32131"/>
                </a:ln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4958" y="1641695"/>
            <a:ext cx="450661" cy="450661"/>
          </a:xfrm>
          <a:prstGeom prst="roundRect">
            <a:avLst>
              <a:gd name="adj" fmla="val 50000"/>
            </a:avLst>
          </a:prstGeom>
          <a:solidFill>
            <a:srgbClr val="0077B5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25790" y="1770455"/>
            <a:ext cx="168998" cy="193141"/>
          </a:xfrm>
          <a:custGeom>
            <a:avLst/>
            <a:gdLst/>
            <a:ahLst/>
            <a:cxnLst/>
            <a:rect l="l" t="t" r="r" b="b"/>
            <a:pathLst>
              <a:path w="168998" h="193141">
                <a:moveTo>
                  <a:pt x="156927" y="12071"/>
                </a:moveTo>
                <a:lnTo>
                  <a:pt x="12034" y="12071"/>
                </a:lnTo>
                <a:cubicBezTo>
                  <a:pt x="5394" y="12071"/>
                  <a:pt x="0" y="17541"/>
                  <a:pt x="0" y="24256"/>
                </a:cubicBezTo>
                <a:lnTo>
                  <a:pt x="0" y="168885"/>
                </a:lnTo>
                <a:cubicBezTo>
                  <a:pt x="0" y="175600"/>
                  <a:pt x="5394" y="181069"/>
                  <a:pt x="12034" y="181069"/>
                </a:cubicBezTo>
                <a:lnTo>
                  <a:pt x="156927" y="181069"/>
                </a:lnTo>
                <a:cubicBezTo>
                  <a:pt x="163566" y="181069"/>
                  <a:pt x="168998" y="175600"/>
                  <a:pt x="168998" y="168885"/>
                </a:cubicBezTo>
                <a:lnTo>
                  <a:pt x="168998" y="24256"/>
                </a:lnTo>
                <a:cubicBezTo>
                  <a:pt x="168998" y="17541"/>
                  <a:pt x="163566" y="12071"/>
                  <a:pt x="156927" y="12071"/>
                </a:cubicBezTo>
                <a:close/>
                <a:moveTo>
                  <a:pt x="51077" y="156927"/>
                </a:moveTo>
                <a:lnTo>
                  <a:pt x="26029" y="156927"/>
                </a:lnTo>
                <a:lnTo>
                  <a:pt x="26029" y="76275"/>
                </a:lnTo>
                <a:lnTo>
                  <a:pt x="51114" y="76275"/>
                </a:lnTo>
                <a:lnTo>
                  <a:pt x="51114" y="156927"/>
                </a:lnTo>
                <a:lnTo>
                  <a:pt x="51077" y="156927"/>
                </a:lnTo>
                <a:close/>
                <a:moveTo>
                  <a:pt x="38553" y="36214"/>
                </a:moveTo>
                <a:cubicBezTo>
                  <a:pt x="46568" y="36214"/>
                  <a:pt x="53076" y="42722"/>
                  <a:pt x="53076" y="50737"/>
                </a:cubicBezTo>
                <a:cubicBezTo>
                  <a:pt x="53076" y="58753"/>
                  <a:pt x="46568" y="65260"/>
                  <a:pt x="38553" y="65260"/>
                </a:cubicBezTo>
                <a:cubicBezTo>
                  <a:pt x="30537" y="65260"/>
                  <a:pt x="24029" y="58753"/>
                  <a:pt x="24029" y="50737"/>
                </a:cubicBezTo>
                <a:cubicBezTo>
                  <a:pt x="24029" y="42722"/>
                  <a:pt x="30537" y="36214"/>
                  <a:pt x="38553" y="36214"/>
                </a:cubicBezTo>
                <a:close/>
                <a:moveTo>
                  <a:pt x="144969" y="156927"/>
                </a:moveTo>
                <a:lnTo>
                  <a:pt x="119921" y="156927"/>
                </a:lnTo>
                <a:lnTo>
                  <a:pt x="119921" y="117695"/>
                </a:lnTo>
                <a:cubicBezTo>
                  <a:pt x="119921" y="108340"/>
                  <a:pt x="119732" y="96306"/>
                  <a:pt x="106906" y="96306"/>
                </a:cubicBezTo>
                <a:cubicBezTo>
                  <a:pt x="93854" y="96306"/>
                  <a:pt x="91855" y="106491"/>
                  <a:pt x="91855" y="117016"/>
                </a:cubicBezTo>
                <a:lnTo>
                  <a:pt x="91855" y="156927"/>
                </a:lnTo>
                <a:lnTo>
                  <a:pt x="66807" y="156927"/>
                </a:lnTo>
                <a:lnTo>
                  <a:pt x="66807" y="76275"/>
                </a:lnTo>
                <a:lnTo>
                  <a:pt x="90836" y="76275"/>
                </a:lnTo>
                <a:lnTo>
                  <a:pt x="90836" y="87290"/>
                </a:lnTo>
                <a:lnTo>
                  <a:pt x="91176" y="87290"/>
                </a:lnTo>
                <a:cubicBezTo>
                  <a:pt x="94533" y="80953"/>
                  <a:pt x="102719" y="74276"/>
                  <a:pt x="114904" y="74276"/>
                </a:cubicBezTo>
                <a:cubicBezTo>
                  <a:pt x="140253" y="74276"/>
                  <a:pt x="144969" y="90987"/>
                  <a:pt x="144969" y="112716"/>
                </a:cubicBezTo>
                <a:lnTo>
                  <a:pt x="144969" y="156927"/>
                </a:ln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30" name="Text 28"/>
          <p:cNvSpPr/>
          <p:nvPr/>
        </p:nvSpPr>
        <p:spPr>
          <a:xfrm>
            <a:off x="4932190" y="1673885"/>
            <a:ext cx="129565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LinkedIn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2190" y="1899216"/>
            <a:ext cx="127150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B2B High-Ticket Play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4958" y="2221117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11706" y="2337806"/>
            <a:ext cx="84499" cy="112665"/>
          </a:xfrm>
          <a:custGeom>
            <a:avLst/>
            <a:gdLst/>
            <a:ahLst/>
            <a:cxnLst/>
            <a:rect l="l" t="t" r="r" b="b"/>
            <a:pathLst>
              <a:path w="84499" h="112665">
                <a:moveTo>
                  <a:pt x="14083" y="0"/>
                </a:moveTo>
                <a:cubicBezTo>
                  <a:pt x="6315" y="0"/>
                  <a:pt x="0" y="6315"/>
                  <a:pt x="0" y="14083"/>
                </a:cubicBezTo>
                <a:lnTo>
                  <a:pt x="0" y="98582"/>
                </a:lnTo>
                <a:cubicBezTo>
                  <a:pt x="0" y="106350"/>
                  <a:pt x="6315" y="112665"/>
                  <a:pt x="14083" y="112665"/>
                </a:cubicBezTo>
                <a:lnTo>
                  <a:pt x="70416" y="112665"/>
                </a:lnTo>
                <a:cubicBezTo>
                  <a:pt x="78184" y="112665"/>
                  <a:pt x="84499" y="106350"/>
                  <a:pt x="84499" y="98582"/>
                </a:cubicBezTo>
                <a:lnTo>
                  <a:pt x="84499" y="14083"/>
                </a:lnTo>
                <a:cubicBezTo>
                  <a:pt x="84499" y="6315"/>
                  <a:pt x="78184" y="0"/>
                  <a:pt x="70416" y="0"/>
                </a:cubicBezTo>
                <a:lnTo>
                  <a:pt x="14083" y="0"/>
                </a:lnTo>
                <a:close/>
                <a:moveTo>
                  <a:pt x="38729" y="77457"/>
                </a:moveTo>
                <a:lnTo>
                  <a:pt x="45770" y="77457"/>
                </a:lnTo>
                <a:cubicBezTo>
                  <a:pt x="49665" y="77457"/>
                  <a:pt x="52812" y="80604"/>
                  <a:pt x="52812" y="84499"/>
                </a:cubicBezTo>
                <a:lnTo>
                  <a:pt x="52812" y="102103"/>
                </a:lnTo>
                <a:lnTo>
                  <a:pt x="31687" y="102103"/>
                </a:lnTo>
                <a:lnTo>
                  <a:pt x="31687" y="84499"/>
                </a:lnTo>
                <a:cubicBezTo>
                  <a:pt x="31687" y="80604"/>
                  <a:pt x="34834" y="77457"/>
                  <a:pt x="38729" y="77457"/>
                </a:cubicBezTo>
                <a:close/>
                <a:moveTo>
                  <a:pt x="21125" y="24646"/>
                </a:moveTo>
                <a:cubicBezTo>
                  <a:pt x="21125" y="22709"/>
                  <a:pt x="22709" y="21125"/>
                  <a:pt x="24646" y="21125"/>
                </a:cubicBezTo>
                <a:lnTo>
                  <a:pt x="31687" y="21125"/>
                </a:lnTo>
                <a:cubicBezTo>
                  <a:pt x="33624" y="21125"/>
                  <a:pt x="35208" y="22709"/>
                  <a:pt x="35208" y="24646"/>
                </a:cubicBezTo>
                <a:lnTo>
                  <a:pt x="35208" y="31687"/>
                </a:lnTo>
                <a:cubicBezTo>
                  <a:pt x="35208" y="33624"/>
                  <a:pt x="33624" y="35208"/>
                  <a:pt x="31687" y="35208"/>
                </a:cubicBezTo>
                <a:lnTo>
                  <a:pt x="24646" y="35208"/>
                </a:lnTo>
                <a:cubicBezTo>
                  <a:pt x="22709" y="35208"/>
                  <a:pt x="21125" y="33624"/>
                  <a:pt x="21125" y="31687"/>
                </a:cubicBezTo>
                <a:lnTo>
                  <a:pt x="21125" y="24646"/>
                </a:lnTo>
                <a:close/>
                <a:moveTo>
                  <a:pt x="52812" y="21125"/>
                </a:moveTo>
                <a:lnTo>
                  <a:pt x="59853" y="21125"/>
                </a:lnTo>
                <a:cubicBezTo>
                  <a:pt x="61790" y="21125"/>
                  <a:pt x="63374" y="22709"/>
                  <a:pt x="63374" y="24646"/>
                </a:cubicBezTo>
                <a:lnTo>
                  <a:pt x="63374" y="31687"/>
                </a:lnTo>
                <a:cubicBezTo>
                  <a:pt x="63374" y="33624"/>
                  <a:pt x="61790" y="35208"/>
                  <a:pt x="59853" y="35208"/>
                </a:cubicBezTo>
                <a:lnTo>
                  <a:pt x="52812" y="35208"/>
                </a:lnTo>
                <a:cubicBezTo>
                  <a:pt x="50875" y="35208"/>
                  <a:pt x="49291" y="33624"/>
                  <a:pt x="49291" y="31687"/>
                </a:cubicBezTo>
                <a:lnTo>
                  <a:pt x="49291" y="24646"/>
                </a:lnTo>
                <a:cubicBezTo>
                  <a:pt x="49291" y="22709"/>
                  <a:pt x="50875" y="21125"/>
                  <a:pt x="52812" y="21125"/>
                </a:cubicBezTo>
                <a:close/>
                <a:moveTo>
                  <a:pt x="21125" y="52812"/>
                </a:moveTo>
                <a:cubicBezTo>
                  <a:pt x="21125" y="50875"/>
                  <a:pt x="22709" y="49291"/>
                  <a:pt x="24646" y="49291"/>
                </a:cubicBezTo>
                <a:lnTo>
                  <a:pt x="31687" y="49291"/>
                </a:lnTo>
                <a:cubicBezTo>
                  <a:pt x="33624" y="49291"/>
                  <a:pt x="35208" y="50875"/>
                  <a:pt x="35208" y="52812"/>
                </a:cubicBezTo>
                <a:lnTo>
                  <a:pt x="35208" y="59853"/>
                </a:lnTo>
                <a:cubicBezTo>
                  <a:pt x="35208" y="61790"/>
                  <a:pt x="33624" y="63374"/>
                  <a:pt x="31687" y="63374"/>
                </a:cubicBezTo>
                <a:lnTo>
                  <a:pt x="24646" y="63374"/>
                </a:lnTo>
                <a:cubicBezTo>
                  <a:pt x="22709" y="63374"/>
                  <a:pt x="21125" y="61790"/>
                  <a:pt x="21125" y="59853"/>
                </a:cubicBezTo>
                <a:lnTo>
                  <a:pt x="21125" y="52812"/>
                </a:lnTo>
                <a:close/>
                <a:moveTo>
                  <a:pt x="52812" y="49291"/>
                </a:moveTo>
                <a:lnTo>
                  <a:pt x="59853" y="49291"/>
                </a:lnTo>
                <a:cubicBezTo>
                  <a:pt x="61790" y="49291"/>
                  <a:pt x="63374" y="50875"/>
                  <a:pt x="63374" y="52812"/>
                </a:cubicBezTo>
                <a:lnTo>
                  <a:pt x="63374" y="59853"/>
                </a:lnTo>
                <a:cubicBezTo>
                  <a:pt x="63374" y="61790"/>
                  <a:pt x="61790" y="63374"/>
                  <a:pt x="59853" y="63374"/>
                </a:cubicBezTo>
                <a:lnTo>
                  <a:pt x="52812" y="63374"/>
                </a:lnTo>
                <a:cubicBezTo>
                  <a:pt x="50875" y="63374"/>
                  <a:pt x="49291" y="61790"/>
                  <a:pt x="49291" y="59853"/>
                </a:cubicBezTo>
                <a:lnTo>
                  <a:pt x="49291" y="52812"/>
                </a:lnTo>
                <a:cubicBezTo>
                  <a:pt x="49291" y="50875"/>
                  <a:pt x="50875" y="49291"/>
                  <a:pt x="52812" y="49291"/>
                </a:cubicBez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34" name="Text 32"/>
          <p:cNvSpPr/>
          <p:nvPr/>
        </p:nvSpPr>
        <p:spPr>
          <a:xfrm>
            <a:off x="4667179" y="2317687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0077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1528" y="2543018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Directors and CEOs in Casablanca/Tanger corporate hubs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84958" y="3122440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97623" y="3239129"/>
            <a:ext cx="112665" cy="112665"/>
          </a:xfrm>
          <a:custGeom>
            <a:avLst/>
            <a:gdLst/>
            <a:ahLst/>
            <a:cxnLst/>
            <a:rect l="l" t="t" r="r" b="b"/>
            <a:pathLst>
              <a:path w="112665" h="112665">
                <a:moveTo>
                  <a:pt x="44010" y="10562"/>
                </a:moveTo>
                <a:lnTo>
                  <a:pt x="68655" y="10562"/>
                </a:lnTo>
                <a:cubicBezTo>
                  <a:pt x="69624" y="10562"/>
                  <a:pt x="70416" y="11355"/>
                  <a:pt x="70416" y="12323"/>
                </a:cubicBezTo>
                <a:lnTo>
                  <a:pt x="70416" y="21125"/>
                </a:lnTo>
                <a:lnTo>
                  <a:pt x="42250" y="21125"/>
                </a:lnTo>
                <a:lnTo>
                  <a:pt x="42250" y="12323"/>
                </a:lnTo>
                <a:cubicBezTo>
                  <a:pt x="42250" y="11355"/>
                  <a:pt x="43042" y="10562"/>
                  <a:pt x="44010" y="10562"/>
                </a:cubicBezTo>
                <a:close/>
                <a:moveTo>
                  <a:pt x="31687" y="12323"/>
                </a:moveTo>
                <a:lnTo>
                  <a:pt x="31687" y="21125"/>
                </a:lnTo>
                <a:lnTo>
                  <a:pt x="14083" y="21125"/>
                </a:lnTo>
                <a:cubicBezTo>
                  <a:pt x="6315" y="21125"/>
                  <a:pt x="0" y="27440"/>
                  <a:pt x="0" y="35208"/>
                </a:cubicBezTo>
                <a:lnTo>
                  <a:pt x="0" y="56333"/>
                </a:lnTo>
                <a:lnTo>
                  <a:pt x="112665" y="56333"/>
                </a:lnTo>
                <a:lnTo>
                  <a:pt x="112665" y="35208"/>
                </a:lnTo>
                <a:cubicBezTo>
                  <a:pt x="112665" y="27440"/>
                  <a:pt x="106350" y="21125"/>
                  <a:pt x="98582" y="21125"/>
                </a:cubicBezTo>
                <a:lnTo>
                  <a:pt x="80978" y="21125"/>
                </a:lnTo>
                <a:lnTo>
                  <a:pt x="80978" y="12323"/>
                </a:lnTo>
                <a:cubicBezTo>
                  <a:pt x="80978" y="5523"/>
                  <a:pt x="75455" y="0"/>
                  <a:pt x="68655" y="0"/>
                </a:cubicBezTo>
                <a:lnTo>
                  <a:pt x="44010" y="0"/>
                </a:lnTo>
                <a:cubicBezTo>
                  <a:pt x="37210" y="0"/>
                  <a:pt x="31687" y="5523"/>
                  <a:pt x="31687" y="12323"/>
                </a:cubicBezTo>
                <a:close/>
                <a:moveTo>
                  <a:pt x="112665" y="66895"/>
                </a:moveTo>
                <a:lnTo>
                  <a:pt x="70416" y="66895"/>
                </a:lnTo>
                <a:lnTo>
                  <a:pt x="70416" y="70416"/>
                </a:lnTo>
                <a:cubicBezTo>
                  <a:pt x="70416" y="74311"/>
                  <a:pt x="67269" y="77457"/>
                  <a:pt x="63374" y="77457"/>
                </a:cubicBezTo>
                <a:lnTo>
                  <a:pt x="49291" y="77457"/>
                </a:lnTo>
                <a:cubicBezTo>
                  <a:pt x="45396" y="77457"/>
                  <a:pt x="42250" y="74311"/>
                  <a:pt x="42250" y="70416"/>
                </a:cubicBezTo>
                <a:lnTo>
                  <a:pt x="42250" y="66895"/>
                </a:lnTo>
                <a:lnTo>
                  <a:pt x="0" y="66895"/>
                </a:lnTo>
                <a:lnTo>
                  <a:pt x="0" y="91541"/>
                </a:lnTo>
                <a:cubicBezTo>
                  <a:pt x="0" y="99308"/>
                  <a:pt x="6315" y="105624"/>
                  <a:pt x="14083" y="105624"/>
                </a:cubicBezTo>
                <a:lnTo>
                  <a:pt x="98582" y="105624"/>
                </a:lnTo>
                <a:cubicBezTo>
                  <a:pt x="106350" y="105624"/>
                  <a:pt x="112665" y="99308"/>
                  <a:pt x="112665" y="91541"/>
                </a:cubicBezTo>
                <a:lnTo>
                  <a:pt x="112665" y="66895"/>
                </a:ln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38" name="Text 36"/>
          <p:cNvSpPr/>
          <p:nvPr/>
        </p:nvSpPr>
        <p:spPr>
          <a:xfrm>
            <a:off x="4667179" y="3219010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0077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1528" y="3444341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"Executive Brain Resilience"</a:t>
            </a:r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 for burnout prevention and peak performance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8982" y="4027786"/>
            <a:ext cx="3412150" cy="1199081"/>
          </a:xfrm>
          <a:prstGeom prst="roundRect">
            <a:avLst>
              <a:gd name="adj" fmla="val 5369"/>
            </a:avLst>
          </a:prstGeom>
          <a:solidFill>
            <a:srgbClr val="0A192F">
              <a:alpha val="40000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5671" y="4148499"/>
            <a:ext cx="112665" cy="112665"/>
          </a:xfrm>
          <a:custGeom>
            <a:avLst/>
            <a:gdLst/>
            <a:ahLst/>
            <a:cxnLst/>
            <a:rect l="l" t="t" r="r" b="b"/>
            <a:pathLst>
              <a:path w="112665" h="112665">
                <a:moveTo>
                  <a:pt x="10562" y="14083"/>
                </a:moveTo>
                <a:cubicBezTo>
                  <a:pt x="4731" y="14083"/>
                  <a:pt x="0" y="18814"/>
                  <a:pt x="0" y="24646"/>
                </a:cubicBezTo>
                <a:cubicBezTo>
                  <a:pt x="0" y="27968"/>
                  <a:pt x="1562" y="31093"/>
                  <a:pt x="4225" y="33095"/>
                </a:cubicBezTo>
                <a:lnTo>
                  <a:pt x="49995" y="67423"/>
                </a:lnTo>
                <a:cubicBezTo>
                  <a:pt x="53758" y="70240"/>
                  <a:pt x="58907" y="70240"/>
                  <a:pt x="62670" y="67423"/>
                </a:cubicBezTo>
                <a:lnTo>
                  <a:pt x="108440" y="33095"/>
                </a:lnTo>
                <a:cubicBezTo>
                  <a:pt x="111103" y="31093"/>
                  <a:pt x="112665" y="27968"/>
                  <a:pt x="112665" y="24646"/>
                </a:cubicBezTo>
                <a:cubicBezTo>
                  <a:pt x="112665" y="18814"/>
                  <a:pt x="107934" y="14083"/>
                  <a:pt x="102103" y="14083"/>
                </a:cubicBezTo>
                <a:lnTo>
                  <a:pt x="10562" y="14083"/>
                </a:lnTo>
                <a:close/>
                <a:moveTo>
                  <a:pt x="0" y="43130"/>
                </a:moveTo>
                <a:lnTo>
                  <a:pt x="0" y="84499"/>
                </a:lnTo>
                <a:cubicBezTo>
                  <a:pt x="0" y="92267"/>
                  <a:pt x="6315" y="98582"/>
                  <a:pt x="14083" y="98582"/>
                </a:cubicBezTo>
                <a:lnTo>
                  <a:pt x="98582" y="98582"/>
                </a:lnTo>
                <a:cubicBezTo>
                  <a:pt x="106350" y="98582"/>
                  <a:pt x="112665" y="92267"/>
                  <a:pt x="112665" y="84499"/>
                </a:cubicBezTo>
                <a:lnTo>
                  <a:pt x="112665" y="43130"/>
                </a:lnTo>
                <a:lnTo>
                  <a:pt x="69008" y="75873"/>
                </a:lnTo>
                <a:cubicBezTo>
                  <a:pt x="61504" y="81506"/>
                  <a:pt x="51162" y="81506"/>
                  <a:pt x="43658" y="75873"/>
                </a:cubicBezTo>
                <a:lnTo>
                  <a:pt x="0" y="4313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2" name="Text 40"/>
          <p:cNvSpPr/>
          <p:nvPr/>
        </p:nvSpPr>
        <p:spPr>
          <a:xfrm>
            <a:off x="4675227" y="4128380"/>
            <a:ext cx="308164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Outreach Script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89576" y="4353711"/>
            <a:ext cx="3275343" cy="77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"Hi [Name], I noticed [Company] is scaling rapidly. We've been helping Moroccan executives maintain peak focus using measurable qEEG brain mapping. Open to a brief regarding an 'Executive Longevity' pilot?"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88982" y="5331485"/>
            <a:ext cx="3412150" cy="394329"/>
          </a:xfrm>
          <a:prstGeom prst="roundRect">
            <a:avLst>
              <a:gd name="adj" fmla="val 16327"/>
            </a:avLst>
          </a:prstGeom>
          <a:solidFill>
            <a:srgbClr val="0077B5">
              <a:alpha val="10196"/>
            </a:srgbClr>
          </a:solidFill>
          <a:ln w="12700">
            <a:solidFill>
              <a:srgbClr val="0077B5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7386" y="5432079"/>
            <a:ext cx="327534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4" b="1" dirty="0">
                <a:solidFill>
                  <a:srgbClr val="0077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Package:</a:t>
            </a:r>
            <a:pPr algn="ctr"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Corporate Retainers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26177" y="1464650"/>
            <a:ext cx="3742099" cy="4426139"/>
          </a:xfrm>
          <a:custGeom>
            <a:avLst/>
            <a:gdLst/>
            <a:ahLst/>
            <a:cxnLst/>
            <a:rect l="l" t="t" r="r" b="b"/>
            <a:pathLst>
              <a:path w="3742099" h="4426139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4329557"/>
                </a:lnTo>
                <a:cubicBezTo>
                  <a:pt x="3741985" y="4382835"/>
                  <a:pt x="3698813" y="4426007"/>
                  <a:pt x="3645535" y="4426077"/>
                </a:cubicBezTo>
                <a:lnTo>
                  <a:pt x="96647" y="4426077"/>
                </a:lnTo>
                <a:cubicBezTo>
                  <a:pt x="43320" y="4426077"/>
                  <a:pt x="70" y="4382884"/>
                  <a:pt x="0" y="4329557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8126177" y="1464650"/>
            <a:ext cx="3742099" cy="32190"/>
          </a:xfrm>
          <a:custGeom>
            <a:avLst/>
            <a:gdLst/>
            <a:ahLst/>
            <a:cxnLst/>
            <a:rect l="l" t="t" r="r" b="b"/>
            <a:pathLst>
              <a:path w="3742099" h="32190">
                <a:moveTo>
                  <a:pt x="32131" y="0"/>
                </a:moveTo>
                <a:lnTo>
                  <a:pt x="3709924" y="0"/>
                </a:lnTo>
                <a:cubicBezTo>
                  <a:pt x="3727669" y="0"/>
                  <a:pt x="3742055" y="14386"/>
                  <a:pt x="3742055" y="32131"/>
                </a:cubicBezTo>
                <a:lnTo>
                  <a:pt x="3742055" y="32131"/>
                </a:lnTo>
                <a:lnTo>
                  <a:pt x="0" y="32131"/>
                </a:ln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48" name="Shape 46"/>
          <p:cNvSpPr/>
          <p:nvPr/>
        </p:nvSpPr>
        <p:spPr>
          <a:xfrm>
            <a:off x="8287127" y="1641695"/>
            <a:ext cx="450661" cy="450661"/>
          </a:xfrm>
          <a:prstGeom prst="roundRect">
            <a:avLst>
              <a:gd name="adj" fmla="val 50000"/>
            </a:avLst>
          </a:prstGeom>
          <a:solidFill>
            <a:srgbClr val="EA4335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15888" y="1770455"/>
            <a:ext cx="193141" cy="193141"/>
          </a:xfrm>
          <a:custGeom>
            <a:avLst/>
            <a:gdLst/>
            <a:ahLst/>
            <a:cxnLst/>
            <a:rect l="l" t="t" r="r" b="b"/>
            <a:pathLst>
              <a:path w="193141" h="193141">
                <a:moveTo>
                  <a:pt x="188614" y="98758"/>
                </a:moveTo>
                <a:cubicBezTo>
                  <a:pt x="188614" y="152136"/>
                  <a:pt x="152060" y="190123"/>
                  <a:pt x="98079" y="190123"/>
                </a:cubicBezTo>
                <a:cubicBezTo>
                  <a:pt x="46324" y="190123"/>
                  <a:pt x="4527" y="148326"/>
                  <a:pt x="4527" y="96570"/>
                </a:cubicBezTo>
                <a:cubicBezTo>
                  <a:pt x="4527" y="44815"/>
                  <a:pt x="46324" y="3018"/>
                  <a:pt x="98079" y="3018"/>
                </a:cubicBezTo>
                <a:cubicBezTo>
                  <a:pt x="123278" y="3018"/>
                  <a:pt x="144478" y="12260"/>
                  <a:pt x="160812" y="27500"/>
                </a:cubicBezTo>
                <a:lnTo>
                  <a:pt x="135349" y="51982"/>
                </a:lnTo>
                <a:cubicBezTo>
                  <a:pt x="102040" y="19842"/>
                  <a:pt x="40099" y="43985"/>
                  <a:pt x="40099" y="96570"/>
                </a:cubicBezTo>
                <a:cubicBezTo>
                  <a:pt x="40099" y="129200"/>
                  <a:pt x="66166" y="155644"/>
                  <a:pt x="98079" y="155644"/>
                </a:cubicBezTo>
                <a:cubicBezTo>
                  <a:pt x="135123" y="155644"/>
                  <a:pt x="149005" y="129087"/>
                  <a:pt x="151193" y="115319"/>
                </a:cubicBezTo>
                <a:lnTo>
                  <a:pt x="98079" y="115319"/>
                </a:lnTo>
                <a:lnTo>
                  <a:pt x="98079" y="83141"/>
                </a:lnTo>
                <a:lnTo>
                  <a:pt x="187143" y="83141"/>
                </a:lnTo>
                <a:cubicBezTo>
                  <a:pt x="188010" y="87932"/>
                  <a:pt x="188614" y="92534"/>
                  <a:pt x="188614" y="98758"/>
                </a:cubicBez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50" name="Text 48"/>
          <p:cNvSpPr/>
          <p:nvPr/>
        </p:nvSpPr>
        <p:spPr>
          <a:xfrm>
            <a:off x="8834359" y="1673885"/>
            <a:ext cx="1118606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Search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34359" y="1899216"/>
            <a:ext cx="1094463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"Near Me" Intent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87127" y="2221117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99793" y="2337806"/>
            <a:ext cx="112665" cy="112665"/>
          </a:xfrm>
          <a:custGeom>
            <a:avLst/>
            <a:gdLst/>
            <a:ahLst/>
            <a:cxnLst/>
            <a:rect l="l" t="t" r="r" b="b"/>
            <a:pathLst>
              <a:path w="112665" h="112665">
                <a:moveTo>
                  <a:pt x="91541" y="45770"/>
                </a:moveTo>
                <a:cubicBezTo>
                  <a:pt x="91541" y="55871"/>
                  <a:pt x="88262" y="65201"/>
                  <a:pt x="82739" y="72770"/>
                </a:cubicBezTo>
                <a:lnTo>
                  <a:pt x="110597" y="100651"/>
                </a:lnTo>
                <a:cubicBezTo>
                  <a:pt x="113348" y="103401"/>
                  <a:pt x="113348" y="107868"/>
                  <a:pt x="110597" y="110619"/>
                </a:cubicBezTo>
                <a:cubicBezTo>
                  <a:pt x="107846" y="113370"/>
                  <a:pt x="103379" y="113370"/>
                  <a:pt x="100629" y="110619"/>
                </a:cubicBezTo>
                <a:lnTo>
                  <a:pt x="72770" y="82739"/>
                </a:lnTo>
                <a:cubicBezTo>
                  <a:pt x="65201" y="88262"/>
                  <a:pt x="55871" y="91541"/>
                  <a:pt x="45770" y="91541"/>
                </a:cubicBezTo>
                <a:cubicBezTo>
                  <a:pt x="20487" y="91541"/>
                  <a:pt x="0" y="71054"/>
                  <a:pt x="0" y="45770"/>
                </a:cubicBezTo>
                <a:cubicBezTo>
                  <a:pt x="0" y="20487"/>
                  <a:pt x="20487" y="0"/>
                  <a:pt x="45770" y="0"/>
                </a:cubicBezTo>
                <a:cubicBezTo>
                  <a:pt x="71054" y="0"/>
                  <a:pt x="91541" y="20487"/>
                  <a:pt x="91541" y="45770"/>
                </a:cubicBezTo>
                <a:close/>
                <a:moveTo>
                  <a:pt x="45770" y="77457"/>
                </a:moveTo>
                <a:cubicBezTo>
                  <a:pt x="63259" y="77457"/>
                  <a:pt x="77457" y="63259"/>
                  <a:pt x="77457" y="45770"/>
                </a:cubicBezTo>
                <a:cubicBezTo>
                  <a:pt x="77457" y="28282"/>
                  <a:pt x="63259" y="14083"/>
                  <a:pt x="45770" y="14083"/>
                </a:cubicBezTo>
                <a:cubicBezTo>
                  <a:pt x="28282" y="14083"/>
                  <a:pt x="14083" y="28282"/>
                  <a:pt x="14083" y="45770"/>
                </a:cubicBezTo>
                <a:cubicBezTo>
                  <a:pt x="14083" y="63259"/>
                  <a:pt x="28282" y="77457"/>
                  <a:pt x="45770" y="77457"/>
                </a:cubicBez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54" name="Text 52"/>
          <p:cNvSpPr/>
          <p:nvPr/>
        </p:nvSpPr>
        <p:spPr>
          <a:xfrm>
            <a:off x="8569348" y="2317687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EA43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Keywords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83698" y="2543018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"Neurofeedback Casablanca", "ADHD center Marrakech", "how to focus better without meds"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87127" y="3122440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99793" y="3239129"/>
            <a:ext cx="112665" cy="112665"/>
          </a:xfrm>
          <a:custGeom>
            <a:avLst/>
            <a:gdLst/>
            <a:ahLst/>
            <a:cxnLst/>
            <a:rect l="l" t="t" r="r" b="b"/>
            <a:pathLst>
              <a:path w="112665" h="112665">
                <a:moveTo>
                  <a:pt x="7042" y="14083"/>
                </a:moveTo>
                <a:cubicBezTo>
                  <a:pt x="3147" y="14083"/>
                  <a:pt x="0" y="17230"/>
                  <a:pt x="0" y="21125"/>
                </a:cubicBezTo>
                <a:cubicBezTo>
                  <a:pt x="0" y="25020"/>
                  <a:pt x="3147" y="28166"/>
                  <a:pt x="7042" y="28166"/>
                </a:cubicBezTo>
                <a:lnTo>
                  <a:pt x="26120" y="28166"/>
                </a:lnTo>
                <a:cubicBezTo>
                  <a:pt x="28826" y="34394"/>
                  <a:pt x="35032" y="38729"/>
                  <a:pt x="42250" y="38729"/>
                </a:cubicBezTo>
                <a:cubicBezTo>
                  <a:pt x="49467" y="38729"/>
                  <a:pt x="55673" y="34394"/>
                  <a:pt x="58379" y="28166"/>
                </a:cubicBezTo>
                <a:lnTo>
                  <a:pt x="105624" y="28166"/>
                </a:lnTo>
                <a:cubicBezTo>
                  <a:pt x="109519" y="28166"/>
                  <a:pt x="112665" y="25020"/>
                  <a:pt x="112665" y="21125"/>
                </a:cubicBezTo>
                <a:cubicBezTo>
                  <a:pt x="112665" y="17230"/>
                  <a:pt x="109519" y="14083"/>
                  <a:pt x="105624" y="14083"/>
                </a:cubicBezTo>
                <a:lnTo>
                  <a:pt x="58379" y="14083"/>
                </a:lnTo>
                <a:cubicBezTo>
                  <a:pt x="55673" y="7856"/>
                  <a:pt x="49467" y="3521"/>
                  <a:pt x="42250" y="3521"/>
                </a:cubicBezTo>
                <a:cubicBezTo>
                  <a:pt x="35032" y="3521"/>
                  <a:pt x="28826" y="7856"/>
                  <a:pt x="26120" y="14083"/>
                </a:cubicBezTo>
                <a:lnTo>
                  <a:pt x="7042" y="14083"/>
                </a:lnTo>
                <a:close/>
                <a:moveTo>
                  <a:pt x="7042" y="49291"/>
                </a:moveTo>
                <a:cubicBezTo>
                  <a:pt x="3147" y="49291"/>
                  <a:pt x="0" y="52438"/>
                  <a:pt x="0" y="56333"/>
                </a:cubicBezTo>
                <a:cubicBezTo>
                  <a:pt x="0" y="60228"/>
                  <a:pt x="3147" y="63374"/>
                  <a:pt x="7042" y="63374"/>
                </a:cubicBezTo>
                <a:lnTo>
                  <a:pt x="61328" y="63374"/>
                </a:lnTo>
                <a:cubicBezTo>
                  <a:pt x="64034" y="69602"/>
                  <a:pt x="70240" y="73937"/>
                  <a:pt x="77457" y="73937"/>
                </a:cubicBezTo>
                <a:cubicBezTo>
                  <a:pt x="84675" y="73937"/>
                  <a:pt x="90880" y="69602"/>
                  <a:pt x="93587" y="63374"/>
                </a:cubicBezTo>
                <a:lnTo>
                  <a:pt x="105624" y="63374"/>
                </a:lnTo>
                <a:cubicBezTo>
                  <a:pt x="109519" y="63374"/>
                  <a:pt x="112665" y="60228"/>
                  <a:pt x="112665" y="56333"/>
                </a:cubicBezTo>
                <a:cubicBezTo>
                  <a:pt x="112665" y="52438"/>
                  <a:pt x="109519" y="49291"/>
                  <a:pt x="105624" y="49291"/>
                </a:cubicBezTo>
                <a:lnTo>
                  <a:pt x="93587" y="49291"/>
                </a:lnTo>
                <a:cubicBezTo>
                  <a:pt x="90880" y="43064"/>
                  <a:pt x="84675" y="38729"/>
                  <a:pt x="77457" y="38729"/>
                </a:cubicBezTo>
                <a:cubicBezTo>
                  <a:pt x="70240" y="38729"/>
                  <a:pt x="64034" y="43064"/>
                  <a:pt x="61328" y="49291"/>
                </a:cubicBezTo>
                <a:lnTo>
                  <a:pt x="7042" y="49291"/>
                </a:lnTo>
                <a:close/>
                <a:moveTo>
                  <a:pt x="7042" y="84499"/>
                </a:moveTo>
                <a:cubicBezTo>
                  <a:pt x="3147" y="84499"/>
                  <a:pt x="0" y="87646"/>
                  <a:pt x="0" y="91541"/>
                </a:cubicBezTo>
                <a:cubicBezTo>
                  <a:pt x="0" y="95435"/>
                  <a:pt x="3147" y="98582"/>
                  <a:pt x="7042" y="98582"/>
                </a:cubicBezTo>
                <a:lnTo>
                  <a:pt x="19078" y="98582"/>
                </a:lnTo>
                <a:cubicBezTo>
                  <a:pt x="21785" y="104810"/>
                  <a:pt x="27990" y="109145"/>
                  <a:pt x="35208" y="109145"/>
                </a:cubicBezTo>
                <a:cubicBezTo>
                  <a:pt x="42426" y="109145"/>
                  <a:pt x="48631" y="104810"/>
                  <a:pt x="51338" y="98582"/>
                </a:cubicBezTo>
                <a:lnTo>
                  <a:pt x="105624" y="98582"/>
                </a:lnTo>
                <a:cubicBezTo>
                  <a:pt x="109519" y="98582"/>
                  <a:pt x="112665" y="95435"/>
                  <a:pt x="112665" y="91541"/>
                </a:cubicBezTo>
                <a:cubicBezTo>
                  <a:pt x="112665" y="87646"/>
                  <a:pt x="109519" y="84499"/>
                  <a:pt x="105624" y="84499"/>
                </a:cubicBezTo>
                <a:lnTo>
                  <a:pt x="51338" y="84499"/>
                </a:lnTo>
                <a:cubicBezTo>
                  <a:pt x="48631" y="78272"/>
                  <a:pt x="42426" y="73937"/>
                  <a:pt x="35208" y="73937"/>
                </a:cubicBezTo>
                <a:cubicBezTo>
                  <a:pt x="27990" y="73937"/>
                  <a:pt x="21785" y="78272"/>
                  <a:pt x="19078" y="84499"/>
                </a:cubicBezTo>
                <a:lnTo>
                  <a:pt x="7042" y="84499"/>
                </a:ln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58" name="Text 56"/>
          <p:cNvSpPr/>
          <p:nvPr/>
        </p:nvSpPr>
        <p:spPr>
          <a:xfrm>
            <a:off x="8569348" y="3219010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EA43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83698" y="3444341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30000"/>
              </a:lnSpc>
            </a:pPr>
            <a:r>
              <a:rPr lang="en-US" sz="1014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 Match</a:t>
            </a:r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paired with </a:t>
            </a:r>
            <a:pPr>
              <a:lnSpc>
                <a:spcPct val="130000"/>
              </a:lnSpc>
            </a:pPr>
            <a:r>
              <a:rPr lang="en-US" sz="1014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Bidding</a:t>
            </a:r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capture conversational intent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87127" y="4023762"/>
            <a:ext cx="3420198" cy="804752"/>
          </a:xfrm>
          <a:prstGeom prst="roundRect">
            <a:avLst>
              <a:gd name="adj" fmla="val 80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85709" y="4140451"/>
            <a:ext cx="140832" cy="112665"/>
          </a:xfrm>
          <a:custGeom>
            <a:avLst/>
            <a:gdLst/>
            <a:ahLst/>
            <a:cxnLst/>
            <a:rect l="l" t="t" r="r" b="b"/>
            <a:pathLst>
              <a:path w="140832" h="112665">
                <a:moveTo>
                  <a:pt x="28166" y="7042"/>
                </a:moveTo>
                <a:cubicBezTo>
                  <a:pt x="20399" y="7042"/>
                  <a:pt x="14083" y="13357"/>
                  <a:pt x="14083" y="21125"/>
                </a:cubicBezTo>
                <a:lnTo>
                  <a:pt x="14083" y="73937"/>
                </a:lnTo>
                <a:lnTo>
                  <a:pt x="28166" y="73937"/>
                </a:lnTo>
                <a:lnTo>
                  <a:pt x="28166" y="21125"/>
                </a:lnTo>
                <a:lnTo>
                  <a:pt x="112665" y="21125"/>
                </a:lnTo>
                <a:lnTo>
                  <a:pt x="112665" y="73937"/>
                </a:lnTo>
                <a:lnTo>
                  <a:pt x="126749" y="73937"/>
                </a:lnTo>
                <a:lnTo>
                  <a:pt x="126749" y="21125"/>
                </a:lnTo>
                <a:cubicBezTo>
                  <a:pt x="126749" y="13357"/>
                  <a:pt x="120433" y="7042"/>
                  <a:pt x="112665" y="7042"/>
                </a:cubicBezTo>
                <a:lnTo>
                  <a:pt x="28166" y="7042"/>
                </a:lnTo>
                <a:close/>
                <a:moveTo>
                  <a:pt x="4225" y="84499"/>
                </a:moveTo>
                <a:cubicBezTo>
                  <a:pt x="1892" y="84499"/>
                  <a:pt x="0" y="86391"/>
                  <a:pt x="0" y="88724"/>
                </a:cubicBezTo>
                <a:cubicBezTo>
                  <a:pt x="0" y="98054"/>
                  <a:pt x="7570" y="105624"/>
                  <a:pt x="16900" y="105624"/>
                </a:cubicBezTo>
                <a:lnTo>
                  <a:pt x="123932" y="105624"/>
                </a:lnTo>
                <a:cubicBezTo>
                  <a:pt x="133262" y="105624"/>
                  <a:pt x="140832" y="98054"/>
                  <a:pt x="140832" y="88724"/>
                </a:cubicBezTo>
                <a:cubicBezTo>
                  <a:pt x="140832" y="86391"/>
                  <a:pt x="138939" y="84499"/>
                  <a:pt x="136607" y="84499"/>
                </a:cubicBezTo>
                <a:lnTo>
                  <a:pt x="4225" y="84499"/>
                </a:ln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62" name="Text 60"/>
          <p:cNvSpPr/>
          <p:nvPr/>
        </p:nvSpPr>
        <p:spPr>
          <a:xfrm>
            <a:off x="8569348" y="4120333"/>
            <a:ext cx="3097739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EA43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83698" y="4345663"/>
            <a:ext cx="3291438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1-2 sentence direct answer to build immediate trust, then CTA for free consultation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91151" y="5331485"/>
            <a:ext cx="3412150" cy="394329"/>
          </a:xfrm>
          <a:prstGeom prst="roundRect">
            <a:avLst>
              <a:gd name="adj" fmla="val 16327"/>
            </a:avLst>
          </a:prstGeom>
          <a:solidFill>
            <a:srgbClr val="EA4335">
              <a:alpha val="10196"/>
            </a:srgbClr>
          </a:solidFill>
          <a:ln w="12700">
            <a:solidFill>
              <a:srgbClr val="EA4335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59555" y="5432079"/>
            <a:ext cx="327534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4" b="1" dirty="0">
                <a:solidFill>
                  <a:srgbClr val="EA43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</a:t>
            </a:r>
            <a:pPr algn="ctr">
              <a:lnSpc>
                <a:spcPct val="130000"/>
              </a:lnSpc>
            </a:pPr>
            <a:r>
              <a:rPr lang="en-US" sz="1014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High-Intent Capture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37996" y="6019549"/>
            <a:ext cx="3750147" cy="643802"/>
          </a:xfrm>
          <a:custGeom>
            <a:avLst/>
            <a:gdLst/>
            <a:ahLst/>
            <a:cxnLst/>
            <a:rect l="l" t="t" r="r" b="b"/>
            <a:pathLst>
              <a:path w="3750147" h="643802">
                <a:moveTo>
                  <a:pt x="32131" y="0"/>
                </a:moveTo>
                <a:lnTo>
                  <a:pt x="3685794" y="0"/>
                </a:lnTo>
                <a:cubicBezTo>
                  <a:pt x="3721355" y="0"/>
                  <a:pt x="3750183" y="28828"/>
                  <a:pt x="3750183" y="64389"/>
                </a:cubicBezTo>
                <a:lnTo>
                  <a:pt x="3750183" y="579374"/>
                </a:lnTo>
                <a:cubicBezTo>
                  <a:pt x="3750183" y="614935"/>
                  <a:pt x="3721355" y="643763"/>
                  <a:pt x="3685794" y="643763"/>
                </a:cubicBez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37996" y="6019549"/>
            <a:ext cx="32190" cy="643802"/>
          </a:xfrm>
          <a:custGeom>
            <a:avLst/>
            <a:gdLst/>
            <a:ahLst/>
            <a:cxnLst/>
            <a:rect l="l" t="t" r="r" b="b"/>
            <a:pathLst>
              <a:path w="32190" h="643802">
                <a:moveTo>
                  <a:pt x="32131" y="0"/>
                </a:moveTo>
                <a:lnTo>
                  <a:pt x="32131" y="0"/>
                </a:lnTo>
                <a:lnTo>
                  <a:pt x="32131" y="643763"/>
                </a:ln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68" name="Text 66"/>
          <p:cNvSpPr/>
          <p:nvPr/>
        </p:nvSpPr>
        <p:spPr>
          <a:xfrm>
            <a:off x="422495" y="6116119"/>
            <a:ext cx="359724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Budget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02376" y="6309259"/>
            <a:ext cx="363748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1" b="1" dirty="0">
                <a:solidFill>
                  <a:srgbClr val="4267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5-8K MAD/mo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229414" y="6019549"/>
            <a:ext cx="3750147" cy="643802"/>
          </a:xfrm>
          <a:custGeom>
            <a:avLst/>
            <a:gdLst/>
            <a:ahLst/>
            <a:cxnLst/>
            <a:rect l="l" t="t" r="r" b="b"/>
            <a:pathLst>
              <a:path w="3750147" h="643802">
                <a:moveTo>
                  <a:pt x="32131" y="0"/>
                </a:moveTo>
                <a:lnTo>
                  <a:pt x="3685794" y="0"/>
                </a:lnTo>
                <a:cubicBezTo>
                  <a:pt x="3721355" y="0"/>
                  <a:pt x="3750183" y="28828"/>
                  <a:pt x="3750183" y="64389"/>
                </a:cubicBezTo>
                <a:lnTo>
                  <a:pt x="3750183" y="579374"/>
                </a:lnTo>
                <a:cubicBezTo>
                  <a:pt x="3750183" y="614935"/>
                  <a:pt x="3721355" y="643763"/>
                  <a:pt x="3685794" y="643763"/>
                </a:cubicBez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229414" y="6019549"/>
            <a:ext cx="32190" cy="643802"/>
          </a:xfrm>
          <a:custGeom>
            <a:avLst/>
            <a:gdLst/>
            <a:ahLst/>
            <a:cxnLst/>
            <a:rect l="l" t="t" r="r" b="b"/>
            <a:pathLst>
              <a:path w="32190" h="643802">
                <a:moveTo>
                  <a:pt x="32131" y="0"/>
                </a:moveTo>
                <a:lnTo>
                  <a:pt x="32131" y="0"/>
                </a:lnTo>
                <a:lnTo>
                  <a:pt x="32131" y="643763"/>
                </a:ln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72" name="Text 70"/>
          <p:cNvSpPr/>
          <p:nvPr/>
        </p:nvSpPr>
        <p:spPr>
          <a:xfrm>
            <a:off x="4313913" y="6116119"/>
            <a:ext cx="359724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 Budget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293795" y="6309259"/>
            <a:ext cx="363748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1" b="1" dirty="0">
                <a:solidFill>
                  <a:srgbClr val="0077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3-5K MAD/mo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120833" y="6019549"/>
            <a:ext cx="3750147" cy="643802"/>
          </a:xfrm>
          <a:custGeom>
            <a:avLst/>
            <a:gdLst/>
            <a:ahLst/>
            <a:cxnLst/>
            <a:rect l="l" t="t" r="r" b="b"/>
            <a:pathLst>
              <a:path w="3750147" h="643802">
                <a:moveTo>
                  <a:pt x="32131" y="0"/>
                </a:moveTo>
                <a:lnTo>
                  <a:pt x="3685794" y="0"/>
                </a:lnTo>
                <a:cubicBezTo>
                  <a:pt x="3721355" y="0"/>
                  <a:pt x="3750183" y="28828"/>
                  <a:pt x="3750183" y="64389"/>
                </a:cubicBezTo>
                <a:lnTo>
                  <a:pt x="3750183" y="579374"/>
                </a:lnTo>
                <a:cubicBezTo>
                  <a:pt x="3750183" y="614935"/>
                  <a:pt x="3721355" y="643763"/>
                  <a:pt x="3685794" y="643763"/>
                </a:cubicBez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120833" y="6019549"/>
            <a:ext cx="32190" cy="643802"/>
          </a:xfrm>
          <a:custGeom>
            <a:avLst/>
            <a:gdLst/>
            <a:ahLst/>
            <a:cxnLst/>
            <a:rect l="l" t="t" r="r" b="b"/>
            <a:pathLst>
              <a:path w="32190" h="643802">
                <a:moveTo>
                  <a:pt x="32131" y="0"/>
                </a:moveTo>
                <a:lnTo>
                  <a:pt x="32131" y="0"/>
                </a:lnTo>
                <a:lnTo>
                  <a:pt x="32131" y="643763"/>
                </a:lnTo>
                <a:lnTo>
                  <a:pt x="32131" y="643763"/>
                </a:lnTo>
                <a:cubicBezTo>
                  <a:pt x="14386" y="643763"/>
                  <a:pt x="0" y="629377"/>
                  <a:pt x="0" y="611632"/>
                </a:cubicBezTo>
                <a:lnTo>
                  <a:pt x="0" y="32131"/>
                </a:lnTo>
                <a:cubicBezTo>
                  <a:pt x="0" y="14397"/>
                  <a:pt x="14397" y="0"/>
                  <a:pt x="32131" y="0"/>
                </a:cubicBez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76" name="Text 74"/>
          <p:cNvSpPr/>
          <p:nvPr/>
        </p:nvSpPr>
        <p:spPr>
          <a:xfrm>
            <a:off x="8205332" y="6116119"/>
            <a:ext cx="359724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Budget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185213" y="6309259"/>
            <a:ext cx="363748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1" b="1" dirty="0">
                <a:solidFill>
                  <a:srgbClr val="EA43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4-6K MAD/mo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622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spc="5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• Days 46-90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629716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Automated "Triage"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842" y="1049527"/>
            <a:ext cx="1157103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to qualify leads 24/7, reducing manual administrative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842" y="1399369"/>
            <a:ext cx="839621" cy="34984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6" name="Shape 4"/>
          <p:cNvSpPr/>
          <p:nvPr/>
        </p:nvSpPr>
        <p:spPr>
          <a:xfrm>
            <a:off x="354215" y="1578663"/>
            <a:ext cx="6813176" cy="4416758"/>
          </a:xfrm>
          <a:prstGeom prst="roundRect">
            <a:avLst>
              <a:gd name="adj" fmla="val 2376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 w="12700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3509" y="1788568"/>
            <a:ext cx="218651" cy="174921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120258" y="0"/>
                </a:moveTo>
                <a:cubicBezTo>
                  <a:pt x="120258" y="-6047"/>
                  <a:pt x="115373" y="-10933"/>
                  <a:pt x="109326" y="-10933"/>
                </a:cubicBezTo>
                <a:cubicBezTo>
                  <a:pt x="103279" y="-10933"/>
                  <a:pt x="98393" y="-6047"/>
                  <a:pt x="98393" y="0"/>
                </a:cubicBezTo>
                <a:lnTo>
                  <a:pt x="98393" y="21865"/>
                </a:lnTo>
                <a:lnTo>
                  <a:pt x="65595" y="21865"/>
                </a:lnTo>
                <a:cubicBezTo>
                  <a:pt x="47488" y="21865"/>
                  <a:pt x="32798" y="36556"/>
                  <a:pt x="32798" y="54663"/>
                </a:cubicBezTo>
                <a:lnTo>
                  <a:pt x="32798" y="131191"/>
                </a:lnTo>
                <a:cubicBezTo>
                  <a:pt x="32798" y="149298"/>
                  <a:pt x="47488" y="163989"/>
                  <a:pt x="65595" y="163989"/>
                </a:cubicBezTo>
                <a:lnTo>
                  <a:pt x="153056" y="163989"/>
                </a:lnTo>
                <a:cubicBezTo>
                  <a:pt x="171163" y="163989"/>
                  <a:pt x="185854" y="149298"/>
                  <a:pt x="185854" y="131191"/>
                </a:cubicBezTo>
                <a:lnTo>
                  <a:pt x="185854" y="54663"/>
                </a:lnTo>
                <a:cubicBezTo>
                  <a:pt x="185854" y="36556"/>
                  <a:pt x="171163" y="21865"/>
                  <a:pt x="153056" y="21865"/>
                </a:cubicBezTo>
                <a:lnTo>
                  <a:pt x="120258" y="21865"/>
                </a:lnTo>
                <a:lnTo>
                  <a:pt x="120258" y="0"/>
                </a:lnTo>
                <a:close/>
                <a:moveTo>
                  <a:pt x="54663" y="125725"/>
                </a:moveTo>
                <a:cubicBezTo>
                  <a:pt x="54663" y="121181"/>
                  <a:pt x="58318" y="117525"/>
                  <a:pt x="62862" y="117525"/>
                </a:cubicBezTo>
                <a:lnTo>
                  <a:pt x="73795" y="117525"/>
                </a:lnTo>
                <a:cubicBezTo>
                  <a:pt x="78339" y="117525"/>
                  <a:pt x="81994" y="121181"/>
                  <a:pt x="81994" y="125725"/>
                </a:cubicBezTo>
                <a:cubicBezTo>
                  <a:pt x="81994" y="130268"/>
                  <a:pt x="78339" y="133924"/>
                  <a:pt x="73795" y="133924"/>
                </a:cubicBezTo>
                <a:lnTo>
                  <a:pt x="62862" y="133924"/>
                </a:lnTo>
                <a:cubicBezTo>
                  <a:pt x="58318" y="133924"/>
                  <a:pt x="54663" y="130268"/>
                  <a:pt x="54663" y="125725"/>
                </a:cubicBezTo>
                <a:close/>
                <a:moveTo>
                  <a:pt x="95660" y="125725"/>
                </a:moveTo>
                <a:cubicBezTo>
                  <a:pt x="95660" y="121181"/>
                  <a:pt x="99316" y="117525"/>
                  <a:pt x="103859" y="117525"/>
                </a:cubicBezTo>
                <a:lnTo>
                  <a:pt x="114792" y="117525"/>
                </a:lnTo>
                <a:cubicBezTo>
                  <a:pt x="119336" y="117525"/>
                  <a:pt x="122991" y="121181"/>
                  <a:pt x="122991" y="125725"/>
                </a:cubicBezTo>
                <a:cubicBezTo>
                  <a:pt x="122991" y="130268"/>
                  <a:pt x="119336" y="133924"/>
                  <a:pt x="114792" y="133924"/>
                </a:cubicBezTo>
                <a:lnTo>
                  <a:pt x="103859" y="133924"/>
                </a:lnTo>
                <a:cubicBezTo>
                  <a:pt x="99316" y="133924"/>
                  <a:pt x="95660" y="130268"/>
                  <a:pt x="95660" y="125725"/>
                </a:cubicBezTo>
                <a:close/>
                <a:moveTo>
                  <a:pt x="136657" y="125725"/>
                </a:moveTo>
                <a:cubicBezTo>
                  <a:pt x="136657" y="121181"/>
                  <a:pt x="140313" y="117525"/>
                  <a:pt x="144857" y="117525"/>
                </a:cubicBezTo>
                <a:lnTo>
                  <a:pt x="155789" y="117525"/>
                </a:lnTo>
                <a:cubicBezTo>
                  <a:pt x="160333" y="117525"/>
                  <a:pt x="163989" y="121181"/>
                  <a:pt x="163989" y="125725"/>
                </a:cubicBezTo>
                <a:cubicBezTo>
                  <a:pt x="163989" y="130268"/>
                  <a:pt x="160333" y="133924"/>
                  <a:pt x="155789" y="133924"/>
                </a:cubicBezTo>
                <a:lnTo>
                  <a:pt x="144857" y="133924"/>
                </a:lnTo>
                <a:cubicBezTo>
                  <a:pt x="140313" y="133924"/>
                  <a:pt x="136657" y="130268"/>
                  <a:pt x="136657" y="125725"/>
                </a:cubicBezTo>
                <a:close/>
                <a:moveTo>
                  <a:pt x="76528" y="60129"/>
                </a:moveTo>
                <a:cubicBezTo>
                  <a:pt x="85579" y="60129"/>
                  <a:pt x="92927" y="67477"/>
                  <a:pt x="92927" y="76528"/>
                </a:cubicBezTo>
                <a:cubicBezTo>
                  <a:pt x="92927" y="85579"/>
                  <a:pt x="85579" y="92927"/>
                  <a:pt x="76528" y="92927"/>
                </a:cubicBezTo>
                <a:cubicBezTo>
                  <a:pt x="67477" y="92927"/>
                  <a:pt x="60129" y="85579"/>
                  <a:pt x="60129" y="76528"/>
                </a:cubicBezTo>
                <a:cubicBezTo>
                  <a:pt x="60129" y="67477"/>
                  <a:pt x="67477" y="60129"/>
                  <a:pt x="76528" y="60129"/>
                </a:cubicBezTo>
                <a:close/>
                <a:moveTo>
                  <a:pt x="125725" y="76528"/>
                </a:moveTo>
                <a:cubicBezTo>
                  <a:pt x="125725" y="67477"/>
                  <a:pt x="133073" y="60129"/>
                  <a:pt x="142123" y="60129"/>
                </a:cubicBezTo>
                <a:cubicBezTo>
                  <a:pt x="151174" y="60129"/>
                  <a:pt x="158522" y="67477"/>
                  <a:pt x="158522" y="76528"/>
                </a:cubicBezTo>
                <a:cubicBezTo>
                  <a:pt x="158522" y="85579"/>
                  <a:pt x="151174" y="92927"/>
                  <a:pt x="142123" y="92927"/>
                </a:cubicBezTo>
                <a:cubicBezTo>
                  <a:pt x="133073" y="92927"/>
                  <a:pt x="125725" y="85579"/>
                  <a:pt x="125725" y="76528"/>
                </a:cubicBezTo>
                <a:close/>
                <a:moveTo>
                  <a:pt x="21865" y="76528"/>
                </a:moveTo>
                <a:cubicBezTo>
                  <a:pt x="21865" y="70481"/>
                  <a:pt x="16980" y="65595"/>
                  <a:pt x="10933" y="65595"/>
                </a:cubicBezTo>
                <a:cubicBezTo>
                  <a:pt x="4885" y="65595"/>
                  <a:pt x="0" y="70481"/>
                  <a:pt x="0" y="76528"/>
                </a:cubicBezTo>
                <a:lnTo>
                  <a:pt x="0" y="109326"/>
                </a:lnTo>
                <a:cubicBezTo>
                  <a:pt x="0" y="115373"/>
                  <a:pt x="4885" y="120258"/>
                  <a:pt x="10933" y="120258"/>
                </a:cubicBezTo>
                <a:cubicBezTo>
                  <a:pt x="16980" y="120258"/>
                  <a:pt x="21865" y="115373"/>
                  <a:pt x="21865" y="109326"/>
                </a:cubicBezTo>
                <a:lnTo>
                  <a:pt x="21865" y="76528"/>
                </a:lnTo>
                <a:close/>
                <a:moveTo>
                  <a:pt x="207719" y="65595"/>
                </a:moveTo>
                <a:cubicBezTo>
                  <a:pt x="201672" y="65595"/>
                  <a:pt x="196786" y="70481"/>
                  <a:pt x="196786" y="76528"/>
                </a:cubicBezTo>
                <a:lnTo>
                  <a:pt x="196786" y="109326"/>
                </a:lnTo>
                <a:cubicBezTo>
                  <a:pt x="196786" y="115373"/>
                  <a:pt x="201672" y="120258"/>
                  <a:pt x="207719" y="120258"/>
                </a:cubicBezTo>
                <a:cubicBezTo>
                  <a:pt x="213766" y="120258"/>
                  <a:pt x="218651" y="115373"/>
                  <a:pt x="218651" y="109326"/>
                </a:cubicBezTo>
                <a:lnTo>
                  <a:pt x="218651" y="76528"/>
                </a:lnTo>
                <a:cubicBezTo>
                  <a:pt x="218651" y="70481"/>
                  <a:pt x="213766" y="65595"/>
                  <a:pt x="207719" y="65595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" name="Text 6"/>
          <p:cNvSpPr/>
          <p:nvPr/>
        </p:nvSpPr>
        <p:spPr>
          <a:xfrm>
            <a:off x="800346" y="1757957"/>
            <a:ext cx="627521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Funnel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509" y="2142783"/>
            <a:ext cx="419811" cy="419811"/>
          </a:xfrm>
          <a:prstGeom prst="roundRect">
            <a:avLst>
              <a:gd name="adj" fmla="val 50000"/>
            </a:avLst>
          </a:prstGeom>
          <a:solidFill>
            <a:srgbClr val="4267B2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5673" y="2230244"/>
            <a:ext cx="13993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3257" y="2142783"/>
            <a:ext cx="5894841" cy="6297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98209" y="2247736"/>
            <a:ext cx="575490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Trigger: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Clicks Meta 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8209" y="2492626"/>
            <a:ext cx="574615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 directs to WhatsApp DM instead of landing page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96301" y="2877452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57874" y="171710"/>
                </a:moveTo>
                <a:cubicBezTo>
                  <a:pt x="62145" y="175980"/>
                  <a:pt x="69080" y="175980"/>
                  <a:pt x="73351" y="171710"/>
                </a:cubicBezTo>
                <a:lnTo>
                  <a:pt x="128014" y="117047"/>
                </a:lnTo>
                <a:cubicBezTo>
                  <a:pt x="132284" y="112776"/>
                  <a:pt x="132284" y="105841"/>
                  <a:pt x="128014" y="101570"/>
                </a:cubicBezTo>
                <a:cubicBezTo>
                  <a:pt x="123743" y="97300"/>
                  <a:pt x="116808" y="97300"/>
                  <a:pt x="112537" y="101570"/>
                </a:cubicBezTo>
                <a:lnTo>
                  <a:pt x="76528" y="137580"/>
                </a:lnTo>
                <a:lnTo>
                  <a:pt x="76528" y="10933"/>
                </a:lnTo>
                <a:cubicBezTo>
                  <a:pt x="76528" y="4885"/>
                  <a:pt x="71642" y="0"/>
                  <a:pt x="65595" y="0"/>
                </a:cubicBezTo>
                <a:cubicBezTo>
                  <a:pt x="59548" y="0"/>
                  <a:pt x="54663" y="4885"/>
                  <a:pt x="54663" y="10933"/>
                </a:cubicBezTo>
                <a:lnTo>
                  <a:pt x="54663" y="137580"/>
                </a:lnTo>
                <a:lnTo>
                  <a:pt x="18654" y="101570"/>
                </a:lnTo>
                <a:cubicBezTo>
                  <a:pt x="14383" y="97300"/>
                  <a:pt x="7448" y="97300"/>
                  <a:pt x="3177" y="101570"/>
                </a:cubicBezTo>
                <a:cubicBezTo>
                  <a:pt x="-1093" y="105841"/>
                  <a:pt x="-1093" y="112776"/>
                  <a:pt x="3177" y="117047"/>
                </a:cubicBezTo>
                <a:lnTo>
                  <a:pt x="57840" y="17171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509" y="3157326"/>
            <a:ext cx="419811" cy="419811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8864" y="3244786"/>
            <a:ext cx="17492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3257" y="3157326"/>
            <a:ext cx="5894841" cy="6297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98209" y="3262278"/>
            <a:ext cx="575490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AI: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Instant Qualification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8209" y="3507168"/>
            <a:ext cx="574615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"Age? City? Main Goal (Focus/Stress/Sleep)?"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96301" y="3891994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57874" y="171710"/>
                </a:moveTo>
                <a:cubicBezTo>
                  <a:pt x="62145" y="175980"/>
                  <a:pt x="69080" y="175980"/>
                  <a:pt x="73351" y="171710"/>
                </a:cubicBezTo>
                <a:lnTo>
                  <a:pt x="128014" y="117047"/>
                </a:lnTo>
                <a:cubicBezTo>
                  <a:pt x="132284" y="112776"/>
                  <a:pt x="132284" y="105841"/>
                  <a:pt x="128014" y="101570"/>
                </a:cubicBezTo>
                <a:cubicBezTo>
                  <a:pt x="123743" y="97300"/>
                  <a:pt x="116808" y="97300"/>
                  <a:pt x="112537" y="101570"/>
                </a:cubicBezTo>
                <a:lnTo>
                  <a:pt x="76528" y="137580"/>
                </a:lnTo>
                <a:lnTo>
                  <a:pt x="76528" y="10933"/>
                </a:lnTo>
                <a:cubicBezTo>
                  <a:pt x="76528" y="4885"/>
                  <a:pt x="71642" y="0"/>
                  <a:pt x="65595" y="0"/>
                </a:cubicBezTo>
                <a:cubicBezTo>
                  <a:pt x="59548" y="0"/>
                  <a:pt x="54663" y="4885"/>
                  <a:pt x="54663" y="10933"/>
                </a:cubicBezTo>
                <a:lnTo>
                  <a:pt x="54663" y="137580"/>
                </a:lnTo>
                <a:lnTo>
                  <a:pt x="18654" y="101570"/>
                </a:lnTo>
                <a:cubicBezTo>
                  <a:pt x="14383" y="97300"/>
                  <a:pt x="7448" y="97300"/>
                  <a:pt x="3177" y="101570"/>
                </a:cubicBezTo>
                <a:cubicBezTo>
                  <a:pt x="-1093" y="105841"/>
                  <a:pt x="-1093" y="112776"/>
                  <a:pt x="3177" y="117047"/>
                </a:cubicBezTo>
                <a:lnTo>
                  <a:pt x="57840" y="17171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1" name="Shape 19"/>
          <p:cNvSpPr/>
          <p:nvPr/>
        </p:nvSpPr>
        <p:spPr>
          <a:xfrm>
            <a:off x="533509" y="4171868"/>
            <a:ext cx="419811" cy="419811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6610" y="4259329"/>
            <a:ext cx="18366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3257" y="4171868"/>
            <a:ext cx="5894841" cy="6297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98209" y="4276821"/>
            <a:ext cx="575490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Output: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Auto-Tag &amp; Route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98209" y="4521710"/>
            <a:ext cx="574615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tags lead in CRM and provides booking link for local center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96301" y="4906537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57874" y="171710"/>
                </a:moveTo>
                <a:cubicBezTo>
                  <a:pt x="62145" y="175980"/>
                  <a:pt x="69080" y="175980"/>
                  <a:pt x="73351" y="171710"/>
                </a:cubicBezTo>
                <a:lnTo>
                  <a:pt x="128014" y="117047"/>
                </a:lnTo>
                <a:cubicBezTo>
                  <a:pt x="132284" y="112776"/>
                  <a:pt x="132284" y="105841"/>
                  <a:pt x="128014" y="101570"/>
                </a:cubicBezTo>
                <a:cubicBezTo>
                  <a:pt x="123743" y="97300"/>
                  <a:pt x="116808" y="97300"/>
                  <a:pt x="112537" y="101570"/>
                </a:cubicBezTo>
                <a:lnTo>
                  <a:pt x="76528" y="137580"/>
                </a:lnTo>
                <a:lnTo>
                  <a:pt x="76528" y="10933"/>
                </a:lnTo>
                <a:cubicBezTo>
                  <a:pt x="76528" y="4885"/>
                  <a:pt x="71642" y="0"/>
                  <a:pt x="65595" y="0"/>
                </a:cubicBezTo>
                <a:cubicBezTo>
                  <a:pt x="59548" y="0"/>
                  <a:pt x="54663" y="4885"/>
                  <a:pt x="54663" y="10933"/>
                </a:cubicBezTo>
                <a:lnTo>
                  <a:pt x="54663" y="137580"/>
                </a:lnTo>
                <a:lnTo>
                  <a:pt x="18654" y="101570"/>
                </a:lnTo>
                <a:cubicBezTo>
                  <a:pt x="14383" y="97300"/>
                  <a:pt x="7448" y="97300"/>
                  <a:pt x="3177" y="101570"/>
                </a:cubicBezTo>
                <a:cubicBezTo>
                  <a:pt x="-1093" y="105841"/>
                  <a:pt x="-1093" y="112776"/>
                  <a:pt x="3177" y="117047"/>
                </a:cubicBezTo>
                <a:lnTo>
                  <a:pt x="57840" y="17171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3509" y="5186410"/>
            <a:ext cx="419811" cy="419811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8933" y="5273871"/>
            <a:ext cx="17492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3257" y="5186410"/>
            <a:ext cx="5894841" cy="6297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98209" y="5291363"/>
            <a:ext cx="575490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Qualified Lead Booked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8209" y="5536253"/>
            <a:ext cx="574615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receives confirmation and pre-session instructions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4215" y="6144103"/>
            <a:ext cx="6813176" cy="708430"/>
          </a:xfrm>
          <a:prstGeom prst="roundRect">
            <a:avLst>
              <a:gd name="adj" fmla="val 14815"/>
            </a:avLst>
          </a:pr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D4AF37">
                  <a:alpha val="20000"/>
                </a:srgbClr>
              </a:gs>
            </a:gsLst>
            <a:lin ang="0" scaled="1"/>
          </a:gradFill>
          <a:ln w="12700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3509" y="6319024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80054" y="104953"/>
                </a:moveTo>
                <a:cubicBezTo>
                  <a:pt x="82049" y="98858"/>
                  <a:pt x="86039" y="93337"/>
                  <a:pt x="90549" y="88581"/>
                </a:cubicBezTo>
                <a:cubicBezTo>
                  <a:pt x="99486" y="79179"/>
                  <a:pt x="104953" y="66470"/>
                  <a:pt x="104953" y="52476"/>
                </a:cubicBezTo>
                <a:cubicBezTo>
                  <a:pt x="104953" y="23505"/>
                  <a:pt x="81448" y="0"/>
                  <a:pt x="52476" y="0"/>
                </a:cubicBezTo>
                <a:cubicBezTo>
                  <a:pt x="23505" y="0"/>
                  <a:pt x="0" y="23505"/>
                  <a:pt x="0" y="52476"/>
                </a:cubicBezTo>
                <a:cubicBezTo>
                  <a:pt x="0" y="66470"/>
                  <a:pt x="5466" y="79179"/>
                  <a:pt x="14404" y="88581"/>
                </a:cubicBezTo>
                <a:cubicBezTo>
                  <a:pt x="18913" y="93337"/>
                  <a:pt x="22931" y="98858"/>
                  <a:pt x="24899" y="104953"/>
                </a:cubicBezTo>
                <a:lnTo>
                  <a:pt x="80026" y="104953"/>
                </a:lnTo>
                <a:close/>
                <a:moveTo>
                  <a:pt x="78714" y="118072"/>
                </a:moveTo>
                <a:lnTo>
                  <a:pt x="26238" y="118072"/>
                </a:lnTo>
                <a:lnTo>
                  <a:pt x="26238" y="122445"/>
                </a:lnTo>
                <a:cubicBezTo>
                  <a:pt x="26238" y="134525"/>
                  <a:pt x="36023" y="144310"/>
                  <a:pt x="48103" y="144310"/>
                </a:cubicBezTo>
                <a:lnTo>
                  <a:pt x="56849" y="144310"/>
                </a:lnTo>
                <a:cubicBezTo>
                  <a:pt x="68930" y="144310"/>
                  <a:pt x="78714" y="134525"/>
                  <a:pt x="78714" y="122445"/>
                </a:cubicBezTo>
                <a:lnTo>
                  <a:pt x="78714" y="118072"/>
                </a:lnTo>
                <a:close/>
                <a:moveTo>
                  <a:pt x="50290" y="30611"/>
                </a:moveTo>
                <a:cubicBezTo>
                  <a:pt x="39412" y="30611"/>
                  <a:pt x="30611" y="39412"/>
                  <a:pt x="30611" y="50290"/>
                </a:cubicBezTo>
                <a:cubicBezTo>
                  <a:pt x="30611" y="53925"/>
                  <a:pt x="27687" y="56849"/>
                  <a:pt x="24052" y="56849"/>
                </a:cubicBezTo>
                <a:cubicBezTo>
                  <a:pt x="20417" y="56849"/>
                  <a:pt x="17492" y="53925"/>
                  <a:pt x="17492" y="50290"/>
                </a:cubicBezTo>
                <a:cubicBezTo>
                  <a:pt x="17492" y="32169"/>
                  <a:pt x="32169" y="17492"/>
                  <a:pt x="50290" y="17492"/>
                </a:cubicBezTo>
                <a:cubicBezTo>
                  <a:pt x="53925" y="17492"/>
                  <a:pt x="56849" y="20417"/>
                  <a:pt x="56849" y="24052"/>
                </a:cubicBezTo>
                <a:cubicBezTo>
                  <a:pt x="56849" y="27687"/>
                  <a:pt x="53925" y="30611"/>
                  <a:pt x="50290" y="30611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721631" y="6288413"/>
            <a:ext cx="6371419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Logic:</a:t>
            </a:r>
            <a:pPr>
              <a:lnSpc>
                <a:spcPct val="130000"/>
              </a:lnSpc>
            </a:pPr>
            <a:r>
              <a:rPr lang="en-US" sz="1102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CPL is low but show-ups are low, adjust AI script to be more selective in qualification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53314" y="1578663"/>
            <a:ext cx="4486726" cy="3402215"/>
          </a:xfrm>
          <a:prstGeom prst="roundRect">
            <a:avLst>
              <a:gd name="adj" fmla="val 3085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54473" y="178856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0933" y="10933"/>
                </a:moveTo>
                <a:cubicBezTo>
                  <a:pt x="16980" y="10933"/>
                  <a:pt x="21865" y="15818"/>
                  <a:pt x="21865" y="21865"/>
                </a:cubicBezTo>
                <a:lnTo>
                  <a:pt x="21865" y="136657"/>
                </a:lnTo>
                <a:cubicBezTo>
                  <a:pt x="21865" y="139664"/>
                  <a:pt x="24325" y="142123"/>
                  <a:pt x="27331" y="142123"/>
                </a:cubicBezTo>
                <a:lnTo>
                  <a:pt x="163989" y="142123"/>
                </a:lnTo>
                <a:cubicBezTo>
                  <a:pt x="170036" y="142123"/>
                  <a:pt x="174921" y="147009"/>
                  <a:pt x="174921" y="153056"/>
                </a:cubicBezTo>
                <a:cubicBezTo>
                  <a:pt x="174921" y="159103"/>
                  <a:pt x="170036" y="163989"/>
                  <a:pt x="163989" y="163989"/>
                </a:cubicBezTo>
                <a:lnTo>
                  <a:pt x="27331" y="163989"/>
                </a:lnTo>
                <a:cubicBezTo>
                  <a:pt x="12231" y="163989"/>
                  <a:pt x="0" y="151758"/>
                  <a:pt x="0" y="136657"/>
                </a:cubicBezTo>
                <a:lnTo>
                  <a:pt x="0" y="21865"/>
                </a:lnTo>
                <a:cubicBezTo>
                  <a:pt x="0" y="15818"/>
                  <a:pt x="4885" y="10933"/>
                  <a:pt x="10933" y="10933"/>
                </a:cubicBezTo>
                <a:close/>
                <a:moveTo>
                  <a:pt x="43730" y="32798"/>
                </a:moveTo>
                <a:cubicBezTo>
                  <a:pt x="43730" y="26751"/>
                  <a:pt x="48616" y="21865"/>
                  <a:pt x="54663" y="21865"/>
                </a:cubicBezTo>
                <a:lnTo>
                  <a:pt x="120258" y="21865"/>
                </a:lnTo>
                <a:cubicBezTo>
                  <a:pt x="126305" y="21865"/>
                  <a:pt x="131191" y="26751"/>
                  <a:pt x="131191" y="32798"/>
                </a:cubicBezTo>
                <a:cubicBezTo>
                  <a:pt x="131191" y="38845"/>
                  <a:pt x="126305" y="43730"/>
                  <a:pt x="120258" y="43730"/>
                </a:cubicBezTo>
                <a:lnTo>
                  <a:pt x="54663" y="43730"/>
                </a:lnTo>
                <a:cubicBezTo>
                  <a:pt x="48616" y="43730"/>
                  <a:pt x="43730" y="38845"/>
                  <a:pt x="43730" y="32798"/>
                </a:cubicBezTo>
                <a:close/>
                <a:moveTo>
                  <a:pt x="54663" y="60129"/>
                </a:moveTo>
                <a:lnTo>
                  <a:pt x="98393" y="60129"/>
                </a:lnTo>
                <a:cubicBezTo>
                  <a:pt x="104440" y="60129"/>
                  <a:pt x="109326" y="65015"/>
                  <a:pt x="109326" y="71062"/>
                </a:cubicBezTo>
                <a:cubicBezTo>
                  <a:pt x="109326" y="77109"/>
                  <a:pt x="104440" y="81994"/>
                  <a:pt x="98393" y="81994"/>
                </a:cubicBezTo>
                <a:lnTo>
                  <a:pt x="54663" y="81994"/>
                </a:lnTo>
                <a:cubicBezTo>
                  <a:pt x="48616" y="81994"/>
                  <a:pt x="43730" y="77109"/>
                  <a:pt x="43730" y="71062"/>
                </a:cubicBezTo>
                <a:cubicBezTo>
                  <a:pt x="43730" y="65015"/>
                  <a:pt x="48616" y="60129"/>
                  <a:pt x="54663" y="60129"/>
                </a:cubicBezTo>
                <a:close/>
                <a:moveTo>
                  <a:pt x="54663" y="98393"/>
                </a:moveTo>
                <a:lnTo>
                  <a:pt x="142123" y="98393"/>
                </a:lnTo>
                <a:cubicBezTo>
                  <a:pt x="148170" y="98393"/>
                  <a:pt x="153056" y="103279"/>
                  <a:pt x="153056" y="109326"/>
                </a:cubicBezTo>
                <a:cubicBezTo>
                  <a:pt x="153056" y="115373"/>
                  <a:pt x="148170" y="120258"/>
                  <a:pt x="142123" y="120258"/>
                </a:cubicBezTo>
                <a:lnTo>
                  <a:pt x="54663" y="120258"/>
                </a:lnTo>
                <a:cubicBezTo>
                  <a:pt x="48616" y="120258"/>
                  <a:pt x="43730" y="115373"/>
                  <a:pt x="43730" y="109326"/>
                </a:cubicBezTo>
                <a:cubicBezTo>
                  <a:pt x="43730" y="103279"/>
                  <a:pt x="48616" y="98393"/>
                  <a:pt x="54663" y="9839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799444" y="1757957"/>
            <a:ext cx="394876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to Track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0100" y="2142783"/>
            <a:ext cx="4110646" cy="804637"/>
          </a:xfrm>
          <a:custGeom>
            <a:avLst/>
            <a:gdLst/>
            <a:ahLst/>
            <a:cxnLst/>
            <a:rect l="l" t="t" r="r" b="b"/>
            <a:pathLst>
              <a:path w="4110646" h="804637">
                <a:moveTo>
                  <a:pt x="34925" y="0"/>
                </a:moveTo>
                <a:lnTo>
                  <a:pt x="4040632" y="0"/>
                </a:lnTo>
                <a:cubicBezTo>
                  <a:pt x="4079279" y="0"/>
                  <a:pt x="4110609" y="31330"/>
                  <a:pt x="4110609" y="69977"/>
                </a:cubicBezTo>
                <a:lnTo>
                  <a:pt x="4110609" y="734695"/>
                </a:lnTo>
                <a:cubicBezTo>
                  <a:pt x="4110609" y="773342"/>
                  <a:pt x="4079279" y="804672"/>
                  <a:pt x="4040632" y="804672"/>
                </a:cubicBez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0A192F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50100" y="2142783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25" y="0"/>
                </a:moveTo>
                <a:lnTo>
                  <a:pt x="34925" y="0"/>
                </a:lnTo>
                <a:lnTo>
                  <a:pt x="34925" y="804672"/>
                </a:ln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7707529" y="2317704"/>
            <a:ext cx="125068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Per Lead (CPL)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621878" y="2282720"/>
            <a:ext cx="99705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&lt;80 MAD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07529" y="2632562"/>
            <a:ext cx="387450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High-volume "Top of Funnel" interest metric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0100" y="3052373"/>
            <a:ext cx="4110646" cy="804637"/>
          </a:xfrm>
          <a:custGeom>
            <a:avLst/>
            <a:gdLst/>
            <a:ahLst/>
            <a:cxnLst/>
            <a:rect l="l" t="t" r="r" b="b"/>
            <a:pathLst>
              <a:path w="4110646" h="804637">
                <a:moveTo>
                  <a:pt x="34925" y="0"/>
                </a:moveTo>
                <a:lnTo>
                  <a:pt x="4040632" y="0"/>
                </a:lnTo>
                <a:cubicBezTo>
                  <a:pt x="4079279" y="0"/>
                  <a:pt x="4110609" y="31330"/>
                  <a:pt x="4110609" y="69977"/>
                </a:cubicBezTo>
                <a:lnTo>
                  <a:pt x="4110609" y="734695"/>
                </a:lnTo>
                <a:cubicBezTo>
                  <a:pt x="4110609" y="773342"/>
                  <a:pt x="4079279" y="804672"/>
                  <a:pt x="4040632" y="804672"/>
                </a:cubicBez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0A192F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550100" y="3052373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25" y="0"/>
                </a:moveTo>
                <a:lnTo>
                  <a:pt x="34925" y="0"/>
                </a:lnTo>
                <a:lnTo>
                  <a:pt x="34925" y="804672"/>
                </a:ln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5" name="Text 43"/>
          <p:cNvSpPr/>
          <p:nvPr/>
        </p:nvSpPr>
        <p:spPr>
          <a:xfrm>
            <a:off x="7707529" y="3227294"/>
            <a:ext cx="97081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Utilization Rate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70900" y="3192310"/>
            <a:ext cx="647208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80%+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07529" y="3542152"/>
            <a:ext cx="387450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from "Breakeven" to "Pure Profit Zone"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0100" y="3961963"/>
            <a:ext cx="4110646" cy="804637"/>
          </a:xfrm>
          <a:custGeom>
            <a:avLst/>
            <a:gdLst/>
            <a:ahLst/>
            <a:cxnLst/>
            <a:rect l="l" t="t" r="r" b="b"/>
            <a:pathLst>
              <a:path w="4110646" h="804637">
                <a:moveTo>
                  <a:pt x="34925" y="0"/>
                </a:moveTo>
                <a:lnTo>
                  <a:pt x="4040632" y="0"/>
                </a:lnTo>
                <a:cubicBezTo>
                  <a:pt x="4079279" y="0"/>
                  <a:pt x="4110609" y="31330"/>
                  <a:pt x="4110609" y="69977"/>
                </a:cubicBezTo>
                <a:lnTo>
                  <a:pt x="4110609" y="734695"/>
                </a:lnTo>
                <a:cubicBezTo>
                  <a:pt x="4110609" y="773342"/>
                  <a:pt x="4079279" y="804672"/>
                  <a:pt x="4040632" y="804672"/>
                </a:cubicBez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0A192F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50100" y="3961963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25" y="0"/>
                </a:moveTo>
                <a:lnTo>
                  <a:pt x="34925" y="0"/>
                </a:lnTo>
                <a:lnTo>
                  <a:pt x="34925" y="804672"/>
                </a:lnTo>
                <a:lnTo>
                  <a:pt x="34925" y="804672"/>
                </a:lnTo>
                <a:cubicBezTo>
                  <a:pt x="25640" y="804672"/>
                  <a:pt x="16738" y="800975"/>
                  <a:pt x="10184" y="794398"/>
                </a:cubicBezTo>
                <a:cubicBezTo>
                  <a:pt x="3631" y="787821"/>
                  <a:pt x="-34" y="778905"/>
                  <a:pt x="0" y="769620"/>
                </a:cubicBezTo>
                <a:lnTo>
                  <a:pt x="0" y="34925"/>
                </a:lnTo>
                <a:cubicBezTo>
                  <a:pt x="0" y="15649"/>
                  <a:pt x="15649" y="0"/>
                  <a:pt x="34925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0" name="Text 48"/>
          <p:cNvSpPr/>
          <p:nvPr/>
        </p:nvSpPr>
        <p:spPr>
          <a:xfrm>
            <a:off x="7707529" y="4136884"/>
            <a:ext cx="128567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Lifetime Value (LTV)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29253" y="4101900"/>
            <a:ext cx="594732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2.18x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07529" y="4451742"/>
            <a:ext cx="387450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by front-loading the $350 qEEG diagnostic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53314" y="5129561"/>
            <a:ext cx="4486726" cy="1722973"/>
          </a:xfrm>
          <a:prstGeom prst="roundRect">
            <a:avLst>
              <a:gd name="adj" fmla="val 6091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 w="12700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74152" y="5352585"/>
            <a:ext cx="118072" cy="157429"/>
          </a:xfrm>
          <a:custGeom>
            <a:avLst/>
            <a:gdLst/>
            <a:ahLst/>
            <a:cxnLst/>
            <a:rect l="l" t="t" r="r" b="b"/>
            <a:pathLst>
              <a:path w="118072" h="157429">
                <a:moveTo>
                  <a:pt x="19679" y="0"/>
                </a:moveTo>
                <a:cubicBezTo>
                  <a:pt x="8825" y="0"/>
                  <a:pt x="0" y="8825"/>
                  <a:pt x="0" y="19679"/>
                </a:cubicBezTo>
                <a:lnTo>
                  <a:pt x="0" y="137750"/>
                </a:lnTo>
                <a:cubicBezTo>
                  <a:pt x="0" y="148604"/>
                  <a:pt x="8825" y="157429"/>
                  <a:pt x="19679" y="157429"/>
                </a:cubicBezTo>
                <a:lnTo>
                  <a:pt x="98393" y="157429"/>
                </a:lnTo>
                <a:cubicBezTo>
                  <a:pt x="109247" y="157429"/>
                  <a:pt x="118072" y="148604"/>
                  <a:pt x="118072" y="137750"/>
                </a:cubicBezTo>
                <a:lnTo>
                  <a:pt x="118072" y="19679"/>
                </a:lnTo>
                <a:cubicBezTo>
                  <a:pt x="118072" y="8825"/>
                  <a:pt x="109247" y="0"/>
                  <a:pt x="98393" y="0"/>
                </a:cubicBezTo>
                <a:lnTo>
                  <a:pt x="19679" y="0"/>
                </a:lnTo>
                <a:close/>
                <a:moveTo>
                  <a:pt x="29518" y="19679"/>
                </a:moveTo>
                <a:lnTo>
                  <a:pt x="88554" y="19679"/>
                </a:lnTo>
                <a:cubicBezTo>
                  <a:pt x="93996" y="19679"/>
                  <a:pt x="98393" y="24076"/>
                  <a:pt x="98393" y="29518"/>
                </a:cubicBezTo>
                <a:lnTo>
                  <a:pt x="98393" y="39357"/>
                </a:lnTo>
                <a:cubicBezTo>
                  <a:pt x="98393" y="44800"/>
                  <a:pt x="93996" y="49197"/>
                  <a:pt x="88554" y="49197"/>
                </a:cubicBezTo>
                <a:lnTo>
                  <a:pt x="29518" y="49197"/>
                </a:lnTo>
                <a:cubicBezTo>
                  <a:pt x="24076" y="49197"/>
                  <a:pt x="19679" y="44800"/>
                  <a:pt x="19679" y="39357"/>
                </a:cubicBezTo>
                <a:lnTo>
                  <a:pt x="19679" y="29518"/>
                </a:lnTo>
                <a:cubicBezTo>
                  <a:pt x="19679" y="24076"/>
                  <a:pt x="24076" y="19679"/>
                  <a:pt x="29518" y="19679"/>
                </a:cubicBezTo>
                <a:close/>
                <a:moveTo>
                  <a:pt x="34438" y="71335"/>
                </a:moveTo>
                <a:cubicBezTo>
                  <a:pt x="34438" y="75408"/>
                  <a:pt x="31131" y="78714"/>
                  <a:pt x="27058" y="78714"/>
                </a:cubicBezTo>
                <a:cubicBezTo>
                  <a:pt x="22985" y="78714"/>
                  <a:pt x="19679" y="75408"/>
                  <a:pt x="19679" y="71335"/>
                </a:cubicBezTo>
                <a:cubicBezTo>
                  <a:pt x="19679" y="67262"/>
                  <a:pt x="22985" y="63956"/>
                  <a:pt x="27058" y="63956"/>
                </a:cubicBezTo>
                <a:cubicBezTo>
                  <a:pt x="31131" y="63956"/>
                  <a:pt x="34438" y="67262"/>
                  <a:pt x="34438" y="71335"/>
                </a:cubicBezTo>
                <a:close/>
                <a:moveTo>
                  <a:pt x="59036" y="78714"/>
                </a:moveTo>
                <a:cubicBezTo>
                  <a:pt x="54963" y="78714"/>
                  <a:pt x="51656" y="75408"/>
                  <a:pt x="51656" y="71335"/>
                </a:cubicBezTo>
                <a:cubicBezTo>
                  <a:pt x="51656" y="67262"/>
                  <a:pt x="54963" y="63956"/>
                  <a:pt x="59036" y="63956"/>
                </a:cubicBezTo>
                <a:cubicBezTo>
                  <a:pt x="63109" y="63956"/>
                  <a:pt x="66415" y="67262"/>
                  <a:pt x="66415" y="71335"/>
                </a:cubicBezTo>
                <a:cubicBezTo>
                  <a:pt x="66415" y="75408"/>
                  <a:pt x="63109" y="78714"/>
                  <a:pt x="59036" y="78714"/>
                </a:cubicBezTo>
                <a:close/>
                <a:moveTo>
                  <a:pt x="98393" y="71335"/>
                </a:moveTo>
                <a:cubicBezTo>
                  <a:pt x="98393" y="75408"/>
                  <a:pt x="95086" y="78714"/>
                  <a:pt x="91014" y="78714"/>
                </a:cubicBezTo>
                <a:cubicBezTo>
                  <a:pt x="86941" y="78714"/>
                  <a:pt x="83634" y="75408"/>
                  <a:pt x="83634" y="71335"/>
                </a:cubicBezTo>
                <a:cubicBezTo>
                  <a:pt x="83634" y="67262"/>
                  <a:pt x="86941" y="63956"/>
                  <a:pt x="91014" y="63956"/>
                </a:cubicBezTo>
                <a:cubicBezTo>
                  <a:pt x="95086" y="63956"/>
                  <a:pt x="98393" y="67262"/>
                  <a:pt x="98393" y="71335"/>
                </a:cubicBezTo>
                <a:close/>
                <a:moveTo>
                  <a:pt x="27058" y="108232"/>
                </a:moveTo>
                <a:cubicBezTo>
                  <a:pt x="22985" y="108232"/>
                  <a:pt x="19679" y="104926"/>
                  <a:pt x="19679" y="100853"/>
                </a:cubicBezTo>
                <a:cubicBezTo>
                  <a:pt x="19679" y="96780"/>
                  <a:pt x="22985" y="93473"/>
                  <a:pt x="27058" y="93473"/>
                </a:cubicBezTo>
                <a:cubicBezTo>
                  <a:pt x="31131" y="93473"/>
                  <a:pt x="34438" y="96780"/>
                  <a:pt x="34438" y="100853"/>
                </a:cubicBezTo>
                <a:cubicBezTo>
                  <a:pt x="34438" y="104926"/>
                  <a:pt x="31131" y="108232"/>
                  <a:pt x="27058" y="108232"/>
                </a:cubicBezTo>
                <a:close/>
                <a:moveTo>
                  <a:pt x="66415" y="100853"/>
                </a:moveTo>
                <a:cubicBezTo>
                  <a:pt x="66415" y="104926"/>
                  <a:pt x="63109" y="108232"/>
                  <a:pt x="59036" y="108232"/>
                </a:cubicBezTo>
                <a:cubicBezTo>
                  <a:pt x="54963" y="108232"/>
                  <a:pt x="51656" y="104926"/>
                  <a:pt x="51656" y="100853"/>
                </a:cubicBezTo>
                <a:cubicBezTo>
                  <a:pt x="51656" y="96780"/>
                  <a:pt x="54963" y="93473"/>
                  <a:pt x="59036" y="93473"/>
                </a:cubicBezTo>
                <a:cubicBezTo>
                  <a:pt x="63109" y="93473"/>
                  <a:pt x="66415" y="96780"/>
                  <a:pt x="66415" y="100853"/>
                </a:cubicBezTo>
                <a:close/>
                <a:moveTo>
                  <a:pt x="91014" y="108232"/>
                </a:moveTo>
                <a:cubicBezTo>
                  <a:pt x="86941" y="108232"/>
                  <a:pt x="83634" y="104926"/>
                  <a:pt x="83634" y="100853"/>
                </a:cubicBezTo>
                <a:cubicBezTo>
                  <a:pt x="83634" y="96780"/>
                  <a:pt x="86941" y="93473"/>
                  <a:pt x="91014" y="93473"/>
                </a:cubicBezTo>
                <a:cubicBezTo>
                  <a:pt x="95086" y="93473"/>
                  <a:pt x="98393" y="96780"/>
                  <a:pt x="98393" y="100853"/>
                </a:cubicBezTo>
                <a:cubicBezTo>
                  <a:pt x="98393" y="104926"/>
                  <a:pt x="95086" y="108232"/>
                  <a:pt x="91014" y="108232"/>
                </a:cubicBezTo>
                <a:close/>
                <a:moveTo>
                  <a:pt x="19679" y="130371"/>
                </a:moveTo>
                <a:cubicBezTo>
                  <a:pt x="19679" y="126281"/>
                  <a:pt x="22969" y="122991"/>
                  <a:pt x="27058" y="122991"/>
                </a:cubicBezTo>
                <a:lnTo>
                  <a:pt x="61496" y="122991"/>
                </a:lnTo>
                <a:cubicBezTo>
                  <a:pt x="65585" y="122991"/>
                  <a:pt x="68875" y="126281"/>
                  <a:pt x="68875" y="130371"/>
                </a:cubicBezTo>
                <a:cubicBezTo>
                  <a:pt x="68875" y="134460"/>
                  <a:pt x="65585" y="137750"/>
                  <a:pt x="61496" y="137750"/>
                </a:cubicBezTo>
                <a:lnTo>
                  <a:pt x="27058" y="137750"/>
                </a:lnTo>
                <a:cubicBezTo>
                  <a:pt x="22969" y="137750"/>
                  <a:pt x="19679" y="134460"/>
                  <a:pt x="19679" y="130371"/>
                </a:cubicBezTo>
                <a:close/>
                <a:moveTo>
                  <a:pt x="91014" y="122991"/>
                </a:moveTo>
                <a:cubicBezTo>
                  <a:pt x="95103" y="122991"/>
                  <a:pt x="98393" y="126281"/>
                  <a:pt x="98393" y="130371"/>
                </a:cubicBezTo>
                <a:cubicBezTo>
                  <a:pt x="98393" y="134460"/>
                  <a:pt x="95103" y="137750"/>
                  <a:pt x="91014" y="137750"/>
                </a:cubicBezTo>
                <a:cubicBezTo>
                  <a:pt x="86924" y="137750"/>
                  <a:pt x="83634" y="134460"/>
                  <a:pt x="83634" y="130371"/>
                </a:cubicBezTo>
                <a:cubicBezTo>
                  <a:pt x="83634" y="126281"/>
                  <a:pt x="86924" y="122991"/>
                  <a:pt x="91014" y="12299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5" name="Text 53"/>
          <p:cNvSpPr/>
          <p:nvPr/>
        </p:nvSpPr>
        <p:spPr>
          <a:xfrm>
            <a:off x="7781952" y="5308855"/>
            <a:ext cx="395750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Impact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32608" y="5676189"/>
            <a:ext cx="134689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Referral Cost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306189" y="5658697"/>
            <a:ext cx="43730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32608" y="5991047"/>
            <a:ext cx="159178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Hub &amp; Spoke Cost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63790" y="5973555"/>
            <a:ext cx="3760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32608" y="6288413"/>
            <a:ext cx="4128138" cy="349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7532608" y="6288413"/>
            <a:ext cx="2064069" cy="34984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64FFDA"/>
              </a:gs>
              <a:gs pos="100000">
                <a:srgbClr val="D4AF37"/>
              </a:gs>
            </a:gsLst>
            <a:lin ang="0" scaled="1"/>
          </a:gradFill>
          <a:ln/>
        </p:spPr>
      </p:sp>
      <p:sp>
        <p:nvSpPr>
          <p:cNvPr id="62" name="Text 60"/>
          <p:cNvSpPr/>
          <p:nvPr/>
        </p:nvSpPr>
        <p:spPr>
          <a:xfrm>
            <a:off x="7532608" y="6428350"/>
            <a:ext cx="159178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Margin Improvement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984908" y="6393366"/>
            <a:ext cx="77839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 pts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Full Ecosystem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4-Stage automated ecosystem with CNDP Law 09-08 compliant data protection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33550"/>
            <a:ext cx="2743200" cy="3657600"/>
          </a:xfrm>
          <a:custGeom>
            <a:avLst/>
            <a:gdLst/>
            <a:ahLst/>
            <a:cxnLst/>
            <a:rect l="l" t="t" r="r" b="b"/>
            <a:pathLst>
              <a:path w="2743200" h="36576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543300"/>
                </a:lnTo>
                <a:cubicBezTo>
                  <a:pt x="2743200" y="3606384"/>
                  <a:pt x="2691984" y="3657600"/>
                  <a:pt x="2628900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81000" y="1733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905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267B2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3104" y="20002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267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4900" y="190500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217170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24765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1513" y="2714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4" name="Text 12"/>
          <p:cNvSpPr/>
          <p:nvPr/>
        </p:nvSpPr>
        <p:spPr>
          <a:xfrm>
            <a:off x="976312" y="2590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&amp; Local Maps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6312" y="281940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+ Google Business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2004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1513" y="3438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7432" y="87667"/>
                </a:moveTo>
                <a:cubicBezTo>
                  <a:pt x="167432" y="135050"/>
                  <a:pt x="134983" y="168771"/>
                  <a:pt x="87064" y="168771"/>
                </a:cubicBezTo>
                <a:cubicBezTo>
                  <a:pt x="41121" y="168771"/>
                  <a:pt x="4018" y="131668"/>
                  <a:pt x="4018" y="85725"/>
                </a:cubicBezTo>
                <a:cubicBezTo>
                  <a:pt x="4018" y="39782"/>
                  <a:pt x="41121" y="2679"/>
                  <a:pt x="87064" y="2679"/>
                </a:cubicBezTo>
                <a:cubicBezTo>
                  <a:pt x="109433" y="2679"/>
                  <a:pt x="128253" y="10883"/>
                  <a:pt x="142752" y="24412"/>
                </a:cubicBezTo>
                <a:lnTo>
                  <a:pt x="120149" y="46144"/>
                </a:lnTo>
                <a:cubicBezTo>
                  <a:pt x="90581" y="17614"/>
                  <a:pt x="35596" y="39045"/>
                  <a:pt x="35596" y="85725"/>
                </a:cubicBezTo>
                <a:cubicBezTo>
                  <a:pt x="35596" y="114691"/>
                  <a:pt x="58735" y="138165"/>
                  <a:pt x="87064" y="138165"/>
                </a:cubicBezTo>
                <a:cubicBezTo>
                  <a:pt x="119948" y="138165"/>
                  <a:pt x="132271" y="114590"/>
                  <a:pt x="134213" y="102368"/>
                </a:cubicBezTo>
                <a:lnTo>
                  <a:pt x="87064" y="102368"/>
                </a:lnTo>
                <a:lnTo>
                  <a:pt x="87064" y="73804"/>
                </a:lnTo>
                <a:lnTo>
                  <a:pt x="166126" y="73804"/>
                </a:lnTo>
                <a:cubicBezTo>
                  <a:pt x="166896" y="78057"/>
                  <a:pt x="167432" y="82142"/>
                  <a:pt x="167432" y="87667"/>
                </a:cubicBezTo>
                <a:close/>
              </a:path>
            </a:pathLst>
          </a:cu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976312" y="33147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Search Ads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6312" y="35433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High-intent capture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39243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0081" y="41624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3" y="106453"/>
                </a:moveTo>
                <a:cubicBezTo>
                  <a:pt x="214313" y="137026"/>
                  <a:pt x="201119" y="156180"/>
                  <a:pt x="177377" y="156180"/>
                </a:cubicBezTo>
                <a:cubicBezTo>
                  <a:pt x="156415" y="156180"/>
                  <a:pt x="145297" y="144594"/>
                  <a:pt x="124837" y="110438"/>
                </a:cubicBezTo>
                <a:lnTo>
                  <a:pt x="114322" y="92824"/>
                </a:lnTo>
                <a:cubicBezTo>
                  <a:pt x="111543" y="88638"/>
                  <a:pt x="109467" y="84720"/>
                  <a:pt x="107223" y="81104"/>
                </a:cubicBezTo>
                <a:cubicBezTo>
                  <a:pt x="100492" y="92422"/>
                  <a:pt x="91451" y="108898"/>
                  <a:pt x="91451" y="108898"/>
                </a:cubicBezTo>
                <a:cubicBezTo>
                  <a:pt x="69015" y="147943"/>
                  <a:pt x="56424" y="156180"/>
                  <a:pt x="38911" y="156180"/>
                </a:cubicBezTo>
                <a:cubicBezTo>
                  <a:pt x="14533" y="156180"/>
                  <a:pt x="0" y="136993"/>
                  <a:pt x="0" y="107324"/>
                </a:cubicBezTo>
                <a:cubicBezTo>
                  <a:pt x="0" y="59438"/>
                  <a:pt x="26722" y="14198"/>
                  <a:pt x="61581" y="14198"/>
                </a:cubicBezTo>
                <a:cubicBezTo>
                  <a:pt x="78391" y="14198"/>
                  <a:pt x="92992" y="22469"/>
                  <a:pt x="110070" y="44168"/>
                </a:cubicBezTo>
                <a:cubicBezTo>
                  <a:pt x="122493" y="27392"/>
                  <a:pt x="136222" y="14198"/>
                  <a:pt x="153803" y="14198"/>
                </a:cubicBezTo>
                <a:cubicBezTo>
                  <a:pt x="186988" y="14198"/>
                  <a:pt x="214313" y="56291"/>
                  <a:pt x="214313" y="106453"/>
                </a:cubicBezTo>
                <a:close/>
                <a:moveTo>
                  <a:pt x="96240" y="64361"/>
                </a:moveTo>
                <a:cubicBezTo>
                  <a:pt x="81874" y="43566"/>
                  <a:pt x="72498" y="37404"/>
                  <a:pt x="61280" y="37404"/>
                </a:cubicBezTo>
                <a:cubicBezTo>
                  <a:pt x="40552" y="37404"/>
                  <a:pt x="23173" y="72933"/>
                  <a:pt x="23173" y="107726"/>
                </a:cubicBezTo>
                <a:cubicBezTo>
                  <a:pt x="23173" y="123966"/>
                  <a:pt x="29368" y="133075"/>
                  <a:pt x="39782" y="133075"/>
                </a:cubicBezTo>
                <a:cubicBezTo>
                  <a:pt x="49895" y="133075"/>
                  <a:pt x="56190" y="126712"/>
                  <a:pt x="74340" y="98316"/>
                </a:cubicBezTo>
                <a:cubicBezTo>
                  <a:pt x="74340" y="98316"/>
                  <a:pt x="82611" y="85223"/>
                  <a:pt x="96240" y="64361"/>
                </a:cubicBezTo>
                <a:close/>
                <a:moveTo>
                  <a:pt x="177879" y="133075"/>
                </a:moveTo>
                <a:cubicBezTo>
                  <a:pt x="188662" y="133075"/>
                  <a:pt x="193584" y="123866"/>
                  <a:pt x="193584" y="107993"/>
                </a:cubicBezTo>
                <a:cubicBezTo>
                  <a:pt x="193584" y="66403"/>
                  <a:pt x="175401" y="32515"/>
                  <a:pt x="152329" y="32515"/>
                </a:cubicBezTo>
                <a:cubicBezTo>
                  <a:pt x="141212" y="32515"/>
                  <a:pt x="131869" y="41188"/>
                  <a:pt x="120551" y="58635"/>
                </a:cubicBezTo>
                <a:cubicBezTo>
                  <a:pt x="123698" y="63256"/>
                  <a:pt x="126947" y="68346"/>
                  <a:pt x="130362" y="73837"/>
                </a:cubicBezTo>
                <a:lnTo>
                  <a:pt x="142920" y="94733"/>
                </a:lnTo>
                <a:cubicBezTo>
                  <a:pt x="162576" y="126243"/>
                  <a:pt x="167532" y="133075"/>
                  <a:pt x="177879" y="133075"/>
                </a:cubicBezTo>
                <a:close/>
              </a:path>
            </a:pathLst>
          </a:custGeom>
          <a:solidFill>
            <a:srgbClr val="4267B2"/>
          </a:solidFill>
          <a:ln/>
        </p:spPr>
      </p:sp>
      <p:sp>
        <p:nvSpPr>
          <p:cNvPr id="22" name="Text 20"/>
          <p:cNvSpPr/>
          <p:nvPr/>
        </p:nvSpPr>
        <p:spPr>
          <a:xfrm>
            <a:off x="976312" y="40386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Persona Ads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6312" y="42672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Persona-driven demand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8163" y="4881563"/>
            <a:ext cx="2428875" cy="352425"/>
          </a:xfrm>
          <a:prstGeom prst="roundRect">
            <a:avLst>
              <a:gd name="adj" fmla="val 21622"/>
            </a:avLst>
          </a:prstGeom>
          <a:solidFill>
            <a:srgbClr val="4267B2">
              <a:alpha val="10196"/>
            </a:srgbClr>
          </a:solidFill>
          <a:ln w="12700">
            <a:solidFill>
              <a:srgbClr val="4267B2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788" y="49625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267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Multi-channel reach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76600" y="1733550"/>
            <a:ext cx="2743200" cy="3657600"/>
          </a:xfrm>
          <a:custGeom>
            <a:avLst/>
            <a:gdLst/>
            <a:ahLst/>
            <a:cxnLst/>
            <a:rect l="l" t="t" r="r" b="b"/>
            <a:pathLst>
              <a:path w="2743200" h="36576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543300"/>
                </a:lnTo>
                <a:cubicBezTo>
                  <a:pt x="2743200" y="3606384"/>
                  <a:pt x="2691984" y="3657600"/>
                  <a:pt x="2628900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3276600" y="1733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905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541440" y="20002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00500" y="19050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00500" y="21717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Qualification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24765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77828" y="2714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7549" y="32515"/>
                </a:moveTo>
                <a:cubicBezTo>
                  <a:pt x="113519" y="18451"/>
                  <a:pt x="94833" y="10716"/>
                  <a:pt x="74976" y="10716"/>
                </a:cubicBezTo>
                <a:cubicBezTo>
                  <a:pt x="33989" y="10716"/>
                  <a:pt x="636" y="44068"/>
                  <a:pt x="636" y="85055"/>
                </a:cubicBezTo>
                <a:cubicBezTo>
                  <a:pt x="636" y="98148"/>
                  <a:pt x="4052" y="110940"/>
                  <a:pt x="10548" y="122225"/>
                </a:cubicBezTo>
                <a:lnTo>
                  <a:pt x="0" y="160734"/>
                </a:lnTo>
                <a:lnTo>
                  <a:pt x="39413" y="150387"/>
                </a:lnTo>
                <a:cubicBezTo>
                  <a:pt x="50263" y="156314"/>
                  <a:pt x="62485" y="159428"/>
                  <a:pt x="74942" y="159428"/>
                </a:cubicBezTo>
                <a:lnTo>
                  <a:pt x="74976" y="159428"/>
                </a:lnTo>
                <a:cubicBezTo>
                  <a:pt x="115930" y="159428"/>
                  <a:pt x="150019" y="126076"/>
                  <a:pt x="150019" y="85089"/>
                </a:cubicBezTo>
                <a:cubicBezTo>
                  <a:pt x="150019" y="65231"/>
                  <a:pt x="141580" y="46579"/>
                  <a:pt x="127549" y="32515"/>
                </a:cubicBezTo>
                <a:close/>
                <a:moveTo>
                  <a:pt x="74976" y="146905"/>
                </a:moveTo>
                <a:cubicBezTo>
                  <a:pt x="63858" y="146905"/>
                  <a:pt x="52975" y="143924"/>
                  <a:pt x="43499" y="138299"/>
                </a:cubicBezTo>
                <a:lnTo>
                  <a:pt x="41255" y="136959"/>
                </a:lnTo>
                <a:lnTo>
                  <a:pt x="17882" y="143087"/>
                </a:lnTo>
                <a:lnTo>
                  <a:pt x="24110" y="120283"/>
                </a:lnTo>
                <a:lnTo>
                  <a:pt x="22637" y="117939"/>
                </a:lnTo>
                <a:cubicBezTo>
                  <a:pt x="16442" y="108094"/>
                  <a:pt x="13194" y="96742"/>
                  <a:pt x="13194" y="85055"/>
                </a:cubicBezTo>
                <a:cubicBezTo>
                  <a:pt x="13194" y="51000"/>
                  <a:pt x="40920" y="23273"/>
                  <a:pt x="75009" y="23273"/>
                </a:cubicBezTo>
                <a:cubicBezTo>
                  <a:pt x="91518" y="23273"/>
                  <a:pt x="107022" y="29702"/>
                  <a:pt x="118676" y="41389"/>
                </a:cubicBezTo>
                <a:cubicBezTo>
                  <a:pt x="130329" y="53076"/>
                  <a:pt x="137495" y="68580"/>
                  <a:pt x="137461" y="85089"/>
                </a:cubicBezTo>
                <a:cubicBezTo>
                  <a:pt x="137461" y="119178"/>
                  <a:pt x="109031" y="146905"/>
                  <a:pt x="74976" y="146905"/>
                </a:cubicBezTo>
                <a:close/>
                <a:moveTo>
                  <a:pt x="108864" y="100626"/>
                </a:moveTo>
                <a:cubicBezTo>
                  <a:pt x="107022" y="99689"/>
                  <a:pt x="97881" y="95202"/>
                  <a:pt x="96173" y="94599"/>
                </a:cubicBezTo>
                <a:cubicBezTo>
                  <a:pt x="94465" y="93963"/>
                  <a:pt x="93226" y="93661"/>
                  <a:pt x="91987" y="95536"/>
                </a:cubicBezTo>
                <a:cubicBezTo>
                  <a:pt x="90748" y="97412"/>
                  <a:pt x="87198" y="101564"/>
                  <a:pt x="86093" y="102837"/>
                </a:cubicBezTo>
                <a:cubicBezTo>
                  <a:pt x="85022" y="104076"/>
                  <a:pt x="83917" y="104243"/>
                  <a:pt x="82075" y="103305"/>
                </a:cubicBezTo>
                <a:cubicBezTo>
                  <a:pt x="71158" y="97847"/>
                  <a:pt x="63992" y="93561"/>
                  <a:pt x="56793" y="81204"/>
                </a:cubicBezTo>
                <a:cubicBezTo>
                  <a:pt x="54884" y="77923"/>
                  <a:pt x="58702" y="78157"/>
                  <a:pt x="62251" y="71058"/>
                </a:cubicBezTo>
                <a:cubicBezTo>
                  <a:pt x="62854" y="69819"/>
                  <a:pt x="62552" y="68747"/>
                  <a:pt x="62084" y="67810"/>
                </a:cubicBezTo>
                <a:cubicBezTo>
                  <a:pt x="61615" y="66872"/>
                  <a:pt x="57898" y="57730"/>
                  <a:pt x="56357" y="54013"/>
                </a:cubicBezTo>
                <a:cubicBezTo>
                  <a:pt x="54851" y="50397"/>
                  <a:pt x="53310" y="50899"/>
                  <a:pt x="52172" y="50832"/>
                </a:cubicBezTo>
                <a:cubicBezTo>
                  <a:pt x="51100" y="50765"/>
                  <a:pt x="49861" y="50765"/>
                  <a:pt x="48622" y="50765"/>
                </a:cubicBezTo>
                <a:cubicBezTo>
                  <a:pt x="47383" y="50765"/>
                  <a:pt x="45374" y="51234"/>
                  <a:pt x="43666" y="53076"/>
                </a:cubicBezTo>
                <a:cubicBezTo>
                  <a:pt x="41958" y="54951"/>
                  <a:pt x="37170" y="59438"/>
                  <a:pt x="37170" y="68580"/>
                </a:cubicBezTo>
                <a:cubicBezTo>
                  <a:pt x="37170" y="77722"/>
                  <a:pt x="43834" y="86562"/>
                  <a:pt x="44738" y="87801"/>
                </a:cubicBezTo>
                <a:cubicBezTo>
                  <a:pt x="45675" y="89040"/>
                  <a:pt x="57831" y="107792"/>
                  <a:pt x="76483" y="115863"/>
                </a:cubicBezTo>
                <a:cubicBezTo>
                  <a:pt x="88270" y="120953"/>
                  <a:pt x="92891" y="121388"/>
                  <a:pt x="98785" y="120517"/>
                </a:cubicBezTo>
                <a:cubicBezTo>
                  <a:pt x="102368" y="119982"/>
                  <a:pt x="109768" y="116030"/>
                  <a:pt x="111309" y="111677"/>
                </a:cubicBezTo>
                <a:cubicBezTo>
                  <a:pt x="112849" y="107324"/>
                  <a:pt x="112849" y="103607"/>
                  <a:pt x="112380" y="102837"/>
                </a:cubicBezTo>
                <a:cubicBezTo>
                  <a:pt x="111945" y="101999"/>
                  <a:pt x="110706" y="101531"/>
                  <a:pt x="108864" y="10062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4" name="Text 32"/>
          <p:cNvSpPr/>
          <p:nvPr/>
        </p:nvSpPr>
        <p:spPr>
          <a:xfrm>
            <a:off x="3871913" y="25908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AI Chatbot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71913" y="28194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response 24/7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29000" y="32004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88544" y="34385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8" name="Text 36"/>
          <p:cNvSpPr/>
          <p:nvPr/>
        </p:nvSpPr>
        <p:spPr>
          <a:xfrm>
            <a:off x="3871913" y="33147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 Qualification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71913" y="35433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3-question assessment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29000" y="39243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56397" y="4162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4347" y="13093"/>
                </a:moveTo>
                <a:lnTo>
                  <a:pt x="183974" y="63423"/>
                </a:lnTo>
                <a:cubicBezTo>
                  <a:pt x="193250" y="72833"/>
                  <a:pt x="193250" y="87902"/>
                  <a:pt x="183974" y="97311"/>
                </a:cubicBezTo>
                <a:lnTo>
                  <a:pt x="131601" y="150320"/>
                </a:lnTo>
                <a:cubicBezTo>
                  <a:pt x="128487" y="153468"/>
                  <a:pt x="123397" y="153501"/>
                  <a:pt x="120249" y="150387"/>
                </a:cubicBezTo>
                <a:cubicBezTo>
                  <a:pt x="117102" y="147273"/>
                  <a:pt x="117068" y="142183"/>
                  <a:pt x="120182" y="139035"/>
                </a:cubicBezTo>
                <a:lnTo>
                  <a:pt x="172555" y="85993"/>
                </a:lnTo>
                <a:cubicBezTo>
                  <a:pt x="175636" y="82879"/>
                  <a:pt x="175636" y="77822"/>
                  <a:pt x="172555" y="74708"/>
                </a:cubicBezTo>
                <a:lnTo>
                  <a:pt x="122895" y="24412"/>
                </a:lnTo>
                <a:cubicBezTo>
                  <a:pt x="119781" y="21264"/>
                  <a:pt x="119814" y="16174"/>
                  <a:pt x="122962" y="13060"/>
                </a:cubicBezTo>
                <a:cubicBezTo>
                  <a:pt x="126110" y="9945"/>
                  <a:pt x="131199" y="9979"/>
                  <a:pt x="134314" y="13127"/>
                </a:cubicBezTo>
                <a:close/>
                <a:moveTo>
                  <a:pt x="10749" y="76851"/>
                </a:moveTo>
                <a:lnTo>
                  <a:pt x="10749" y="32147"/>
                </a:lnTo>
                <a:cubicBezTo>
                  <a:pt x="10749" y="20326"/>
                  <a:pt x="20360" y="10716"/>
                  <a:pt x="32180" y="10716"/>
                </a:cubicBezTo>
                <a:lnTo>
                  <a:pt x="76885" y="10716"/>
                </a:lnTo>
                <a:cubicBezTo>
                  <a:pt x="82577" y="10716"/>
                  <a:pt x="88036" y="12959"/>
                  <a:pt x="92054" y="16978"/>
                </a:cubicBezTo>
                <a:lnTo>
                  <a:pt x="140274" y="65198"/>
                </a:lnTo>
                <a:cubicBezTo>
                  <a:pt x="148646" y="73569"/>
                  <a:pt x="148646" y="87131"/>
                  <a:pt x="140274" y="95503"/>
                </a:cubicBezTo>
                <a:lnTo>
                  <a:pt x="95570" y="140207"/>
                </a:lnTo>
                <a:cubicBezTo>
                  <a:pt x="87198" y="148579"/>
                  <a:pt x="73636" y="148579"/>
                  <a:pt x="65265" y="140207"/>
                </a:cubicBezTo>
                <a:lnTo>
                  <a:pt x="17045" y="91987"/>
                </a:lnTo>
                <a:cubicBezTo>
                  <a:pt x="13026" y="87969"/>
                  <a:pt x="10783" y="82510"/>
                  <a:pt x="10783" y="76818"/>
                </a:cubicBezTo>
                <a:close/>
                <a:moveTo>
                  <a:pt x="58969" y="48220"/>
                </a:moveTo>
                <a:cubicBezTo>
                  <a:pt x="58969" y="42306"/>
                  <a:pt x="54168" y="37505"/>
                  <a:pt x="48254" y="37505"/>
                </a:cubicBezTo>
                <a:cubicBezTo>
                  <a:pt x="42340" y="37505"/>
                  <a:pt x="37538" y="42306"/>
                  <a:pt x="37538" y="48220"/>
                </a:cubicBezTo>
                <a:cubicBezTo>
                  <a:pt x="37538" y="54134"/>
                  <a:pt x="42340" y="58936"/>
                  <a:pt x="48254" y="58936"/>
                </a:cubicBezTo>
                <a:cubicBezTo>
                  <a:pt x="54168" y="58936"/>
                  <a:pt x="58969" y="54134"/>
                  <a:pt x="58969" y="4822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2" name="Text 40"/>
          <p:cNvSpPr/>
          <p:nvPr/>
        </p:nvSpPr>
        <p:spPr>
          <a:xfrm>
            <a:off x="3871913" y="4038600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Auto-CRM Tagging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71913" y="42672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scoring + routing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33763" y="4881563"/>
            <a:ext cx="2428875" cy="352425"/>
          </a:xfrm>
          <a:prstGeom prst="roundRect">
            <a:avLst>
              <a:gd name="adj" fmla="val 21622"/>
            </a:avLst>
          </a:prstGeom>
          <a:solidFill>
            <a:srgbClr val="64FFDA">
              <a:alpha val="10196"/>
            </a:srgbClr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81388" y="49625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manual 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2200" y="1733550"/>
            <a:ext cx="2743200" cy="3657600"/>
          </a:xfrm>
          <a:custGeom>
            <a:avLst/>
            <a:gdLst/>
            <a:ahLst/>
            <a:cxnLst/>
            <a:rect l="l" t="t" r="r" b="b"/>
            <a:pathLst>
              <a:path w="2743200" h="36576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543300"/>
                </a:lnTo>
                <a:cubicBezTo>
                  <a:pt x="2743200" y="3606384"/>
                  <a:pt x="2691984" y="3657600"/>
                  <a:pt x="2628900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172200" y="1733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4600" y="1905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36221" y="2000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96100" y="19050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96100" y="21717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4600" y="24765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51997" y="27146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4" name="Text 52"/>
          <p:cNvSpPr/>
          <p:nvPr/>
        </p:nvSpPr>
        <p:spPr>
          <a:xfrm>
            <a:off x="6767513" y="25908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Discovery Bilan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67513" y="28194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15-min consultation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4600" y="32004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62713" y="3438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8" name="Text 56"/>
          <p:cNvSpPr/>
          <p:nvPr/>
        </p:nvSpPr>
        <p:spPr>
          <a:xfrm>
            <a:off x="6767513" y="33147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QEEG Brain Mapping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67513" y="35433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$350 high-ticket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4600" y="39243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73428" y="41624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62" name="Text 60"/>
          <p:cNvSpPr/>
          <p:nvPr/>
        </p:nvSpPr>
        <p:spPr>
          <a:xfrm>
            <a:off x="6767513" y="40386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Sessions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67513" y="42672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$160 per session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9363" y="4881563"/>
            <a:ext cx="2428875" cy="352425"/>
          </a:xfrm>
          <a:prstGeom prst="roundRect">
            <a:avLst>
              <a:gd name="adj" fmla="val 21622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76988" y="49625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2.18x LTV increase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67800" y="1733550"/>
            <a:ext cx="2743200" cy="3657600"/>
          </a:xfrm>
          <a:custGeom>
            <a:avLst/>
            <a:gdLst/>
            <a:ahLst/>
            <a:cxnLst/>
            <a:rect l="l" t="t" r="r" b="b"/>
            <a:pathLst>
              <a:path w="2743200" h="36576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543300"/>
                </a:lnTo>
                <a:cubicBezTo>
                  <a:pt x="2743200" y="3606384"/>
                  <a:pt x="2691984" y="3657600"/>
                  <a:pt x="2628900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9067800" y="1733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8" name="Shape 66"/>
          <p:cNvSpPr/>
          <p:nvPr/>
        </p:nvSpPr>
        <p:spPr>
          <a:xfrm>
            <a:off x="9220200" y="1905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DF72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331896" y="2000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791700" y="19050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791700" y="21717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Value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220200" y="24765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58313" y="2714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74" name="Text 72"/>
          <p:cNvSpPr/>
          <p:nvPr/>
        </p:nvSpPr>
        <p:spPr>
          <a:xfrm>
            <a:off x="9663113" y="25908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Nurture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663113" y="28194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follow-ups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220200" y="32004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47597" y="3438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8" name="Text 76"/>
          <p:cNvSpPr/>
          <p:nvPr/>
        </p:nvSpPr>
        <p:spPr>
          <a:xfrm>
            <a:off x="9663113" y="33147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Requests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663113" y="35433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5-star reputation build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220200" y="3924300"/>
            <a:ext cx="2438400" cy="647700"/>
          </a:xfrm>
          <a:prstGeom prst="roundRect">
            <a:avLst>
              <a:gd name="adj" fmla="val 11765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58313" y="4162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6235" y="25014"/>
                </a:moveTo>
                <a:lnTo>
                  <a:pt x="150019" y="28597"/>
                </a:lnTo>
                <a:lnTo>
                  <a:pt x="150019" y="10716"/>
                </a:lnTo>
                <a:cubicBezTo>
                  <a:pt x="150019" y="4789"/>
                  <a:pt x="154807" y="0"/>
                  <a:pt x="160734" y="0"/>
                </a:cubicBezTo>
                <a:cubicBezTo>
                  <a:pt x="166661" y="0"/>
                  <a:pt x="171450" y="4789"/>
                  <a:pt x="171450" y="10716"/>
                </a:cubicBezTo>
                <a:lnTo>
                  <a:pt x="171450" y="53578"/>
                </a:lnTo>
                <a:cubicBezTo>
                  <a:pt x="171450" y="59505"/>
                  <a:pt x="166661" y="64294"/>
                  <a:pt x="160734" y="64294"/>
                </a:cubicBezTo>
                <a:lnTo>
                  <a:pt x="117872" y="64294"/>
                </a:lnTo>
                <a:cubicBezTo>
                  <a:pt x="111945" y="64294"/>
                  <a:pt x="107156" y="59505"/>
                  <a:pt x="107156" y="53578"/>
                </a:cubicBezTo>
                <a:cubicBezTo>
                  <a:pt x="107156" y="47651"/>
                  <a:pt x="111945" y="42863"/>
                  <a:pt x="117872" y="42863"/>
                </a:cubicBezTo>
                <a:lnTo>
                  <a:pt x="133912" y="42863"/>
                </a:lnTo>
                <a:lnTo>
                  <a:pt x="131367" y="40451"/>
                </a:lnTo>
                <a:cubicBezTo>
                  <a:pt x="131300" y="40385"/>
                  <a:pt x="131233" y="40318"/>
                  <a:pt x="131166" y="40251"/>
                </a:cubicBezTo>
                <a:cubicBezTo>
                  <a:pt x="106051" y="15136"/>
                  <a:pt x="65365" y="15136"/>
                  <a:pt x="40251" y="40251"/>
                </a:cubicBezTo>
                <a:cubicBezTo>
                  <a:pt x="15136" y="65365"/>
                  <a:pt x="15136" y="106051"/>
                  <a:pt x="40251" y="131166"/>
                </a:cubicBezTo>
                <a:cubicBezTo>
                  <a:pt x="65365" y="156281"/>
                  <a:pt x="106051" y="156281"/>
                  <a:pt x="131166" y="131166"/>
                </a:cubicBezTo>
                <a:cubicBezTo>
                  <a:pt x="133912" y="128420"/>
                  <a:pt x="136356" y="125507"/>
                  <a:pt x="138499" y="122426"/>
                </a:cubicBezTo>
                <a:cubicBezTo>
                  <a:pt x="141882" y="117570"/>
                  <a:pt x="148579" y="116398"/>
                  <a:pt x="153434" y="119781"/>
                </a:cubicBezTo>
                <a:cubicBezTo>
                  <a:pt x="158290" y="123163"/>
                  <a:pt x="159462" y="129860"/>
                  <a:pt x="156080" y="134715"/>
                </a:cubicBezTo>
                <a:cubicBezTo>
                  <a:pt x="153233" y="138801"/>
                  <a:pt x="149985" y="142685"/>
                  <a:pt x="146335" y="146335"/>
                </a:cubicBezTo>
                <a:cubicBezTo>
                  <a:pt x="112849" y="179822"/>
                  <a:pt x="58568" y="179822"/>
                  <a:pt x="25115" y="146335"/>
                </a:cubicBezTo>
                <a:cubicBezTo>
                  <a:pt x="-8338" y="112849"/>
                  <a:pt x="-8372" y="58601"/>
                  <a:pt x="25115" y="25115"/>
                </a:cubicBezTo>
                <a:cubicBezTo>
                  <a:pt x="58568" y="-8338"/>
                  <a:pt x="112748" y="-8372"/>
                  <a:pt x="146235" y="2501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2" name="Text 80"/>
          <p:cNvSpPr/>
          <p:nvPr/>
        </p:nvSpPr>
        <p:spPr>
          <a:xfrm>
            <a:off x="9663113" y="40386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6-Month Win-Back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663113" y="42672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Reactivation loop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224963" y="4881563"/>
            <a:ext cx="2428875" cy="352425"/>
          </a:xfrm>
          <a:prstGeom prst="roundRect">
            <a:avLst>
              <a:gd name="adj" fmla="val 21622"/>
            </a:avLst>
          </a:prstGeom>
          <a:solidFill>
            <a:srgbClr val="05DF72">
              <a:alpha val="10196"/>
            </a:srgbClr>
          </a:solidFill>
          <a:ln w="12700">
            <a:solidFill>
              <a:srgbClr val="05DF72">
                <a:alpha val="30196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72588" y="49625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80%+ retention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385763" y="5548313"/>
            <a:ext cx="11420475" cy="923925"/>
          </a:xfrm>
          <a:prstGeom prst="roundRect">
            <a:avLst>
              <a:gd name="adj" fmla="val 12371"/>
            </a:avLst>
          </a:pr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0" scaled="1"/>
          </a:gradFill>
          <a:ln w="12700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025" y="5867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8" name="Text 86"/>
          <p:cNvSpPr/>
          <p:nvPr/>
        </p:nvSpPr>
        <p:spPr>
          <a:xfrm>
            <a:off x="1052513" y="5743575"/>
            <a:ext cx="572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CNDP Law 09-08 Compliant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52513" y="604837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sensitive health-adjacent data is legally protected throughout the entire ecosystem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741792" y="5705475"/>
            <a:ext cx="1228725" cy="609600"/>
          </a:xfrm>
          <a:prstGeom prst="roundRect">
            <a:avLst>
              <a:gd name="adj" fmla="val 125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8860854" y="578167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Encryption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8851329" y="597217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10083850" y="5705475"/>
            <a:ext cx="1562100" cy="609600"/>
          </a:xfrm>
          <a:prstGeom prst="roundRect">
            <a:avLst>
              <a:gd name="adj" fmla="val 12500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10202912" y="57816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Management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0193387" y="59721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Impact &amp; Unit Economics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strategic levers for margin expansion and profitability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7145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752600"/>
                </a:lnTo>
                <a:cubicBezTo>
                  <a:pt x="5600700" y="1815684"/>
                  <a:pt x="5549484" y="1866900"/>
                  <a:pt x="5486400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7145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Shape 6"/>
          <p:cNvSpPr/>
          <p:nvPr/>
        </p:nvSpPr>
        <p:spPr>
          <a:xfrm>
            <a:off x="623888" y="1924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22649" y="-7144"/>
                  <a:pt x="117872" y="-2366"/>
                  <a:pt x="117872" y="3572"/>
                </a:cubicBezTo>
                <a:lnTo>
                  <a:pt x="117872" y="8930"/>
                </a:lnTo>
                <a:lnTo>
                  <a:pt x="117068" y="8930"/>
                </a:lnTo>
                <a:cubicBezTo>
                  <a:pt x="100727" y="8930"/>
                  <a:pt x="87511" y="22190"/>
                  <a:pt x="87511" y="38487"/>
                </a:cubicBezTo>
                <a:cubicBezTo>
                  <a:pt x="87511" y="53400"/>
                  <a:pt x="98628" y="65990"/>
                  <a:pt x="113407" y="67821"/>
                </a:cubicBezTo>
                <a:lnTo>
                  <a:pt x="140643" y="71214"/>
                </a:lnTo>
                <a:cubicBezTo>
                  <a:pt x="142920" y="71482"/>
                  <a:pt x="144661" y="73447"/>
                  <a:pt x="144661" y="75768"/>
                </a:cubicBezTo>
                <a:cubicBezTo>
                  <a:pt x="144661" y="78313"/>
                  <a:pt x="142607" y="80323"/>
                  <a:pt x="140107" y="80323"/>
                </a:cubicBezTo>
                <a:lnTo>
                  <a:pt x="107156" y="80367"/>
                </a:lnTo>
                <a:cubicBezTo>
                  <a:pt x="100236" y="80367"/>
                  <a:pt x="94655" y="85948"/>
                  <a:pt x="94655" y="92869"/>
                </a:cubicBezTo>
                <a:cubicBezTo>
                  <a:pt x="94655" y="99789"/>
                  <a:pt x="100236" y="105370"/>
                  <a:pt x="107156" y="105370"/>
                </a:cubicBezTo>
                <a:lnTo>
                  <a:pt x="117872" y="105370"/>
                </a:lnTo>
                <a:lnTo>
                  <a:pt x="117872" y="110728"/>
                </a:lnTo>
                <a:cubicBezTo>
                  <a:pt x="117872" y="116666"/>
                  <a:pt x="122649" y="121444"/>
                  <a:pt x="128588" y="121444"/>
                </a:cubicBezTo>
                <a:cubicBezTo>
                  <a:pt x="134526" y="121444"/>
                  <a:pt x="139303" y="116666"/>
                  <a:pt x="139303" y="110728"/>
                </a:cubicBezTo>
                <a:lnTo>
                  <a:pt x="139303" y="105370"/>
                </a:lnTo>
                <a:lnTo>
                  <a:pt x="140107" y="105370"/>
                </a:lnTo>
                <a:cubicBezTo>
                  <a:pt x="156448" y="105370"/>
                  <a:pt x="169664" y="92110"/>
                  <a:pt x="169664" y="75813"/>
                </a:cubicBezTo>
                <a:cubicBezTo>
                  <a:pt x="169664" y="60900"/>
                  <a:pt x="158547" y="48310"/>
                  <a:pt x="143768" y="46479"/>
                </a:cubicBezTo>
                <a:lnTo>
                  <a:pt x="116532" y="43086"/>
                </a:lnTo>
                <a:cubicBezTo>
                  <a:pt x="114255" y="42818"/>
                  <a:pt x="112514" y="40853"/>
                  <a:pt x="112514" y="38532"/>
                </a:cubicBezTo>
                <a:cubicBezTo>
                  <a:pt x="112514" y="35987"/>
                  <a:pt x="114568" y="33977"/>
                  <a:pt x="117068" y="33977"/>
                </a:cubicBezTo>
                <a:lnTo>
                  <a:pt x="146447" y="33933"/>
                </a:lnTo>
                <a:cubicBezTo>
                  <a:pt x="153367" y="33933"/>
                  <a:pt x="158948" y="28352"/>
                  <a:pt x="158948" y="21431"/>
                </a:cubicBezTo>
                <a:cubicBezTo>
                  <a:pt x="158948" y="14511"/>
                  <a:pt x="153367" y="8930"/>
                  <a:pt x="146447" y="8930"/>
                </a:cubicBezTo>
                <a:lnTo>
                  <a:pt x="139303" y="8930"/>
                </a:lnTo>
                <a:lnTo>
                  <a:pt x="139303" y="3572"/>
                </a:lnTo>
                <a:cubicBezTo>
                  <a:pt x="139303" y="-2366"/>
                  <a:pt x="134526" y="-7144"/>
                  <a:pt x="128588" y="-7144"/>
                </a:cubicBez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9050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Eliminating Referral Waste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2860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external referral commissions from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&lt;15%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building direct-to-consumer Meta/WhatsApp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857500"/>
            <a:ext cx="5200650" cy="533400"/>
          </a:xfrm>
          <a:prstGeom prst="roundRect">
            <a:avLst>
              <a:gd name="adj" fmla="val 1428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23900" y="30099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Savings (per 100 clients)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2864" y="2971800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450K MAD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7338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752600"/>
                </a:lnTo>
                <a:cubicBezTo>
                  <a:pt x="5600700" y="1815684"/>
                  <a:pt x="5549484" y="1866900"/>
                  <a:pt x="5486400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00050" y="37338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175" y="3943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650" y="39243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Front-End Strategy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3053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slight margin loss on initial low-cost Discovery Bilan to secure highly profitable 10-20 session care plan maximizing LTV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876800"/>
            <a:ext cx="5200650" cy="533400"/>
          </a:xfrm>
          <a:prstGeom prst="roundRect">
            <a:avLst>
              <a:gd name="adj" fmla="val 1428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3900" y="50292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 Increase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5303" y="499110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2.18x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7145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752600"/>
                </a:lnTo>
                <a:cubicBezTo>
                  <a:pt x="5600700" y="1815684"/>
                  <a:pt x="5549484" y="1866900"/>
                  <a:pt x="5486400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210300" y="17145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8425" y="192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9900" y="19050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Expansion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850" y="22860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operating margins from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baseline toward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25-30%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via AI administrative efficiency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9850" y="2857500"/>
            <a:ext cx="5200650" cy="533400"/>
          </a:xfrm>
          <a:prstGeom prst="roundRect">
            <a:avLst>
              <a:gd name="adj" fmla="val 1428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34150" y="30099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Improvement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60534" y="2971800"/>
            <a:ext cx="116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+10-15 pts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37338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752600"/>
                </a:lnTo>
                <a:cubicBezTo>
                  <a:pt x="5600700" y="1815684"/>
                  <a:pt x="5549484" y="1866900"/>
                  <a:pt x="5486400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0A192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210300" y="37338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2713" y="3943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6819900" y="39243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Breakeven Velocity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850" y="43053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1-month breakeven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unit level based on high contribution margins and optimized acquisition costs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9850" y="4876800"/>
            <a:ext cx="5200650" cy="533400"/>
          </a:xfrm>
          <a:prstGeom prst="roundRect">
            <a:avLst>
              <a:gd name="adj" fmla="val 1428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34150" y="50292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to Profitability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72911" y="4991100"/>
            <a:ext cx="94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Days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5757863"/>
            <a:ext cx="11420475" cy="847725"/>
          </a:xfrm>
          <a:prstGeom prst="roundRect">
            <a:avLst>
              <a:gd name="adj" fmla="val 13483"/>
            </a:avLst>
          </a:prstGeom>
          <a:gradFill rotWithShape="1" flip="none">
            <a:gsLst>
              <a:gs pos="0">
                <a:srgbClr val="D4AF37">
                  <a:alpha val="20000"/>
                </a:srgbClr>
              </a:gs>
              <a:gs pos="100000">
                <a:srgbClr val="64FFDA">
                  <a:alpha val="20000"/>
                </a:srgbClr>
              </a:gs>
            </a:gsLst>
            <a:lin ang="0" scaled="1"/>
          </a:gra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166" y="6038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1052513" y="5915025"/>
            <a:ext cx="630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to 30% EBITDA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2513" y="6219825"/>
            <a:ext cx="629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shifting acquisition from external referrals to owned digital Hub &amp; Spoke SEO and AI funnels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64713" y="5915025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12-Month Target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88513" y="6105525"/>
            <a:ext cx="1762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 EBITDA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ad3aab6cc382f0c21e9c9eca3a553adb498f7e5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91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36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63398" y="363398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spc="57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Timeline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3398" y="654116"/>
            <a:ext cx="11683243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4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90-Day Deployment Roadmap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3398" y="1199213"/>
            <a:ext cx="1162873" cy="36340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/>
        </p:spPr>
      </p:sp>
      <p:sp>
        <p:nvSpPr>
          <p:cNvPr id="7" name="Shape 4"/>
          <p:cNvSpPr/>
          <p:nvPr/>
        </p:nvSpPr>
        <p:spPr>
          <a:xfrm>
            <a:off x="363398" y="1435422"/>
            <a:ext cx="3697574" cy="3961037"/>
          </a:xfrm>
          <a:custGeom>
            <a:avLst/>
            <a:gdLst/>
            <a:ahLst/>
            <a:cxnLst/>
            <a:rect l="l" t="t" r="r" b="b"/>
            <a:pathLst>
              <a:path w="3697574" h="3961037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852037"/>
                </a:lnTo>
                <a:cubicBezTo>
                  <a:pt x="3697605" y="3880959"/>
                  <a:pt x="3686107" y="3908694"/>
                  <a:pt x="3665645" y="3929133"/>
                </a:cubicBezTo>
                <a:cubicBezTo>
                  <a:pt x="3645182" y="3949571"/>
                  <a:pt x="3617434" y="3961037"/>
                  <a:pt x="3588512" y="3961003"/>
                </a:cubicBezTo>
                <a:lnTo>
                  <a:pt x="108966" y="3961003"/>
                </a:lnTo>
                <a:cubicBezTo>
                  <a:pt x="48786" y="3961003"/>
                  <a:pt x="0" y="3912217"/>
                  <a:pt x="0" y="3852037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63398" y="1435422"/>
            <a:ext cx="3697574" cy="36340"/>
          </a:xfrm>
          <a:custGeom>
            <a:avLst/>
            <a:gdLst/>
            <a:ahLst/>
            <a:cxnLst/>
            <a:rect l="l" t="t" r="r" b="b"/>
            <a:pathLst>
              <a:path w="3697574" h="36340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6322"/>
                </a:lnTo>
                <a:lnTo>
                  <a:pt x="0" y="36322"/>
                </a:ln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9" name="Shape 6"/>
          <p:cNvSpPr/>
          <p:nvPr/>
        </p:nvSpPr>
        <p:spPr>
          <a:xfrm>
            <a:off x="545097" y="1635291"/>
            <a:ext cx="508757" cy="50875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6268" y="1744310"/>
            <a:ext cx="336143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62873" y="1671630"/>
            <a:ext cx="99934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62873" y="1926009"/>
            <a:ext cx="97208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1-30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5097" y="2289407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3201" y="2430224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102433" y="341"/>
                </a:moveTo>
                <a:cubicBezTo>
                  <a:pt x="97606" y="-1050"/>
                  <a:pt x="92581" y="1760"/>
                  <a:pt x="91190" y="6587"/>
                </a:cubicBezTo>
                <a:lnTo>
                  <a:pt x="54850" y="133776"/>
                </a:lnTo>
                <a:cubicBezTo>
                  <a:pt x="53459" y="138602"/>
                  <a:pt x="56270" y="143627"/>
                  <a:pt x="61096" y="145018"/>
                </a:cubicBezTo>
                <a:cubicBezTo>
                  <a:pt x="65923" y="146410"/>
                  <a:pt x="70948" y="143599"/>
                  <a:pt x="72339" y="138773"/>
                </a:cubicBezTo>
                <a:lnTo>
                  <a:pt x="108679" y="11583"/>
                </a:lnTo>
                <a:cubicBezTo>
                  <a:pt x="110070" y="6757"/>
                  <a:pt x="107259" y="1732"/>
                  <a:pt x="102433" y="341"/>
                </a:cubicBezTo>
                <a:close/>
                <a:moveTo>
                  <a:pt x="120773" y="38980"/>
                </a:moveTo>
                <a:cubicBezTo>
                  <a:pt x="117224" y="42529"/>
                  <a:pt x="117224" y="48292"/>
                  <a:pt x="120773" y="51841"/>
                </a:cubicBezTo>
                <a:lnTo>
                  <a:pt x="141612" y="72680"/>
                </a:lnTo>
                <a:lnTo>
                  <a:pt x="120773" y="93518"/>
                </a:lnTo>
                <a:cubicBezTo>
                  <a:pt x="117224" y="97067"/>
                  <a:pt x="117224" y="102830"/>
                  <a:pt x="120773" y="106379"/>
                </a:cubicBezTo>
                <a:cubicBezTo>
                  <a:pt x="124322" y="109928"/>
                  <a:pt x="130085" y="109928"/>
                  <a:pt x="133634" y="106379"/>
                </a:cubicBezTo>
                <a:lnTo>
                  <a:pt x="160889" y="79124"/>
                </a:lnTo>
                <a:cubicBezTo>
                  <a:pt x="164438" y="75575"/>
                  <a:pt x="164438" y="69812"/>
                  <a:pt x="160889" y="66263"/>
                </a:cubicBezTo>
                <a:lnTo>
                  <a:pt x="133634" y="39008"/>
                </a:lnTo>
                <a:cubicBezTo>
                  <a:pt x="130085" y="35460"/>
                  <a:pt x="124322" y="35460"/>
                  <a:pt x="120773" y="39008"/>
                </a:cubicBezTo>
                <a:close/>
                <a:moveTo>
                  <a:pt x="42784" y="38980"/>
                </a:moveTo>
                <a:cubicBezTo>
                  <a:pt x="39236" y="35431"/>
                  <a:pt x="33472" y="35431"/>
                  <a:pt x="29924" y="38980"/>
                </a:cubicBezTo>
                <a:lnTo>
                  <a:pt x="2669" y="66235"/>
                </a:lnTo>
                <a:cubicBezTo>
                  <a:pt x="-880" y="69784"/>
                  <a:pt x="-880" y="75547"/>
                  <a:pt x="2669" y="79096"/>
                </a:cubicBezTo>
                <a:lnTo>
                  <a:pt x="29924" y="106351"/>
                </a:lnTo>
                <a:cubicBezTo>
                  <a:pt x="33472" y="109899"/>
                  <a:pt x="39236" y="109899"/>
                  <a:pt x="42784" y="106351"/>
                </a:cubicBezTo>
                <a:cubicBezTo>
                  <a:pt x="46333" y="102802"/>
                  <a:pt x="46333" y="97039"/>
                  <a:pt x="42784" y="93490"/>
                </a:cubicBezTo>
                <a:lnTo>
                  <a:pt x="21946" y="72680"/>
                </a:lnTo>
                <a:lnTo>
                  <a:pt x="42756" y="51841"/>
                </a:lnTo>
                <a:cubicBezTo>
                  <a:pt x="46305" y="48292"/>
                  <a:pt x="46305" y="42529"/>
                  <a:pt x="42756" y="3898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5" name="Text 12"/>
          <p:cNvSpPr/>
          <p:nvPr/>
        </p:nvSpPr>
        <p:spPr>
          <a:xfrm>
            <a:off x="887807" y="2398426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Tracking Pixels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4116" y="2652805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Pixel + Google Analytics 4 on all landing pages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5097" y="3052542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72286" y="3193359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18104" y="59052"/>
                </a:moveTo>
                <a:cubicBezTo>
                  <a:pt x="118104" y="72083"/>
                  <a:pt x="113874" y="84121"/>
                  <a:pt x="106748" y="93887"/>
                </a:cubicBezTo>
                <a:lnTo>
                  <a:pt x="142690" y="129858"/>
                </a:lnTo>
                <a:cubicBezTo>
                  <a:pt x="146239" y="133407"/>
                  <a:pt x="146239" y="139170"/>
                  <a:pt x="142690" y="142719"/>
                </a:cubicBezTo>
                <a:cubicBezTo>
                  <a:pt x="139142" y="146268"/>
                  <a:pt x="133378" y="146268"/>
                  <a:pt x="129830" y="142719"/>
                </a:cubicBezTo>
                <a:lnTo>
                  <a:pt x="93887" y="106748"/>
                </a:lnTo>
                <a:cubicBezTo>
                  <a:pt x="84121" y="113874"/>
                  <a:pt x="72083" y="118104"/>
                  <a:pt x="59052" y="118104"/>
                </a:cubicBezTo>
                <a:cubicBezTo>
                  <a:pt x="26432" y="118104"/>
                  <a:pt x="0" y="91673"/>
                  <a:pt x="0" y="59052"/>
                </a:cubicBezTo>
                <a:cubicBezTo>
                  <a:pt x="0" y="26432"/>
                  <a:pt x="26432" y="0"/>
                  <a:pt x="59052" y="0"/>
                </a:cubicBezTo>
                <a:cubicBezTo>
                  <a:pt x="91673" y="0"/>
                  <a:pt x="118104" y="26432"/>
                  <a:pt x="118104" y="59052"/>
                </a:cubicBezTo>
                <a:close/>
                <a:moveTo>
                  <a:pt x="59052" y="99934"/>
                </a:moveTo>
                <a:cubicBezTo>
                  <a:pt x="81616" y="99934"/>
                  <a:pt x="99934" y="81616"/>
                  <a:pt x="99934" y="59052"/>
                </a:cubicBezTo>
                <a:cubicBezTo>
                  <a:pt x="99934" y="36489"/>
                  <a:pt x="81616" y="18170"/>
                  <a:pt x="59052" y="18170"/>
                </a:cubicBezTo>
                <a:cubicBezTo>
                  <a:pt x="36489" y="18170"/>
                  <a:pt x="18170" y="36489"/>
                  <a:pt x="18170" y="59052"/>
                </a:cubicBezTo>
                <a:cubicBezTo>
                  <a:pt x="18170" y="81616"/>
                  <a:pt x="36489" y="99934"/>
                  <a:pt x="59052" y="9993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9" name="Text 16"/>
          <p:cNvSpPr/>
          <p:nvPr/>
        </p:nvSpPr>
        <p:spPr>
          <a:xfrm>
            <a:off x="887807" y="3161562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Local SEO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4116" y="3415940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NAP consistency, Google Business, location pages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5097" y="3815678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72286" y="3956495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23981" y="21208"/>
                </a:moveTo>
                <a:lnTo>
                  <a:pt x="127189" y="24245"/>
                </a:lnTo>
                <a:lnTo>
                  <a:pt x="127189" y="9085"/>
                </a:lnTo>
                <a:cubicBezTo>
                  <a:pt x="127189" y="4060"/>
                  <a:pt x="131249" y="0"/>
                  <a:pt x="136274" y="0"/>
                </a:cubicBezTo>
                <a:cubicBezTo>
                  <a:pt x="141299" y="0"/>
                  <a:pt x="145359" y="4060"/>
                  <a:pt x="145359" y="9085"/>
                </a:cubicBezTo>
                <a:lnTo>
                  <a:pt x="145359" y="45425"/>
                </a:lnTo>
                <a:cubicBezTo>
                  <a:pt x="145359" y="50450"/>
                  <a:pt x="141299" y="54510"/>
                  <a:pt x="136274" y="54510"/>
                </a:cubicBezTo>
                <a:lnTo>
                  <a:pt x="99934" y="54510"/>
                </a:lnTo>
                <a:cubicBezTo>
                  <a:pt x="94909" y="54510"/>
                  <a:pt x="90849" y="50450"/>
                  <a:pt x="90849" y="45425"/>
                </a:cubicBezTo>
                <a:cubicBezTo>
                  <a:pt x="90849" y="40400"/>
                  <a:pt x="94909" y="36340"/>
                  <a:pt x="99934" y="36340"/>
                </a:cubicBezTo>
                <a:lnTo>
                  <a:pt x="113533" y="36340"/>
                </a:lnTo>
                <a:lnTo>
                  <a:pt x="111376" y="34296"/>
                </a:lnTo>
                <a:cubicBezTo>
                  <a:pt x="111319" y="34239"/>
                  <a:pt x="111262" y="34182"/>
                  <a:pt x="111205" y="34125"/>
                </a:cubicBezTo>
                <a:cubicBezTo>
                  <a:pt x="89913" y="12832"/>
                  <a:pt x="55418" y="12832"/>
                  <a:pt x="34125" y="34125"/>
                </a:cubicBezTo>
                <a:cubicBezTo>
                  <a:pt x="12832" y="55418"/>
                  <a:pt x="12832" y="89913"/>
                  <a:pt x="34125" y="111205"/>
                </a:cubicBezTo>
                <a:cubicBezTo>
                  <a:pt x="55418" y="132498"/>
                  <a:pt x="89913" y="132498"/>
                  <a:pt x="111205" y="111205"/>
                </a:cubicBezTo>
                <a:cubicBezTo>
                  <a:pt x="113533" y="108877"/>
                  <a:pt x="115606" y="106407"/>
                  <a:pt x="117423" y="103796"/>
                </a:cubicBezTo>
                <a:cubicBezTo>
                  <a:pt x="120290" y="99679"/>
                  <a:pt x="125968" y="98685"/>
                  <a:pt x="130085" y="101553"/>
                </a:cubicBezTo>
                <a:cubicBezTo>
                  <a:pt x="134202" y="104420"/>
                  <a:pt x="135195" y="110098"/>
                  <a:pt x="132328" y="114215"/>
                </a:cubicBezTo>
                <a:cubicBezTo>
                  <a:pt x="129915" y="117678"/>
                  <a:pt x="127161" y="120972"/>
                  <a:pt x="124066" y="124066"/>
                </a:cubicBezTo>
                <a:cubicBezTo>
                  <a:pt x="95676" y="152457"/>
                  <a:pt x="49655" y="152457"/>
                  <a:pt x="21293" y="124066"/>
                </a:cubicBezTo>
                <a:cubicBezTo>
                  <a:pt x="-7069" y="95676"/>
                  <a:pt x="-7098" y="49683"/>
                  <a:pt x="21293" y="21293"/>
                </a:cubicBezTo>
                <a:cubicBezTo>
                  <a:pt x="49655" y="-7069"/>
                  <a:pt x="95591" y="-7098"/>
                  <a:pt x="123981" y="2120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3" name="Text 20"/>
          <p:cNvSpPr/>
          <p:nvPr/>
        </p:nvSpPr>
        <p:spPr>
          <a:xfrm>
            <a:off x="887807" y="3924697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Win-Back Campaign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4116" y="4179076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Zero-budget CRM reactivation via WhatsApp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9639" y="4765055"/>
            <a:ext cx="3325091" cy="445162"/>
          </a:xfrm>
          <a:prstGeom prst="roundRect">
            <a:avLst>
              <a:gd name="adj" fmla="val 16327"/>
            </a:avLst>
          </a:prstGeom>
          <a:solidFill>
            <a:srgbClr val="64FFDA">
              <a:alpha val="10196"/>
            </a:srgbClr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861" y="4878617"/>
            <a:ext cx="317064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Revenue:</a:t>
            </a:r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50-100K MAD immediate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46361" y="1435422"/>
            <a:ext cx="3697574" cy="3961037"/>
          </a:xfrm>
          <a:custGeom>
            <a:avLst/>
            <a:gdLst/>
            <a:ahLst/>
            <a:cxnLst/>
            <a:rect l="l" t="t" r="r" b="b"/>
            <a:pathLst>
              <a:path w="3697574" h="3961037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852037"/>
                </a:lnTo>
                <a:cubicBezTo>
                  <a:pt x="3697605" y="3880959"/>
                  <a:pt x="3686107" y="3908694"/>
                  <a:pt x="3665645" y="3929133"/>
                </a:cubicBezTo>
                <a:cubicBezTo>
                  <a:pt x="3645182" y="3949571"/>
                  <a:pt x="3617434" y="3961037"/>
                  <a:pt x="3588512" y="3961003"/>
                </a:cubicBezTo>
                <a:lnTo>
                  <a:pt x="108966" y="3961003"/>
                </a:lnTo>
                <a:cubicBezTo>
                  <a:pt x="48786" y="3961003"/>
                  <a:pt x="0" y="3912217"/>
                  <a:pt x="0" y="3852037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28" name="Shape 25"/>
          <p:cNvSpPr/>
          <p:nvPr/>
        </p:nvSpPr>
        <p:spPr>
          <a:xfrm>
            <a:off x="4246361" y="1435422"/>
            <a:ext cx="3697574" cy="36340"/>
          </a:xfrm>
          <a:custGeom>
            <a:avLst/>
            <a:gdLst/>
            <a:ahLst/>
            <a:cxnLst/>
            <a:rect l="l" t="t" r="r" b="b"/>
            <a:pathLst>
              <a:path w="3697574" h="36340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6322"/>
                </a:lnTo>
                <a:lnTo>
                  <a:pt x="0" y="36322"/>
                </a:ln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9" name="Shape 26"/>
          <p:cNvSpPr/>
          <p:nvPr/>
        </p:nvSpPr>
        <p:spPr>
          <a:xfrm>
            <a:off x="4428060" y="1635291"/>
            <a:ext cx="508757" cy="508757"/>
          </a:xfrm>
          <a:prstGeom prst="roundRect">
            <a:avLst>
              <a:gd name="adj" fmla="val 50000"/>
            </a:avLst>
          </a:prstGeom>
          <a:solidFill>
            <a:srgbClr val="D4AF37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549501" y="1744310"/>
            <a:ext cx="372483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45837" y="1671630"/>
            <a:ext cx="184424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&amp; Testing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45837" y="1926009"/>
            <a:ext cx="181699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30-60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28060" y="2289407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37080" y="2430224"/>
            <a:ext cx="181699" cy="145359"/>
          </a:xfrm>
          <a:custGeom>
            <a:avLst/>
            <a:gdLst/>
            <a:ahLst/>
            <a:cxnLst/>
            <a:rect l="l" t="t" r="r" b="b"/>
            <a:pathLst>
              <a:path w="181699" h="145359">
                <a:moveTo>
                  <a:pt x="99934" y="0"/>
                </a:moveTo>
                <a:cubicBezTo>
                  <a:pt x="99934" y="-5025"/>
                  <a:pt x="95875" y="-9085"/>
                  <a:pt x="90849" y="-9085"/>
                </a:cubicBezTo>
                <a:cubicBezTo>
                  <a:pt x="85824" y="-9085"/>
                  <a:pt x="81765" y="-5025"/>
                  <a:pt x="81765" y="0"/>
                </a:cubicBezTo>
                <a:lnTo>
                  <a:pt x="81765" y="18170"/>
                </a:lnTo>
                <a:lnTo>
                  <a:pt x="54510" y="18170"/>
                </a:lnTo>
                <a:cubicBezTo>
                  <a:pt x="39463" y="18170"/>
                  <a:pt x="27255" y="30378"/>
                  <a:pt x="27255" y="45425"/>
                </a:cubicBezTo>
                <a:lnTo>
                  <a:pt x="27255" y="109019"/>
                </a:lnTo>
                <a:cubicBezTo>
                  <a:pt x="27255" y="124066"/>
                  <a:pt x="39463" y="136274"/>
                  <a:pt x="54510" y="136274"/>
                </a:cubicBezTo>
                <a:lnTo>
                  <a:pt x="127189" y="136274"/>
                </a:lnTo>
                <a:cubicBezTo>
                  <a:pt x="142236" y="136274"/>
                  <a:pt x="154444" y="124066"/>
                  <a:pt x="154444" y="109019"/>
                </a:cubicBezTo>
                <a:lnTo>
                  <a:pt x="154444" y="45425"/>
                </a:lnTo>
                <a:cubicBezTo>
                  <a:pt x="154444" y="30378"/>
                  <a:pt x="142236" y="18170"/>
                  <a:pt x="127189" y="18170"/>
                </a:cubicBezTo>
                <a:lnTo>
                  <a:pt x="99934" y="18170"/>
                </a:lnTo>
                <a:lnTo>
                  <a:pt x="99934" y="0"/>
                </a:lnTo>
                <a:close/>
                <a:moveTo>
                  <a:pt x="45425" y="104477"/>
                </a:moveTo>
                <a:cubicBezTo>
                  <a:pt x="45425" y="100701"/>
                  <a:pt x="48463" y="97663"/>
                  <a:pt x="52238" y="97663"/>
                </a:cubicBezTo>
                <a:lnTo>
                  <a:pt x="61323" y="97663"/>
                </a:lnTo>
                <a:cubicBezTo>
                  <a:pt x="65099" y="97663"/>
                  <a:pt x="68137" y="100701"/>
                  <a:pt x="68137" y="104477"/>
                </a:cubicBezTo>
                <a:cubicBezTo>
                  <a:pt x="68137" y="108253"/>
                  <a:pt x="65099" y="111291"/>
                  <a:pt x="61323" y="111291"/>
                </a:cubicBezTo>
                <a:lnTo>
                  <a:pt x="52238" y="111291"/>
                </a:lnTo>
                <a:cubicBezTo>
                  <a:pt x="48463" y="111291"/>
                  <a:pt x="45425" y="108253"/>
                  <a:pt x="45425" y="104477"/>
                </a:cubicBezTo>
                <a:close/>
                <a:moveTo>
                  <a:pt x="79493" y="104477"/>
                </a:moveTo>
                <a:cubicBezTo>
                  <a:pt x="79493" y="100701"/>
                  <a:pt x="82531" y="97663"/>
                  <a:pt x="86307" y="97663"/>
                </a:cubicBezTo>
                <a:lnTo>
                  <a:pt x="95392" y="97663"/>
                </a:lnTo>
                <a:cubicBezTo>
                  <a:pt x="99168" y="97663"/>
                  <a:pt x="102206" y="100701"/>
                  <a:pt x="102206" y="104477"/>
                </a:cubicBezTo>
                <a:cubicBezTo>
                  <a:pt x="102206" y="108253"/>
                  <a:pt x="99168" y="111291"/>
                  <a:pt x="95392" y="111291"/>
                </a:cubicBezTo>
                <a:lnTo>
                  <a:pt x="86307" y="111291"/>
                </a:lnTo>
                <a:cubicBezTo>
                  <a:pt x="82531" y="111291"/>
                  <a:pt x="79493" y="108253"/>
                  <a:pt x="79493" y="104477"/>
                </a:cubicBezTo>
                <a:close/>
                <a:moveTo>
                  <a:pt x="113562" y="104477"/>
                </a:moveTo>
                <a:cubicBezTo>
                  <a:pt x="113562" y="100701"/>
                  <a:pt x="116600" y="97663"/>
                  <a:pt x="120376" y="97663"/>
                </a:cubicBezTo>
                <a:lnTo>
                  <a:pt x="129461" y="97663"/>
                </a:lnTo>
                <a:cubicBezTo>
                  <a:pt x="133236" y="97663"/>
                  <a:pt x="136274" y="100701"/>
                  <a:pt x="136274" y="104477"/>
                </a:cubicBezTo>
                <a:cubicBezTo>
                  <a:pt x="136274" y="108253"/>
                  <a:pt x="133236" y="111291"/>
                  <a:pt x="129461" y="111291"/>
                </a:cubicBezTo>
                <a:lnTo>
                  <a:pt x="120376" y="111291"/>
                </a:lnTo>
                <a:cubicBezTo>
                  <a:pt x="116600" y="111291"/>
                  <a:pt x="113562" y="108253"/>
                  <a:pt x="113562" y="104477"/>
                </a:cubicBezTo>
                <a:close/>
                <a:moveTo>
                  <a:pt x="63595" y="49967"/>
                </a:moveTo>
                <a:cubicBezTo>
                  <a:pt x="71116" y="49967"/>
                  <a:pt x="77222" y="56073"/>
                  <a:pt x="77222" y="63595"/>
                </a:cubicBezTo>
                <a:cubicBezTo>
                  <a:pt x="77222" y="71116"/>
                  <a:pt x="71116" y="77222"/>
                  <a:pt x="63595" y="77222"/>
                </a:cubicBezTo>
                <a:cubicBezTo>
                  <a:pt x="56073" y="77222"/>
                  <a:pt x="49967" y="71116"/>
                  <a:pt x="49967" y="63595"/>
                </a:cubicBezTo>
                <a:cubicBezTo>
                  <a:pt x="49967" y="56073"/>
                  <a:pt x="56073" y="49967"/>
                  <a:pt x="63595" y="49967"/>
                </a:cubicBezTo>
                <a:close/>
                <a:moveTo>
                  <a:pt x="104477" y="63595"/>
                </a:moveTo>
                <a:cubicBezTo>
                  <a:pt x="104477" y="56073"/>
                  <a:pt x="110583" y="49967"/>
                  <a:pt x="118104" y="49967"/>
                </a:cubicBezTo>
                <a:cubicBezTo>
                  <a:pt x="125626" y="49967"/>
                  <a:pt x="131732" y="56073"/>
                  <a:pt x="131732" y="63595"/>
                </a:cubicBezTo>
                <a:cubicBezTo>
                  <a:pt x="131732" y="71116"/>
                  <a:pt x="125626" y="77222"/>
                  <a:pt x="118104" y="77222"/>
                </a:cubicBezTo>
                <a:cubicBezTo>
                  <a:pt x="110583" y="77222"/>
                  <a:pt x="104477" y="71116"/>
                  <a:pt x="104477" y="63595"/>
                </a:cubicBezTo>
                <a:close/>
                <a:moveTo>
                  <a:pt x="18170" y="63595"/>
                </a:moveTo>
                <a:cubicBezTo>
                  <a:pt x="18170" y="58570"/>
                  <a:pt x="14110" y="54510"/>
                  <a:pt x="9085" y="54510"/>
                </a:cubicBezTo>
                <a:cubicBezTo>
                  <a:pt x="4060" y="54510"/>
                  <a:pt x="0" y="58570"/>
                  <a:pt x="0" y="63595"/>
                </a:cubicBezTo>
                <a:lnTo>
                  <a:pt x="0" y="90849"/>
                </a:lnTo>
                <a:cubicBezTo>
                  <a:pt x="0" y="95875"/>
                  <a:pt x="4060" y="99934"/>
                  <a:pt x="9085" y="99934"/>
                </a:cubicBezTo>
                <a:cubicBezTo>
                  <a:pt x="14110" y="99934"/>
                  <a:pt x="18170" y="95875"/>
                  <a:pt x="18170" y="90849"/>
                </a:cubicBezTo>
                <a:lnTo>
                  <a:pt x="18170" y="63595"/>
                </a:lnTo>
                <a:close/>
                <a:moveTo>
                  <a:pt x="172614" y="54510"/>
                </a:moveTo>
                <a:cubicBezTo>
                  <a:pt x="167589" y="54510"/>
                  <a:pt x="163529" y="58570"/>
                  <a:pt x="163529" y="63595"/>
                </a:cubicBezTo>
                <a:lnTo>
                  <a:pt x="163529" y="90849"/>
                </a:lnTo>
                <a:cubicBezTo>
                  <a:pt x="163529" y="95875"/>
                  <a:pt x="167589" y="99934"/>
                  <a:pt x="172614" y="99934"/>
                </a:cubicBezTo>
                <a:cubicBezTo>
                  <a:pt x="177639" y="99934"/>
                  <a:pt x="181699" y="95875"/>
                  <a:pt x="181699" y="90849"/>
                </a:cubicBezTo>
                <a:lnTo>
                  <a:pt x="181699" y="63595"/>
                </a:lnTo>
                <a:cubicBezTo>
                  <a:pt x="181699" y="58570"/>
                  <a:pt x="177639" y="54510"/>
                  <a:pt x="172614" y="5451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5" name="Text 32"/>
          <p:cNvSpPr/>
          <p:nvPr/>
        </p:nvSpPr>
        <p:spPr>
          <a:xfrm>
            <a:off x="4770770" y="2398426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WhatsApp AI Quiz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37080" y="2652805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CNDP-compliant automated qualification system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428060" y="3052542"/>
            <a:ext cx="3334176" cy="835815"/>
          </a:xfrm>
          <a:prstGeom prst="roundRect">
            <a:avLst>
              <a:gd name="adj" fmla="val 869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55250" y="3193359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30937" y="5366"/>
                </a:moveTo>
                <a:cubicBezTo>
                  <a:pt x="134202" y="6814"/>
                  <a:pt x="136274" y="10050"/>
                  <a:pt x="136274" y="13627"/>
                </a:cubicBezTo>
                <a:lnTo>
                  <a:pt x="136274" y="131732"/>
                </a:lnTo>
                <a:cubicBezTo>
                  <a:pt x="136274" y="135309"/>
                  <a:pt x="134202" y="138545"/>
                  <a:pt x="130937" y="139993"/>
                </a:cubicBezTo>
                <a:cubicBezTo>
                  <a:pt x="127672" y="141441"/>
                  <a:pt x="123896" y="140902"/>
                  <a:pt x="121199" y="138545"/>
                </a:cubicBezTo>
                <a:lnTo>
                  <a:pt x="107969" y="126991"/>
                </a:lnTo>
                <a:cubicBezTo>
                  <a:pt x="95591" y="116174"/>
                  <a:pt x="79948" y="109871"/>
                  <a:pt x="63566" y="109105"/>
                </a:cubicBezTo>
                <a:lnTo>
                  <a:pt x="63566" y="136274"/>
                </a:lnTo>
                <a:cubicBezTo>
                  <a:pt x="63566" y="141299"/>
                  <a:pt x="59506" y="145359"/>
                  <a:pt x="54481" y="145359"/>
                </a:cubicBezTo>
                <a:lnTo>
                  <a:pt x="45396" y="145359"/>
                </a:lnTo>
                <a:cubicBezTo>
                  <a:pt x="40371" y="145359"/>
                  <a:pt x="36311" y="141299"/>
                  <a:pt x="36311" y="136274"/>
                </a:cubicBezTo>
                <a:lnTo>
                  <a:pt x="36311" y="109019"/>
                </a:lnTo>
                <a:cubicBezTo>
                  <a:pt x="16268" y="109019"/>
                  <a:pt x="0" y="92752"/>
                  <a:pt x="0" y="72680"/>
                </a:cubicBezTo>
                <a:cubicBezTo>
                  <a:pt x="0" y="52608"/>
                  <a:pt x="16268" y="36340"/>
                  <a:pt x="36340" y="36340"/>
                </a:cubicBezTo>
                <a:lnTo>
                  <a:pt x="60330" y="36340"/>
                </a:lnTo>
                <a:cubicBezTo>
                  <a:pt x="77875" y="36283"/>
                  <a:pt x="94796" y="29895"/>
                  <a:pt x="107997" y="18369"/>
                </a:cubicBezTo>
                <a:lnTo>
                  <a:pt x="121227" y="6814"/>
                </a:lnTo>
                <a:cubicBezTo>
                  <a:pt x="123896" y="4457"/>
                  <a:pt x="127729" y="3918"/>
                  <a:pt x="130965" y="5366"/>
                </a:cubicBezTo>
                <a:close/>
                <a:moveTo>
                  <a:pt x="63595" y="90849"/>
                </a:moveTo>
                <a:lnTo>
                  <a:pt x="63595" y="90906"/>
                </a:lnTo>
                <a:cubicBezTo>
                  <a:pt x="83553" y="91673"/>
                  <a:pt x="102717" y="98998"/>
                  <a:pt x="118104" y="111745"/>
                </a:cubicBezTo>
                <a:lnTo>
                  <a:pt x="118104" y="33586"/>
                </a:lnTo>
                <a:cubicBezTo>
                  <a:pt x="102717" y="46333"/>
                  <a:pt x="83553" y="53658"/>
                  <a:pt x="63595" y="54425"/>
                </a:cubicBezTo>
                <a:lnTo>
                  <a:pt x="63595" y="9084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9" name="Text 36"/>
          <p:cNvSpPr/>
          <p:nvPr/>
        </p:nvSpPr>
        <p:spPr>
          <a:xfrm>
            <a:off x="4770770" y="3161562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Test Campaigns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537080" y="3415940"/>
            <a:ext cx="3179732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Meta/Google campaigns in Casablanca &amp; Marrakech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428060" y="3997377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555250" y="413819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0" y="119126"/>
                </a:moveTo>
                <a:lnTo>
                  <a:pt x="0" y="31088"/>
                </a:lnTo>
                <a:cubicBezTo>
                  <a:pt x="0" y="24501"/>
                  <a:pt x="6842" y="20129"/>
                  <a:pt x="13145" y="22003"/>
                </a:cubicBezTo>
                <a:cubicBezTo>
                  <a:pt x="38043" y="29441"/>
                  <a:pt x="55645" y="23564"/>
                  <a:pt x="73361" y="17659"/>
                </a:cubicBezTo>
                <a:cubicBezTo>
                  <a:pt x="91673" y="11555"/>
                  <a:pt x="110098" y="5423"/>
                  <a:pt x="136757" y="13940"/>
                </a:cubicBezTo>
                <a:cubicBezTo>
                  <a:pt x="142009" y="15615"/>
                  <a:pt x="145359" y="20697"/>
                  <a:pt x="145359" y="26233"/>
                </a:cubicBezTo>
                <a:lnTo>
                  <a:pt x="145359" y="114272"/>
                </a:lnTo>
                <a:cubicBezTo>
                  <a:pt x="145359" y="120858"/>
                  <a:pt x="138517" y="125230"/>
                  <a:pt x="132243" y="123357"/>
                </a:cubicBezTo>
                <a:cubicBezTo>
                  <a:pt x="107344" y="115918"/>
                  <a:pt x="89714" y="121795"/>
                  <a:pt x="72027" y="127700"/>
                </a:cubicBezTo>
                <a:cubicBezTo>
                  <a:pt x="53715" y="133804"/>
                  <a:pt x="35289" y="139937"/>
                  <a:pt x="8631" y="131419"/>
                </a:cubicBezTo>
                <a:cubicBezTo>
                  <a:pt x="3378" y="129744"/>
                  <a:pt x="28" y="124663"/>
                  <a:pt x="28" y="119126"/>
                </a:cubicBezTo>
                <a:close/>
                <a:moveTo>
                  <a:pt x="95392" y="72680"/>
                </a:moveTo>
                <a:cubicBezTo>
                  <a:pt x="95392" y="57633"/>
                  <a:pt x="85228" y="45425"/>
                  <a:pt x="72680" y="45425"/>
                </a:cubicBezTo>
                <a:cubicBezTo>
                  <a:pt x="60131" y="45425"/>
                  <a:pt x="49967" y="57633"/>
                  <a:pt x="49967" y="72680"/>
                </a:cubicBezTo>
                <a:cubicBezTo>
                  <a:pt x="49967" y="87727"/>
                  <a:pt x="60131" y="99934"/>
                  <a:pt x="72680" y="99934"/>
                </a:cubicBezTo>
                <a:cubicBezTo>
                  <a:pt x="85228" y="99934"/>
                  <a:pt x="95392" y="87727"/>
                  <a:pt x="95392" y="72680"/>
                </a:cubicBezTo>
                <a:close/>
                <a:moveTo>
                  <a:pt x="34069" y="117423"/>
                </a:moveTo>
                <a:cubicBezTo>
                  <a:pt x="35318" y="117423"/>
                  <a:pt x="36311" y="116344"/>
                  <a:pt x="36113" y="115123"/>
                </a:cubicBezTo>
                <a:cubicBezTo>
                  <a:pt x="34807" y="107231"/>
                  <a:pt x="28447" y="101070"/>
                  <a:pt x="20441" y="100076"/>
                </a:cubicBezTo>
                <a:cubicBezTo>
                  <a:pt x="19192" y="99934"/>
                  <a:pt x="18170" y="100956"/>
                  <a:pt x="18170" y="102206"/>
                </a:cubicBezTo>
                <a:lnTo>
                  <a:pt x="18170" y="113533"/>
                </a:lnTo>
                <a:cubicBezTo>
                  <a:pt x="18170" y="114556"/>
                  <a:pt x="18851" y="115464"/>
                  <a:pt x="19873" y="115720"/>
                </a:cubicBezTo>
                <a:cubicBezTo>
                  <a:pt x="24955" y="116912"/>
                  <a:pt x="29611" y="117451"/>
                  <a:pt x="34069" y="117451"/>
                </a:cubicBezTo>
                <a:close/>
                <a:moveTo>
                  <a:pt x="124492" y="102915"/>
                </a:moveTo>
                <a:cubicBezTo>
                  <a:pt x="125912" y="103143"/>
                  <a:pt x="127189" y="102064"/>
                  <a:pt x="127189" y="100644"/>
                </a:cubicBezTo>
                <a:lnTo>
                  <a:pt x="127189" y="88550"/>
                </a:lnTo>
                <a:cubicBezTo>
                  <a:pt x="127189" y="87301"/>
                  <a:pt x="126167" y="86250"/>
                  <a:pt x="124918" y="86421"/>
                </a:cubicBezTo>
                <a:cubicBezTo>
                  <a:pt x="117764" y="87301"/>
                  <a:pt x="111887" y="92354"/>
                  <a:pt x="109814" y="99083"/>
                </a:cubicBezTo>
                <a:cubicBezTo>
                  <a:pt x="109417" y="100417"/>
                  <a:pt x="110467" y="101666"/>
                  <a:pt x="111858" y="101695"/>
                </a:cubicBezTo>
                <a:cubicBezTo>
                  <a:pt x="115890" y="101808"/>
                  <a:pt x="120092" y="102177"/>
                  <a:pt x="124464" y="102915"/>
                </a:cubicBezTo>
                <a:close/>
                <a:moveTo>
                  <a:pt x="127189" y="43154"/>
                </a:moveTo>
                <a:lnTo>
                  <a:pt x="127189" y="31826"/>
                </a:lnTo>
                <a:cubicBezTo>
                  <a:pt x="127189" y="30804"/>
                  <a:pt x="126480" y="29895"/>
                  <a:pt x="125486" y="29640"/>
                </a:cubicBezTo>
                <a:cubicBezTo>
                  <a:pt x="120404" y="28447"/>
                  <a:pt x="115748" y="27908"/>
                  <a:pt x="111291" y="27908"/>
                </a:cubicBezTo>
                <a:cubicBezTo>
                  <a:pt x="110041" y="27908"/>
                  <a:pt x="109048" y="28987"/>
                  <a:pt x="109246" y="30207"/>
                </a:cubicBezTo>
                <a:cubicBezTo>
                  <a:pt x="110552" y="38100"/>
                  <a:pt x="116912" y="44261"/>
                  <a:pt x="124918" y="45254"/>
                </a:cubicBezTo>
                <a:cubicBezTo>
                  <a:pt x="126167" y="45396"/>
                  <a:pt x="127189" y="44374"/>
                  <a:pt x="127189" y="43125"/>
                </a:cubicBezTo>
                <a:close/>
                <a:moveTo>
                  <a:pt x="35545" y="46248"/>
                </a:moveTo>
                <a:cubicBezTo>
                  <a:pt x="35942" y="44914"/>
                  <a:pt x="34892" y="43665"/>
                  <a:pt x="33501" y="43636"/>
                </a:cubicBezTo>
                <a:cubicBezTo>
                  <a:pt x="29469" y="43523"/>
                  <a:pt x="25268" y="43154"/>
                  <a:pt x="20895" y="42415"/>
                </a:cubicBezTo>
                <a:cubicBezTo>
                  <a:pt x="19476" y="42188"/>
                  <a:pt x="18198" y="43267"/>
                  <a:pt x="18198" y="44687"/>
                </a:cubicBezTo>
                <a:lnTo>
                  <a:pt x="18170" y="56781"/>
                </a:lnTo>
                <a:cubicBezTo>
                  <a:pt x="18170" y="58030"/>
                  <a:pt x="19192" y="59081"/>
                  <a:pt x="20441" y="58910"/>
                </a:cubicBezTo>
                <a:cubicBezTo>
                  <a:pt x="27596" y="58030"/>
                  <a:pt x="33472" y="52977"/>
                  <a:pt x="35545" y="4624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43" name="Text 40"/>
          <p:cNvSpPr/>
          <p:nvPr/>
        </p:nvSpPr>
        <p:spPr>
          <a:xfrm>
            <a:off x="4770770" y="4106396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 Test Budget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537080" y="4360775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5,000-8,000 MAD per city for initial testing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432603" y="4765055"/>
            <a:ext cx="3325091" cy="445162"/>
          </a:xfrm>
          <a:prstGeom prst="roundRect">
            <a:avLst>
              <a:gd name="adj" fmla="val 16327"/>
            </a:avLst>
          </a:prstGeom>
          <a:solidFill>
            <a:srgbClr val="D4AF37">
              <a:alpha val="10196"/>
            </a:srgbClr>
          </a:solidFill>
          <a:ln w="12700">
            <a:solidFill>
              <a:srgbClr val="D4AF37">
                <a:alpha val="30196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09825" y="4878617"/>
            <a:ext cx="317064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CPL:</a:t>
            </a:r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&lt;80 MAD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129325" y="1435422"/>
            <a:ext cx="3697574" cy="3961037"/>
          </a:xfrm>
          <a:custGeom>
            <a:avLst/>
            <a:gdLst/>
            <a:ahLst/>
            <a:cxnLst/>
            <a:rect l="l" t="t" r="r" b="b"/>
            <a:pathLst>
              <a:path w="3697574" h="3961037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852037"/>
                </a:lnTo>
                <a:cubicBezTo>
                  <a:pt x="3697605" y="3880959"/>
                  <a:pt x="3686107" y="3908694"/>
                  <a:pt x="3665645" y="3929133"/>
                </a:cubicBezTo>
                <a:cubicBezTo>
                  <a:pt x="3645182" y="3949571"/>
                  <a:pt x="3617434" y="3961037"/>
                  <a:pt x="3588512" y="3961003"/>
                </a:cubicBezTo>
                <a:lnTo>
                  <a:pt x="108966" y="3961003"/>
                </a:lnTo>
                <a:cubicBezTo>
                  <a:pt x="48786" y="3961003"/>
                  <a:pt x="0" y="3912217"/>
                  <a:pt x="0" y="3852037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60000"/>
                </a:srgbClr>
              </a:gs>
              <a:gs pos="100000">
                <a:srgbClr val="0A192F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8" name="Shape 45"/>
          <p:cNvSpPr/>
          <p:nvPr/>
        </p:nvSpPr>
        <p:spPr>
          <a:xfrm>
            <a:off x="8129325" y="1435422"/>
            <a:ext cx="3697574" cy="36340"/>
          </a:xfrm>
          <a:custGeom>
            <a:avLst/>
            <a:gdLst/>
            <a:ahLst/>
            <a:cxnLst/>
            <a:rect l="l" t="t" r="r" b="b"/>
            <a:pathLst>
              <a:path w="3697574" h="36340">
                <a:moveTo>
                  <a:pt x="36322" y="0"/>
                </a:moveTo>
                <a:lnTo>
                  <a:pt x="3661283" y="0"/>
                </a:lnTo>
                <a:cubicBezTo>
                  <a:pt x="3681343" y="0"/>
                  <a:pt x="3697605" y="16262"/>
                  <a:pt x="3697605" y="36322"/>
                </a:cubicBezTo>
                <a:lnTo>
                  <a:pt x="3697605" y="36322"/>
                </a:lnTo>
                <a:lnTo>
                  <a:pt x="0" y="36322"/>
                </a:ln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9" name="Shape 46"/>
          <p:cNvSpPr/>
          <p:nvPr/>
        </p:nvSpPr>
        <p:spPr>
          <a:xfrm>
            <a:off x="8311024" y="1635291"/>
            <a:ext cx="508757" cy="508757"/>
          </a:xfrm>
          <a:prstGeom prst="roundRect">
            <a:avLst>
              <a:gd name="adj" fmla="val 50000"/>
            </a:avLst>
          </a:prstGeom>
          <a:solidFill>
            <a:srgbClr val="05DF72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8431470" y="1744310"/>
            <a:ext cx="372483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928800" y="1671630"/>
            <a:ext cx="157169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&amp; Expansion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928800" y="1926009"/>
            <a:ext cx="154444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60-90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311024" y="2289407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38213" y="243022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8170" y="18170"/>
                </a:moveTo>
                <a:cubicBezTo>
                  <a:pt x="18170" y="13145"/>
                  <a:pt x="14110" y="9085"/>
                  <a:pt x="9085" y="9085"/>
                </a:cubicBezTo>
                <a:cubicBezTo>
                  <a:pt x="4060" y="9085"/>
                  <a:pt x="0" y="13145"/>
                  <a:pt x="0" y="18170"/>
                </a:cubicBezTo>
                <a:lnTo>
                  <a:pt x="0" y="113562"/>
                </a:lnTo>
                <a:cubicBezTo>
                  <a:pt x="0" y="126110"/>
                  <a:pt x="10164" y="136274"/>
                  <a:pt x="22712" y="136274"/>
                </a:cubicBezTo>
                <a:lnTo>
                  <a:pt x="136274" y="136274"/>
                </a:lnTo>
                <a:cubicBezTo>
                  <a:pt x="141299" y="136274"/>
                  <a:pt x="145359" y="132214"/>
                  <a:pt x="145359" y="127189"/>
                </a:cubicBezTo>
                <a:cubicBezTo>
                  <a:pt x="145359" y="122164"/>
                  <a:pt x="141299" y="118104"/>
                  <a:pt x="136274" y="118104"/>
                </a:cubicBezTo>
                <a:lnTo>
                  <a:pt x="22712" y="118104"/>
                </a:lnTo>
                <a:cubicBezTo>
                  <a:pt x="20214" y="118104"/>
                  <a:pt x="18170" y="116060"/>
                  <a:pt x="18170" y="113562"/>
                </a:cubicBezTo>
                <a:lnTo>
                  <a:pt x="18170" y="18170"/>
                </a:lnTo>
                <a:close/>
                <a:moveTo>
                  <a:pt x="133606" y="42756"/>
                </a:moveTo>
                <a:cubicBezTo>
                  <a:pt x="137154" y="39207"/>
                  <a:pt x="137154" y="33444"/>
                  <a:pt x="133606" y="29895"/>
                </a:cubicBezTo>
                <a:cubicBezTo>
                  <a:pt x="130057" y="26346"/>
                  <a:pt x="124293" y="26346"/>
                  <a:pt x="120745" y="29895"/>
                </a:cubicBezTo>
                <a:lnTo>
                  <a:pt x="90849" y="59819"/>
                </a:lnTo>
                <a:lnTo>
                  <a:pt x="74553" y="43551"/>
                </a:lnTo>
                <a:cubicBezTo>
                  <a:pt x="71005" y="40002"/>
                  <a:pt x="65241" y="40002"/>
                  <a:pt x="61692" y="43551"/>
                </a:cubicBezTo>
                <a:lnTo>
                  <a:pt x="34438" y="70806"/>
                </a:lnTo>
                <a:cubicBezTo>
                  <a:pt x="30889" y="74355"/>
                  <a:pt x="30889" y="80118"/>
                  <a:pt x="34438" y="83667"/>
                </a:cubicBezTo>
                <a:cubicBezTo>
                  <a:pt x="37986" y="87215"/>
                  <a:pt x="43750" y="87215"/>
                  <a:pt x="47299" y="83667"/>
                </a:cubicBezTo>
                <a:lnTo>
                  <a:pt x="68137" y="62828"/>
                </a:lnTo>
                <a:lnTo>
                  <a:pt x="84433" y="79124"/>
                </a:lnTo>
                <a:cubicBezTo>
                  <a:pt x="87982" y="82673"/>
                  <a:pt x="93745" y="82673"/>
                  <a:pt x="97294" y="79124"/>
                </a:cubicBezTo>
                <a:lnTo>
                  <a:pt x="133634" y="42784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Text 52"/>
          <p:cNvSpPr/>
          <p:nvPr/>
        </p:nvSpPr>
        <p:spPr>
          <a:xfrm>
            <a:off x="8653734" y="2398426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Based on Data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420043" y="2652805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 CPL, creative, and audience targeting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11024" y="3052542"/>
            <a:ext cx="3334176" cy="835815"/>
          </a:xfrm>
          <a:prstGeom prst="roundRect">
            <a:avLst>
              <a:gd name="adj" fmla="val 8696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38213" y="3193359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56781" y="13627"/>
                </a:moveTo>
                <a:lnTo>
                  <a:pt x="88578" y="13627"/>
                </a:lnTo>
                <a:cubicBezTo>
                  <a:pt x="89827" y="13627"/>
                  <a:pt x="90849" y="14649"/>
                  <a:pt x="90849" y="15899"/>
                </a:cubicBezTo>
                <a:lnTo>
                  <a:pt x="90849" y="27255"/>
                </a:lnTo>
                <a:lnTo>
                  <a:pt x="54510" y="27255"/>
                </a:lnTo>
                <a:lnTo>
                  <a:pt x="54510" y="15899"/>
                </a:lnTo>
                <a:cubicBezTo>
                  <a:pt x="54510" y="14649"/>
                  <a:pt x="55532" y="13627"/>
                  <a:pt x="56781" y="13627"/>
                </a:cubicBezTo>
                <a:close/>
                <a:moveTo>
                  <a:pt x="40882" y="15899"/>
                </a:moveTo>
                <a:lnTo>
                  <a:pt x="40882" y="27255"/>
                </a:lnTo>
                <a:lnTo>
                  <a:pt x="18170" y="27255"/>
                </a:lnTo>
                <a:cubicBezTo>
                  <a:pt x="8148" y="27255"/>
                  <a:pt x="0" y="35403"/>
                  <a:pt x="0" y="45425"/>
                </a:cubicBezTo>
                <a:lnTo>
                  <a:pt x="0" y="72680"/>
                </a:lnTo>
                <a:lnTo>
                  <a:pt x="145359" y="72680"/>
                </a:lnTo>
                <a:lnTo>
                  <a:pt x="145359" y="45425"/>
                </a:lnTo>
                <a:cubicBezTo>
                  <a:pt x="145359" y="35403"/>
                  <a:pt x="137211" y="27255"/>
                  <a:pt x="127189" y="27255"/>
                </a:cubicBezTo>
                <a:lnTo>
                  <a:pt x="104477" y="27255"/>
                </a:lnTo>
                <a:lnTo>
                  <a:pt x="104477" y="15899"/>
                </a:lnTo>
                <a:cubicBezTo>
                  <a:pt x="104477" y="7126"/>
                  <a:pt x="97351" y="0"/>
                  <a:pt x="88578" y="0"/>
                </a:cubicBezTo>
                <a:lnTo>
                  <a:pt x="56781" y="0"/>
                </a:lnTo>
                <a:cubicBezTo>
                  <a:pt x="48008" y="0"/>
                  <a:pt x="40882" y="7126"/>
                  <a:pt x="40882" y="15899"/>
                </a:cubicBezTo>
                <a:close/>
                <a:moveTo>
                  <a:pt x="145359" y="86307"/>
                </a:moveTo>
                <a:lnTo>
                  <a:pt x="90849" y="86307"/>
                </a:lnTo>
                <a:lnTo>
                  <a:pt x="90849" y="90849"/>
                </a:lnTo>
                <a:cubicBezTo>
                  <a:pt x="90849" y="95875"/>
                  <a:pt x="86790" y="99934"/>
                  <a:pt x="81765" y="99934"/>
                </a:cubicBezTo>
                <a:lnTo>
                  <a:pt x="63595" y="99934"/>
                </a:lnTo>
                <a:cubicBezTo>
                  <a:pt x="58570" y="99934"/>
                  <a:pt x="54510" y="95875"/>
                  <a:pt x="54510" y="90849"/>
                </a:cubicBezTo>
                <a:lnTo>
                  <a:pt x="54510" y="86307"/>
                </a:lnTo>
                <a:lnTo>
                  <a:pt x="0" y="86307"/>
                </a:lnTo>
                <a:lnTo>
                  <a:pt x="0" y="118104"/>
                </a:lnTo>
                <a:cubicBezTo>
                  <a:pt x="0" y="128126"/>
                  <a:pt x="8148" y="136274"/>
                  <a:pt x="18170" y="136274"/>
                </a:cubicBezTo>
                <a:lnTo>
                  <a:pt x="127189" y="136274"/>
                </a:lnTo>
                <a:cubicBezTo>
                  <a:pt x="137211" y="136274"/>
                  <a:pt x="145359" y="128126"/>
                  <a:pt x="145359" y="118104"/>
                </a:cubicBezTo>
                <a:lnTo>
                  <a:pt x="145359" y="8630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9" name="Text 56"/>
          <p:cNvSpPr/>
          <p:nvPr/>
        </p:nvSpPr>
        <p:spPr>
          <a:xfrm>
            <a:off x="8653734" y="3161562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Out B2B Packages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420043" y="3415940"/>
            <a:ext cx="3179732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High-ticket Executive Peak Performance corporate retainers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311024" y="3997377"/>
            <a:ext cx="3334176" cy="654116"/>
          </a:xfrm>
          <a:prstGeom prst="roundRect">
            <a:avLst>
              <a:gd name="adj" fmla="val 11111"/>
            </a:avLst>
          </a:prstGeom>
          <a:solidFill>
            <a:srgbClr val="0A192F">
              <a:alpha val="40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447298" y="4138194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47696" y="9085"/>
                </a:moveTo>
                <a:lnTo>
                  <a:pt x="6814" y="9085"/>
                </a:lnTo>
                <a:cubicBezTo>
                  <a:pt x="3038" y="9085"/>
                  <a:pt x="0" y="12123"/>
                  <a:pt x="0" y="15899"/>
                </a:cubicBezTo>
                <a:lnTo>
                  <a:pt x="0" y="56781"/>
                </a:lnTo>
                <a:cubicBezTo>
                  <a:pt x="0" y="59535"/>
                  <a:pt x="1647" y="62033"/>
                  <a:pt x="4202" y="63084"/>
                </a:cubicBezTo>
                <a:cubicBezTo>
                  <a:pt x="6757" y="64134"/>
                  <a:pt x="9681" y="63538"/>
                  <a:pt x="11640" y="61607"/>
                </a:cubicBezTo>
                <a:lnTo>
                  <a:pt x="22996" y="50251"/>
                </a:lnTo>
                <a:lnTo>
                  <a:pt x="45425" y="72680"/>
                </a:lnTo>
                <a:lnTo>
                  <a:pt x="22996" y="95108"/>
                </a:lnTo>
                <a:lnTo>
                  <a:pt x="11640" y="83752"/>
                </a:lnTo>
                <a:cubicBezTo>
                  <a:pt x="9681" y="81793"/>
                  <a:pt x="6757" y="81225"/>
                  <a:pt x="4202" y="82276"/>
                </a:cubicBezTo>
                <a:cubicBezTo>
                  <a:pt x="1647" y="83326"/>
                  <a:pt x="0" y="85824"/>
                  <a:pt x="0" y="88578"/>
                </a:cubicBezTo>
                <a:lnTo>
                  <a:pt x="0" y="129461"/>
                </a:lnTo>
                <a:cubicBezTo>
                  <a:pt x="0" y="133236"/>
                  <a:pt x="3038" y="136274"/>
                  <a:pt x="6814" y="136274"/>
                </a:cubicBezTo>
                <a:lnTo>
                  <a:pt x="47696" y="136274"/>
                </a:lnTo>
                <a:cubicBezTo>
                  <a:pt x="50450" y="136274"/>
                  <a:pt x="52948" y="134628"/>
                  <a:pt x="53999" y="132072"/>
                </a:cubicBezTo>
                <a:cubicBezTo>
                  <a:pt x="55049" y="129517"/>
                  <a:pt x="54481" y="126593"/>
                  <a:pt x="52522" y="124634"/>
                </a:cubicBezTo>
                <a:lnTo>
                  <a:pt x="41166" y="113278"/>
                </a:lnTo>
                <a:lnTo>
                  <a:pt x="63595" y="90849"/>
                </a:lnTo>
                <a:lnTo>
                  <a:pt x="86023" y="113278"/>
                </a:lnTo>
                <a:lnTo>
                  <a:pt x="74667" y="124634"/>
                </a:lnTo>
                <a:cubicBezTo>
                  <a:pt x="72708" y="126593"/>
                  <a:pt x="72140" y="129517"/>
                  <a:pt x="73191" y="132072"/>
                </a:cubicBezTo>
                <a:cubicBezTo>
                  <a:pt x="74241" y="134628"/>
                  <a:pt x="76739" y="136274"/>
                  <a:pt x="79493" y="136274"/>
                </a:cubicBezTo>
                <a:lnTo>
                  <a:pt x="120376" y="136274"/>
                </a:lnTo>
                <a:cubicBezTo>
                  <a:pt x="124151" y="136274"/>
                  <a:pt x="127189" y="133236"/>
                  <a:pt x="127189" y="129461"/>
                </a:cubicBezTo>
                <a:lnTo>
                  <a:pt x="127189" y="88578"/>
                </a:lnTo>
                <a:cubicBezTo>
                  <a:pt x="127189" y="85824"/>
                  <a:pt x="125543" y="83326"/>
                  <a:pt x="122987" y="82276"/>
                </a:cubicBezTo>
                <a:cubicBezTo>
                  <a:pt x="120432" y="81225"/>
                  <a:pt x="117508" y="81793"/>
                  <a:pt x="115549" y="83752"/>
                </a:cubicBezTo>
                <a:lnTo>
                  <a:pt x="104193" y="95108"/>
                </a:lnTo>
                <a:lnTo>
                  <a:pt x="81765" y="72680"/>
                </a:lnTo>
                <a:lnTo>
                  <a:pt x="104193" y="50251"/>
                </a:lnTo>
                <a:lnTo>
                  <a:pt x="115549" y="61607"/>
                </a:lnTo>
                <a:cubicBezTo>
                  <a:pt x="117508" y="63566"/>
                  <a:pt x="120432" y="64134"/>
                  <a:pt x="122987" y="63084"/>
                </a:cubicBezTo>
                <a:cubicBezTo>
                  <a:pt x="125543" y="62033"/>
                  <a:pt x="127189" y="59535"/>
                  <a:pt x="127189" y="56781"/>
                </a:cubicBezTo>
                <a:lnTo>
                  <a:pt x="127189" y="15899"/>
                </a:lnTo>
                <a:cubicBezTo>
                  <a:pt x="127189" y="12123"/>
                  <a:pt x="124151" y="9085"/>
                  <a:pt x="120376" y="9085"/>
                </a:cubicBezTo>
                <a:lnTo>
                  <a:pt x="79493" y="9085"/>
                </a:lnTo>
                <a:cubicBezTo>
                  <a:pt x="76739" y="9085"/>
                  <a:pt x="74241" y="10732"/>
                  <a:pt x="73191" y="13287"/>
                </a:cubicBezTo>
                <a:cubicBezTo>
                  <a:pt x="72140" y="15842"/>
                  <a:pt x="72736" y="18766"/>
                  <a:pt x="74667" y="20725"/>
                </a:cubicBezTo>
                <a:lnTo>
                  <a:pt x="86023" y="32081"/>
                </a:lnTo>
                <a:lnTo>
                  <a:pt x="63595" y="54510"/>
                </a:lnTo>
                <a:lnTo>
                  <a:pt x="41166" y="32081"/>
                </a:lnTo>
                <a:lnTo>
                  <a:pt x="52522" y="20725"/>
                </a:lnTo>
                <a:cubicBezTo>
                  <a:pt x="54481" y="18766"/>
                  <a:pt x="55049" y="15842"/>
                  <a:pt x="53999" y="13287"/>
                </a:cubicBezTo>
                <a:cubicBezTo>
                  <a:pt x="52948" y="10732"/>
                  <a:pt x="50450" y="9085"/>
                  <a:pt x="47696" y="908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3" name="Text 60"/>
          <p:cNvSpPr/>
          <p:nvPr/>
        </p:nvSpPr>
        <p:spPr>
          <a:xfrm>
            <a:off x="8653734" y="4106396"/>
            <a:ext cx="29551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New Markets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420043" y="4360775"/>
            <a:ext cx="31797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successful funnels to Tanger &amp; Kenitra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315566" y="4765055"/>
            <a:ext cx="3325091" cy="445162"/>
          </a:xfrm>
          <a:prstGeom prst="roundRect">
            <a:avLst>
              <a:gd name="adj" fmla="val 16327"/>
            </a:avLst>
          </a:prstGeom>
          <a:solidFill>
            <a:srgbClr val="05DF72">
              <a:alpha val="10196"/>
            </a:srgbClr>
          </a:solidFill>
          <a:ln w="12700">
            <a:solidFill>
              <a:srgbClr val="05DF72">
                <a:alpha val="30196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392788" y="4878617"/>
            <a:ext cx="317064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</a:t>
            </a:r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30% EBITDA margin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372483" y="5587243"/>
            <a:ext cx="11447034" cy="1262808"/>
          </a:xfrm>
          <a:prstGeom prst="roundRect">
            <a:avLst>
              <a:gd name="adj" fmla="val 8633"/>
            </a:avLst>
          </a:prstGeom>
          <a:gradFill rotWithShape="1" flip="none">
            <a:gsLst>
              <a:gs pos="0">
                <a:srgbClr val="D4AF37">
                  <a:alpha val="30000"/>
                </a:srgbClr>
              </a:gs>
              <a:gs pos="100000">
                <a:srgbClr val="64FFDA">
                  <a:alpha val="30000"/>
                </a:srgbClr>
              </a:gs>
            </a:gsLst>
            <a:lin ang="0" scaled="1"/>
          </a:gradFill>
          <a:ln w="25400">
            <a:solidFill>
              <a:srgbClr val="D4AF37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45097" y="6052846"/>
            <a:ext cx="327058" cy="327058"/>
          </a:xfrm>
          <a:custGeom>
            <a:avLst/>
            <a:gdLst/>
            <a:ahLst/>
            <a:cxnLst/>
            <a:rect l="l" t="t" r="r" b="b"/>
            <a:pathLst>
              <a:path w="327058" h="327058">
                <a:moveTo>
                  <a:pt x="92177" y="0"/>
                </a:moveTo>
                <a:lnTo>
                  <a:pt x="235265" y="0"/>
                </a:lnTo>
                <a:cubicBezTo>
                  <a:pt x="252192" y="0"/>
                  <a:pt x="265990" y="13926"/>
                  <a:pt x="265351" y="30789"/>
                </a:cubicBezTo>
                <a:cubicBezTo>
                  <a:pt x="265224" y="34175"/>
                  <a:pt x="265096" y="37561"/>
                  <a:pt x="264904" y="40882"/>
                </a:cubicBezTo>
                <a:lnTo>
                  <a:pt x="296588" y="40882"/>
                </a:lnTo>
                <a:cubicBezTo>
                  <a:pt x="313260" y="40882"/>
                  <a:pt x="327952" y="54680"/>
                  <a:pt x="326675" y="72694"/>
                </a:cubicBezTo>
                <a:cubicBezTo>
                  <a:pt x="321884" y="138936"/>
                  <a:pt x="288028" y="175347"/>
                  <a:pt x="251298" y="194382"/>
                </a:cubicBezTo>
                <a:cubicBezTo>
                  <a:pt x="241205" y="199620"/>
                  <a:pt x="230921" y="203517"/>
                  <a:pt x="221148" y="206392"/>
                </a:cubicBezTo>
                <a:cubicBezTo>
                  <a:pt x="208244" y="224661"/>
                  <a:pt x="194830" y="234306"/>
                  <a:pt x="184162" y="239481"/>
                </a:cubicBezTo>
                <a:lnTo>
                  <a:pt x="184162" y="286176"/>
                </a:lnTo>
                <a:lnTo>
                  <a:pt x="225044" y="286176"/>
                </a:lnTo>
                <a:cubicBezTo>
                  <a:pt x="236351" y="286176"/>
                  <a:pt x="245485" y="295310"/>
                  <a:pt x="245485" y="306617"/>
                </a:cubicBezTo>
                <a:cubicBezTo>
                  <a:pt x="245485" y="317923"/>
                  <a:pt x="236351" y="327058"/>
                  <a:pt x="225044" y="327058"/>
                </a:cubicBezTo>
                <a:lnTo>
                  <a:pt x="102397" y="327058"/>
                </a:lnTo>
                <a:cubicBezTo>
                  <a:pt x="91091" y="327058"/>
                  <a:pt x="81956" y="317923"/>
                  <a:pt x="81956" y="306617"/>
                </a:cubicBezTo>
                <a:cubicBezTo>
                  <a:pt x="81956" y="295310"/>
                  <a:pt x="91091" y="286176"/>
                  <a:pt x="102397" y="286176"/>
                </a:cubicBezTo>
                <a:lnTo>
                  <a:pt x="143280" y="286176"/>
                </a:lnTo>
                <a:lnTo>
                  <a:pt x="143280" y="239481"/>
                </a:lnTo>
                <a:cubicBezTo>
                  <a:pt x="133059" y="234562"/>
                  <a:pt x="120347" y="225427"/>
                  <a:pt x="107955" y="208627"/>
                </a:cubicBezTo>
                <a:cubicBezTo>
                  <a:pt x="96201" y="205561"/>
                  <a:pt x="83425" y="200898"/>
                  <a:pt x="70969" y="193871"/>
                </a:cubicBezTo>
                <a:cubicBezTo>
                  <a:pt x="36411" y="174516"/>
                  <a:pt x="5238" y="138042"/>
                  <a:pt x="767" y="72566"/>
                </a:cubicBezTo>
                <a:cubicBezTo>
                  <a:pt x="-447" y="54616"/>
                  <a:pt x="14181" y="40818"/>
                  <a:pt x="30853" y="40818"/>
                </a:cubicBezTo>
                <a:lnTo>
                  <a:pt x="62537" y="40818"/>
                </a:lnTo>
                <a:cubicBezTo>
                  <a:pt x="62345" y="37497"/>
                  <a:pt x="62218" y="34175"/>
                  <a:pt x="62090" y="30726"/>
                </a:cubicBezTo>
                <a:cubicBezTo>
                  <a:pt x="61451" y="13798"/>
                  <a:pt x="75249" y="-64"/>
                  <a:pt x="92177" y="-64"/>
                </a:cubicBezTo>
                <a:close/>
                <a:moveTo>
                  <a:pt x="64837" y="71544"/>
                </a:moveTo>
                <a:lnTo>
                  <a:pt x="31364" y="71544"/>
                </a:lnTo>
                <a:cubicBezTo>
                  <a:pt x="35325" y="125649"/>
                  <a:pt x="60174" y="152734"/>
                  <a:pt x="85789" y="167106"/>
                </a:cubicBezTo>
                <a:cubicBezTo>
                  <a:pt x="76590" y="143280"/>
                  <a:pt x="68989" y="112171"/>
                  <a:pt x="64837" y="71544"/>
                </a:cubicBezTo>
                <a:close/>
                <a:moveTo>
                  <a:pt x="242738" y="164040"/>
                </a:moveTo>
                <a:cubicBezTo>
                  <a:pt x="268609" y="148837"/>
                  <a:pt x="291989" y="121816"/>
                  <a:pt x="295949" y="71544"/>
                </a:cubicBezTo>
                <a:lnTo>
                  <a:pt x="262541" y="71544"/>
                </a:lnTo>
                <a:cubicBezTo>
                  <a:pt x="258580" y="110446"/>
                  <a:pt x="251426" y="140661"/>
                  <a:pt x="242738" y="16404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69" name="Text 66"/>
          <p:cNvSpPr/>
          <p:nvPr/>
        </p:nvSpPr>
        <p:spPr>
          <a:xfrm>
            <a:off x="1033200" y="5778027"/>
            <a:ext cx="861253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Multi-Angle Growth Engine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33200" y="6141425"/>
            <a:ext cx="8585276" cy="51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shifting acquisition from external referrals (30% cost) to owned digital Hub &amp; Spoke SEO and AI funnels (15% cost), you will instantly improve net margins by </a:t>
            </a:r>
            <a:pPr>
              <a:lnSpc>
                <a:spcPct val="130000"/>
              </a:lnSpc>
            </a:pPr>
            <a:r>
              <a:rPr lang="en-US" sz="1431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points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9679231" y="5834808"/>
            <a:ext cx="195326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45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Markets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661061" y="6089186"/>
            <a:ext cx="197143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31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Casablanca • Marrakech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9661061" y="6343565"/>
            <a:ext cx="197143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31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Tanger • Kenitra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Multi-Angle Growth Engine</dc:title>
  <dc:subject>The Multi-Angle Growth Engine</dc:subject>
  <dc:creator>Kimi</dc:creator>
  <cp:lastModifiedBy>Kimi</cp:lastModifiedBy>
  <cp:revision>1</cp:revision>
  <dcterms:created xsi:type="dcterms:W3CDTF">2026-04-20T15:51:41Z</dcterms:created>
  <dcterms:modified xsi:type="dcterms:W3CDTF">2026-04-20T15:51:41Z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Multi-Angle Growth Engine","ContentProducer":"001191110108MACG2KBH8F10000","ProduceID":"19dab8f7-8f62-83dd-8000-0000a78121c4","ReservedCode1":"","ContentPropagator":"001191110108MACG2KBH8F20000","PropagateID":"19dab8f7-8f62-83dd-8000-0000a78121c4","ReservedCode2":""}</vt:lpwstr>
  </property>
</Properties>
</file>