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Quattrocento Sans" charset="-122" pitchFamily="34"/>
      <p:regular r:id="rId19"/>
    </p:embeddedFont>
    <p:embeddedFont>
      <p:font typeface="Liter"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ar"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pic>
        <p:nvPicPr>
          <p:cNvPr id="2" name="Image 0" descr="https://kimi-web-img.moonshot.cn/img/www.shutterstock.com/1ad3aab6cc382f0c21e9c9eca3a553adb498f7e5.jpg">    </p:cNvPr>
          <p:cNvPicPr>
            <a:picLocks noChangeAspect="1"/>
          </p:cNvPicPr>
          <p:nvPr/>
        </p:nvPicPr>
        <p:blipFill>
          <a:blip r:embed="rId1">
            <a:alphaModFix amt="3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0A192F">
                  <a:alpha val="95000"/>
                </a:srgbClr>
              </a:gs>
              <a:gs pos="50000">
                <a:srgbClr val="0A192F">
                  <a:alpha val="85000"/>
                </a:srgbClr>
              </a:gs>
              <a:gs pos="100000">
                <a:srgbClr val="1E3A5F">
                  <a:alpha val="75000"/>
                </a:srgbClr>
              </a:gs>
            </a:gsLst>
            <a:lin ang="2700000" scaled="1"/>
          </a:gradFill>
          <a:ln/>
        </p:spPr>
      </p:sp>
      <p:sp>
        <p:nvSpPr>
          <p:cNvPr id="4" name="Shape 1"/>
          <p:cNvSpPr/>
          <p:nvPr/>
        </p:nvSpPr>
        <p:spPr>
          <a:xfrm>
            <a:off x="3795043" y="1116806"/>
            <a:ext cx="4600575" cy="514350"/>
          </a:xfrm>
          <a:prstGeom prst="roundRect">
            <a:avLst>
              <a:gd name="adj" fmla="val 14815"/>
            </a:avLst>
          </a:prstGeom>
          <a:solidFill>
            <a:srgbClr val="D4AF37">
              <a:alpha val="20000"/>
            </a:srgbClr>
          </a:solidFill>
          <a:ln w="25400">
            <a:solidFill>
              <a:srgbClr val="D4AF37"/>
            </a:solidFill>
            <a:prstDash val="solid"/>
          </a:ln>
        </p:spPr>
      </p:sp>
      <p:sp>
        <p:nvSpPr>
          <p:cNvPr id="5" name="Text 2"/>
          <p:cNvSpPr/>
          <p:nvPr/>
        </p:nvSpPr>
        <p:spPr>
          <a:xfrm>
            <a:off x="3985543" y="1240631"/>
            <a:ext cx="4219575" cy="2667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500" b="1" spc="150" kern="0" dirty="0">
                <a:solidFill>
                  <a:srgbClr val="D4AF37"/>
                </a:solidFill>
                <a:latin typeface="Quattrocento Sans" pitchFamily="34" charset="0"/>
                <a:ea typeface="Quattrocento Sans" pitchFamily="34" charset="-122"/>
                <a:cs typeface="Quattrocento Sans" pitchFamily="34" charset="-120"/>
              </a:rPr>
              <a:t>دليل التنفيذ الاحترافي</a:t>
            </a:r>
            <a:endParaRPr xmlns:a="http://schemas.openxmlformats.org/drawingml/2006/main" lang="en-US" sz="1600" dirty="0"/>
          </a:p>
        </p:txBody>
      </p:sp>
      <p:sp>
        <p:nvSpPr>
          <p:cNvPr id="6" name="Text 3"/>
          <p:cNvSpPr/>
          <p:nvPr/>
        </p:nvSpPr>
        <p:spPr>
          <a:xfrm>
            <a:off x="3489573" y="1945481"/>
            <a:ext cx="5210175" cy="1714500"/>
          </a:xfrm>
          <a:prstGeom prst="rect">
            <a:avLst/>
          </a:prstGeom>
          <a:noFill/>
          <a:ln/>
        </p:spPr>
        <p:txBody>
          <a:bodyPr wrap="square" lIns="0" tIns="0" rIns="0" bIns="0" rtlCol="0" anchor="ctr"/>
          <a:lstStyle/>
          <a:p>
            <a:pPr xmlns:a="http://schemas.openxmlformats.org/drawingml/2006/main" algn="ctr">
              <a:lnSpc>
                <a:spcPct val="100000"/>
              </a:lnSpc>
              <a:bidi/>
            </a:pPr>
            <a:r xmlns:a="http://schemas.openxmlformats.org/drawingml/2006/main">
              <a:rPr lang="ar" sz="5400" b="1" dirty="0">
                <a:solidFill>
                  <a:srgbClr val="E6F1FF"/>
                </a:solidFill>
                <a:latin typeface="Liter" pitchFamily="34" charset="0"/>
                <a:ea typeface="Liter" pitchFamily="34" charset="-122"/>
                <a:cs typeface="Liter" pitchFamily="34" charset="-120"/>
              </a:rPr>
              <a:t>الزوايا المتعددة</a:t>
            </a:r>
            <a:endParaRPr xmlns:a="http://schemas.openxmlformats.org/drawingml/2006/main" lang="en-US" sz="1600" dirty="0"/>
          </a:p>
          <a:p>
            <a:pPr xmlns:a="http://schemas.openxmlformats.org/drawingml/2006/main" algn="ctr">
              <a:lnSpc>
                <a:spcPct val="100000"/>
              </a:lnSpc>
              <a:bidi/>
            </a:pPr>
            <a:r xmlns:a="http://schemas.openxmlformats.org/drawingml/2006/main">
              <a:rPr lang="ar" sz="5400" b="1" dirty="0">
                <a:solidFill>
                  <a:srgbClr val="E6F1FF"/>
                </a:solidFill>
                <a:latin typeface="Liter" pitchFamily="34" charset="0"/>
                <a:ea typeface="Liter" pitchFamily="34" charset="-122"/>
                <a:cs typeface="Liter" pitchFamily="34" charset="-120"/>
              </a:rPr>
              <a:t>محرك النمو</a:t>
            </a:r>
            <a:endParaRPr xmlns:a="http://schemas.openxmlformats.org/drawingml/2006/main" lang="en-US" sz="1600" dirty="0"/>
          </a:p>
        </p:txBody>
      </p:sp>
      <p:sp>
        <p:nvSpPr>
          <p:cNvPr id="7" name="Shape 4"/>
          <p:cNvSpPr/>
          <p:nvPr/>
        </p:nvSpPr>
        <p:spPr>
          <a:xfrm>
            <a:off x="5334000" y="3888581"/>
            <a:ext cx="1524000" cy="57150"/>
          </a:xfrm>
          <a:prstGeom prst="roundRect">
            <a:avLst>
              <a:gd name="adj" fmla="val 0"/>
            </a:avLst>
          </a:prstGeom>
          <a:gradFill rotWithShape="1" flip="none">
            <a:gsLst>
              <a:gs pos="0">
                <a:srgbClr val="000000">
                  <a:alpha val="0"/>
                </a:srgbClr>
              </a:gs>
              <a:gs pos="50000">
                <a:srgbClr val="D4AF37"/>
              </a:gs>
              <a:gs pos="100000">
                <a:srgbClr val="000000">
                  <a:alpha val="0"/>
                </a:srgbClr>
              </a:gs>
            </a:gsLst>
            <a:lin ang="0" scaled="1"/>
          </a:gradFill>
          <a:ln/>
        </p:spPr>
      </p:sp>
      <p:sp>
        <p:nvSpPr>
          <p:cNvPr id="8" name="Text 5"/>
          <p:cNvSpPr/>
          <p:nvPr/>
        </p:nvSpPr>
        <p:spPr>
          <a:xfrm>
            <a:off x="3790355" y="4250531"/>
            <a:ext cx="4610100" cy="933450"/>
          </a:xfrm>
          <a:prstGeom prst="rect">
            <a:avLst/>
          </a:prstGeom>
          <a:noFill/>
          <a:ln/>
        </p:spPr>
        <p:txBody>
          <a:bodyPr wrap="square" lIns="0" tIns="0" rIns="0" bIns="0" rtlCol="0" anchor="ctr"/>
          <a:lstStyle/>
          <a:p>
            <a:pPr xmlns:a="http://schemas.openxmlformats.org/drawingml/2006/main" algn="ctr">
              <a:lnSpc>
                <a:spcPct val="140000"/>
              </a:lnSpc>
              <a:bidi/>
            </a:pPr>
            <a:r xmlns:a="http://schemas.openxmlformats.org/drawingml/2006/main">
              <a:rPr lang="ar" sz="2250" dirty="0">
                <a:solidFill>
                  <a:srgbClr val="64FFDA"/>
                </a:solidFill>
                <a:latin typeface="Quattrocento Sans" pitchFamily="34" charset="0"/>
                <a:ea typeface="Quattrocento Sans" pitchFamily="34" charset="-122"/>
                <a:cs typeface="Quattrocento Sans" pitchFamily="34" charset="-120"/>
              </a:rPr>
              <a:t>هيمنة على السلطة التنفيذية المغربية</a:t>
            </a:r>
            <a:endParaRPr xmlns:a="http://schemas.openxmlformats.org/drawingml/2006/main" lang="en-US" sz="1600" dirty="0"/>
          </a:p>
          <a:p>
            <a:pPr xmlns:a="http://schemas.openxmlformats.org/drawingml/2006/main" algn="ctr">
              <a:lnSpc>
                <a:spcPct val="140000"/>
              </a:lnSpc>
              <a:bidi/>
            </a:pPr>
            <a:r xmlns:a="http://schemas.openxmlformats.org/drawingml/2006/main">
              <a:rPr lang="ar" sz="2250" dirty="0">
                <a:solidFill>
                  <a:srgbClr val="64FFDA"/>
                </a:solidFill>
                <a:latin typeface="Quattrocento Sans" pitchFamily="34" charset="0"/>
                <a:ea typeface="Quattrocento Sans" pitchFamily="34" charset="-122"/>
                <a:cs typeface="Quattrocento Sans" pitchFamily="34" charset="-120"/>
              </a:rPr>
              <a:t>سوق طول العمر</a:t>
            </a:r>
            <a:endParaRPr xmlns:a="http://schemas.openxmlformats.org/drawingml/2006/main" lang="en-US" sz="1600" dirty="0"/>
          </a:p>
        </p:txBody>
      </p:sp>
      <p:sp>
        <p:nvSpPr>
          <p:cNvPr id="9" name="Text 6"/>
          <p:cNvSpPr/>
          <p:nvPr/>
        </p:nvSpPr>
        <p:spPr>
          <a:xfrm>
            <a:off x="381000" y="5905500"/>
            <a:ext cx="30384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dirty="0">
                <a:solidFill>
                  <a:srgbClr val="E6F1FF">
                    <a:alpha val="70000"/>
                  </a:srgbClr>
                </a:solidFill>
                <a:latin typeface="Quattrocento Sans" pitchFamily="34" charset="0"/>
                <a:ea typeface="Quattrocento Sans" pitchFamily="34" charset="-122"/>
                <a:cs typeface="Quattrocento Sans" pitchFamily="34" charset="-120"/>
              </a:rPr>
              <a:t>المركز الدولي للتغذية العصبية</a:t>
            </a:r>
            <a:endParaRPr xmlns:a="http://schemas.openxmlformats.org/drawingml/2006/main" lang="en-US" sz="1600" dirty="0"/>
          </a:p>
        </p:txBody>
      </p:sp>
      <p:sp>
        <p:nvSpPr>
          <p:cNvPr id="10" name="Text 7"/>
          <p:cNvSpPr/>
          <p:nvPr/>
        </p:nvSpPr>
        <p:spPr>
          <a:xfrm>
            <a:off x="381000" y="6210300"/>
            <a:ext cx="302895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64FFDA"/>
                </a:solidFill>
                <a:latin typeface="Quattrocento Sans" pitchFamily="34" charset="0"/>
                <a:ea typeface="Quattrocento Sans" pitchFamily="34" charset="-122"/>
                <a:cs typeface="Quattrocento Sans" pitchFamily="34" charset="-120"/>
              </a:rPr>
              <a:t>خطة التنفيذ الاستراتيجية لمدة 90 يومًا</a:t>
            </a:r>
            <a:endParaRPr xmlns:a="http://schemas.openxmlformats.org/drawingml/2006/main" lang="en-US" sz="1600" dirty="0"/>
          </a:p>
        </p:txBody>
      </p:sp>
      <p:sp>
        <p:nvSpPr>
          <p:cNvPr id="11" name="Text 8"/>
          <p:cNvSpPr/>
          <p:nvPr/>
        </p:nvSpPr>
        <p:spPr>
          <a:xfrm>
            <a:off x="7613154" y="5905500"/>
            <a:ext cx="4200525" cy="266700"/>
          </a:xfrm>
          <a:prstGeom prst="rect">
            <a:avLst/>
          </a:prstGeom>
          <a:noFill/>
          <a:ln/>
        </p:spPr>
        <p:txBody>
          <a:bodyPr wrap="square" lIns="0" tIns="0" rIns="0" bIns="0" rtlCol="0" anchor="ctr"/>
          <a:lstStyle/>
          <a:p>
            <a:pPr xmlns:a="http://schemas.openxmlformats.org/drawingml/2006/main" algn="r">
              <a:lnSpc>
                <a:spcPct val="130000"/>
              </a:lnSpc>
              <a:bidi/>
            </a:pPr>
            <a:r xmlns:a="http://schemas.openxmlformats.org/drawingml/2006/main">
              <a:rPr lang="ar" sz="1350" dirty="0">
                <a:solidFill>
                  <a:srgbClr val="E6F1FF">
                    <a:alpha val="60000"/>
                  </a:srgbClr>
                </a:solidFill>
                <a:latin typeface="Quattrocento Sans" pitchFamily="34" charset="0"/>
                <a:ea typeface="Quattrocento Sans" pitchFamily="34" charset="-122"/>
                <a:cs typeface="Quattrocento Sans" pitchFamily="34" charset="-120"/>
              </a:rPr>
              <a:t>الأسواق المستهدفة</a:t>
            </a:r>
            <a:endParaRPr xmlns:a="http://schemas.openxmlformats.org/drawingml/2006/main" lang="en-US" sz="1600" dirty="0"/>
          </a:p>
        </p:txBody>
      </p:sp>
      <p:sp>
        <p:nvSpPr>
          <p:cNvPr id="12" name="Text 9"/>
          <p:cNvSpPr/>
          <p:nvPr/>
        </p:nvSpPr>
        <p:spPr>
          <a:xfrm>
            <a:off x="7584579" y="6172200"/>
            <a:ext cx="4229100" cy="304800"/>
          </a:xfrm>
          <a:prstGeom prst="rect">
            <a:avLst/>
          </a:prstGeom>
          <a:noFill/>
          <a:ln/>
        </p:spPr>
        <p:txBody>
          <a:bodyPr wrap="square" lIns="0" tIns="0" rIns="0" bIns="0" rtlCol="0" anchor="ctr"/>
          <a:lstStyle/>
          <a:p>
            <a:pPr xmlns:a="http://schemas.openxmlformats.org/drawingml/2006/main" algn="r">
              <a:lnSpc>
                <a:spcPct val="110000"/>
              </a:lnSpc>
              <a:bidi/>
            </a:pPr>
            <a:r xmlns:a="http://schemas.openxmlformats.org/drawingml/2006/main">
              <a:rPr lang="ar" sz="1800" b="1" dirty="0">
                <a:solidFill>
                  <a:srgbClr val="D4AF37"/>
                </a:solidFill>
                <a:latin typeface="Quattrocento Sans" pitchFamily="34" charset="0"/>
                <a:ea typeface="Quattrocento Sans" pitchFamily="34" charset="-122"/>
                <a:cs typeface="Quattrocento Sans" pitchFamily="34" charset="-120"/>
              </a:rPr>
              <a:t>الدار البيضاء • مراكش • طنجة • القنيطرة</a:t>
            </a:r>
            <a:endParaRPr xmlns:a="http://schemas.openxmlformats.org/drawingml/2006/main"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75138" y="375138"/>
            <a:ext cx="11516751" cy="22508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82" b="1" spc="59" kern="0" dirty="0">
                <a:solidFill>
                  <a:srgbClr val="D4AF37"/>
                </a:solidFill>
                <a:latin typeface="Quattrocento Sans" pitchFamily="34" charset="0"/>
                <a:ea typeface="Quattrocento Sans" pitchFamily="34" charset="-122"/>
                <a:cs typeface="Quattrocento Sans" pitchFamily="34" charset="-120"/>
              </a:rPr>
              <a:t>الإطار الاستراتيجي</a:t>
            </a:r>
            <a:endParaRPr xmlns:a="http://schemas.openxmlformats.org/drawingml/2006/main" lang="en-US" sz="1600" dirty="0"/>
          </a:p>
        </p:txBody>
      </p:sp>
      <p:sp>
        <p:nvSpPr>
          <p:cNvPr id="3" name="Text 1"/>
          <p:cNvSpPr/>
          <p:nvPr/>
        </p:nvSpPr>
        <p:spPr>
          <a:xfrm>
            <a:off x="375138" y="675249"/>
            <a:ext cx="11666806" cy="450166"/>
          </a:xfrm>
          <a:prstGeom prst="rect">
            <a:avLst/>
          </a:prstGeom>
          <a:noFill/>
          <a:ln/>
        </p:spPr>
        <p:txBody>
          <a:bodyPr wrap="square" lIns="0" tIns="0" rIns="0" bIns="0" rtlCol="0" anchor="ctr"/>
          <a:lstStyle/>
          <a:p>
            <a:pPr xmlns:a="http://schemas.openxmlformats.org/drawingml/2006/main">
              <a:lnSpc>
                <a:spcPct val="80000"/>
              </a:lnSpc>
              <a:bidi/>
            </a:pPr>
            <a:r xmlns:a="http://schemas.openxmlformats.org/drawingml/2006/main">
              <a:rPr lang="ar" sz="3545" b="1" dirty="0">
                <a:solidFill>
                  <a:srgbClr val="E6F1FF"/>
                </a:solidFill>
                <a:latin typeface="Liter" pitchFamily="34" charset="0"/>
                <a:ea typeface="Liter" pitchFamily="34" charset="-122"/>
                <a:cs typeface="Liter" pitchFamily="34" charset="-120"/>
              </a:rPr>
              <a:t>خارطة طريق التنفيذ</a:t>
            </a:r>
            <a:endParaRPr xmlns:a="http://schemas.openxmlformats.org/drawingml/2006/main" lang="en-US" sz="1600" dirty="0"/>
          </a:p>
        </p:txBody>
      </p:sp>
      <p:sp>
        <p:nvSpPr>
          <p:cNvPr id="4" name="Shape 2"/>
          <p:cNvSpPr/>
          <p:nvPr/>
        </p:nvSpPr>
        <p:spPr>
          <a:xfrm>
            <a:off x="375138" y="1275471"/>
            <a:ext cx="1200443" cy="56271"/>
          </a:xfrm>
          <a:prstGeom prst="roundRect">
            <a:avLst>
              <a:gd name="adj" fmla="val 0"/>
            </a:avLst>
          </a:prstGeom>
          <a:solidFill>
            <a:srgbClr val="D4AF37"/>
          </a:solidFill>
          <a:ln/>
        </p:spPr>
      </p:sp>
      <p:sp>
        <p:nvSpPr>
          <p:cNvPr id="5" name="Shape 3"/>
          <p:cNvSpPr/>
          <p:nvPr/>
        </p:nvSpPr>
        <p:spPr>
          <a:xfrm>
            <a:off x="393895" y="1631852"/>
            <a:ext cx="3591951" cy="3929575"/>
          </a:xfrm>
          <a:custGeom>
            <a:avLst/>
            <a:gdLst/>
            <a:ahLst/>
            <a:cxnLst/>
            <a:rect l="l" t="t" r="r" b="b"/>
            <a:pathLst>
              <a:path w="3591951" h="3929575">
                <a:moveTo>
                  <a:pt x="37465" y="0"/>
                </a:moveTo>
                <a:lnTo>
                  <a:pt x="3441827" y="0"/>
                </a:lnTo>
                <a:cubicBezTo>
                  <a:pt x="3524733" y="0"/>
                  <a:pt x="3591941" y="67208"/>
                  <a:pt x="3591941" y="150114"/>
                </a:cubicBezTo>
                <a:lnTo>
                  <a:pt x="3591941" y="3779520"/>
                </a:lnTo>
                <a:cubicBezTo>
                  <a:pt x="3591941" y="3862426"/>
                  <a:pt x="3524733" y="3929634"/>
                  <a:pt x="3441827" y="3929634"/>
                </a:cubicBezTo>
                <a:lnTo>
                  <a:pt x="37465" y="3929634"/>
                </a:lnTo>
                <a:cubicBezTo>
                  <a:pt x="27507" y="3929634"/>
                  <a:pt x="17958" y="3925669"/>
                  <a:pt x="10928" y="3918616"/>
                </a:cubicBezTo>
                <a:cubicBezTo>
                  <a:pt x="3899" y="3911562"/>
                  <a:pt x="-34" y="3902000"/>
                  <a:pt x="0" y="3892042"/>
                </a:cubicBezTo>
                <a:lnTo>
                  <a:pt x="0" y="37465"/>
                </a:lnTo>
                <a:cubicBezTo>
                  <a:pt x="0" y="16788"/>
                  <a:pt x="16788" y="0"/>
                  <a:pt x="37465" y="0"/>
                </a:cubicBezTo>
                <a:close/>
              </a:path>
            </a:pathLst>
          </a:custGeom>
          <a:gradFill rotWithShape="1" flip="none">
            <a:gsLst>
              <a:gs pos="0">
                <a:srgbClr val="1E3A5F">
                  <a:alpha val="60000"/>
                </a:srgbClr>
              </a:gs>
              <a:gs pos="100000">
                <a:srgbClr val="0A192F">
                  <a:alpha val="40000"/>
                </a:srgbClr>
              </a:gs>
            </a:gsLst>
            <a:lin ang="2700000" scaled="1"/>
          </a:gradFill>
          <a:ln/>
        </p:spPr>
      </p:sp>
      <p:sp>
        <p:nvSpPr>
          <p:cNvPr id="6" name="Shape 4"/>
          <p:cNvSpPr/>
          <p:nvPr/>
        </p:nvSpPr>
        <p:spPr>
          <a:xfrm>
            <a:off x="393895" y="1631852"/>
            <a:ext cx="37514" cy="3929575"/>
          </a:xfrm>
          <a:custGeom>
            <a:avLst/>
            <a:gdLst/>
            <a:ahLst/>
            <a:cxnLst/>
            <a:rect l="l" t="t" r="r" b="b"/>
            <a:pathLst>
              <a:path w="37514" h="3929575">
                <a:moveTo>
                  <a:pt x="37465" y="0"/>
                </a:moveTo>
                <a:lnTo>
                  <a:pt x="37465" y="0"/>
                </a:lnTo>
                <a:lnTo>
                  <a:pt x="37465" y="3929634"/>
                </a:lnTo>
                <a:lnTo>
                  <a:pt x="37465" y="3929634"/>
                </a:lnTo>
                <a:cubicBezTo>
                  <a:pt x="27507" y="3929634"/>
                  <a:pt x="17958" y="3925669"/>
                  <a:pt x="10928" y="3918616"/>
                </a:cubicBezTo>
                <a:cubicBezTo>
                  <a:pt x="3899" y="3911562"/>
                  <a:pt x="-34" y="3902000"/>
                  <a:pt x="0" y="3892042"/>
                </a:cubicBezTo>
                <a:lnTo>
                  <a:pt x="0" y="37465"/>
                </a:lnTo>
                <a:cubicBezTo>
                  <a:pt x="0" y="16788"/>
                  <a:pt x="16788" y="0"/>
                  <a:pt x="37465" y="0"/>
                </a:cubicBezTo>
                <a:close/>
              </a:path>
            </a:pathLst>
          </a:custGeom>
          <a:solidFill>
            <a:srgbClr val="D4AF37"/>
          </a:solidFill>
          <a:ln/>
        </p:spPr>
      </p:sp>
      <p:sp>
        <p:nvSpPr>
          <p:cNvPr id="7" name="Shape 5"/>
          <p:cNvSpPr/>
          <p:nvPr/>
        </p:nvSpPr>
        <p:spPr>
          <a:xfrm>
            <a:off x="712763" y="1931963"/>
            <a:ext cx="750277" cy="750277"/>
          </a:xfrm>
          <a:prstGeom prst="roundRect">
            <a:avLst>
              <a:gd name="adj" fmla="val 50000"/>
            </a:avLst>
          </a:prstGeom>
          <a:solidFill>
            <a:srgbClr val="D4AF37">
              <a:alpha val="20000"/>
            </a:srgbClr>
          </a:solidFill>
          <a:ln/>
        </p:spPr>
      </p:sp>
      <p:sp>
        <p:nvSpPr>
          <p:cNvPr id="8" name="Text 6"/>
          <p:cNvSpPr/>
          <p:nvPr/>
        </p:nvSpPr>
        <p:spPr>
          <a:xfrm>
            <a:off x="912642" y="2119532"/>
            <a:ext cx="515815" cy="375138"/>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658" b="1" dirty="0">
                <a:solidFill>
                  <a:srgbClr val="D4AF37"/>
                </a:solidFill>
                <a:latin typeface="Liter" pitchFamily="34" charset="0"/>
                <a:ea typeface="Liter" pitchFamily="34" charset="-122"/>
                <a:cs typeface="Liter" pitchFamily="34" charset="-120"/>
              </a:rPr>
              <a:t>01</a:t>
            </a:r>
            <a:endParaRPr xmlns:a="http://schemas.openxmlformats.org/drawingml/2006/main" lang="en-US" sz="1600" dirty="0"/>
          </a:p>
        </p:txBody>
      </p:sp>
      <p:sp>
        <p:nvSpPr>
          <p:cNvPr id="9" name="Text 7"/>
          <p:cNvSpPr/>
          <p:nvPr/>
        </p:nvSpPr>
        <p:spPr>
          <a:xfrm>
            <a:off x="1613095" y="1955409"/>
            <a:ext cx="1631852" cy="703385"/>
          </a:xfrm>
          <a:prstGeom prst="rect">
            <a:avLst/>
          </a:prstGeom>
          <a:noFill/>
          <a:ln/>
        </p:spPr>
        <p:txBody>
          <a:bodyPr wrap="square" lIns="0" tIns="0" rIns="0" bIns="0" rtlCol="0" anchor="ctr"/>
          <a:lstStyle/>
          <a:p>
            <a:pPr xmlns:a="http://schemas.openxmlformats.org/drawingml/2006/main">
              <a:lnSpc>
                <a:spcPct val="100000"/>
              </a:lnSpc>
              <a:bidi/>
            </a:pPr>
            <a:r xmlns:a="http://schemas.openxmlformats.org/drawingml/2006/main">
              <a:rPr lang="ar" sz="2215" b="1" dirty="0">
                <a:solidFill>
                  <a:srgbClr val="E6F1FF"/>
                </a:solidFill>
                <a:latin typeface="Liter" pitchFamily="34" charset="0"/>
                <a:ea typeface="Liter" pitchFamily="34" charset="-122"/>
                <a:cs typeface="Liter" pitchFamily="34" charset="-120"/>
              </a:rPr>
              <a:t>سوق</a:t>
            </a:r>
            <a:endParaRPr xmlns:a="http://schemas.openxmlformats.org/drawingml/2006/main" lang="en-US" sz="1600" dirty="0"/>
          </a:p>
          <a:p>
            <a:pPr xmlns:a="http://schemas.openxmlformats.org/drawingml/2006/main">
              <a:lnSpc>
                <a:spcPct val="100000"/>
              </a:lnSpc>
              <a:bidi/>
            </a:pPr>
            <a:r xmlns:a="http://schemas.openxmlformats.org/drawingml/2006/main">
              <a:rPr lang="ar" sz="2215" b="1" dirty="0">
                <a:solidFill>
                  <a:srgbClr val="E6F1FF"/>
                </a:solidFill>
                <a:latin typeface="Liter" pitchFamily="34" charset="0"/>
                <a:ea typeface="Liter" pitchFamily="34" charset="-122"/>
                <a:cs typeface="Liter" pitchFamily="34" charset="-120"/>
              </a:rPr>
              <a:t>فرصة</a:t>
            </a:r>
            <a:endParaRPr xmlns:a="http://schemas.openxmlformats.org/drawingml/2006/main" lang="en-US" sz="1600" dirty="0"/>
          </a:p>
        </p:txBody>
      </p:sp>
      <p:sp>
        <p:nvSpPr>
          <p:cNvPr id="10" name="Shape 8"/>
          <p:cNvSpPr/>
          <p:nvPr/>
        </p:nvSpPr>
        <p:spPr>
          <a:xfrm>
            <a:off x="736209" y="3038622"/>
            <a:ext cx="187569" cy="187569"/>
          </a:xfrm>
          <a:custGeom>
            <a:avLst/>
            <a:gdLst/>
            <a:ahLst/>
            <a:cxnLst/>
            <a:rect l="l" t="t" r="r" b="b"/>
            <a:pathLst>
              <a:path w="187569" h="187569">
                <a:moveTo>
                  <a:pt x="23446" y="23446"/>
                </a:moveTo>
                <a:cubicBezTo>
                  <a:pt x="23446" y="16962"/>
                  <a:pt x="18207" y="11723"/>
                  <a:pt x="11723" y="11723"/>
                </a:cubicBezTo>
                <a:cubicBezTo>
                  <a:pt x="5239" y="11723"/>
                  <a:pt x="0" y="16962"/>
                  <a:pt x="0" y="23446"/>
                </a:cubicBezTo>
                <a:lnTo>
                  <a:pt x="0" y="146538"/>
                </a:lnTo>
                <a:cubicBezTo>
                  <a:pt x="0" y="162731"/>
                  <a:pt x="13115" y="175846"/>
                  <a:pt x="29308" y="175846"/>
                </a:cubicBezTo>
                <a:lnTo>
                  <a:pt x="175846" y="175846"/>
                </a:lnTo>
                <a:cubicBezTo>
                  <a:pt x="182330" y="175846"/>
                  <a:pt x="187569" y="170607"/>
                  <a:pt x="187569" y="164123"/>
                </a:cubicBezTo>
                <a:cubicBezTo>
                  <a:pt x="187569" y="157639"/>
                  <a:pt x="182330" y="152400"/>
                  <a:pt x="175846" y="152400"/>
                </a:cubicBezTo>
                <a:lnTo>
                  <a:pt x="29308" y="152400"/>
                </a:lnTo>
                <a:cubicBezTo>
                  <a:pt x="26084" y="152400"/>
                  <a:pt x="23446" y="149762"/>
                  <a:pt x="23446" y="146538"/>
                </a:cubicBezTo>
                <a:lnTo>
                  <a:pt x="23446" y="23446"/>
                </a:lnTo>
                <a:close/>
                <a:moveTo>
                  <a:pt x="172403" y="55172"/>
                </a:moveTo>
                <a:cubicBezTo>
                  <a:pt x="176982" y="50592"/>
                  <a:pt x="176982" y="43156"/>
                  <a:pt x="172403" y="38576"/>
                </a:cubicBezTo>
                <a:cubicBezTo>
                  <a:pt x="167823" y="33997"/>
                  <a:pt x="160386" y="33997"/>
                  <a:pt x="155807" y="38576"/>
                </a:cubicBezTo>
                <a:lnTo>
                  <a:pt x="117231" y="77189"/>
                </a:lnTo>
                <a:lnTo>
                  <a:pt x="96203" y="56198"/>
                </a:lnTo>
                <a:cubicBezTo>
                  <a:pt x="91623" y="51618"/>
                  <a:pt x="84186" y="51618"/>
                  <a:pt x="79607" y="56198"/>
                </a:cubicBezTo>
                <a:lnTo>
                  <a:pt x="44438" y="91367"/>
                </a:lnTo>
                <a:cubicBezTo>
                  <a:pt x="39858" y="95946"/>
                  <a:pt x="39858" y="103383"/>
                  <a:pt x="44438" y="107962"/>
                </a:cubicBezTo>
                <a:cubicBezTo>
                  <a:pt x="49017" y="112542"/>
                  <a:pt x="56454" y="112542"/>
                  <a:pt x="61033" y="107962"/>
                </a:cubicBezTo>
                <a:lnTo>
                  <a:pt x="87923" y="81072"/>
                </a:lnTo>
                <a:lnTo>
                  <a:pt x="108951" y="102101"/>
                </a:lnTo>
                <a:cubicBezTo>
                  <a:pt x="113531" y="106680"/>
                  <a:pt x="120968" y="106680"/>
                  <a:pt x="125547" y="102101"/>
                </a:cubicBezTo>
                <a:lnTo>
                  <a:pt x="172439" y="55208"/>
                </a:lnTo>
                <a:close/>
              </a:path>
            </a:pathLst>
          </a:custGeom>
          <a:solidFill>
            <a:srgbClr val="64FFDA"/>
          </a:solidFill>
          <a:ln/>
        </p:spPr>
      </p:sp>
      <p:sp>
        <p:nvSpPr>
          <p:cNvPr id="11" name="Text 9"/>
          <p:cNvSpPr/>
          <p:nvPr/>
        </p:nvSpPr>
        <p:spPr>
          <a:xfrm>
            <a:off x="1059766" y="2982351"/>
            <a:ext cx="2719754" cy="60960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تحليل فجوة سوق إطالة العمر في منطقة الشرق الأوسط وشمال أفريقيا</a:t>
            </a:r>
            <a:endParaRPr xmlns:a="http://schemas.openxmlformats.org/drawingml/2006/main" lang="en-US" sz="1600" dirty="0"/>
          </a:p>
        </p:txBody>
      </p:sp>
      <p:sp>
        <p:nvSpPr>
          <p:cNvPr id="12" name="Shape 10"/>
          <p:cNvSpPr/>
          <p:nvPr/>
        </p:nvSpPr>
        <p:spPr>
          <a:xfrm>
            <a:off x="712763" y="3873305"/>
            <a:ext cx="234462" cy="187569"/>
          </a:xfrm>
          <a:custGeom>
            <a:avLst/>
            <a:gdLst/>
            <a:ahLst/>
            <a:cxnLst/>
            <a:rect l="l" t="t" r="r" b="b"/>
            <a:pathLst>
              <a:path w="234462" h="187569">
                <a:moveTo>
                  <a:pt x="117231" y="5862"/>
                </a:moveTo>
                <a:cubicBezTo>
                  <a:pt x="138259" y="5862"/>
                  <a:pt x="155331" y="22934"/>
                  <a:pt x="155331" y="43962"/>
                </a:cubicBezTo>
                <a:cubicBezTo>
                  <a:pt x="155331" y="64990"/>
                  <a:pt x="138259" y="82062"/>
                  <a:pt x="117231" y="82062"/>
                </a:cubicBezTo>
                <a:cubicBezTo>
                  <a:pt x="96203" y="82062"/>
                  <a:pt x="79131" y="64990"/>
                  <a:pt x="79131" y="43962"/>
                </a:cubicBezTo>
                <a:cubicBezTo>
                  <a:pt x="79131" y="22934"/>
                  <a:pt x="96203" y="5862"/>
                  <a:pt x="117231" y="5862"/>
                </a:cubicBezTo>
                <a:close/>
                <a:moveTo>
                  <a:pt x="35169" y="32238"/>
                </a:moveTo>
                <a:cubicBezTo>
                  <a:pt x="49727" y="32238"/>
                  <a:pt x="61546" y="44058"/>
                  <a:pt x="61546" y="58615"/>
                </a:cubicBezTo>
                <a:cubicBezTo>
                  <a:pt x="61546" y="73173"/>
                  <a:pt x="49727" y="84992"/>
                  <a:pt x="35169" y="84992"/>
                </a:cubicBezTo>
                <a:cubicBezTo>
                  <a:pt x="20611" y="84992"/>
                  <a:pt x="8792" y="73173"/>
                  <a:pt x="8792" y="58615"/>
                </a:cubicBezTo>
                <a:cubicBezTo>
                  <a:pt x="8792" y="44058"/>
                  <a:pt x="20611" y="32238"/>
                  <a:pt x="35169" y="32238"/>
                </a:cubicBezTo>
                <a:close/>
                <a:moveTo>
                  <a:pt x="0" y="152400"/>
                </a:moveTo>
                <a:cubicBezTo>
                  <a:pt x="0" y="126499"/>
                  <a:pt x="20992" y="105508"/>
                  <a:pt x="46892" y="105508"/>
                </a:cubicBezTo>
                <a:cubicBezTo>
                  <a:pt x="51582" y="105508"/>
                  <a:pt x="56124" y="106204"/>
                  <a:pt x="60410" y="107486"/>
                </a:cubicBezTo>
                <a:cubicBezTo>
                  <a:pt x="48358" y="120968"/>
                  <a:pt x="41031" y="138772"/>
                  <a:pt x="41031" y="158262"/>
                </a:cubicBezTo>
                <a:lnTo>
                  <a:pt x="41031" y="164123"/>
                </a:lnTo>
                <a:cubicBezTo>
                  <a:pt x="41031" y="168299"/>
                  <a:pt x="41910" y="172256"/>
                  <a:pt x="43485" y="175846"/>
                </a:cubicBezTo>
                <a:lnTo>
                  <a:pt x="11723" y="175846"/>
                </a:lnTo>
                <a:cubicBezTo>
                  <a:pt x="5239" y="175846"/>
                  <a:pt x="0" y="170607"/>
                  <a:pt x="0" y="164123"/>
                </a:cubicBezTo>
                <a:lnTo>
                  <a:pt x="0" y="152400"/>
                </a:lnTo>
                <a:close/>
                <a:moveTo>
                  <a:pt x="190976" y="175846"/>
                </a:moveTo>
                <a:cubicBezTo>
                  <a:pt x="192552" y="172256"/>
                  <a:pt x="193431" y="168299"/>
                  <a:pt x="193431" y="164123"/>
                </a:cubicBezTo>
                <a:lnTo>
                  <a:pt x="193431" y="158262"/>
                </a:lnTo>
                <a:cubicBezTo>
                  <a:pt x="193431" y="138772"/>
                  <a:pt x="186104" y="120968"/>
                  <a:pt x="174051" y="107486"/>
                </a:cubicBezTo>
                <a:cubicBezTo>
                  <a:pt x="178337" y="106204"/>
                  <a:pt x="182880" y="105508"/>
                  <a:pt x="187569" y="105508"/>
                </a:cubicBezTo>
                <a:cubicBezTo>
                  <a:pt x="213470" y="105508"/>
                  <a:pt x="234462" y="126499"/>
                  <a:pt x="234462" y="152400"/>
                </a:cubicBezTo>
                <a:lnTo>
                  <a:pt x="234462" y="164123"/>
                </a:lnTo>
                <a:cubicBezTo>
                  <a:pt x="234462" y="170607"/>
                  <a:pt x="229223" y="175846"/>
                  <a:pt x="222738" y="175846"/>
                </a:cubicBezTo>
                <a:lnTo>
                  <a:pt x="190976" y="175846"/>
                </a:lnTo>
                <a:close/>
                <a:moveTo>
                  <a:pt x="172915" y="58615"/>
                </a:moveTo>
                <a:cubicBezTo>
                  <a:pt x="172915" y="44058"/>
                  <a:pt x="184734" y="32238"/>
                  <a:pt x="199292" y="32238"/>
                </a:cubicBezTo>
                <a:cubicBezTo>
                  <a:pt x="213850" y="32238"/>
                  <a:pt x="225669" y="44058"/>
                  <a:pt x="225669" y="58615"/>
                </a:cubicBezTo>
                <a:cubicBezTo>
                  <a:pt x="225669" y="73173"/>
                  <a:pt x="213850" y="84992"/>
                  <a:pt x="199292" y="84992"/>
                </a:cubicBezTo>
                <a:cubicBezTo>
                  <a:pt x="184734" y="84992"/>
                  <a:pt x="172915" y="73173"/>
                  <a:pt x="172915" y="58615"/>
                </a:cubicBezTo>
                <a:close/>
                <a:moveTo>
                  <a:pt x="58615" y="158262"/>
                </a:moveTo>
                <a:cubicBezTo>
                  <a:pt x="58615" y="125877"/>
                  <a:pt x="84846" y="99646"/>
                  <a:pt x="117231" y="99646"/>
                </a:cubicBezTo>
                <a:cubicBezTo>
                  <a:pt x="149616" y="99646"/>
                  <a:pt x="175846" y="125877"/>
                  <a:pt x="175846" y="158262"/>
                </a:cubicBezTo>
                <a:lnTo>
                  <a:pt x="175846" y="164123"/>
                </a:lnTo>
                <a:cubicBezTo>
                  <a:pt x="175846" y="170607"/>
                  <a:pt x="170607" y="175846"/>
                  <a:pt x="164123" y="175846"/>
                </a:cubicBezTo>
                <a:lnTo>
                  <a:pt x="70338" y="175846"/>
                </a:lnTo>
                <a:cubicBezTo>
                  <a:pt x="63854" y="175846"/>
                  <a:pt x="58615" y="170607"/>
                  <a:pt x="58615" y="164123"/>
                </a:cubicBezTo>
                <a:lnTo>
                  <a:pt x="58615" y="158262"/>
                </a:lnTo>
                <a:close/>
              </a:path>
            </a:pathLst>
          </a:custGeom>
          <a:solidFill>
            <a:srgbClr val="64FFDA"/>
          </a:solidFill>
          <a:ln/>
        </p:spPr>
      </p:sp>
      <p:sp>
        <p:nvSpPr>
          <p:cNvPr id="13" name="Text 11"/>
          <p:cNvSpPr/>
          <p:nvPr/>
        </p:nvSpPr>
        <p:spPr>
          <a:xfrm>
            <a:off x="1059766" y="3817034"/>
            <a:ext cx="2719754" cy="60960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إعادة تعريف الفئة الديموغرافية المستهدفة</a:t>
            </a:r>
            <a:endParaRPr xmlns:a="http://schemas.openxmlformats.org/drawingml/2006/main" lang="en-US" sz="1600" dirty="0"/>
          </a:p>
        </p:txBody>
      </p:sp>
      <p:sp>
        <p:nvSpPr>
          <p:cNvPr id="14" name="Shape 12"/>
          <p:cNvSpPr/>
          <p:nvPr/>
        </p:nvSpPr>
        <p:spPr>
          <a:xfrm>
            <a:off x="736209" y="4707988"/>
            <a:ext cx="187569" cy="187569"/>
          </a:xfrm>
          <a:custGeom>
            <a:avLst/>
            <a:gdLst/>
            <a:ahLst/>
            <a:cxnLst/>
            <a:rect l="l" t="t" r="r" b="b"/>
            <a:pathLst>
              <a:path w="187569" h="187569">
                <a:moveTo>
                  <a:pt x="164123" y="93785"/>
                </a:moveTo>
                <a:cubicBezTo>
                  <a:pt x="164123" y="54964"/>
                  <a:pt x="132605" y="23446"/>
                  <a:pt x="93785" y="23446"/>
                </a:cubicBezTo>
                <a:cubicBezTo>
                  <a:pt x="54964" y="23446"/>
                  <a:pt x="23446" y="54964"/>
                  <a:pt x="23446" y="93785"/>
                </a:cubicBezTo>
                <a:cubicBezTo>
                  <a:pt x="23446" y="132605"/>
                  <a:pt x="54964" y="164123"/>
                  <a:pt x="93785" y="164123"/>
                </a:cubicBezTo>
                <a:cubicBezTo>
                  <a:pt x="132605" y="164123"/>
                  <a:pt x="164123" y="132605"/>
                  <a:pt x="164123" y="93785"/>
                </a:cubicBezTo>
                <a:close/>
                <a:moveTo>
                  <a:pt x="0" y="93785"/>
                </a:moveTo>
                <a:cubicBezTo>
                  <a:pt x="0" y="42023"/>
                  <a:pt x="42023" y="0"/>
                  <a:pt x="93785" y="0"/>
                </a:cubicBezTo>
                <a:cubicBezTo>
                  <a:pt x="145546" y="0"/>
                  <a:pt x="187569" y="42023"/>
                  <a:pt x="187569" y="93785"/>
                </a:cubicBezTo>
                <a:cubicBezTo>
                  <a:pt x="187569" y="145546"/>
                  <a:pt x="145546" y="187569"/>
                  <a:pt x="93785" y="187569"/>
                </a:cubicBezTo>
                <a:cubicBezTo>
                  <a:pt x="42023" y="187569"/>
                  <a:pt x="0" y="145546"/>
                  <a:pt x="0" y="93785"/>
                </a:cubicBezTo>
                <a:close/>
                <a:moveTo>
                  <a:pt x="93785" y="123092"/>
                </a:moveTo>
                <a:cubicBezTo>
                  <a:pt x="109960" y="123092"/>
                  <a:pt x="123092" y="109960"/>
                  <a:pt x="123092" y="93785"/>
                </a:cubicBezTo>
                <a:cubicBezTo>
                  <a:pt x="123092" y="77609"/>
                  <a:pt x="109960" y="64477"/>
                  <a:pt x="93785" y="64477"/>
                </a:cubicBezTo>
                <a:cubicBezTo>
                  <a:pt x="77609" y="64477"/>
                  <a:pt x="64477" y="77609"/>
                  <a:pt x="64477" y="93785"/>
                </a:cubicBezTo>
                <a:cubicBezTo>
                  <a:pt x="64477" y="109960"/>
                  <a:pt x="77609" y="123092"/>
                  <a:pt x="93785" y="123092"/>
                </a:cubicBezTo>
                <a:close/>
                <a:moveTo>
                  <a:pt x="93785" y="41031"/>
                </a:moveTo>
                <a:cubicBezTo>
                  <a:pt x="122900" y="41031"/>
                  <a:pt x="146538" y="64669"/>
                  <a:pt x="146538" y="93785"/>
                </a:cubicBezTo>
                <a:cubicBezTo>
                  <a:pt x="146538" y="122900"/>
                  <a:pt x="122900" y="146538"/>
                  <a:pt x="93785" y="146538"/>
                </a:cubicBezTo>
                <a:cubicBezTo>
                  <a:pt x="64669" y="146538"/>
                  <a:pt x="41031" y="122900"/>
                  <a:pt x="41031" y="93785"/>
                </a:cubicBezTo>
                <a:cubicBezTo>
                  <a:pt x="41031" y="64669"/>
                  <a:pt x="64669" y="41031"/>
                  <a:pt x="93785" y="41031"/>
                </a:cubicBezTo>
                <a:close/>
                <a:moveTo>
                  <a:pt x="82062" y="93785"/>
                </a:moveTo>
                <a:cubicBezTo>
                  <a:pt x="82062" y="87314"/>
                  <a:pt x="87314" y="82062"/>
                  <a:pt x="93785" y="82062"/>
                </a:cubicBezTo>
                <a:cubicBezTo>
                  <a:pt x="100255" y="82062"/>
                  <a:pt x="105508" y="87314"/>
                  <a:pt x="105508" y="93785"/>
                </a:cubicBezTo>
                <a:cubicBezTo>
                  <a:pt x="105508" y="100255"/>
                  <a:pt x="100255" y="105508"/>
                  <a:pt x="93785" y="105508"/>
                </a:cubicBezTo>
                <a:cubicBezTo>
                  <a:pt x="87314" y="105508"/>
                  <a:pt x="82062" y="100255"/>
                  <a:pt x="82062" y="93785"/>
                </a:cubicBezTo>
                <a:close/>
              </a:path>
            </a:pathLst>
          </a:custGeom>
          <a:solidFill>
            <a:srgbClr val="64FFDA"/>
          </a:solidFill>
          <a:ln/>
        </p:spPr>
      </p:sp>
      <p:sp>
        <p:nvSpPr>
          <p:cNvPr id="15" name="Text 13"/>
          <p:cNvSpPr/>
          <p:nvPr/>
        </p:nvSpPr>
        <p:spPr>
          <a:xfrm>
            <a:off x="1059766" y="4651717"/>
            <a:ext cx="2719754" cy="60960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التموضع الاستراتيجي لتحقيق أقصى قيمة للعميل</a:t>
            </a:r>
            <a:endParaRPr xmlns:a="http://schemas.openxmlformats.org/drawingml/2006/main" lang="en-US" sz="1600" dirty="0"/>
          </a:p>
        </p:txBody>
      </p:sp>
      <p:sp>
        <p:nvSpPr>
          <p:cNvPr id="16" name="Shape 14"/>
          <p:cNvSpPr/>
          <p:nvPr/>
        </p:nvSpPr>
        <p:spPr>
          <a:xfrm>
            <a:off x="4306399" y="1631852"/>
            <a:ext cx="3591951" cy="3929575"/>
          </a:xfrm>
          <a:custGeom>
            <a:avLst/>
            <a:gdLst/>
            <a:ahLst/>
            <a:cxnLst/>
            <a:rect l="l" t="t" r="r" b="b"/>
            <a:pathLst>
              <a:path w="3591951" h="3929575">
                <a:moveTo>
                  <a:pt x="37465" y="0"/>
                </a:moveTo>
                <a:lnTo>
                  <a:pt x="3441827" y="0"/>
                </a:lnTo>
                <a:cubicBezTo>
                  <a:pt x="3524733" y="0"/>
                  <a:pt x="3591941" y="67208"/>
                  <a:pt x="3591941" y="150114"/>
                </a:cubicBezTo>
                <a:lnTo>
                  <a:pt x="3591941" y="3779520"/>
                </a:lnTo>
                <a:cubicBezTo>
                  <a:pt x="3591941" y="3862426"/>
                  <a:pt x="3524733" y="3929634"/>
                  <a:pt x="3441827" y="3929634"/>
                </a:cubicBezTo>
                <a:lnTo>
                  <a:pt x="37465" y="3929634"/>
                </a:lnTo>
                <a:cubicBezTo>
                  <a:pt x="27507" y="3929634"/>
                  <a:pt x="17958" y="3925669"/>
                  <a:pt x="10928" y="3918616"/>
                </a:cubicBezTo>
                <a:cubicBezTo>
                  <a:pt x="3899" y="3911562"/>
                  <a:pt x="-34" y="3902000"/>
                  <a:pt x="0" y="3892042"/>
                </a:cubicBezTo>
                <a:lnTo>
                  <a:pt x="0" y="37465"/>
                </a:lnTo>
                <a:cubicBezTo>
                  <a:pt x="0" y="16788"/>
                  <a:pt x="16788" y="0"/>
                  <a:pt x="37465" y="0"/>
                </a:cubicBezTo>
                <a:close/>
              </a:path>
            </a:pathLst>
          </a:custGeom>
          <a:gradFill rotWithShape="1" flip="none">
            <a:gsLst>
              <a:gs pos="0">
                <a:srgbClr val="1E3A5F">
                  <a:alpha val="60000"/>
                </a:srgbClr>
              </a:gs>
              <a:gs pos="100000">
                <a:srgbClr val="0A192F">
                  <a:alpha val="40000"/>
                </a:srgbClr>
              </a:gs>
            </a:gsLst>
            <a:lin ang="2700000" scaled="1"/>
          </a:gradFill>
          <a:ln/>
        </p:spPr>
      </p:sp>
      <p:sp>
        <p:nvSpPr>
          <p:cNvPr id="17" name="Shape 15"/>
          <p:cNvSpPr/>
          <p:nvPr/>
        </p:nvSpPr>
        <p:spPr>
          <a:xfrm>
            <a:off x="4306399" y="1631852"/>
            <a:ext cx="37514" cy="3929575"/>
          </a:xfrm>
          <a:custGeom>
            <a:avLst/>
            <a:gdLst/>
            <a:ahLst/>
            <a:cxnLst/>
            <a:rect l="l" t="t" r="r" b="b"/>
            <a:pathLst>
              <a:path w="37514" h="3929575">
                <a:moveTo>
                  <a:pt x="37465" y="0"/>
                </a:moveTo>
                <a:lnTo>
                  <a:pt x="37465" y="0"/>
                </a:lnTo>
                <a:lnTo>
                  <a:pt x="37465" y="3929634"/>
                </a:lnTo>
                <a:lnTo>
                  <a:pt x="37465" y="3929634"/>
                </a:lnTo>
                <a:cubicBezTo>
                  <a:pt x="27507" y="3929634"/>
                  <a:pt x="17958" y="3925669"/>
                  <a:pt x="10928" y="3918616"/>
                </a:cubicBezTo>
                <a:cubicBezTo>
                  <a:pt x="3899" y="3911562"/>
                  <a:pt x="-34" y="3902000"/>
                  <a:pt x="0" y="3892042"/>
                </a:cubicBezTo>
                <a:lnTo>
                  <a:pt x="0" y="37465"/>
                </a:lnTo>
                <a:cubicBezTo>
                  <a:pt x="0" y="16788"/>
                  <a:pt x="16788" y="0"/>
                  <a:pt x="37465" y="0"/>
                </a:cubicBezTo>
                <a:close/>
              </a:path>
            </a:pathLst>
          </a:custGeom>
          <a:solidFill>
            <a:srgbClr val="64FFDA"/>
          </a:solidFill>
          <a:ln/>
        </p:spPr>
      </p:sp>
      <p:sp>
        <p:nvSpPr>
          <p:cNvPr id="18" name="Shape 16"/>
          <p:cNvSpPr/>
          <p:nvPr/>
        </p:nvSpPr>
        <p:spPr>
          <a:xfrm>
            <a:off x="4625267" y="1931963"/>
            <a:ext cx="750277" cy="750277"/>
          </a:xfrm>
          <a:prstGeom prst="roundRect">
            <a:avLst>
              <a:gd name="adj" fmla="val 50000"/>
            </a:avLst>
          </a:prstGeom>
          <a:solidFill>
            <a:srgbClr val="64FFDA">
              <a:alpha val="20000"/>
            </a:srgbClr>
          </a:solidFill>
          <a:ln/>
        </p:spPr>
      </p:sp>
      <p:sp>
        <p:nvSpPr>
          <p:cNvPr id="19" name="Text 17"/>
          <p:cNvSpPr/>
          <p:nvPr/>
        </p:nvSpPr>
        <p:spPr>
          <a:xfrm>
            <a:off x="4794592" y="2119532"/>
            <a:ext cx="581465" cy="375138"/>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658" b="1" dirty="0">
                <a:solidFill>
                  <a:srgbClr val="64FFDA"/>
                </a:solidFill>
                <a:latin typeface="Liter" pitchFamily="34" charset="0"/>
                <a:ea typeface="Liter" pitchFamily="34" charset="-122"/>
                <a:cs typeface="Liter" pitchFamily="34" charset="-120"/>
              </a:rPr>
              <a:t>02</a:t>
            </a:r>
            <a:endParaRPr xmlns:a="http://schemas.openxmlformats.org/drawingml/2006/main" lang="en-US" sz="1600" dirty="0"/>
          </a:p>
        </p:txBody>
      </p:sp>
      <p:sp>
        <p:nvSpPr>
          <p:cNvPr id="20" name="Text 18"/>
          <p:cNvSpPr/>
          <p:nvPr/>
        </p:nvSpPr>
        <p:spPr>
          <a:xfrm>
            <a:off x="5525599" y="1955409"/>
            <a:ext cx="1613095" cy="703385"/>
          </a:xfrm>
          <a:prstGeom prst="rect">
            <a:avLst/>
          </a:prstGeom>
          <a:noFill/>
          <a:ln/>
        </p:spPr>
        <p:txBody>
          <a:bodyPr wrap="square" lIns="0" tIns="0" rIns="0" bIns="0" rtlCol="0" anchor="ctr"/>
          <a:lstStyle/>
          <a:p>
            <a:pPr xmlns:a="http://schemas.openxmlformats.org/drawingml/2006/main">
              <a:lnSpc>
                <a:spcPct val="100000"/>
              </a:lnSpc>
              <a:bidi/>
            </a:pPr>
            <a:r xmlns:a="http://schemas.openxmlformats.org/drawingml/2006/main">
              <a:rPr lang="ar" sz="2215" b="1" dirty="0">
                <a:solidFill>
                  <a:srgbClr val="E6F1FF"/>
                </a:solidFill>
                <a:latin typeface="Liter" pitchFamily="34" charset="0"/>
                <a:ea typeface="Liter" pitchFamily="34" charset="-122"/>
                <a:cs typeface="Liter" pitchFamily="34" charset="-120"/>
              </a:rPr>
              <a:t>متعدد الزوايا</a:t>
            </a:r>
            <a:endParaRPr xmlns:a="http://schemas.openxmlformats.org/drawingml/2006/main" lang="en-US" sz="1600" dirty="0"/>
          </a:p>
          <a:p>
            <a:pPr xmlns:a="http://schemas.openxmlformats.org/drawingml/2006/main">
              <a:lnSpc>
                <a:spcPct val="100000"/>
              </a:lnSpc>
              <a:bidi/>
            </a:pPr>
            <a:r xmlns:a="http://schemas.openxmlformats.org/drawingml/2006/main">
              <a:rPr lang="ar" sz="2215" b="1" dirty="0">
                <a:solidFill>
                  <a:srgbClr val="E6F1FF"/>
                </a:solidFill>
                <a:latin typeface="Liter" pitchFamily="34" charset="0"/>
                <a:ea typeface="Liter" pitchFamily="34" charset="-122"/>
                <a:cs typeface="Liter" pitchFamily="34" charset="-120"/>
              </a:rPr>
              <a:t>تنفيذ</a:t>
            </a:r>
            <a:endParaRPr xmlns:a="http://schemas.openxmlformats.org/drawingml/2006/main" lang="en-US" sz="1600" dirty="0"/>
          </a:p>
        </p:txBody>
      </p:sp>
      <p:sp>
        <p:nvSpPr>
          <p:cNvPr id="21" name="Shape 19"/>
          <p:cNvSpPr/>
          <p:nvPr/>
        </p:nvSpPr>
        <p:spPr>
          <a:xfrm>
            <a:off x="4648713" y="3038622"/>
            <a:ext cx="187569" cy="187569"/>
          </a:xfrm>
          <a:custGeom>
            <a:avLst/>
            <a:gdLst/>
            <a:ahLst/>
            <a:cxnLst/>
            <a:rect l="l" t="t" r="r" b="b"/>
            <a:pathLst>
              <a:path w="187569" h="187569">
                <a:moveTo>
                  <a:pt x="46892" y="117231"/>
                </a:moveTo>
                <a:lnTo>
                  <a:pt x="8975" y="117231"/>
                </a:lnTo>
                <a:cubicBezTo>
                  <a:pt x="-147" y="117231"/>
                  <a:pt x="-5752" y="107303"/>
                  <a:pt x="-1062" y="99463"/>
                </a:cubicBezTo>
                <a:lnTo>
                  <a:pt x="18317" y="67151"/>
                </a:lnTo>
                <a:cubicBezTo>
                  <a:pt x="21505" y="61839"/>
                  <a:pt x="27220" y="58615"/>
                  <a:pt x="33411" y="58615"/>
                </a:cubicBezTo>
                <a:lnTo>
                  <a:pt x="68214" y="58615"/>
                </a:lnTo>
                <a:cubicBezTo>
                  <a:pt x="96093" y="11393"/>
                  <a:pt x="137673" y="9012"/>
                  <a:pt x="165479" y="13079"/>
                </a:cubicBezTo>
                <a:cubicBezTo>
                  <a:pt x="170168" y="13775"/>
                  <a:pt x="173831" y="17438"/>
                  <a:pt x="174491" y="22091"/>
                </a:cubicBezTo>
                <a:cubicBezTo>
                  <a:pt x="178557" y="49896"/>
                  <a:pt x="176176" y="91477"/>
                  <a:pt x="128954" y="119356"/>
                </a:cubicBezTo>
                <a:lnTo>
                  <a:pt x="128954" y="154158"/>
                </a:lnTo>
                <a:cubicBezTo>
                  <a:pt x="128954" y="160350"/>
                  <a:pt x="125730" y="166065"/>
                  <a:pt x="120418" y="169252"/>
                </a:cubicBezTo>
                <a:lnTo>
                  <a:pt x="88106" y="188632"/>
                </a:lnTo>
                <a:cubicBezTo>
                  <a:pt x="80303" y="193321"/>
                  <a:pt x="70338" y="187679"/>
                  <a:pt x="70338" y="178594"/>
                </a:cubicBezTo>
                <a:lnTo>
                  <a:pt x="70338" y="140677"/>
                </a:lnTo>
                <a:cubicBezTo>
                  <a:pt x="70338" y="127745"/>
                  <a:pt x="59824" y="117231"/>
                  <a:pt x="46892" y="117231"/>
                </a:cubicBezTo>
                <a:lnTo>
                  <a:pt x="46856" y="117231"/>
                </a:lnTo>
                <a:close/>
                <a:moveTo>
                  <a:pt x="146538" y="58615"/>
                </a:moveTo>
                <a:cubicBezTo>
                  <a:pt x="146538" y="48910"/>
                  <a:pt x="138659" y="41031"/>
                  <a:pt x="128954" y="41031"/>
                </a:cubicBezTo>
                <a:cubicBezTo>
                  <a:pt x="119249" y="41031"/>
                  <a:pt x="111369" y="48910"/>
                  <a:pt x="111369" y="58615"/>
                </a:cubicBezTo>
                <a:cubicBezTo>
                  <a:pt x="111369" y="68321"/>
                  <a:pt x="119249" y="76200"/>
                  <a:pt x="128954" y="76200"/>
                </a:cubicBezTo>
                <a:cubicBezTo>
                  <a:pt x="138659" y="76200"/>
                  <a:pt x="146538" y="68321"/>
                  <a:pt x="146538" y="58615"/>
                </a:cubicBezTo>
                <a:close/>
              </a:path>
            </a:pathLst>
          </a:custGeom>
          <a:solidFill>
            <a:srgbClr val="D4AF37"/>
          </a:solidFill>
          <a:ln/>
        </p:spPr>
      </p:sp>
      <p:sp>
        <p:nvSpPr>
          <p:cNvPr id="22" name="Text 20"/>
          <p:cNvSpPr/>
          <p:nvPr/>
        </p:nvSpPr>
        <p:spPr>
          <a:xfrm>
            <a:off x="4972270" y="2982351"/>
            <a:ext cx="2719754" cy="60960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المرحلة الأولى: الإعداد القائم على الربح أولاً (الأيام من 1 إلى 7)</a:t>
            </a:r>
            <a:endParaRPr xmlns:a="http://schemas.openxmlformats.org/drawingml/2006/main" lang="en-US" sz="1600" dirty="0"/>
          </a:p>
        </p:txBody>
      </p:sp>
      <p:sp>
        <p:nvSpPr>
          <p:cNvPr id="23" name="Shape 21"/>
          <p:cNvSpPr/>
          <p:nvPr/>
        </p:nvSpPr>
        <p:spPr>
          <a:xfrm>
            <a:off x="4648713" y="3873305"/>
            <a:ext cx="187569" cy="187569"/>
          </a:xfrm>
          <a:custGeom>
            <a:avLst/>
            <a:gdLst/>
            <a:ahLst/>
            <a:cxnLst/>
            <a:rect l="l" t="t" r="r" b="b"/>
            <a:pathLst>
              <a:path w="187569" h="187569">
                <a:moveTo>
                  <a:pt x="168959" y="6924"/>
                </a:moveTo>
                <a:cubicBezTo>
                  <a:pt x="173172" y="8792"/>
                  <a:pt x="175846" y="12969"/>
                  <a:pt x="175846" y="17585"/>
                </a:cubicBezTo>
                <a:lnTo>
                  <a:pt x="175846" y="169985"/>
                </a:lnTo>
                <a:cubicBezTo>
                  <a:pt x="175846" y="174601"/>
                  <a:pt x="173172" y="178777"/>
                  <a:pt x="168959" y="180645"/>
                </a:cubicBezTo>
                <a:cubicBezTo>
                  <a:pt x="164746" y="182514"/>
                  <a:pt x="159873" y="181818"/>
                  <a:pt x="156393" y="178777"/>
                </a:cubicBezTo>
                <a:lnTo>
                  <a:pt x="139321" y="163867"/>
                </a:lnTo>
                <a:cubicBezTo>
                  <a:pt x="123349" y="149909"/>
                  <a:pt x="103163" y="141776"/>
                  <a:pt x="82025" y="140787"/>
                </a:cubicBezTo>
                <a:lnTo>
                  <a:pt x="82025" y="175846"/>
                </a:lnTo>
                <a:cubicBezTo>
                  <a:pt x="82025" y="182330"/>
                  <a:pt x="76786" y="187569"/>
                  <a:pt x="70302" y="187569"/>
                </a:cubicBezTo>
                <a:lnTo>
                  <a:pt x="58579" y="187569"/>
                </a:lnTo>
                <a:cubicBezTo>
                  <a:pt x="52094" y="187569"/>
                  <a:pt x="46856" y="182330"/>
                  <a:pt x="46856" y="175846"/>
                </a:cubicBezTo>
                <a:lnTo>
                  <a:pt x="46856" y="140677"/>
                </a:lnTo>
                <a:cubicBezTo>
                  <a:pt x="20992" y="140677"/>
                  <a:pt x="0" y="119685"/>
                  <a:pt x="0" y="93785"/>
                </a:cubicBezTo>
                <a:cubicBezTo>
                  <a:pt x="0" y="67884"/>
                  <a:pt x="20992" y="46892"/>
                  <a:pt x="46892" y="46892"/>
                </a:cubicBezTo>
                <a:lnTo>
                  <a:pt x="77849" y="46892"/>
                </a:lnTo>
                <a:cubicBezTo>
                  <a:pt x="100489" y="46819"/>
                  <a:pt x="122323" y="38576"/>
                  <a:pt x="139358" y="23703"/>
                </a:cubicBezTo>
                <a:lnTo>
                  <a:pt x="156430" y="8792"/>
                </a:lnTo>
                <a:cubicBezTo>
                  <a:pt x="159873" y="5752"/>
                  <a:pt x="164819" y="5056"/>
                  <a:pt x="168995" y="6924"/>
                </a:cubicBezTo>
                <a:close/>
                <a:moveTo>
                  <a:pt x="82062" y="117231"/>
                </a:moveTo>
                <a:lnTo>
                  <a:pt x="82062" y="117304"/>
                </a:lnTo>
                <a:cubicBezTo>
                  <a:pt x="107816" y="118293"/>
                  <a:pt x="132544" y="127745"/>
                  <a:pt x="152400" y="144194"/>
                </a:cubicBezTo>
                <a:lnTo>
                  <a:pt x="152400" y="43339"/>
                </a:lnTo>
                <a:cubicBezTo>
                  <a:pt x="132544" y="59788"/>
                  <a:pt x="107816" y="69239"/>
                  <a:pt x="82062" y="70229"/>
                </a:cubicBezTo>
                <a:lnTo>
                  <a:pt x="82062" y="117231"/>
                </a:lnTo>
                <a:close/>
              </a:path>
            </a:pathLst>
          </a:custGeom>
          <a:solidFill>
            <a:srgbClr val="D4AF37"/>
          </a:solidFill>
          <a:ln/>
        </p:spPr>
      </p:sp>
      <p:sp>
        <p:nvSpPr>
          <p:cNvPr id="24" name="Text 22"/>
          <p:cNvSpPr/>
          <p:nvPr/>
        </p:nvSpPr>
        <p:spPr>
          <a:xfrm>
            <a:off x="4972270" y="3817034"/>
            <a:ext cx="2719754" cy="60960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المرحلة الثانية: تنفيذ التسويق (الأيام من 8 إلى 45)</a:t>
            </a:r>
            <a:endParaRPr xmlns:a="http://schemas.openxmlformats.org/drawingml/2006/main" lang="en-US" sz="1600" dirty="0"/>
          </a:p>
        </p:txBody>
      </p:sp>
      <p:sp>
        <p:nvSpPr>
          <p:cNvPr id="25" name="Shape 23"/>
          <p:cNvSpPr/>
          <p:nvPr/>
        </p:nvSpPr>
        <p:spPr>
          <a:xfrm>
            <a:off x="4625267" y="4707988"/>
            <a:ext cx="234462" cy="187569"/>
          </a:xfrm>
          <a:custGeom>
            <a:avLst/>
            <a:gdLst/>
            <a:ahLst/>
            <a:cxnLst/>
            <a:rect l="l" t="t" r="r" b="b"/>
            <a:pathLst>
              <a:path w="234462" h="187569">
                <a:moveTo>
                  <a:pt x="128954" y="0"/>
                </a:moveTo>
                <a:cubicBezTo>
                  <a:pt x="128954" y="-6484"/>
                  <a:pt x="123715" y="-11723"/>
                  <a:pt x="117231" y="-11723"/>
                </a:cubicBezTo>
                <a:cubicBezTo>
                  <a:pt x="110746" y="-11723"/>
                  <a:pt x="105508" y="-6484"/>
                  <a:pt x="105508" y="0"/>
                </a:cubicBezTo>
                <a:lnTo>
                  <a:pt x="105508" y="23446"/>
                </a:lnTo>
                <a:lnTo>
                  <a:pt x="70338" y="23446"/>
                </a:lnTo>
                <a:cubicBezTo>
                  <a:pt x="50922" y="23446"/>
                  <a:pt x="35169" y="39199"/>
                  <a:pt x="35169" y="58615"/>
                </a:cubicBezTo>
                <a:lnTo>
                  <a:pt x="35169" y="140677"/>
                </a:lnTo>
                <a:cubicBezTo>
                  <a:pt x="35169" y="160093"/>
                  <a:pt x="50922" y="175846"/>
                  <a:pt x="70338" y="175846"/>
                </a:cubicBezTo>
                <a:lnTo>
                  <a:pt x="164123" y="175846"/>
                </a:lnTo>
                <a:cubicBezTo>
                  <a:pt x="183539" y="175846"/>
                  <a:pt x="199292" y="160093"/>
                  <a:pt x="199292" y="140677"/>
                </a:cubicBezTo>
                <a:lnTo>
                  <a:pt x="199292" y="58615"/>
                </a:lnTo>
                <a:cubicBezTo>
                  <a:pt x="199292" y="39199"/>
                  <a:pt x="183539" y="23446"/>
                  <a:pt x="164123" y="23446"/>
                </a:cubicBezTo>
                <a:lnTo>
                  <a:pt x="128954" y="23446"/>
                </a:lnTo>
                <a:lnTo>
                  <a:pt x="128954" y="0"/>
                </a:lnTo>
                <a:close/>
                <a:moveTo>
                  <a:pt x="58615" y="134815"/>
                </a:moveTo>
                <a:cubicBezTo>
                  <a:pt x="58615" y="129943"/>
                  <a:pt x="62535" y="126023"/>
                  <a:pt x="67408" y="126023"/>
                </a:cubicBezTo>
                <a:lnTo>
                  <a:pt x="79131" y="126023"/>
                </a:lnTo>
                <a:cubicBezTo>
                  <a:pt x="84003" y="126023"/>
                  <a:pt x="87923" y="129943"/>
                  <a:pt x="87923" y="134815"/>
                </a:cubicBezTo>
                <a:cubicBezTo>
                  <a:pt x="87923" y="139688"/>
                  <a:pt x="84003" y="143608"/>
                  <a:pt x="79131" y="143608"/>
                </a:cubicBezTo>
                <a:lnTo>
                  <a:pt x="67408" y="143608"/>
                </a:lnTo>
                <a:cubicBezTo>
                  <a:pt x="62535" y="143608"/>
                  <a:pt x="58615" y="139688"/>
                  <a:pt x="58615" y="134815"/>
                </a:cubicBezTo>
                <a:close/>
                <a:moveTo>
                  <a:pt x="102577" y="134815"/>
                </a:moveTo>
                <a:cubicBezTo>
                  <a:pt x="102577" y="129943"/>
                  <a:pt x="106497" y="126023"/>
                  <a:pt x="111369" y="126023"/>
                </a:cubicBezTo>
                <a:lnTo>
                  <a:pt x="123092" y="126023"/>
                </a:lnTo>
                <a:cubicBezTo>
                  <a:pt x="127965" y="126023"/>
                  <a:pt x="131885" y="129943"/>
                  <a:pt x="131885" y="134815"/>
                </a:cubicBezTo>
                <a:cubicBezTo>
                  <a:pt x="131885" y="139688"/>
                  <a:pt x="127965" y="143608"/>
                  <a:pt x="123092" y="143608"/>
                </a:cubicBezTo>
                <a:lnTo>
                  <a:pt x="111369" y="143608"/>
                </a:lnTo>
                <a:cubicBezTo>
                  <a:pt x="106497" y="143608"/>
                  <a:pt x="102577" y="139688"/>
                  <a:pt x="102577" y="134815"/>
                </a:cubicBezTo>
                <a:close/>
                <a:moveTo>
                  <a:pt x="146538" y="134815"/>
                </a:moveTo>
                <a:cubicBezTo>
                  <a:pt x="146538" y="129943"/>
                  <a:pt x="150458" y="126023"/>
                  <a:pt x="155331" y="126023"/>
                </a:cubicBezTo>
                <a:lnTo>
                  <a:pt x="167054" y="126023"/>
                </a:lnTo>
                <a:cubicBezTo>
                  <a:pt x="171926" y="126023"/>
                  <a:pt x="175846" y="129943"/>
                  <a:pt x="175846" y="134815"/>
                </a:cubicBezTo>
                <a:cubicBezTo>
                  <a:pt x="175846" y="139688"/>
                  <a:pt x="171926" y="143608"/>
                  <a:pt x="167054" y="143608"/>
                </a:cubicBezTo>
                <a:lnTo>
                  <a:pt x="155331" y="143608"/>
                </a:lnTo>
                <a:cubicBezTo>
                  <a:pt x="150458" y="143608"/>
                  <a:pt x="146538" y="139688"/>
                  <a:pt x="146538" y="134815"/>
                </a:cubicBezTo>
                <a:close/>
                <a:moveTo>
                  <a:pt x="82062" y="64477"/>
                </a:moveTo>
                <a:cubicBezTo>
                  <a:pt x="91767" y="64477"/>
                  <a:pt x="99646" y="72356"/>
                  <a:pt x="99646" y="82062"/>
                </a:cubicBezTo>
                <a:cubicBezTo>
                  <a:pt x="99646" y="91767"/>
                  <a:pt x="91767" y="99646"/>
                  <a:pt x="82062" y="99646"/>
                </a:cubicBezTo>
                <a:cubicBezTo>
                  <a:pt x="72356" y="99646"/>
                  <a:pt x="64477" y="91767"/>
                  <a:pt x="64477" y="82062"/>
                </a:cubicBezTo>
                <a:cubicBezTo>
                  <a:pt x="64477" y="72356"/>
                  <a:pt x="72356" y="64477"/>
                  <a:pt x="82062" y="64477"/>
                </a:cubicBezTo>
                <a:close/>
                <a:moveTo>
                  <a:pt x="134815" y="82062"/>
                </a:moveTo>
                <a:cubicBezTo>
                  <a:pt x="134815" y="72356"/>
                  <a:pt x="142695" y="64477"/>
                  <a:pt x="152400" y="64477"/>
                </a:cubicBezTo>
                <a:cubicBezTo>
                  <a:pt x="162105" y="64477"/>
                  <a:pt x="169985" y="72356"/>
                  <a:pt x="169985" y="82062"/>
                </a:cubicBezTo>
                <a:cubicBezTo>
                  <a:pt x="169985" y="91767"/>
                  <a:pt x="162105" y="99646"/>
                  <a:pt x="152400" y="99646"/>
                </a:cubicBezTo>
                <a:cubicBezTo>
                  <a:pt x="142695" y="99646"/>
                  <a:pt x="134815" y="91767"/>
                  <a:pt x="134815" y="82062"/>
                </a:cubicBezTo>
                <a:close/>
                <a:moveTo>
                  <a:pt x="23446" y="82062"/>
                </a:moveTo>
                <a:cubicBezTo>
                  <a:pt x="23446" y="75577"/>
                  <a:pt x="18207" y="70338"/>
                  <a:pt x="11723" y="70338"/>
                </a:cubicBezTo>
                <a:cubicBezTo>
                  <a:pt x="5239" y="70338"/>
                  <a:pt x="0" y="75577"/>
                  <a:pt x="0" y="82062"/>
                </a:cubicBezTo>
                <a:lnTo>
                  <a:pt x="0" y="117231"/>
                </a:lnTo>
                <a:cubicBezTo>
                  <a:pt x="0" y="123715"/>
                  <a:pt x="5239" y="128954"/>
                  <a:pt x="11723" y="128954"/>
                </a:cubicBezTo>
                <a:cubicBezTo>
                  <a:pt x="18207" y="128954"/>
                  <a:pt x="23446" y="123715"/>
                  <a:pt x="23446" y="117231"/>
                </a:cubicBezTo>
                <a:lnTo>
                  <a:pt x="23446" y="82062"/>
                </a:lnTo>
                <a:close/>
                <a:moveTo>
                  <a:pt x="222738" y="70338"/>
                </a:moveTo>
                <a:cubicBezTo>
                  <a:pt x="216254" y="70338"/>
                  <a:pt x="211015" y="75577"/>
                  <a:pt x="211015" y="82062"/>
                </a:cubicBezTo>
                <a:lnTo>
                  <a:pt x="211015" y="117231"/>
                </a:lnTo>
                <a:cubicBezTo>
                  <a:pt x="211015" y="123715"/>
                  <a:pt x="216254" y="128954"/>
                  <a:pt x="222738" y="128954"/>
                </a:cubicBezTo>
                <a:cubicBezTo>
                  <a:pt x="229223" y="128954"/>
                  <a:pt x="234462" y="123715"/>
                  <a:pt x="234462" y="117231"/>
                </a:cubicBezTo>
                <a:lnTo>
                  <a:pt x="234462" y="82062"/>
                </a:lnTo>
                <a:cubicBezTo>
                  <a:pt x="234462" y="75577"/>
                  <a:pt x="229223" y="70338"/>
                  <a:pt x="222738" y="70338"/>
                </a:cubicBezTo>
                <a:close/>
              </a:path>
            </a:pathLst>
          </a:custGeom>
          <a:solidFill>
            <a:srgbClr val="D4AF37"/>
          </a:solidFill>
          <a:ln/>
        </p:spPr>
      </p:sp>
      <p:sp>
        <p:nvSpPr>
          <p:cNvPr id="26" name="Text 24"/>
          <p:cNvSpPr/>
          <p:nvPr/>
        </p:nvSpPr>
        <p:spPr>
          <a:xfrm>
            <a:off x="4972270" y="4651717"/>
            <a:ext cx="2719754" cy="60960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المرحلة الثالثة: الفرز الآلي (الأيام 46-90)</a:t>
            </a:r>
            <a:endParaRPr xmlns:a="http://schemas.openxmlformats.org/drawingml/2006/main" lang="en-US" sz="1600" dirty="0"/>
          </a:p>
        </p:txBody>
      </p:sp>
      <p:sp>
        <p:nvSpPr>
          <p:cNvPr id="27" name="Shape 25"/>
          <p:cNvSpPr/>
          <p:nvPr/>
        </p:nvSpPr>
        <p:spPr>
          <a:xfrm>
            <a:off x="8218976" y="1631852"/>
            <a:ext cx="3591951" cy="3929575"/>
          </a:xfrm>
          <a:custGeom>
            <a:avLst/>
            <a:gdLst/>
            <a:ahLst/>
            <a:cxnLst/>
            <a:rect l="l" t="t" r="r" b="b"/>
            <a:pathLst>
              <a:path w="3591951" h="3929575">
                <a:moveTo>
                  <a:pt x="37465" y="0"/>
                </a:moveTo>
                <a:lnTo>
                  <a:pt x="3441827" y="0"/>
                </a:lnTo>
                <a:cubicBezTo>
                  <a:pt x="3524733" y="0"/>
                  <a:pt x="3591941" y="67208"/>
                  <a:pt x="3591941" y="150114"/>
                </a:cubicBezTo>
                <a:lnTo>
                  <a:pt x="3591941" y="3779520"/>
                </a:lnTo>
                <a:cubicBezTo>
                  <a:pt x="3591941" y="3862426"/>
                  <a:pt x="3524733" y="3929634"/>
                  <a:pt x="3441827" y="3929634"/>
                </a:cubicBezTo>
                <a:lnTo>
                  <a:pt x="37465" y="3929634"/>
                </a:lnTo>
                <a:cubicBezTo>
                  <a:pt x="27507" y="3929634"/>
                  <a:pt x="17958" y="3925669"/>
                  <a:pt x="10928" y="3918616"/>
                </a:cubicBezTo>
                <a:cubicBezTo>
                  <a:pt x="3899" y="3911562"/>
                  <a:pt x="-34" y="3902000"/>
                  <a:pt x="0" y="3892042"/>
                </a:cubicBezTo>
                <a:lnTo>
                  <a:pt x="0" y="37465"/>
                </a:lnTo>
                <a:cubicBezTo>
                  <a:pt x="0" y="16788"/>
                  <a:pt x="16788" y="0"/>
                  <a:pt x="37465" y="0"/>
                </a:cubicBezTo>
                <a:close/>
              </a:path>
            </a:pathLst>
          </a:custGeom>
          <a:gradFill rotWithShape="1" flip="none">
            <a:gsLst>
              <a:gs pos="0">
                <a:srgbClr val="1E3A5F">
                  <a:alpha val="60000"/>
                </a:srgbClr>
              </a:gs>
              <a:gs pos="100000">
                <a:srgbClr val="0A192F">
                  <a:alpha val="40000"/>
                </a:srgbClr>
              </a:gs>
            </a:gsLst>
            <a:lin ang="2700000" scaled="1"/>
          </a:gradFill>
          <a:ln/>
        </p:spPr>
      </p:sp>
      <p:sp>
        <p:nvSpPr>
          <p:cNvPr id="28" name="Shape 26"/>
          <p:cNvSpPr/>
          <p:nvPr/>
        </p:nvSpPr>
        <p:spPr>
          <a:xfrm>
            <a:off x="8218976" y="1631852"/>
            <a:ext cx="37514" cy="3929575"/>
          </a:xfrm>
          <a:custGeom>
            <a:avLst/>
            <a:gdLst/>
            <a:ahLst/>
            <a:cxnLst/>
            <a:rect l="l" t="t" r="r" b="b"/>
            <a:pathLst>
              <a:path w="37514" h="3929575">
                <a:moveTo>
                  <a:pt x="37465" y="0"/>
                </a:moveTo>
                <a:lnTo>
                  <a:pt x="37465" y="0"/>
                </a:lnTo>
                <a:lnTo>
                  <a:pt x="37465" y="3929634"/>
                </a:lnTo>
                <a:lnTo>
                  <a:pt x="37465" y="3929634"/>
                </a:lnTo>
                <a:cubicBezTo>
                  <a:pt x="27507" y="3929634"/>
                  <a:pt x="17958" y="3925669"/>
                  <a:pt x="10928" y="3918616"/>
                </a:cubicBezTo>
                <a:cubicBezTo>
                  <a:pt x="3899" y="3911562"/>
                  <a:pt x="-34" y="3902000"/>
                  <a:pt x="0" y="3892042"/>
                </a:cubicBezTo>
                <a:lnTo>
                  <a:pt x="0" y="37465"/>
                </a:lnTo>
                <a:cubicBezTo>
                  <a:pt x="0" y="16788"/>
                  <a:pt x="16788" y="0"/>
                  <a:pt x="37465" y="0"/>
                </a:cubicBezTo>
                <a:close/>
              </a:path>
            </a:pathLst>
          </a:custGeom>
          <a:solidFill>
            <a:srgbClr val="D4AF37"/>
          </a:solidFill>
          <a:ln/>
        </p:spPr>
      </p:sp>
      <p:sp>
        <p:nvSpPr>
          <p:cNvPr id="29" name="Shape 27"/>
          <p:cNvSpPr/>
          <p:nvPr/>
        </p:nvSpPr>
        <p:spPr>
          <a:xfrm>
            <a:off x="8537844" y="2236763"/>
            <a:ext cx="750277" cy="750277"/>
          </a:xfrm>
          <a:prstGeom prst="roundRect">
            <a:avLst>
              <a:gd name="adj" fmla="val 50000"/>
            </a:avLst>
          </a:prstGeom>
          <a:solidFill>
            <a:srgbClr val="D4AF37">
              <a:alpha val="20000"/>
            </a:srgbClr>
          </a:solidFill>
          <a:ln/>
        </p:spPr>
      </p:sp>
      <p:sp>
        <p:nvSpPr>
          <p:cNvPr id="30" name="Text 28"/>
          <p:cNvSpPr/>
          <p:nvPr/>
        </p:nvSpPr>
        <p:spPr>
          <a:xfrm>
            <a:off x="8705630" y="2424332"/>
            <a:ext cx="581465" cy="375138"/>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658" b="1" dirty="0">
                <a:solidFill>
                  <a:srgbClr val="D4AF37"/>
                </a:solidFill>
                <a:latin typeface="Liter" pitchFamily="34" charset="0"/>
                <a:ea typeface="Liter" pitchFamily="34" charset="-122"/>
                <a:cs typeface="Liter" pitchFamily="34" charset="-120"/>
              </a:rPr>
              <a:t>03</a:t>
            </a:r>
            <a:endParaRPr xmlns:a="http://schemas.openxmlformats.org/drawingml/2006/main" lang="en-US" sz="1600" dirty="0"/>
          </a:p>
        </p:txBody>
      </p:sp>
      <p:sp>
        <p:nvSpPr>
          <p:cNvPr id="31" name="Text 29"/>
          <p:cNvSpPr/>
          <p:nvPr/>
        </p:nvSpPr>
        <p:spPr>
          <a:xfrm>
            <a:off x="9438176" y="2260209"/>
            <a:ext cx="1781908" cy="703385"/>
          </a:xfrm>
          <a:prstGeom prst="rect">
            <a:avLst/>
          </a:prstGeom>
          <a:noFill/>
          <a:ln/>
        </p:spPr>
        <p:txBody>
          <a:bodyPr wrap="square" lIns="0" tIns="0" rIns="0" bIns="0" rtlCol="0" anchor="ctr"/>
          <a:lstStyle/>
          <a:p>
            <a:pPr xmlns:a="http://schemas.openxmlformats.org/drawingml/2006/main">
              <a:lnSpc>
                <a:spcPct val="100000"/>
              </a:lnSpc>
              <a:bidi/>
            </a:pPr>
            <a:r xmlns:a="http://schemas.openxmlformats.org/drawingml/2006/main">
              <a:rPr lang="ar" sz="2215" b="1" dirty="0">
                <a:solidFill>
                  <a:srgbClr val="E6F1FF"/>
                </a:solidFill>
                <a:latin typeface="Liter" pitchFamily="34" charset="0"/>
                <a:ea typeface="Liter" pitchFamily="34" charset="-122"/>
                <a:cs typeface="Liter" pitchFamily="34" charset="-120"/>
              </a:rPr>
              <a:t>النظام البيئي و</a:t>
            </a:r>
            <a:endParaRPr xmlns:a="http://schemas.openxmlformats.org/drawingml/2006/main" lang="en-US" sz="1600" dirty="0"/>
          </a:p>
          <a:p>
            <a:pPr xmlns:a="http://schemas.openxmlformats.org/drawingml/2006/main">
              <a:lnSpc>
                <a:spcPct val="100000"/>
              </a:lnSpc>
              <a:bidi/>
            </a:pPr>
            <a:r xmlns:a="http://schemas.openxmlformats.org/drawingml/2006/main">
              <a:rPr lang="ar" sz="2215" b="1" dirty="0">
                <a:solidFill>
                  <a:srgbClr val="E6F1FF"/>
                </a:solidFill>
                <a:latin typeface="Liter" pitchFamily="34" charset="0"/>
                <a:ea typeface="Liter" pitchFamily="34" charset="-122"/>
                <a:cs typeface="Liter" pitchFamily="34" charset="-120"/>
              </a:rPr>
              <a:t>تأثير</a:t>
            </a:r>
            <a:endParaRPr xmlns:a="http://schemas.openxmlformats.org/drawingml/2006/main" lang="en-US" sz="1600" dirty="0"/>
          </a:p>
        </p:txBody>
      </p:sp>
      <p:sp>
        <p:nvSpPr>
          <p:cNvPr id="32" name="Shape 30"/>
          <p:cNvSpPr/>
          <p:nvPr/>
        </p:nvSpPr>
        <p:spPr>
          <a:xfrm>
            <a:off x="8561290" y="3343422"/>
            <a:ext cx="187569" cy="187569"/>
          </a:xfrm>
          <a:custGeom>
            <a:avLst/>
            <a:gdLst/>
            <a:ahLst/>
            <a:cxnLst/>
            <a:rect l="l" t="t" r="r" b="b"/>
            <a:pathLst>
              <a:path w="187569" h="187569">
                <a:moveTo>
                  <a:pt x="0" y="29308"/>
                </a:moveTo>
                <a:cubicBezTo>
                  <a:pt x="0" y="19600"/>
                  <a:pt x="7876" y="11723"/>
                  <a:pt x="17585" y="11723"/>
                </a:cubicBezTo>
                <a:lnTo>
                  <a:pt x="52754" y="11723"/>
                </a:lnTo>
                <a:cubicBezTo>
                  <a:pt x="62462" y="11723"/>
                  <a:pt x="70338" y="19600"/>
                  <a:pt x="70338" y="29308"/>
                </a:cubicBezTo>
                <a:lnTo>
                  <a:pt x="70338" y="35169"/>
                </a:lnTo>
                <a:lnTo>
                  <a:pt x="117231" y="35169"/>
                </a:lnTo>
                <a:lnTo>
                  <a:pt x="117231" y="29308"/>
                </a:lnTo>
                <a:cubicBezTo>
                  <a:pt x="117231" y="19600"/>
                  <a:pt x="125107" y="11723"/>
                  <a:pt x="134815" y="11723"/>
                </a:cubicBezTo>
                <a:lnTo>
                  <a:pt x="169985" y="11723"/>
                </a:lnTo>
                <a:cubicBezTo>
                  <a:pt x="179693" y="11723"/>
                  <a:pt x="187569" y="19600"/>
                  <a:pt x="187569" y="29308"/>
                </a:cubicBezTo>
                <a:lnTo>
                  <a:pt x="187569" y="64477"/>
                </a:lnTo>
                <a:cubicBezTo>
                  <a:pt x="187569" y="74185"/>
                  <a:pt x="179693" y="82062"/>
                  <a:pt x="169985" y="82062"/>
                </a:cubicBezTo>
                <a:lnTo>
                  <a:pt x="134815" y="82062"/>
                </a:lnTo>
                <a:cubicBezTo>
                  <a:pt x="125107" y="82062"/>
                  <a:pt x="117231" y="74185"/>
                  <a:pt x="117231" y="64477"/>
                </a:cubicBezTo>
                <a:lnTo>
                  <a:pt x="117231" y="58615"/>
                </a:lnTo>
                <a:lnTo>
                  <a:pt x="70338" y="58615"/>
                </a:lnTo>
                <a:lnTo>
                  <a:pt x="70338" y="64477"/>
                </a:lnTo>
                <a:cubicBezTo>
                  <a:pt x="70338" y="67151"/>
                  <a:pt x="69716" y="69716"/>
                  <a:pt x="68653" y="71987"/>
                </a:cubicBezTo>
                <a:lnTo>
                  <a:pt x="93785" y="105508"/>
                </a:lnTo>
                <a:lnTo>
                  <a:pt x="123092" y="105508"/>
                </a:lnTo>
                <a:cubicBezTo>
                  <a:pt x="132800" y="105508"/>
                  <a:pt x="140677" y="113384"/>
                  <a:pt x="140677" y="123092"/>
                </a:cubicBezTo>
                <a:lnTo>
                  <a:pt x="140677" y="158262"/>
                </a:lnTo>
                <a:cubicBezTo>
                  <a:pt x="140677" y="167970"/>
                  <a:pt x="132800" y="175846"/>
                  <a:pt x="123092" y="175846"/>
                </a:cubicBezTo>
                <a:lnTo>
                  <a:pt x="87923" y="175846"/>
                </a:lnTo>
                <a:cubicBezTo>
                  <a:pt x="78215" y="175846"/>
                  <a:pt x="70338" y="167970"/>
                  <a:pt x="70338" y="158262"/>
                </a:cubicBezTo>
                <a:lnTo>
                  <a:pt x="70338" y="123092"/>
                </a:lnTo>
                <a:cubicBezTo>
                  <a:pt x="70338" y="120418"/>
                  <a:pt x="70961" y="117854"/>
                  <a:pt x="72024" y="115582"/>
                </a:cubicBezTo>
                <a:lnTo>
                  <a:pt x="46892" y="82062"/>
                </a:lnTo>
                <a:lnTo>
                  <a:pt x="17585" y="82062"/>
                </a:lnTo>
                <a:cubicBezTo>
                  <a:pt x="7876" y="82062"/>
                  <a:pt x="0" y="74185"/>
                  <a:pt x="0" y="64477"/>
                </a:cubicBezTo>
                <a:lnTo>
                  <a:pt x="0" y="29308"/>
                </a:lnTo>
                <a:close/>
              </a:path>
            </a:pathLst>
          </a:custGeom>
          <a:solidFill>
            <a:srgbClr val="64FFDA"/>
          </a:solidFill>
          <a:ln/>
        </p:spPr>
      </p:sp>
      <p:sp>
        <p:nvSpPr>
          <p:cNvPr id="33" name="Text 31"/>
          <p:cNvSpPr/>
          <p:nvPr/>
        </p:nvSpPr>
        <p:spPr>
          <a:xfrm>
            <a:off x="8884847" y="3287151"/>
            <a:ext cx="2316480" cy="309489"/>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هندسة النظام البيئي الكامل</a:t>
            </a:r>
            <a:endParaRPr xmlns:a="http://schemas.openxmlformats.org/drawingml/2006/main" lang="en-US" sz="1600" dirty="0"/>
          </a:p>
        </p:txBody>
      </p:sp>
      <p:sp>
        <p:nvSpPr>
          <p:cNvPr id="34" name="Shape 32"/>
          <p:cNvSpPr/>
          <p:nvPr/>
        </p:nvSpPr>
        <p:spPr>
          <a:xfrm>
            <a:off x="8561290" y="3873305"/>
            <a:ext cx="187569" cy="187569"/>
          </a:xfrm>
          <a:custGeom>
            <a:avLst/>
            <a:gdLst/>
            <a:ahLst/>
            <a:cxnLst/>
            <a:rect l="l" t="t" r="r" b="b"/>
            <a:pathLst>
              <a:path w="187569" h="187569">
                <a:moveTo>
                  <a:pt x="11723" y="11723"/>
                </a:moveTo>
                <a:cubicBezTo>
                  <a:pt x="18207" y="11723"/>
                  <a:pt x="23446" y="16962"/>
                  <a:pt x="23446" y="23446"/>
                </a:cubicBezTo>
                <a:lnTo>
                  <a:pt x="23446" y="146538"/>
                </a:lnTo>
                <a:cubicBezTo>
                  <a:pt x="23446" y="149762"/>
                  <a:pt x="26084" y="152400"/>
                  <a:pt x="29308" y="152400"/>
                </a:cubicBezTo>
                <a:lnTo>
                  <a:pt x="175846" y="152400"/>
                </a:lnTo>
                <a:cubicBezTo>
                  <a:pt x="182330" y="152400"/>
                  <a:pt x="187569" y="157639"/>
                  <a:pt x="187569" y="164123"/>
                </a:cubicBezTo>
                <a:cubicBezTo>
                  <a:pt x="187569" y="170607"/>
                  <a:pt x="182330" y="175846"/>
                  <a:pt x="175846" y="175846"/>
                </a:cubicBezTo>
                <a:lnTo>
                  <a:pt x="29308" y="175846"/>
                </a:lnTo>
                <a:cubicBezTo>
                  <a:pt x="13115" y="175846"/>
                  <a:pt x="0" y="162731"/>
                  <a:pt x="0" y="146538"/>
                </a:cubicBezTo>
                <a:lnTo>
                  <a:pt x="0" y="23446"/>
                </a:lnTo>
                <a:cubicBezTo>
                  <a:pt x="0" y="16962"/>
                  <a:pt x="5239" y="11723"/>
                  <a:pt x="11723" y="11723"/>
                </a:cubicBezTo>
                <a:close/>
                <a:moveTo>
                  <a:pt x="46892" y="35169"/>
                </a:moveTo>
                <a:cubicBezTo>
                  <a:pt x="46892" y="28685"/>
                  <a:pt x="52131" y="23446"/>
                  <a:pt x="58615" y="23446"/>
                </a:cubicBezTo>
                <a:lnTo>
                  <a:pt x="128954" y="23446"/>
                </a:lnTo>
                <a:cubicBezTo>
                  <a:pt x="135438" y="23446"/>
                  <a:pt x="140677" y="28685"/>
                  <a:pt x="140677" y="35169"/>
                </a:cubicBezTo>
                <a:cubicBezTo>
                  <a:pt x="140677" y="41654"/>
                  <a:pt x="135438" y="46892"/>
                  <a:pt x="128954" y="46892"/>
                </a:cubicBezTo>
                <a:lnTo>
                  <a:pt x="58615" y="46892"/>
                </a:lnTo>
                <a:cubicBezTo>
                  <a:pt x="52131" y="46892"/>
                  <a:pt x="46892" y="41654"/>
                  <a:pt x="46892" y="35169"/>
                </a:cubicBezTo>
                <a:close/>
                <a:moveTo>
                  <a:pt x="58615" y="64477"/>
                </a:moveTo>
                <a:lnTo>
                  <a:pt x="105508" y="64477"/>
                </a:lnTo>
                <a:cubicBezTo>
                  <a:pt x="111992" y="64477"/>
                  <a:pt x="117231" y="69716"/>
                  <a:pt x="117231" y="76200"/>
                </a:cubicBezTo>
                <a:cubicBezTo>
                  <a:pt x="117231" y="82684"/>
                  <a:pt x="111992" y="87923"/>
                  <a:pt x="105508" y="87923"/>
                </a:cubicBezTo>
                <a:lnTo>
                  <a:pt x="58615" y="87923"/>
                </a:lnTo>
                <a:cubicBezTo>
                  <a:pt x="52131" y="87923"/>
                  <a:pt x="46892" y="82684"/>
                  <a:pt x="46892" y="76200"/>
                </a:cubicBezTo>
                <a:cubicBezTo>
                  <a:pt x="46892" y="69716"/>
                  <a:pt x="52131" y="64477"/>
                  <a:pt x="58615" y="64477"/>
                </a:cubicBezTo>
                <a:close/>
                <a:moveTo>
                  <a:pt x="58615" y="105508"/>
                </a:moveTo>
                <a:lnTo>
                  <a:pt x="152400" y="105508"/>
                </a:lnTo>
                <a:cubicBezTo>
                  <a:pt x="158884" y="105508"/>
                  <a:pt x="164123" y="110746"/>
                  <a:pt x="164123" y="117231"/>
                </a:cubicBezTo>
                <a:cubicBezTo>
                  <a:pt x="164123" y="123715"/>
                  <a:pt x="158884" y="128954"/>
                  <a:pt x="152400" y="128954"/>
                </a:cubicBezTo>
                <a:lnTo>
                  <a:pt x="58615" y="128954"/>
                </a:lnTo>
                <a:cubicBezTo>
                  <a:pt x="52131" y="128954"/>
                  <a:pt x="46892" y="123715"/>
                  <a:pt x="46892" y="117231"/>
                </a:cubicBezTo>
                <a:cubicBezTo>
                  <a:pt x="46892" y="110746"/>
                  <a:pt x="52131" y="105508"/>
                  <a:pt x="58615" y="105508"/>
                </a:cubicBezTo>
                <a:close/>
              </a:path>
            </a:pathLst>
          </a:custGeom>
          <a:solidFill>
            <a:srgbClr val="64FFDA"/>
          </a:solidFill>
          <a:ln/>
        </p:spPr>
      </p:sp>
      <p:sp>
        <p:nvSpPr>
          <p:cNvPr id="35" name="Text 33"/>
          <p:cNvSpPr/>
          <p:nvPr/>
        </p:nvSpPr>
        <p:spPr>
          <a:xfrm>
            <a:off x="8884847" y="3817034"/>
            <a:ext cx="2719754" cy="60960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الأثر المالي والاقتصاديات الوحدوية</a:t>
            </a:r>
            <a:endParaRPr xmlns:a="http://schemas.openxmlformats.org/drawingml/2006/main" lang="en-US" sz="1600" dirty="0"/>
          </a:p>
        </p:txBody>
      </p:sp>
      <p:sp>
        <p:nvSpPr>
          <p:cNvPr id="36" name="Shape 34"/>
          <p:cNvSpPr/>
          <p:nvPr/>
        </p:nvSpPr>
        <p:spPr>
          <a:xfrm>
            <a:off x="8573013" y="4707988"/>
            <a:ext cx="164123" cy="187569"/>
          </a:xfrm>
          <a:custGeom>
            <a:avLst/>
            <a:gdLst/>
            <a:ahLst/>
            <a:cxnLst/>
            <a:rect l="l" t="t" r="r" b="b"/>
            <a:pathLst>
              <a:path w="164123" h="187569">
                <a:moveTo>
                  <a:pt x="46892" y="0"/>
                </a:moveTo>
                <a:cubicBezTo>
                  <a:pt x="53377" y="0"/>
                  <a:pt x="58615" y="5239"/>
                  <a:pt x="58615" y="11723"/>
                </a:cubicBezTo>
                <a:lnTo>
                  <a:pt x="58615" y="23446"/>
                </a:lnTo>
                <a:lnTo>
                  <a:pt x="105508" y="23446"/>
                </a:lnTo>
                <a:lnTo>
                  <a:pt x="105508" y="11723"/>
                </a:lnTo>
                <a:cubicBezTo>
                  <a:pt x="105508" y="5239"/>
                  <a:pt x="110746" y="0"/>
                  <a:pt x="117231" y="0"/>
                </a:cubicBezTo>
                <a:cubicBezTo>
                  <a:pt x="123715" y="0"/>
                  <a:pt x="128954" y="5239"/>
                  <a:pt x="128954" y="11723"/>
                </a:cubicBezTo>
                <a:lnTo>
                  <a:pt x="128954" y="23446"/>
                </a:lnTo>
                <a:lnTo>
                  <a:pt x="140677" y="23446"/>
                </a:lnTo>
                <a:cubicBezTo>
                  <a:pt x="153609" y="23446"/>
                  <a:pt x="164123" y="33960"/>
                  <a:pt x="164123" y="46892"/>
                </a:cubicBezTo>
                <a:lnTo>
                  <a:pt x="164123" y="152400"/>
                </a:lnTo>
                <a:cubicBezTo>
                  <a:pt x="164123" y="165332"/>
                  <a:pt x="153609" y="175846"/>
                  <a:pt x="140677" y="175846"/>
                </a:cubicBezTo>
                <a:lnTo>
                  <a:pt x="23446" y="175846"/>
                </a:lnTo>
                <a:cubicBezTo>
                  <a:pt x="10514" y="175846"/>
                  <a:pt x="0" y="165332"/>
                  <a:pt x="0" y="152400"/>
                </a:cubicBezTo>
                <a:lnTo>
                  <a:pt x="0" y="46892"/>
                </a:lnTo>
                <a:cubicBezTo>
                  <a:pt x="0" y="33960"/>
                  <a:pt x="10514" y="23446"/>
                  <a:pt x="23446" y="23446"/>
                </a:cubicBezTo>
                <a:lnTo>
                  <a:pt x="35169" y="23446"/>
                </a:lnTo>
                <a:lnTo>
                  <a:pt x="35169" y="11723"/>
                </a:lnTo>
                <a:cubicBezTo>
                  <a:pt x="35169" y="5239"/>
                  <a:pt x="40408" y="0"/>
                  <a:pt x="46892" y="0"/>
                </a:cubicBezTo>
                <a:close/>
                <a:moveTo>
                  <a:pt x="112981" y="83783"/>
                </a:moveTo>
                <a:cubicBezTo>
                  <a:pt x="115546" y="79680"/>
                  <a:pt x="114300" y="74258"/>
                  <a:pt x="110197" y="71657"/>
                </a:cubicBezTo>
                <a:cubicBezTo>
                  <a:pt x="106094" y="69056"/>
                  <a:pt x="100672" y="70338"/>
                  <a:pt x="98071" y="74442"/>
                </a:cubicBezTo>
                <a:lnTo>
                  <a:pt x="75577" y="110453"/>
                </a:lnTo>
                <a:lnTo>
                  <a:pt x="65686" y="97265"/>
                </a:lnTo>
                <a:cubicBezTo>
                  <a:pt x="62755" y="93382"/>
                  <a:pt x="57260" y="92576"/>
                  <a:pt x="53377" y="95506"/>
                </a:cubicBezTo>
                <a:cubicBezTo>
                  <a:pt x="49493" y="98437"/>
                  <a:pt x="48687" y="103932"/>
                  <a:pt x="51618" y="107816"/>
                </a:cubicBezTo>
                <a:lnTo>
                  <a:pt x="69203" y="131262"/>
                </a:lnTo>
                <a:cubicBezTo>
                  <a:pt x="70925" y="133570"/>
                  <a:pt x="73709" y="134889"/>
                  <a:pt x="76603" y="134779"/>
                </a:cubicBezTo>
                <a:cubicBezTo>
                  <a:pt x="79497" y="134669"/>
                  <a:pt x="82135" y="133130"/>
                  <a:pt x="83673" y="130639"/>
                </a:cubicBezTo>
                <a:lnTo>
                  <a:pt x="112981" y="83747"/>
                </a:lnTo>
                <a:close/>
              </a:path>
            </a:pathLst>
          </a:custGeom>
          <a:solidFill>
            <a:srgbClr val="64FFDA"/>
          </a:solidFill>
          <a:ln/>
        </p:spPr>
      </p:sp>
      <p:sp>
        <p:nvSpPr>
          <p:cNvPr id="37" name="Text 35"/>
          <p:cNvSpPr/>
          <p:nvPr/>
        </p:nvSpPr>
        <p:spPr>
          <a:xfrm>
            <a:off x="8884847" y="4651717"/>
            <a:ext cx="2513428" cy="309489"/>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خارطة طريق النشر لمدة 90 يومًا</a:t>
            </a:r>
            <a:endParaRPr xmlns:a="http://schemas.openxmlformats.org/drawingml/2006/main" lang="en-US" sz="1600" dirty="0"/>
          </a:p>
        </p:txBody>
      </p:sp>
      <p:sp>
        <p:nvSpPr>
          <p:cNvPr id="38" name="Shape 36"/>
          <p:cNvSpPr/>
          <p:nvPr/>
        </p:nvSpPr>
        <p:spPr>
          <a:xfrm>
            <a:off x="379828" y="5866228"/>
            <a:ext cx="11432345" cy="984738"/>
          </a:xfrm>
          <a:prstGeom prst="roundRect">
            <a:avLst>
              <a:gd name="adj" fmla="val 11429"/>
            </a:avLst>
          </a:prstGeom>
          <a:solidFill>
            <a:srgbClr val="1E3A5F">
              <a:alpha val="30196"/>
            </a:srgbClr>
          </a:solidFill>
          <a:ln w="12700">
            <a:solidFill>
              <a:srgbClr val="64FFDA">
                <a:alpha val="30196"/>
              </a:srgbClr>
            </a:solidFill>
            <a:prstDash val="solid"/>
          </a:ln>
        </p:spPr>
      </p:sp>
      <p:sp>
        <p:nvSpPr>
          <p:cNvPr id="39" name="Shape 37"/>
          <p:cNvSpPr/>
          <p:nvPr/>
        </p:nvSpPr>
        <p:spPr>
          <a:xfrm>
            <a:off x="614289" y="6217920"/>
            <a:ext cx="281354" cy="281354"/>
          </a:xfrm>
          <a:custGeom>
            <a:avLst/>
            <a:gdLst/>
            <a:ahLst/>
            <a:cxnLst/>
            <a:rect l="l" t="t" r="r" b="b"/>
            <a:pathLst>
              <a:path w="281354" h="281354">
                <a:moveTo>
                  <a:pt x="140677" y="281354"/>
                </a:moveTo>
                <a:cubicBezTo>
                  <a:pt x="218319" y="281354"/>
                  <a:pt x="281354" y="218319"/>
                  <a:pt x="281354" y="140677"/>
                </a:cubicBezTo>
                <a:cubicBezTo>
                  <a:pt x="281354" y="63035"/>
                  <a:pt x="218319" y="0"/>
                  <a:pt x="140677" y="0"/>
                </a:cubicBezTo>
                <a:cubicBezTo>
                  <a:pt x="63035" y="0"/>
                  <a:pt x="0" y="63035"/>
                  <a:pt x="0" y="140677"/>
                </a:cubicBezTo>
                <a:cubicBezTo>
                  <a:pt x="0" y="218319"/>
                  <a:pt x="63035" y="281354"/>
                  <a:pt x="140677" y="281354"/>
                </a:cubicBezTo>
                <a:close/>
                <a:moveTo>
                  <a:pt x="123092" y="87923"/>
                </a:moveTo>
                <a:cubicBezTo>
                  <a:pt x="123092" y="78218"/>
                  <a:pt x="130972" y="70338"/>
                  <a:pt x="140677" y="70338"/>
                </a:cubicBezTo>
                <a:cubicBezTo>
                  <a:pt x="150382" y="70338"/>
                  <a:pt x="158262" y="78218"/>
                  <a:pt x="158262" y="87923"/>
                </a:cubicBezTo>
                <a:cubicBezTo>
                  <a:pt x="158262" y="97628"/>
                  <a:pt x="150382" y="105508"/>
                  <a:pt x="140677" y="105508"/>
                </a:cubicBezTo>
                <a:cubicBezTo>
                  <a:pt x="130972" y="105508"/>
                  <a:pt x="123092" y="97628"/>
                  <a:pt x="123092" y="87923"/>
                </a:cubicBezTo>
                <a:close/>
                <a:moveTo>
                  <a:pt x="118696" y="123092"/>
                </a:moveTo>
                <a:lnTo>
                  <a:pt x="145073" y="123092"/>
                </a:lnTo>
                <a:cubicBezTo>
                  <a:pt x="152382" y="123092"/>
                  <a:pt x="158262" y="128972"/>
                  <a:pt x="158262" y="136281"/>
                </a:cubicBezTo>
                <a:lnTo>
                  <a:pt x="158262" y="184638"/>
                </a:lnTo>
                <a:lnTo>
                  <a:pt x="162658" y="184638"/>
                </a:lnTo>
                <a:cubicBezTo>
                  <a:pt x="169966" y="184638"/>
                  <a:pt x="175846" y="190518"/>
                  <a:pt x="175846" y="197827"/>
                </a:cubicBezTo>
                <a:cubicBezTo>
                  <a:pt x="175846" y="205136"/>
                  <a:pt x="169966" y="211015"/>
                  <a:pt x="162658" y="211015"/>
                </a:cubicBezTo>
                <a:lnTo>
                  <a:pt x="118696" y="211015"/>
                </a:lnTo>
                <a:cubicBezTo>
                  <a:pt x="111388" y="211015"/>
                  <a:pt x="105508" y="205136"/>
                  <a:pt x="105508" y="197827"/>
                </a:cubicBezTo>
                <a:cubicBezTo>
                  <a:pt x="105508" y="190518"/>
                  <a:pt x="111388" y="184638"/>
                  <a:pt x="118696" y="184638"/>
                </a:cubicBezTo>
                <a:lnTo>
                  <a:pt x="131885" y="184638"/>
                </a:lnTo>
                <a:lnTo>
                  <a:pt x="131885" y="149469"/>
                </a:lnTo>
                <a:lnTo>
                  <a:pt x="118696" y="149469"/>
                </a:lnTo>
                <a:cubicBezTo>
                  <a:pt x="111388" y="149469"/>
                  <a:pt x="105508" y="143589"/>
                  <a:pt x="105508" y="136281"/>
                </a:cubicBezTo>
                <a:cubicBezTo>
                  <a:pt x="105508" y="128972"/>
                  <a:pt x="111388" y="123092"/>
                  <a:pt x="118696" y="123092"/>
                </a:cubicBezTo>
                <a:close/>
              </a:path>
            </a:pathLst>
          </a:custGeom>
          <a:solidFill>
            <a:srgbClr val="64FFDA"/>
          </a:solidFill>
          <a:ln/>
        </p:spPr>
      </p:sp>
      <p:sp>
        <p:nvSpPr>
          <p:cNvPr id="40" name="Text 38"/>
          <p:cNvSpPr/>
          <p:nvPr/>
        </p:nvSpPr>
        <p:spPr>
          <a:xfrm>
            <a:off x="1129518" y="6096000"/>
            <a:ext cx="10541391" cy="525194"/>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477" b="1" dirty="0">
                <a:solidFill>
                  <a:srgbClr val="D4AF37"/>
                </a:solidFill>
                <a:latin typeface="Quattrocento Sans" pitchFamily="34" charset="0"/>
                <a:ea typeface="Quattrocento Sans" pitchFamily="34" charset="-122"/>
                <a:cs typeface="Quattrocento Sans" pitchFamily="34" charset="-120"/>
              </a:rPr>
              <a:t>الهدف: </a:t>
            </a:r>
            <a:pPr xmlns:a="http://schemas.openxmlformats.org/drawingml/2006/main">
              <a:lnSpc>
                <a:spcPct val="120000"/>
              </a:lnSpc>
              <a:bidi/>
            </a:pPr>
            <a:r xmlns:a="http://schemas.openxmlformats.org/drawingml/2006/main">
              <a:rPr lang="ar" sz="1477" dirty="0">
                <a:solidFill>
                  <a:srgbClr val="E6F1FF">
                    <a:alpha val="90000"/>
                  </a:srgbClr>
                </a:solidFill>
                <a:latin typeface="Quattrocento Sans" pitchFamily="34" charset="0"/>
                <a:ea typeface="Quattrocento Sans" pitchFamily="34" charset="-122"/>
                <a:cs typeface="Quattrocento Sans" pitchFamily="34" charset="-120"/>
              </a:rPr>
              <a:t>تحويل عملية اكتساب العملاء من الإحالات الخارجية (بتكلفة 30%) إلى قنوات التسويق الرقمي الخاصة بنا، والتي تعتمد على تحسين محركات البحث والذكاء الاصطناعي (بتكلفة 15%)، مما يحسن هوامش الربح الصافي بأكثر من </a:t>
            </a:r>
            <a:pPr xmlns:a="http://schemas.openxmlformats.org/drawingml/2006/main">
              <a:lnSpc>
                <a:spcPct val="120000"/>
              </a:lnSpc>
              <a:bidi/>
            </a:pPr>
            <a:r xmlns:a="http://schemas.openxmlformats.org/drawingml/2006/main">
              <a:rPr lang="ar" sz="1477" b="1" dirty="0">
                <a:solidFill>
                  <a:srgbClr val="64FFDA"/>
                </a:solidFill>
                <a:latin typeface="Quattrocento Sans" pitchFamily="34" charset="0"/>
                <a:ea typeface="Quattrocento Sans" pitchFamily="34" charset="-122"/>
                <a:cs typeface="Quattrocento Sans" pitchFamily="34" charset="-120"/>
              </a:rPr>
              <a:t>10 نقاط.</a:t>
            </a:r>
            <a:endParaRPr xmlns:a="http://schemas.openxmlformats.org/drawingml/2006/main"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92F"/>
        </a:solidFill>
      </p:bgPr>
    </p:bg>
    <p:spTree>
      <p:nvGrpSpPr>
        <p:cNvPr id="1" name=""/>
        <p:cNvGrpSpPr/>
        <p:nvPr/>
      </p:nvGrpSpPr>
      <p:grpSpPr>
        <a:xfrm>
          <a:off x="0" y="0"/>
          <a:ext cx="0" cy="0"/>
          <a:chOff x="0" y="0"/>
          <a:chExt cx="0" cy="0"/>
        </a:xfrm>
      </p:grpSpPr>
      <p:pic>
        <p:nvPicPr>
          <p:cNvPr id="2" name="Image 0" descr="https://kimi-web-img.moonshot.cn/img/www.shutterstock.com/febc527bf69a508772f39d9a574561425c896fd4.jpg">    </p:cNvPr>
          <p:cNvPicPr>
            <a:picLocks noChangeAspect="1"/>
          </p:cNvPicPr>
          <p:nvPr/>
        </p:nvPicPr>
        <p:blipFill>
          <a:blip r:embed="rId1">
            <a:alphaModFix amt="25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0A192F">
                  <a:alpha val="98000"/>
                </a:srgbClr>
              </a:gs>
              <a:gs pos="50000">
                <a:srgbClr val="0A192F">
                  <a:alpha val="90000"/>
                </a:srgbClr>
              </a:gs>
              <a:gs pos="100000">
                <a:srgbClr val="000000">
                  <a:alpha val="0"/>
                </a:srgbClr>
              </a:gs>
            </a:gsLst>
            <a:lin ang="0" scaled="1"/>
          </a:gradFill>
          <a:ln/>
        </p:spPr>
      </p:sp>
      <p:sp>
        <p:nvSpPr>
          <p:cNvPr id="4" name="Shape 1"/>
          <p:cNvSpPr/>
          <p:nvPr/>
        </p:nvSpPr>
        <p:spPr>
          <a:xfrm>
            <a:off x="385763" y="1357313"/>
            <a:ext cx="1400175" cy="428625"/>
          </a:xfrm>
          <a:prstGeom prst="roundRect">
            <a:avLst>
              <a:gd name="adj" fmla="val 17778"/>
            </a:avLst>
          </a:prstGeom>
          <a:solidFill>
            <a:srgbClr val="D4AF37">
              <a:alpha val="20000"/>
            </a:srgbClr>
          </a:solidFill>
          <a:ln w="12700">
            <a:solidFill>
              <a:srgbClr val="D4AF37"/>
            </a:solidFill>
            <a:prstDash val="solid"/>
          </a:ln>
        </p:spPr>
      </p:sp>
      <p:sp>
        <p:nvSpPr>
          <p:cNvPr id="5" name="Text 2"/>
          <p:cNvSpPr/>
          <p:nvPr/>
        </p:nvSpPr>
        <p:spPr>
          <a:xfrm>
            <a:off x="581025" y="1438275"/>
            <a:ext cx="109537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spc="68" kern="0" dirty="0">
                <a:solidFill>
                  <a:srgbClr val="D4AF37"/>
                </a:solidFill>
                <a:latin typeface="Quattrocento Sans" pitchFamily="34" charset="0"/>
                <a:ea typeface="Quattrocento Sans" pitchFamily="34" charset="-122"/>
                <a:cs typeface="Quattrocento Sans" pitchFamily="34" charset="-120"/>
              </a:rPr>
              <a:t>الفصل الأول</a:t>
            </a:r>
            <a:endParaRPr xmlns:a="http://schemas.openxmlformats.org/drawingml/2006/main" lang="en-US" sz="1600" dirty="0"/>
          </a:p>
        </p:txBody>
      </p:sp>
      <p:sp>
        <p:nvSpPr>
          <p:cNvPr id="6" name="Text 3"/>
          <p:cNvSpPr/>
          <p:nvPr/>
        </p:nvSpPr>
        <p:spPr>
          <a:xfrm>
            <a:off x="381000" y="2019300"/>
            <a:ext cx="7600950" cy="1428750"/>
          </a:xfrm>
          <a:prstGeom prst="rect">
            <a:avLst/>
          </a:prstGeom>
          <a:noFill/>
          <a:ln/>
        </p:spPr>
        <p:txBody>
          <a:bodyPr wrap="square" lIns="0" tIns="0" rIns="0" bIns="0" rtlCol="0" anchor="ctr"/>
          <a:lstStyle/>
          <a:p>
            <a:pPr xmlns:a="http://schemas.openxmlformats.org/drawingml/2006/main">
              <a:lnSpc>
                <a:spcPct val="100000"/>
              </a:lnSpc>
              <a:bidi/>
            </a:pPr>
            <a:r xmlns:a="http://schemas.openxmlformats.org/drawingml/2006/main">
              <a:rPr lang="ar" sz="4500" b="1" dirty="0">
                <a:solidFill>
                  <a:srgbClr val="E6F1FF"/>
                </a:solidFill>
                <a:latin typeface="Liter" pitchFamily="34" charset="0"/>
                <a:ea typeface="Liter" pitchFamily="34" charset="-122"/>
                <a:cs typeface="Liter" pitchFamily="34" charset="-120"/>
              </a:rPr>
              <a:t>فرصة السوق و</a:t>
            </a:r>
            <a:endParaRPr xmlns:a="http://schemas.openxmlformats.org/drawingml/2006/main" lang="en-US" sz="1600" dirty="0"/>
          </a:p>
          <a:p>
            <a:pPr xmlns:a="http://schemas.openxmlformats.org/drawingml/2006/main">
              <a:lnSpc>
                <a:spcPct val="100000"/>
              </a:lnSpc>
              <a:bidi/>
            </a:pPr>
            <a:r xmlns:a="http://schemas.openxmlformats.org/drawingml/2006/main">
              <a:rPr lang="ar" sz="4500" b="1" dirty="0">
                <a:solidFill>
                  <a:srgbClr val="E6F1FF"/>
                </a:solidFill>
                <a:latin typeface="Liter" pitchFamily="34" charset="0"/>
                <a:ea typeface="Liter" pitchFamily="34" charset="-122"/>
                <a:cs typeface="Liter" pitchFamily="34" charset="-120"/>
              </a:rPr>
              <a:t>التموضع الاستراتيجي</a:t>
            </a:r>
            <a:endParaRPr xmlns:a="http://schemas.openxmlformats.org/drawingml/2006/main" lang="en-US" sz="1600" dirty="0"/>
          </a:p>
        </p:txBody>
      </p:sp>
      <p:sp>
        <p:nvSpPr>
          <p:cNvPr id="7" name="Shape 4"/>
          <p:cNvSpPr/>
          <p:nvPr/>
        </p:nvSpPr>
        <p:spPr>
          <a:xfrm>
            <a:off x="381000" y="3676650"/>
            <a:ext cx="1524000" cy="57150"/>
          </a:xfrm>
          <a:prstGeom prst="roundRect">
            <a:avLst>
              <a:gd name="adj" fmla="val 0"/>
            </a:avLst>
          </a:prstGeom>
          <a:solidFill>
            <a:srgbClr val="D4AF37"/>
          </a:solidFill>
          <a:ln/>
        </p:spPr>
      </p:sp>
      <p:sp>
        <p:nvSpPr>
          <p:cNvPr id="8" name="Text 5"/>
          <p:cNvSpPr/>
          <p:nvPr/>
        </p:nvSpPr>
        <p:spPr>
          <a:xfrm>
            <a:off x="381000" y="4038600"/>
            <a:ext cx="6515100" cy="74295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800" dirty="0">
                <a:solidFill>
                  <a:srgbClr val="64FFDA"/>
                </a:solidFill>
                <a:latin typeface="Quattrocento Sans" pitchFamily="34" charset="0"/>
                <a:ea typeface="Quattrocento Sans" pitchFamily="34" charset="-122"/>
                <a:cs typeface="Quattrocento Sans" pitchFamily="34" charset="-120"/>
              </a:rPr>
              <a:t>فهم فجوة سوق إطالة العمر في منطقة الشرق الأوسط وشمال أفريقيا وإعادة التموضع لتحقيق أقصى قيمة مدى الحياة</a:t>
            </a:r>
            <a:endParaRPr xmlns:a="http://schemas.openxmlformats.org/drawingml/2006/main" lang="en-US" sz="1600" dirty="0"/>
          </a:p>
        </p:txBody>
      </p:sp>
      <p:sp>
        <p:nvSpPr>
          <p:cNvPr id="9" name="Shape 6"/>
          <p:cNvSpPr/>
          <p:nvPr/>
        </p:nvSpPr>
        <p:spPr>
          <a:xfrm>
            <a:off x="409575" y="5257800"/>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D4AF37"/>
          </a:solidFill>
          <a:ln/>
        </p:spPr>
      </p:sp>
      <p:sp>
        <p:nvSpPr>
          <p:cNvPr id="10" name="Text 7"/>
          <p:cNvSpPr/>
          <p:nvPr/>
        </p:nvSpPr>
        <p:spPr>
          <a:xfrm>
            <a:off x="781050" y="5238750"/>
            <a:ext cx="124777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80000"/>
                  </a:srgbClr>
                </a:solidFill>
                <a:latin typeface="Quattrocento Sans" pitchFamily="34" charset="0"/>
                <a:ea typeface="Quattrocento Sans" pitchFamily="34" charset="-122"/>
                <a:cs typeface="Quattrocento Sans" pitchFamily="34" charset="-120"/>
              </a:rPr>
              <a:t>تحليل السوق</a:t>
            </a:r>
            <a:endParaRPr xmlns:a="http://schemas.openxmlformats.org/drawingml/2006/main" lang="en-US" sz="1600" dirty="0"/>
          </a:p>
        </p:txBody>
      </p:sp>
      <p:sp>
        <p:nvSpPr>
          <p:cNvPr id="11" name="Shape 8"/>
          <p:cNvSpPr/>
          <p:nvPr/>
        </p:nvSpPr>
        <p:spPr>
          <a:xfrm>
            <a:off x="2251249" y="5257800"/>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D4AF37"/>
          </a:solidFill>
          <a:ln/>
        </p:spPr>
      </p:sp>
      <p:sp>
        <p:nvSpPr>
          <p:cNvPr id="12" name="Text 9"/>
          <p:cNvSpPr/>
          <p:nvPr/>
        </p:nvSpPr>
        <p:spPr>
          <a:xfrm>
            <a:off x="2651299" y="5238750"/>
            <a:ext cx="167640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80000"/>
                  </a:srgbClr>
                </a:solidFill>
                <a:latin typeface="Quattrocento Sans" pitchFamily="34" charset="0"/>
                <a:ea typeface="Quattrocento Sans" pitchFamily="34" charset="-122"/>
                <a:cs typeface="Quattrocento Sans" pitchFamily="34" charset="-120"/>
              </a:rPr>
              <a:t>الفئات السكانية المستهدفة</a:t>
            </a:r>
            <a:endParaRPr xmlns:a="http://schemas.openxmlformats.org/drawingml/2006/main" lang="en-US" sz="1600" dirty="0"/>
          </a:p>
        </p:txBody>
      </p:sp>
      <p:sp>
        <p:nvSpPr>
          <p:cNvPr id="13" name="Shape 10"/>
          <p:cNvSpPr/>
          <p:nvPr/>
        </p:nvSpPr>
        <p:spPr>
          <a:xfrm>
            <a:off x="4572670" y="5257800"/>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D4AF37"/>
          </a:solidFill>
          <a:ln/>
        </p:spPr>
      </p:sp>
      <p:sp>
        <p:nvSpPr>
          <p:cNvPr id="14" name="Text 11"/>
          <p:cNvSpPr/>
          <p:nvPr/>
        </p:nvSpPr>
        <p:spPr>
          <a:xfrm>
            <a:off x="4944145" y="5238750"/>
            <a:ext cx="158115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80000"/>
                  </a:srgbClr>
                </a:solidFill>
                <a:latin typeface="Quattrocento Sans" pitchFamily="34" charset="0"/>
                <a:ea typeface="Quattrocento Sans" pitchFamily="34" charset="-122"/>
                <a:cs typeface="Quattrocento Sans" pitchFamily="34" charset="-120"/>
              </a:rPr>
              <a:t>التموضع الاستراتيجي</a:t>
            </a:r>
            <a:endParaRPr xmlns:a="http://schemas.openxmlformats.org/drawingml/2006/main"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spc="60" kern="0" dirty="0">
                <a:solidFill>
                  <a:srgbClr val="D4AF37"/>
                </a:solidFill>
                <a:latin typeface="Quattrocento Sans" pitchFamily="34" charset="0"/>
                <a:ea typeface="Quattrocento Sans" pitchFamily="34" charset="-122"/>
                <a:cs typeface="Quattrocento Sans" pitchFamily="34" charset="-120"/>
              </a:rPr>
              <a:t>فرصة السوق</a:t>
            </a:r>
            <a:endParaRPr xmlns:a="http://schemas.openxmlformats.org/drawingml/2006/main"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700" b="1" dirty="0">
                <a:solidFill>
                  <a:srgbClr val="E6F1FF"/>
                </a:solidFill>
                <a:latin typeface="Liter" pitchFamily="34" charset="0"/>
                <a:ea typeface="Liter" pitchFamily="34" charset="-122"/>
                <a:cs typeface="Liter" pitchFamily="34" charset="-120"/>
              </a:rPr>
              <a:t>الاستيلاء على الأراضي في منطقة الشرق الأوسط وشمال أفريقيا</a:t>
            </a:r>
            <a:endParaRPr xmlns:a="http://schemas.openxmlformats.org/drawingml/2006/main" lang="en-US" sz="1600" dirty="0"/>
          </a:p>
        </p:txBody>
      </p:sp>
      <p:sp>
        <p:nvSpPr>
          <p:cNvPr id="4" name="Shape 2"/>
          <p:cNvSpPr/>
          <p:nvPr/>
        </p:nvSpPr>
        <p:spPr>
          <a:xfrm>
            <a:off x="381000" y="1104900"/>
            <a:ext cx="914400" cy="38100"/>
          </a:xfrm>
          <a:prstGeom prst="roundRect">
            <a:avLst>
              <a:gd name="adj" fmla="val 0"/>
            </a:avLst>
          </a:prstGeom>
          <a:solidFill>
            <a:srgbClr val="D4AF37"/>
          </a:solidFill>
          <a:ln/>
        </p:spPr>
      </p:sp>
      <p:sp>
        <p:nvSpPr>
          <p:cNvPr id="5" name="Shape 3"/>
          <p:cNvSpPr/>
          <p:nvPr/>
        </p:nvSpPr>
        <p:spPr>
          <a:xfrm>
            <a:off x="385763" y="1223963"/>
            <a:ext cx="5629275" cy="2124075"/>
          </a:xfrm>
          <a:prstGeom prst="roundRect">
            <a:avLst>
              <a:gd name="adj" fmla="val 5381"/>
            </a:avLst>
          </a:prstGeom>
          <a:gradFill rotWithShape="1" flip="none">
            <a:gsLst>
              <a:gs pos="0">
                <a:srgbClr val="1E3A5F">
                  <a:alpha val="50000"/>
                </a:srgbClr>
              </a:gs>
              <a:gs pos="100000">
                <a:srgbClr val="0A192F">
                  <a:alpha val="30000"/>
                </a:srgbClr>
              </a:gs>
            </a:gsLst>
            <a:lin ang="2700000" scaled="1"/>
          </a:gradFill>
          <a:ln w="12700">
            <a:solidFill>
              <a:srgbClr val="D4AF37">
                <a:alpha val="30196"/>
              </a:srgbClr>
            </a:solidFill>
            <a:prstDash val="solid"/>
          </a:ln>
        </p:spPr>
      </p:sp>
      <p:sp>
        <p:nvSpPr>
          <p:cNvPr id="6" name="Shape 4"/>
          <p:cNvSpPr/>
          <p:nvPr/>
        </p:nvSpPr>
        <p:spPr>
          <a:xfrm>
            <a:off x="542925" y="1600200"/>
            <a:ext cx="381000" cy="381000"/>
          </a:xfrm>
          <a:prstGeom prst="roundRect">
            <a:avLst>
              <a:gd name="adj" fmla="val 20000"/>
            </a:avLst>
          </a:prstGeom>
          <a:solidFill>
            <a:srgbClr val="FB2C36">
              <a:alpha val="20000"/>
            </a:srgbClr>
          </a:solidFill>
          <a:ln/>
        </p:spPr>
      </p:sp>
      <p:sp>
        <p:nvSpPr>
          <p:cNvPr id="7" name="Shape 5"/>
          <p:cNvSpPr/>
          <p:nvPr/>
        </p:nvSpPr>
        <p:spPr>
          <a:xfrm>
            <a:off x="638175" y="169545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F6467"/>
          </a:solidFill>
          <a:ln/>
        </p:spPr>
      </p:sp>
      <p:sp>
        <p:nvSpPr>
          <p:cNvPr id="8" name="Text 6"/>
          <p:cNvSpPr/>
          <p:nvPr/>
        </p:nvSpPr>
        <p:spPr>
          <a:xfrm>
            <a:off x="1038225" y="1657350"/>
            <a:ext cx="1009650"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E6F1FF"/>
                </a:solidFill>
                <a:latin typeface="Liter" pitchFamily="34" charset="0"/>
                <a:ea typeface="Liter" pitchFamily="34" charset="-122"/>
                <a:cs typeface="Liter" pitchFamily="34" charset="-120"/>
              </a:rPr>
              <a:t>العجز</a:t>
            </a:r>
            <a:endParaRPr xmlns:a="http://schemas.openxmlformats.org/drawingml/2006/main" lang="en-US" sz="1600" dirty="0"/>
          </a:p>
        </p:txBody>
      </p:sp>
      <p:sp>
        <p:nvSpPr>
          <p:cNvPr id="9" name="Text 7"/>
          <p:cNvSpPr/>
          <p:nvPr/>
        </p:nvSpPr>
        <p:spPr>
          <a:xfrm>
            <a:off x="542925" y="2095500"/>
            <a:ext cx="752475" cy="381000"/>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700" b="1" dirty="0">
                <a:solidFill>
                  <a:srgbClr val="FF6467"/>
                </a:solidFill>
                <a:latin typeface="Liter" pitchFamily="34" charset="0"/>
                <a:ea typeface="Liter" pitchFamily="34" charset="-122"/>
                <a:cs typeface="Liter" pitchFamily="34" charset="-120"/>
              </a:rPr>
              <a:t>17%</a:t>
            </a:r>
            <a:endParaRPr xmlns:a="http://schemas.openxmlformats.org/drawingml/2006/main" lang="en-US" sz="1600" dirty="0"/>
          </a:p>
        </p:txBody>
      </p:sp>
      <p:sp>
        <p:nvSpPr>
          <p:cNvPr id="10" name="Text 8"/>
          <p:cNvSpPr/>
          <p:nvPr/>
        </p:nvSpPr>
        <p:spPr>
          <a:xfrm>
            <a:off x="1203796" y="2205038"/>
            <a:ext cx="453390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90000"/>
                  </a:srgbClr>
                </a:solidFill>
                <a:latin typeface="Quattrocento Sans" pitchFamily="34" charset="0"/>
                <a:ea typeface="Quattrocento Sans" pitchFamily="34" charset="-122"/>
                <a:cs typeface="Quattrocento Sans" pitchFamily="34" charset="-120"/>
              </a:rPr>
              <a:t>يعاني الكثير من المغاربة من ضغوط نفسية حادة ومشاكل في الصحة العقلية</a:t>
            </a:r>
            <a:endParaRPr xmlns:a="http://schemas.openxmlformats.org/drawingml/2006/main" lang="en-US" sz="1600" dirty="0"/>
          </a:p>
        </p:txBody>
      </p:sp>
      <p:sp>
        <p:nvSpPr>
          <p:cNvPr id="11" name="Text 9"/>
          <p:cNvSpPr/>
          <p:nvPr/>
        </p:nvSpPr>
        <p:spPr>
          <a:xfrm>
            <a:off x="542925" y="2590800"/>
            <a:ext cx="781050" cy="381000"/>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700" b="1" dirty="0">
                <a:solidFill>
                  <a:srgbClr val="FF6467"/>
                </a:solidFill>
                <a:latin typeface="Liter" pitchFamily="34" charset="0"/>
                <a:ea typeface="Liter" pitchFamily="34" charset="-122"/>
                <a:cs typeface="Liter" pitchFamily="34" charset="-120"/>
              </a:rPr>
              <a:t>343</a:t>
            </a:r>
            <a:endParaRPr xmlns:a="http://schemas.openxmlformats.org/drawingml/2006/main" lang="en-US" sz="1600" dirty="0"/>
          </a:p>
        </p:txBody>
      </p:sp>
      <p:sp>
        <p:nvSpPr>
          <p:cNvPr id="12" name="Text 10"/>
          <p:cNvSpPr/>
          <p:nvPr/>
        </p:nvSpPr>
        <p:spPr>
          <a:xfrm>
            <a:off x="1225748" y="2700338"/>
            <a:ext cx="342900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90000"/>
                  </a:srgbClr>
                </a:solidFill>
                <a:latin typeface="Quattrocento Sans" pitchFamily="34" charset="0"/>
                <a:ea typeface="Quattrocento Sans" pitchFamily="34" charset="-122"/>
                <a:cs typeface="Quattrocento Sans" pitchFamily="34" charset="-120"/>
              </a:rPr>
              <a:t>أطباء نفسيون لـ 37 مليون شخص (أقل من 1 لكل 100,000)</a:t>
            </a:r>
            <a:endParaRPr xmlns:a="http://schemas.openxmlformats.org/drawingml/2006/main" lang="en-US" sz="1600" dirty="0"/>
          </a:p>
        </p:txBody>
      </p:sp>
      <p:sp>
        <p:nvSpPr>
          <p:cNvPr id="13" name="Shape 11"/>
          <p:cNvSpPr/>
          <p:nvPr/>
        </p:nvSpPr>
        <p:spPr>
          <a:xfrm>
            <a:off x="385763" y="3509963"/>
            <a:ext cx="5629275" cy="2124075"/>
          </a:xfrm>
          <a:prstGeom prst="roundRect">
            <a:avLst>
              <a:gd name="adj" fmla="val 5381"/>
            </a:avLst>
          </a:prstGeom>
          <a:gradFill rotWithShape="1" flip="none">
            <a:gsLst>
              <a:gs pos="0">
                <a:srgbClr val="1E3A5F">
                  <a:alpha val="50000"/>
                </a:srgbClr>
              </a:gs>
              <a:gs pos="100000">
                <a:srgbClr val="0A192F">
                  <a:alpha val="30000"/>
                </a:srgbClr>
              </a:gs>
            </a:gsLst>
            <a:lin ang="2700000" scaled="1"/>
          </a:gradFill>
          <a:ln w="12700">
            <a:solidFill>
              <a:srgbClr val="64FFDA">
                <a:alpha val="30196"/>
              </a:srgbClr>
            </a:solidFill>
            <a:prstDash val="solid"/>
          </a:ln>
        </p:spPr>
      </p:sp>
      <p:sp>
        <p:nvSpPr>
          <p:cNvPr id="14" name="Shape 12"/>
          <p:cNvSpPr/>
          <p:nvPr/>
        </p:nvSpPr>
        <p:spPr>
          <a:xfrm>
            <a:off x="542925" y="3771900"/>
            <a:ext cx="381000" cy="381000"/>
          </a:xfrm>
          <a:prstGeom prst="roundRect">
            <a:avLst>
              <a:gd name="adj" fmla="val 20000"/>
            </a:avLst>
          </a:prstGeom>
          <a:solidFill>
            <a:srgbClr val="64FFDA">
              <a:alpha val="20000"/>
            </a:srgbClr>
          </a:solidFill>
          <a:ln/>
        </p:spPr>
      </p:sp>
      <p:sp>
        <p:nvSpPr>
          <p:cNvPr id="15" name="Shape 13"/>
          <p:cNvSpPr/>
          <p:nvPr/>
        </p:nvSpPr>
        <p:spPr>
          <a:xfrm>
            <a:off x="626269" y="3867150"/>
            <a:ext cx="214313" cy="190500"/>
          </a:xfrm>
          <a:custGeom>
            <a:avLst/>
            <a:gdLst/>
            <a:ahLst/>
            <a:cxnLst/>
            <a:rect l="l" t="t" r="r" b="b"/>
            <a:pathLst>
              <a:path w="214313" h="190500">
                <a:moveTo>
                  <a:pt x="142875" y="59531"/>
                </a:moveTo>
                <a:cubicBezTo>
                  <a:pt x="136289" y="59531"/>
                  <a:pt x="130969" y="54211"/>
                  <a:pt x="130969" y="47625"/>
                </a:cubicBezTo>
                <a:cubicBezTo>
                  <a:pt x="130969" y="41039"/>
                  <a:pt x="136289" y="35719"/>
                  <a:pt x="142875" y="35719"/>
                </a:cubicBezTo>
                <a:lnTo>
                  <a:pt x="202406" y="35719"/>
                </a:lnTo>
                <a:cubicBezTo>
                  <a:pt x="208992" y="35719"/>
                  <a:pt x="214313" y="41039"/>
                  <a:pt x="214313" y="47625"/>
                </a:cubicBezTo>
                <a:lnTo>
                  <a:pt x="214313" y="107156"/>
                </a:lnTo>
                <a:cubicBezTo>
                  <a:pt x="214313" y="113742"/>
                  <a:pt x="208992" y="119063"/>
                  <a:pt x="202406" y="119063"/>
                </a:cubicBezTo>
                <a:cubicBezTo>
                  <a:pt x="195821" y="119063"/>
                  <a:pt x="190500" y="113742"/>
                  <a:pt x="190500" y="107156"/>
                </a:cubicBezTo>
                <a:lnTo>
                  <a:pt x="190500" y="76386"/>
                </a:lnTo>
                <a:lnTo>
                  <a:pt x="127471" y="139415"/>
                </a:lnTo>
                <a:cubicBezTo>
                  <a:pt x="122820" y="144066"/>
                  <a:pt x="115267" y="144066"/>
                  <a:pt x="110617" y="139415"/>
                </a:cubicBezTo>
                <a:lnTo>
                  <a:pt x="71438" y="100199"/>
                </a:lnTo>
                <a:lnTo>
                  <a:pt x="20315" y="151284"/>
                </a:lnTo>
                <a:cubicBezTo>
                  <a:pt x="15664" y="155935"/>
                  <a:pt x="8111" y="155935"/>
                  <a:pt x="3460" y="151284"/>
                </a:cubicBezTo>
                <a:cubicBezTo>
                  <a:pt x="-1191" y="146633"/>
                  <a:pt x="-1191" y="139080"/>
                  <a:pt x="3460" y="134429"/>
                </a:cubicBezTo>
                <a:lnTo>
                  <a:pt x="62992" y="74898"/>
                </a:lnTo>
                <a:cubicBezTo>
                  <a:pt x="67642" y="70247"/>
                  <a:pt x="75195" y="70247"/>
                  <a:pt x="79846" y="74898"/>
                </a:cubicBezTo>
                <a:lnTo>
                  <a:pt x="119063" y="114114"/>
                </a:lnTo>
                <a:lnTo>
                  <a:pt x="173645" y="59531"/>
                </a:lnTo>
                <a:lnTo>
                  <a:pt x="142875" y="59531"/>
                </a:lnTo>
                <a:close/>
              </a:path>
            </a:pathLst>
          </a:custGeom>
          <a:solidFill>
            <a:srgbClr val="64FFDA"/>
          </a:solidFill>
          <a:ln/>
        </p:spPr>
      </p:sp>
      <p:sp>
        <p:nvSpPr>
          <p:cNvPr id="16" name="Text 14"/>
          <p:cNvSpPr/>
          <p:nvPr/>
        </p:nvSpPr>
        <p:spPr>
          <a:xfrm>
            <a:off x="1038225" y="3829050"/>
            <a:ext cx="857250"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E6F1FF"/>
                </a:solidFill>
                <a:latin typeface="Liter" pitchFamily="34" charset="0"/>
                <a:ea typeface="Liter" pitchFamily="34" charset="-122"/>
                <a:cs typeface="Liter" pitchFamily="34" charset="-120"/>
              </a:rPr>
              <a:t>التحول</a:t>
            </a:r>
            <a:endParaRPr xmlns:a="http://schemas.openxmlformats.org/drawingml/2006/main" lang="en-US" sz="1600" dirty="0"/>
          </a:p>
        </p:txBody>
      </p:sp>
      <p:sp>
        <p:nvSpPr>
          <p:cNvPr id="17" name="Text 15"/>
          <p:cNvSpPr/>
          <p:nvPr/>
        </p:nvSpPr>
        <p:spPr>
          <a:xfrm>
            <a:off x="542925" y="4267200"/>
            <a:ext cx="326707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90000"/>
                  </a:srgbClr>
                </a:solidFill>
                <a:latin typeface="Quattrocento Sans" pitchFamily="34" charset="0"/>
                <a:ea typeface="Quattrocento Sans" pitchFamily="34" charset="-122"/>
                <a:cs typeface="Quattrocento Sans" pitchFamily="34" charset="-120"/>
              </a:rPr>
              <a:t>تحول ثروات منطقة الشرق الأوسط وشمال أفريقيا من السلع الفاخرة إلى</a:t>
            </a:r>
            <a:endParaRPr xmlns:a="http://schemas.openxmlformats.org/drawingml/2006/main" lang="en-US" sz="1600" dirty="0"/>
          </a:p>
        </p:txBody>
      </p:sp>
      <p:sp>
        <p:nvSpPr>
          <p:cNvPr id="18" name="Text 16"/>
          <p:cNvSpPr/>
          <p:nvPr/>
        </p:nvSpPr>
        <p:spPr>
          <a:xfrm>
            <a:off x="542925" y="4648200"/>
            <a:ext cx="2933700" cy="342900"/>
          </a:xfrm>
          <a:prstGeom prst="rect">
            <a:avLst/>
          </a:prstGeom>
          <a:noFill/>
          <a:ln/>
        </p:spPr>
        <p:txBody>
          <a:bodyPr wrap="square" lIns="0" tIns="0" rIns="0" bIns="0" rtlCol="0" anchor="ctr"/>
          <a:lstStyle/>
          <a:p>
            <a:pPr xmlns:a="http://schemas.openxmlformats.org/drawingml/2006/main">
              <a:lnSpc>
                <a:spcPct val="100000"/>
              </a:lnSpc>
              <a:bidi/>
            </a:pPr>
            <a:r xmlns:a="http://schemas.openxmlformats.org/drawingml/2006/main">
              <a:rPr lang="ar" sz="2250" b="1" dirty="0">
                <a:solidFill>
                  <a:srgbClr val="64FFDA"/>
                </a:solidFill>
                <a:latin typeface="Liter" pitchFamily="34" charset="0"/>
                <a:ea typeface="Liter" pitchFamily="34" charset="-122"/>
                <a:cs typeface="Liter" pitchFamily="34" charset="-120"/>
              </a:rPr>
              <a:t>طول العمر الوقائي</a:t>
            </a:r>
            <a:endParaRPr xmlns:a="http://schemas.openxmlformats.org/drawingml/2006/main" lang="en-US" sz="1600" dirty="0"/>
          </a:p>
        </p:txBody>
      </p:sp>
      <p:sp>
        <p:nvSpPr>
          <p:cNvPr id="19" name="Text 17"/>
          <p:cNvSpPr/>
          <p:nvPr/>
        </p:nvSpPr>
        <p:spPr>
          <a:xfrm>
            <a:off x="542925" y="5105400"/>
            <a:ext cx="396240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90000"/>
                  </a:srgbClr>
                </a:solidFill>
                <a:latin typeface="Quattrocento Sans" pitchFamily="34" charset="0"/>
                <a:ea typeface="Quattrocento Sans" pitchFamily="34" charset="-122"/>
                <a:cs typeface="Quattrocento Sans" pitchFamily="34" charset="-120"/>
              </a:rPr>
              <a:t>السعي النشط: 87% من الأفراد ذوي الثروات العالية في أمريكا الشمالية | 100% من الأفراد ذوي الثروات العالية في منطقة آسيا والمحيط الهادئ</a:t>
            </a:r>
            <a:endParaRPr xmlns:a="http://schemas.openxmlformats.org/drawingml/2006/main" lang="en-US" sz="1600" dirty="0"/>
          </a:p>
        </p:txBody>
      </p:sp>
      <p:sp>
        <p:nvSpPr>
          <p:cNvPr id="20" name="Shape 18"/>
          <p:cNvSpPr/>
          <p:nvPr/>
        </p:nvSpPr>
        <p:spPr>
          <a:xfrm>
            <a:off x="6176963" y="1223963"/>
            <a:ext cx="5629275" cy="4410075"/>
          </a:xfrm>
          <a:prstGeom prst="roundRect">
            <a:avLst>
              <a:gd name="adj" fmla="val 2592"/>
            </a:avLst>
          </a:prstGeom>
          <a:gradFill rotWithShape="1" flip="none">
            <a:gsLst>
              <a:gs pos="0">
                <a:srgbClr val="1E3A5F">
                  <a:alpha val="40000"/>
                </a:srgbClr>
              </a:gs>
              <a:gs pos="100000">
                <a:srgbClr val="0A192F">
                  <a:alpha val="20000"/>
                </a:srgbClr>
              </a:gs>
            </a:gsLst>
            <a:lin ang="2700000" scaled="1"/>
          </a:gradFill>
          <a:ln w="12700">
            <a:solidFill>
              <a:srgbClr val="D4AF37">
                <a:alpha val="40000"/>
              </a:srgbClr>
            </a:solidFill>
            <a:prstDash val="solid"/>
          </a:ln>
        </p:spPr>
      </p:sp>
      <p:sp>
        <p:nvSpPr>
          <p:cNvPr id="21" name="Text 19"/>
          <p:cNvSpPr/>
          <p:nvPr/>
        </p:nvSpPr>
        <p:spPr>
          <a:xfrm>
            <a:off x="6286500" y="1381125"/>
            <a:ext cx="5410200" cy="2667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500" b="1" dirty="0">
                <a:solidFill>
                  <a:srgbClr val="D4AF37"/>
                </a:solidFill>
                <a:latin typeface="Liter" pitchFamily="34" charset="0"/>
                <a:ea typeface="Liter" pitchFamily="34" charset="-122"/>
                <a:cs typeface="Liter" pitchFamily="34" charset="-120"/>
              </a:rPr>
              <a:t>مؤشر فرص السوق</a:t>
            </a:r>
            <a:endParaRPr xmlns:a="http://schemas.openxmlformats.org/drawingml/2006/main" lang="en-US" sz="1600" dirty="0"/>
          </a:p>
        </p:txBody>
      </p:sp>
      <p:sp>
        <p:nvSpPr>
          <p:cNvPr id="22" name="Text 20"/>
          <p:cNvSpPr/>
          <p:nvPr/>
        </p:nvSpPr>
        <p:spPr>
          <a:xfrm>
            <a:off x="6296025" y="1724025"/>
            <a:ext cx="5391150" cy="228600"/>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200" dirty="0">
                <a:solidFill>
                  <a:srgbClr val="E6F1FF">
                    <a:alpha val="70000"/>
                  </a:srgbClr>
                </a:solidFill>
                <a:latin typeface="Quattrocento Sans" pitchFamily="34" charset="0"/>
                <a:ea typeface="Quattrocento Sans" pitchFamily="34" charset="-122"/>
                <a:cs typeface="Quattrocento Sans" pitchFamily="34" charset="-120"/>
              </a:rPr>
              <a:t>عجز الرعاية الصحية التقليدية مقابل طلب الأفراد ذوي الثروات العالية على خدمات الصحة والعافية</a:t>
            </a:r>
            <a:endParaRPr xmlns:a="http://schemas.openxmlformats.org/drawingml/2006/main" lang="en-US" sz="1600" dirty="0"/>
          </a:p>
        </p:txBody>
      </p:sp>
      <p:pic>
        <p:nvPicPr>
          <p:cNvPr id="23" name="Image 0" descr="https://kimi-img.moonshot.cn/pub/slides/26-04-20-23:49:17-d7j4lv9ic4ud2p63ok0g.png">    </p:cNvPr>
          <p:cNvPicPr>
            <a:picLocks noChangeAspect="1"/>
          </p:cNvPicPr>
          <p:nvPr/>
        </p:nvPicPr>
        <p:blipFill>
          <a:blip r:embed="rId1"/>
          <a:srcRect l="0" r="0" t="0" b="0"/>
          <a:stretch/>
        </p:blipFill>
        <p:spPr>
          <a:xfrm>
            <a:off x="6334125" y="2028825"/>
            <a:ext cx="5314950" cy="2895600"/>
          </a:xfrm>
          <a:prstGeom prst="roundRect">
            <a:avLst>
              <a:gd name="adj" fmla="val 0"/>
            </a:avLst>
          </a:prstGeom>
        </p:spPr>
      </p:pic>
      <p:sp>
        <p:nvSpPr>
          <p:cNvPr id="24" name="Shape 21"/>
          <p:cNvSpPr/>
          <p:nvPr/>
        </p:nvSpPr>
        <p:spPr>
          <a:xfrm>
            <a:off x="6338888" y="5005388"/>
            <a:ext cx="5305425" cy="466725"/>
          </a:xfrm>
          <a:prstGeom prst="roundRect">
            <a:avLst>
              <a:gd name="adj" fmla="val 16327"/>
            </a:avLst>
          </a:prstGeom>
          <a:solidFill>
            <a:srgbClr val="D4AF37">
              <a:alpha val="10196"/>
            </a:srgbClr>
          </a:solidFill>
          <a:ln w="12700">
            <a:solidFill>
              <a:srgbClr val="D4AF37">
                <a:alpha val="30196"/>
              </a:srgbClr>
            </a:solidFill>
            <a:prstDash val="solid"/>
          </a:ln>
        </p:spPr>
      </p:sp>
      <p:sp>
        <p:nvSpPr>
          <p:cNvPr id="25" name="Shape 22"/>
          <p:cNvSpPr/>
          <p:nvPr/>
        </p:nvSpPr>
        <p:spPr>
          <a:xfrm>
            <a:off x="6750323" y="5157788"/>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D4AF37"/>
          </a:solidFill>
          <a:ln/>
        </p:spPr>
      </p:sp>
      <p:sp>
        <p:nvSpPr>
          <p:cNvPr id="26" name="Text 23"/>
          <p:cNvSpPr/>
          <p:nvPr/>
        </p:nvSpPr>
        <p:spPr>
          <a:xfrm>
            <a:off x="6667500" y="5124450"/>
            <a:ext cx="4895850" cy="228600"/>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200" b="1" dirty="0">
                <a:solidFill>
                  <a:srgbClr val="D4AF37"/>
                </a:solidFill>
                <a:latin typeface="Quattrocento Sans" pitchFamily="34" charset="0"/>
                <a:ea typeface="Quattrocento Sans" pitchFamily="34" charset="-122"/>
                <a:cs typeface="Quattrocento Sans" pitchFamily="34" charset="-120"/>
              </a:rPr>
              <a:t>منطقة فرص الاختراق البيولوجي: </a:t>
            </a:r>
            <a:pPr xmlns:a="http://schemas.openxmlformats.org/drawingml/2006/main" algn="ctr">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حيث يلتقي العجز بالطلب</a:t>
            </a:r>
            <a:endParaRPr xmlns:a="http://schemas.openxmlformats.org/drawingml/2006/main" lang="en-US" sz="1600" dirty="0"/>
          </a:p>
        </p:txBody>
      </p:sp>
      <p:sp>
        <p:nvSpPr>
          <p:cNvPr id="27" name="Shape 24"/>
          <p:cNvSpPr/>
          <p:nvPr/>
        </p:nvSpPr>
        <p:spPr>
          <a:xfrm>
            <a:off x="400050" y="5715000"/>
            <a:ext cx="3686175" cy="762000"/>
          </a:xfrm>
          <a:custGeom>
            <a:avLst/>
            <a:gdLst/>
            <a:ahLst/>
            <a:cxnLst/>
            <a:rect l="l" t="t" r="r" b="b"/>
            <a:pathLst>
              <a:path w="3686175" h="762000">
                <a:moveTo>
                  <a:pt x="38100" y="0"/>
                </a:moveTo>
                <a:lnTo>
                  <a:pt x="3609975" y="0"/>
                </a:lnTo>
                <a:cubicBezTo>
                  <a:pt x="3652031" y="0"/>
                  <a:pt x="3686175" y="34144"/>
                  <a:pt x="3686175" y="76200"/>
                </a:cubicBezTo>
                <a:lnTo>
                  <a:pt x="3686175" y="685800"/>
                </a:lnTo>
                <a:cubicBezTo>
                  <a:pt x="3686175" y="727856"/>
                  <a:pt x="3652031" y="762000"/>
                  <a:pt x="3609975" y="762000"/>
                </a:cubicBezTo>
                <a:lnTo>
                  <a:pt x="38100" y="762000"/>
                </a:lnTo>
                <a:cubicBezTo>
                  <a:pt x="17072" y="762000"/>
                  <a:pt x="0" y="744928"/>
                  <a:pt x="0" y="723900"/>
                </a:cubicBezTo>
                <a:lnTo>
                  <a:pt x="0" y="38100"/>
                </a:lnTo>
                <a:cubicBezTo>
                  <a:pt x="0" y="17072"/>
                  <a:pt x="17072" y="0"/>
                  <a:pt x="38100" y="0"/>
                </a:cubicBezTo>
                <a:close/>
              </a:path>
            </a:pathLst>
          </a:custGeom>
          <a:solidFill>
            <a:srgbClr val="1E3A5F">
              <a:alpha val="30196"/>
            </a:srgbClr>
          </a:solidFill>
          <a:ln/>
        </p:spPr>
      </p:sp>
      <p:sp>
        <p:nvSpPr>
          <p:cNvPr id="28" name="Shape 25"/>
          <p:cNvSpPr/>
          <p:nvPr/>
        </p:nvSpPr>
        <p:spPr>
          <a:xfrm>
            <a:off x="400050" y="5715000"/>
            <a:ext cx="38100" cy="762000"/>
          </a:xfrm>
          <a:custGeom>
            <a:avLst/>
            <a:gdLst/>
            <a:ahLst/>
            <a:cxnLst/>
            <a:rect l="l" t="t" r="r" b="b"/>
            <a:pathLst>
              <a:path w="38100" h="762000">
                <a:moveTo>
                  <a:pt x="38100" y="0"/>
                </a:moveTo>
                <a:lnTo>
                  <a:pt x="38100" y="0"/>
                </a:lnTo>
                <a:lnTo>
                  <a:pt x="38100" y="762000"/>
                </a:lnTo>
                <a:lnTo>
                  <a:pt x="38100" y="762000"/>
                </a:lnTo>
                <a:cubicBezTo>
                  <a:pt x="17072" y="762000"/>
                  <a:pt x="0" y="744928"/>
                  <a:pt x="0" y="723900"/>
                </a:cubicBezTo>
                <a:lnTo>
                  <a:pt x="0" y="38100"/>
                </a:lnTo>
                <a:cubicBezTo>
                  <a:pt x="0" y="17072"/>
                  <a:pt x="17072" y="0"/>
                  <a:pt x="38100" y="0"/>
                </a:cubicBezTo>
                <a:close/>
              </a:path>
            </a:pathLst>
          </a:custGeom>
          <a:solidFill>
            <a:srgbClr val="D4AF37"/>
          </a:solidFill>
          <a:ln/>
        </p:spPr>
      </p:sp>
      <p:sp>
        <p:nvSpPr>
          <p:cNvPr id="29" name="Text 26"/>
          <p:cNvSpPr/>
          <p:nvPr/>
        </p:nvSpPr>
        <p:spPr>
          <a:xfrm>
            <a:off x="500063" y="5829300"/>
            <a:ext cx="3505200"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السوق المستهدف</a:t>
            </a:r>
            <a:endParaRPr xmlns:a="http://schemas.openxmlformats.org/drawingml/2006/main" lang="en-US" sz="1600" dirty="0"/>
          </a:p>
        </p:txBody>
      </p:sp>
      <p:sp>
        <p:nvSpPr>
          <p:cNvPr id="30" name="Text 27"/>
          <p:cNvSpPr/>
          <p:nvPr/>
        </p:nvSpPr>
        <p:spPr>
          <a:xfrm>
            <a:off x="476250" y="6057900"/>
            <a:ext cx="3552825" cy="304800"/>
          </a:xfrm>
          <a:prstGeom prst="rect">
            <a:avLst/>
          </a:prstGeom>
          <a:noFill/>
          <a:ln/>
        </p:spPr>
        <p:txBody>
          <a:bodyPr wrap="square" lIns="0" tIns="0" rIns="0" bIns="0" rtlCol="0" anchor="ctr"/>
          <a:lstStyle/>
          <a:p>
            <a:pPr xmlns:a="http://schemas.openxmlformats.org/drawingml/2006/main" algn="ctr">
              <a:lnSpc>
                <a:spcPct val="110000"/>
              </a:lnSpc>
              <a:bidi/>
            </a:pPr>
            <a:r xmlns:a="http://schemas.openxmlformats.org/drawingml/2006/main">
              <a:rPr lang="ar" sz="1800" b="1" dirty="0">
                <a:solidFill>
                  <a:srgbClr val="D4AF37"/>
                </a:solidFill>
                <a:latin typeface="Liter" pitchFamily="34" charset="0"/>
                <a:ea typeface="Liter" pitchFamily="34" charset="-122"/>
                <a:cs typeface="Liter" pitchFamily="34" charset="-120"/>
              </a:rPr>
              <a:t>6.3 مليون نسمة</a:t>
            </a:r>
            <a:endParaRPr xmlns:a="http://schemas.openxmlformats.org/drawingml/2006/main" lang="en-US" sz="1600" dirty="0"/>
          </a:p>
        </p:txBody>
      </p:sp>
      <p:sp>
        <p:nvSpPr>
          <p:cNvPr id="31" name="Shape 28"/>
          <p:cNvSpPr/>
          <p:nvPr/>
        </p:nvSpPr>
        <p:spPr>
          <a:xfrm>
            <a:off x="4260800" y="5715000"/>
            <a:ext cx="3686175" cy="762000"/>
          </a:xfrm>
          <a:custGeom>
            <a:avLst/>
            <a:gdLst/>
            <a:ahLst/>
            <a:cxnLst/>
            <a:rect l="l" t="t" r="r" b="b"/>
            <a:pathLst>
              <a:path w="3686175" h="762000">
                <a:moveTo>
                  <a:pt x="38100" y="0"/>
                </a:moveTo>
                <a:lnTo>
                  <a:pt x="3609975" y="0"/>
                </a:lnTo>
                <a:cubicBezTo>
                  <a:pt x="3652031" y="0"/>
                  <a:pt x="3686175" y="34144"/>
                  <a:pt x="3686175" y="76200"/>
                </a:cubicBezTo>
                <a:lnTo>
                  <a:pt x="3686175" y="685800"/>
                </a:lnTo>
                <a:cubicBezTo>
                  <a:pt x="3686175" y="727856"/>
                  <a:pt x="3652031" y="762000"/>
                  <a:pt x="3609975" y="762000"/>
                </a:cubicBezTo>
                <a:lnTo>
                  <a:pt x="38100" y="762000"/>
                </a:lnTo>
                <a:cubicBezTo>
                  <a:pt x="17072" y="762000"/>
                  <a:pt x="0" y="744928"/>
                  <a:pt x="0" y="723900"/>
                </a:cubicBezTo>
                <a:lnTo>
                  <a:pt x="0" y="38100"/>
                </a:lnTo>
                <a:cubicBezTo>
                  <a:pt x="0" y="17072"/>
                  <a:pt x="17072" y="0"/>
                  <a:pt x="38100" y="0"/>
                </a:cubicBezTo>
                <a:close/>
              </a:path>
            </a:pathLst>
          </a:custGeom>
          <a:solidFill>
            <a:srgbClr val="1E3A5F">
              <a:alpha val="30196"/>
            </a:srgbClr>
          </a:solidFill>
          <a:ln/>
        </p:spPr>
      </p:sp>
      <p:sp>
        <p:nvSpPr>
          <p:cNvPr id="32" name="Shape 29"/>
          <p:cNvSpPr/>
          <p:nvPr/>
        </p:nvSpPr>
        <p:spPr>
          <a:xfrm>
            <a:off x="4260800" y="5715000"/>
            <a:ext cx="38100" cy="762000"/>
          </a:xfrm>
          <a:custGeom>
            <a:avLst/>
            <a:gdLst/>
            <a:ahLst/>
            <a:cxnLst/>
            <a:rect l="l" t="t" r="r" b="b"/>
            <a:pathLst>
              <a:path w="38100" h="762000">
                <a:moveTo>
                  <a:pt x="38100" y="0"/>
                </a:moveTo>
                <a:lnTo>
                  <a:pt x="38100" y="0"/>
                </a:lnTo>
                <a:lnTo>
                  <a:pt x="38100" y="762000"/>
                </a:lnTo>
                <a:lnTo>
                  <a:pt x="38100" y="762000"/>
                </a:lnTo>
                <a:cubicBezTo>
                  <a:pt x="17072" y="762000"/>
                  <a:pt x="0" y="744928"/>
                  <a:pt x="0" y="723900"/>
                </a:cubicBezTo>
                <a:lnTo>
                  <a:pt x="0" y="38100"/>
                </a:lnTo>
                <a:cubicBezTo>
                  <a:pt x="0" y="17072"/>
                  <a:pt x="17072" y="0"/>
                  <a:pt x="38100" y="0"/>
                </a:cubicBezTo>
                <a:close/>
              </a:path>
            </a:pathLst>
          </a:custGeom>
          <a:solidFill>
            <a:srgbClr val="64FFDA"/>
          </a:solidFill>
          <a:ln/>
        </p:spPr>
      </p:sp>
      <p:sp>
        <p:nvSpPr>
          <p:cNvPr id="33" name="Text 30"/>
          <p:cNvSpPr/>
          <p:nvPr/>
        </p:nvSpPr>
        <p:spPr>
          <a:xfrm>
            <a:off x="4360813" y="5829300"/>
            <a:ext cx="3505200"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فجوة الخدمة</a:t>
            </a:r>
            <a:endParaRPr xmlns:a="http://schemas.openxmlformats.org/drawingml/2006/main" lang="en-US" sz="1600" dirty="0"/>
          </a:p>
        </p:txBody>
      </p:sp>
      <p:sp>
        <p:nvSpPr>
          <p:cNvPr id="34" name="Text 31"/>
          <p:cNvSpPr/>
          <p:nvPr/>
        </p:nvSpPr>
        <p:spPr>
          <a:xfrm>
            <a:off x="4337000" y="6057900"/>
            <a:ext cx="3552825" cy="304800"/>
          </a:xfrm>
          <a:prstGeom prst="rect">
            <a:avLst/>
          </a:prstGeom>
          <a:noFill/>
          <a:ln/>
        </p:spPr>
        <p:txBody>
          <a:bodyPr wrap="square" lIns="0" tIns="0" rIns="0" bIns="0" rtlCol="0" anchor="ctr"/>
          <a:lstStyle/>
          <a:p>
            <a:pPr xmlns:a="http://schemas.openxmlformats.org/drawingml/2006/main" algn="ctr">
              <a:lnSpc>
                <a:spcPct val="110000"/>
              </a:lnSpc>
              <a:bidi/>
            </a:pPr>
            <a:r xmlns:a="http://schemas.openxmlformats.org/drawingml/2006/main">
              <a:rPr lang="ar" sz="1800" b="1" dirty="0">
                <a:solidFill>
                  <a:srgbClr val="64FFDA"/>
                </a:solidFill>
                <a:latin typeface="Liter" pitchFamily="34" charset="0"/>
                <a:ea typeface="Liter" pitchFamily="34" charset="-122"/>
                <a:cs typeface="Liter" pitchFamily="34" charset="-120"/>
              </a:rPr>
              <a:t>99.7% من الاحتياجات غير الملباة</a:t>
            </a:r>
            <a:endParaRPr xmlns:a="http://schemas.openxmlformats.org/drawingml/2006/main" lang="en-US" sz="1600" dirty="0"/>
          </a:p>
        </p:txBody>
      </p:sp>
      <p:sp>
        <p:nvSpPr>
          <p:cNvPr id="35" name="Shape 32"/>
          <p:cNvSpPr/>
          <p:nvPr/>
        </p:nvSpPr>
        <p:spPr>
          <a:xfrm>
            <a:off x="8121625" y="5715000"/>
            <a:ext cx="3686175" cy="762000"/>
          </a:xfrm>
          <a:custGeom>
            <a:avLst/>
            <a:gdLst/>
            <a:ahLst/>
            <a:cxnLst/>
            <a:rect l="l" t="t" r="r" b="b"/>
            <a:pathLst>
              <a:path w="3686175" h="762000">
                <a:moveTo>
                  <a:pt x="38100" y="0"/>
                </a:moveTo>
                <a:lnTo>
                  <a:pt x="3609975" y="0"/>
                </a:lnTo>
                <a:cubicBezTo>
                  <a:pt x="3652031" y="0"/>
                  <a:pt x="3686175" y="34144"/>
                  <a:pt x="3686175" y="76200"/>
                </a:cubicBezTo>
                <a:lnTo>
                  <a:pt x="3686175" y="685800"/>
                </a:lnTo>
                <a:cubicBezTo>
                  <a:pt x="3686175" y="727856"/>
                  <a:pt x="3652031" y="762000"/>
                  <a:pt x="3609975" y="762000"/>
                </a:cubicBezTo>
                <a:lnTo>
                  <a:pt x="38100" y="762000"/>
                </a:lnTo>
                <a:cubicBezTo>
                  <a:pt x="17072" y="762000"/>
                  <a:pt x="0" y="744928"/>
                  <a:pt x="0" y="723900"/>
                </a:cubicBezTo>
                <a:lnTo>
                  <a:pt x="0" y="38100"/>
                </a:lnTo>
                <a:cubicBezTo>
                  <a:pt x="0" y="17072"/>
                  <a:pt x="17072" y="0"/>
                  <a:pt x="38100" y="0"/>
                </a:cubicBezTo>
                <a:close/>
              </a:path>
            </a:pathLst>
          </a:custGeom>
          <a:solidFill>
            <a:srgbClr val="1E3A5F">
              <a:alpha val="30196"/>
            </a:srgbClr>
          </a:solidFill>
          <a:ln/>
        </p:spPr>
      </p:sp>
      <p:sp>
        <p:nvSpPr>
          <p:cNvPr id="36" name="Shape 33"/>
          <p:cNvSpPr/>
          <p:nvPr/>
        </p:nvSpPr>
        <p:spPr>
          <a:xfrm>
            <a:off x="8121625" y="5715000"/>
            <a:ext cx="38100" cy="762000"/>
          </a:xfrm>
          <a:custGeom>
            <a:avLst/>
            <a:gdLst/>
            <a:ahLst/>
            <a:cxnLst/>
            <a:rect l="l" t="t" r="r" b="b"/>
            <a:pathLst>
              <a:path w="38100" h="762000">
                <a:moveTo>
                  <a:pt x="38100" y="0"/>
                </a:moveTo>
                <a:lnTo>
                  <a:pt x="38100" y="0"/>
                </a:lnTo>
                <a:lnTo>
                  <a:pt x="38100" y="762000"/>
                </a:lnTo>
                <a:lnTo>
                  <a:pt x="38100" y="762000"/>
                </a:lnTo>
                <a:cubicBezTo>
                  <a:pt x="17072" y="762000"/>
                  <a:pt x="0" y="744928"/>
                  <a:pt x="0" y="723900"/>
                </a:cubicBezTo>
                <a:lnTo>
                  <a:pt x="0" y="38100"/>
                </a:lnTo>
                <a:cubicBezTo>
                  <a:pt x="0" y="17072"/>
                  <a:pt x="17072" y="0"/>
                  <a:pt x="38100" y="0"/>
                </a:cubicBezTo>
                <a:close/>
              </a:path>
            </a:pathLst>
          </a:custGeom>
          <a:solidFill>
            <a:srgbClr val="D4AF37"/>
          </a:solidFill>
          <a:ln/>
        </p:spPr>
      </p:sp>
      <p:sp>
        <p:nvSpPr>
          <p:cNvPr id="37" name="Text 34"/>
          <p:cNvSpPr/>
          <p:nvPr/>
        </p:nvSpPr>
        <p:spPr>
          <a:xfrm>
            <a:off x="8221638" y="5829300"/>
            <a:ext cx="3505200"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نمو الأفراد ذوي الثروات العالية</a:t>
            </a:r>
            <a:endParaRPr xmlns:a="http://schemas.openxmlformats.org/drawingml/2006/main" lang="en-US" sz="1600" dirty="0"/>
          </a:p>
        </p:txBody>
      </p:sp>
      <p:sp>
        <p:nvSpPr>
          <p:cNvPr id="38" name="Text 35"/>
          <p:cNvSpPr/>
          <p:nvPr/>
        </p:nvSpPr>
        <p:spPr>
          <a:xfrm>
            <a:off x="8197825" y="6057900"/>
            <a:ext cx="3552825" cy="304800"/>
          </a:xfrm>
          <a:prstGeom prst="rect">
            <a:avLst/>
          </a:prstGeom>
          <a:noFill/>
          <a:ln/>
        </p:spPr>
        <p:txBody>
          <a:bodyPr wrap="square" lIns="0" tIns="0" rIns="0" bIns="0" rtlCol="0" anchor="ctr"/>
          <a:lstStyle/>
          <a:p>
            <a:pPr xmlns:a="http://schemas.openxmlformats.org/drawingml/2006/main" algn="ctr">
              <a:lnSpc>
                <a:spcPct val="110000"/>
              </a:lnSpc>
              <a:bidi/>
            </a:pPr>
            <a:r xmlns:a="http://schemas.openxmlformats.org/drawingml/2006/main">
              <a:rPr lang="ar" sz="1800" b="1" dirty="0">
                <a:solidFill>
                  <a:srgbClr val="D4AF37"/>
                </a:solidFill>
                <a:latin typeface="Liter" pitchFamily="34" charset="0"/>
                <a:ea typeface="Liter" pitchFamily="34" charset="-122"/>
                <a:cs typeface="Liter" pitchFamily="34" charset="-120"/>
              </a:rPr>
              <a:t>+24% على أساس سنوي</a:t>
            </a:r>
            <a:endParaRPr xmlns:a="http://schemas.openxmlformats.org/drawingml/2006/main"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66677" y="366677"/>
            <a:ext cx="11531982"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b="1" spc="58" kern="0" dirty="0">
                <a:solidFill>
                  <a:srgbClr val="D4AF37"/>
                </a:solidFill>
                <a:latin typeface="Quattrocento Sans" pitchFamily="34" charset="0"/>
                <a:ea typeface="Quattrocento Sans" pitchFamily="34" charset="-122"/>
                <a:cs typeface="Quattrocento Sans" pitchFamily="34" charset="-120"/>
              </a:rPr>
              <a:t>التموضع الاستراتيجي</a:t>
            </a:r>
            <a:endParaRPr xmlns:a="http://schemas.openxmlformats.org/drawingml/2006/main" lang="en-US" sz="1600" dirty="0"/>
          </a:p>
        </p:txBody>
      </p:sp>
      <p:sp>
        <p:nvSpPr>
          <p:cNvPr id="3" name="Text 1"/>
          <p:cNvSpPr/>
          <p:nvPr/>
        </p:nvSpPr>
        <p:spPr>
          <a:xfrm>
            <a:off x="366677" y="660018"/>
            <a:ext cx="11623651" cy="366677"/>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599" b="1" dirty="0">
                <a:solidFill>
                  <a:srgbClr val="E6F1FF"/>
                </a:solidFill>
                <a:latin typeface="Liter" pitchFamily="34" charset="0"/>
                <a:ea typeface="Liter" pitchFamily="34" charset="-122"/>
                <a:cs typeface="Liter" pitchFamily="34" charset="-120"/>
              </a:rPr>
              <a:t>إعادة تعريف الفئة الديموغرافية المستهدفة لتحقيق أقصى قيمة على المدى الطويل</a:t>
            </a:r>
            <a:endParaRPr xmlns:a="http://schemas.openxmlformats.org/drawingml/2006/main" lang="en-US" sz="1600" dirty="0"/>
          </a:p>
        </p:txBody>
      </p:sp>
      <p:sp>
        <p:nvSpPr>
          <p:cNvPr id="4" name="Shape 2"/>
          <p:cNvSpPr/>
          <p:nvPr/>
        </p:nvSpPr>
        <p:spPr>
          <a:xfrm>
            <a:off x="366677" y="1136698"/>
            <a:ext cx="880024" cy="36668"/>
          </a:xfrm>
          <a:prstGeom prst="roundRect">
            <a:avLst>
              <a:gd name="adj" fmla="val 0"/>
            </a:avLst>
          </a:prstGeom>
          <a:solidFill>
            <a:srgbClr val="D4AF37"/>
          </a:solidFill>
          <a:ln/>
        </p:spPr>
      </p:sp>
      <p:sp>
        <p:nvSpPr>
          <p:cNvPr id="5" name="Shape 3"/>
          <p:cNvSpPr/>
          <p:nvPr/>
        </p:nvSpPr>
        <p:spPr>
          <a:xfrm>
            <a:off x="375844" y="1329203"/>
            <a:ext cx="5619320" cy="4546791"/>
          </a:xfrm>
          <a:prstGeom prst="roundRect">
            <a:avLst>
              <a:gd name="adj" fmla="val 2419"/>
            </a:avLst>
          </a:prstGeom>
          <a:gradFill rotWithShape="1" flip="none">
            <a:gsLst>
              <a:gs pos="0">
                <a:srgbClr val="1E3A5F">
                  <a:alpha val="40000"/>
                </a:srgbClr>
              </a:gs>
              <a:gs pos="100000">
                <a:srgbClr val="0A192F">
                  <a:alpha val="20000"/>
                </a:srgbClr>
              </a:gs>
            </a:gsLst>
            <a:lin ang="2700000" scaled="1"/>
          </a:gradFill>
          <a:ln w="25400">
            <a:solidFill>
              <a:srgbClr val="FB2C36">
                <a:alpha val="40000"/>
              </a:srgbClr>
            </a:solidFill>
            <a:prstDash val="solid"/>
          </a:ln>
        </p:spPr>
      </p:sp>
      <p:sp>
        <p:nvSpPr>
          <p:cNvPr id="6" name="Shape 4"/>
          <p:cNvSpPr/>
          <p:nvPr/>
        </p:nvSpPr>
        <p:spPr>
          <a:xfrm>
            <a:off x="568349" y="1540042"/>
            <a:ext cx="440012" cy="440012"/>
          </a:xfrm>
          <a:prstGeom prst="roundRect">
            <a:avLst>
              <a:gd name="adj" fmla="val 50000"/>
            </a:avLst>
          </a:prstGeom>
          <a:solidFill>
            <a:srgbClr val="FB2C36">
              <a:alpha val="20000"/>
            </a:srgbClr>
          </a:solidFill>
          <a:ln/>
        </p:spPr>
      </p:sp>
      <p:sp>
        <p:nvSpPr>
          <p:cNvPr id="7" name="Shape 5"/>
          <p:cNvSpPr/>
          <p:nvPr/>
        </p:nvSpPr>
        <p:spPr>
          <a:xfrm>
            <a:off x="708144" y="1668379"/>
            <a:ext cx="160421" cy="183338"/>
          </a:xfrm>
          <a:custGeom>
            <a:avLst/>
            <a:gdLst/>
            <a:ahLst/>
            <a:cxnLst/>
            <a:rect l="l" t="t" r="r" b="b"/>
            <a:pathLst>
              <a:path w="160421" h="183338">
                <a:moveTo>
                  <a:pt x="80211" y="88805"/>
                </a:moveTo>
                <a:cubicBezTo>
                  <a:pt x="103926" y="88805"/>
                  <a:pt x="123180" y="69550"/>
                  <a:pt x="123180" y="45835"/>
                </a:cubicBezTo>
                <a:cubicBezTo>
                  <a:pt x="123180" y="22119"/>
                  <a:pt x="103926" y="2865"/>
                  <a:pt x="80211" y="2865"/>
                </a:cubicBezTo>
                <a:cubicBezTo>
                  <a:pt x="56495" y="2865"/>
                  <a:pt x="37241" y="22119"/>
                  <a:pt x="37241" y="45835"/>
                </a:cubicBezTo>
                <a:cubicBezTo>
                  <a:pt x="37241" y="69550"/>
                  <a:pt x="56495" y="88805"/>
                  <a:pt x="80211" y="88805"/>
                </a:cubicBezTo>
                <a:close/>
                <a:moveTo>
                  <a:pt x="69575" y="108857"/>
                </a:moveTo>
                <a:cubicBezTo>
                  <a:pt x="34304" y="108857"/>
                  <a:pt x="5729" y="137432"/>
                  <a:pt x="5729" y="172703"/>
                </a:cubicBezTo>
                <a:cubicBezTo>
                  <a:pt x="5729" y="178576"/>
                  <a:pt x="10492" y="183338"/>
                  <a:pt x="16364" y="183338"/>
                </a:cubicBezTo>
                <a:lnTo>
                  <a:pt x="144057" y="183338"/>
                </a:lnTo>
                <a:cubicBezTo>
                  <a:pt x="149929" y="183338"/>
                  <a:pt x="154692" y="178576"/>
                  <a:pt x="154692" y="172703"/>
                </a:cubicBezTo>
                <a:cubicBezTo>
                  <a:pt x="154692" y="137432"/>
                  <a:pt x="126117" y="108857"/>
                  <a:pt x="90846" y="108857"/>
                </a:cubicBezTo>
                <a:lnTo>
                  <a:pt x="69575" y="108857"/>
                </a:lnTo>
                <a:close/>
              </a:path>
            </a:pathLst>
          </a:custGeom>
          <a:solidFill>
            <a:srgbClr val="FF6467"/>
          </a:solidFill>
          <a:ln/>
        </p:spPr>
      </p:sp>
      <p:sp>
        <p:nvSpPr>
          <p:cNvPr id="8" name="Text 6"/>
          <p:cNvSpPr/>
          <p:nvPr/>
        </p:nvSpPr>
        <p:spPr>
          <a:xfrm>
            <a:off x="1118364" y="1521708"/>
            <a:ext cx="3272589" cy="293341"/>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732" b="1" dirty="0">
                <a:solidFill>
                  <a:srgbClr val="FF6467"/>
                </a:solidFill>
                <a:latin typeface="Liter" pitchFamily="34" charset="0"/>
                <a:ea typeface="Liter" pitchFamily="34" charset="-122"/>
                <a:cs typeface="Liter" pitchFamily="34" charset="-120"/>
              </a:rPr>
              <a:t>مريض الصحة النفسية التقليدي</a:t>
            </a:r>
            <a:endParaRPr xmlns:a="http://schemas.openxmlformats.org/drawingml/2006/main" lang="en-US" sz="1600" dirty="0"/>
          </a:p>
        </p:txBody>
      </p:sp>
      <p:sp>
        <p:nvSpPr>
          <p:cNvPr id="9" name="Text 7"/>
          <p:cNvSpPr/>
          <p:nvPr/>
        </p:nvSpPr>
        <p:spPr>
          <a:xfrm>
            <a:off x="1118364" y="1815050"/>
            <a:ext cx="3226755"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dirty="0">
                <a:solidFill>
                  <a:srgbClr val="E6F1FF">
                    <a:alpha val="60000"/>
                  </a:srgbClr>
                </a:solidFill>
                <a:latin typeface="Quattrocento Sans" pitchFamily="34" charset="0"/>
                <a:ea typeface="Quattrocento Sans" pitchFamily="34" charset="-122"/>
                <a:cs typeface="Quattrocento Sans" pitchFamily="34" charset="-120"/>
              </a:rPr>
              <a:t>الموقع الحالي</a:t>
            </a:r>
            <a:endParaRPr xmlns:a="http://schemas.openxmlformats.org/drawingml/2006/main" lang="en-US" sz="1600" dirty="0"/>
          </a:p>
        </p:txBody>
      </p:sp>
      <p:sp>
        <p:nvSpPr>
          <p:cNvPr id="10" name="Shape 8"/>
          <p:cNvSpPr/>
          <p:nvPr/>
        </p:nvSpPr>
        <p:spPr>
          <a:xfrm>
            <a:off x="568349" y="2145059"/>
            <a:ext cx="5234310" cy="660018"/>
          </a:xfrm>
          <a:prstGeom prst="roundRect">
            <a:avLst>
              <a:gd name="adj" fmla="val 11111"/>
            </a:avLst>
          </a:prstGeom>
          <a:solidFill>
            <a:srgbClr val="0A192F">
              <a:alpha val="40000"/>
            </a:srgbClr>
          </a:solidFill>
          <a:ln/>
        </p:spPr>
      </p:sp>
      <p:sp>
        <p:nvSpPr>
          <p:cNvPr id="11" name="Shape 9"/>
          <p:cNvSpPr/>
          <p:nvPr/>
        </p:nvSpPr>
        <p:spPr>
          <a:xfrm>
            <a:off x="696686" y="2277979"/>
            <a:ext cx="128337" cy="128337"/>
          </a:xfrm>
          <a:custGeom>
            <a:avLst/>
            <a:gdLst/>
            <a:ahLst/>
            <a:cxnLst/>
            <a:rect l="l" t="t" r="r" b="b"/>
            <a:pathLst>
              <a:path w="128337" h="128337">
                <a:moveTo>
                  <a:pt x="112295" y="64168"/>
                </a:moveTo>
                <a:cubicBezTo>
                  <a:pt x="112295" y="37607"/>
                  <a:pt x="90730" y="16042"/>
                  <a:pt x="64168" y="16042"/>
                </a:cubicBezTo>
                <a:cubicBezTo>
                  <a:pt x="37607" y="16042"/>
                  <a:pt x="16042" y="37607"/>
                  <a:pt x="16042" y="64168"/>
                </a:cubicBezTo>
                <a:cubicBezTo>
                  <a:pt x="16042" y="90730"/>
                  <a:pt x="37607" y="112295"/>
                  <a:pt x="64168" y="112295"/>
                </a:cubicBezTo>
                <a:cubicBezTo>
                  <a:pt x="90730" y="112295"/>
                  <a:pt x="112295" y="90730"/>
                  <a:pt x="112295" y="64168"/>
                </a:cubicBezTo>
                <a:close/>
                <a:moveTo>
                  <a:pt x="0" y="64168"/>
                </a:moveTo>
                <a:cubicBezTo>
                  <a:pt x="0" y="28753"/>
                  <a:pt x="28753" y="0"/>
                  <a:pt x="64168" y="0"/>
                </a:cubicBezTo>
                <a:cubicBezTo>
                  <a:pt x="99584" y="0"/>
                  <a:pt x="128337" y="28753"/>
                  <a:pt x="128337" y="64168"/>
                </a:cubicBezTo>
                <a:cubicBezTo>
                  <a:pt x="128337" y="99584"/>
                  <a:pt x="99584" y="128337"/>
                  <a:pt x="64168" y="128337"/>
                </a:cubicBezTo>
                <a:cubicBezTo>
                  <a:pt x="28753" y="128337"/>
                  <a:pt x="0" y="99584"/>
                  <a:pt x="0" y="64168"/>
                </a:cubicBezTo>
                <a:close/>
                <a:moveTo>
                  <a:pt x="64168" y="84221"/>
                </a:moveTo>
                <a:cubicBezTo>
                  <a:pt x="75236" y="84221"/>
                  <a:pt x="84221" y="75236"/>
                  <a:pt x="84221" y="64168"/>
                </a:cubicBezTo>
                <a:cubicBezTo>
                  <a:pt x="84221" y="53101"/>
                  <a:pt x="75236" y="44116"/>
                  <a:pt x="64168" y="44116"/>
                </a:cubicBezTo>
                <a:cubicBezTo>
                  <a:pt x="53101" y="44116"/>
                  <a:pt x="44116" y="53101"/>
                  <a:pt x="44116" y="64168"/>
                </a:cubicBezTo>
                <a:cubicBezTo>
                  <a:pt x="44116" y="75236"/>
                  <a:pt x="53101" y="84221"/>
                  <a:pt x="64168" y="84221"/>
                </a:cubicBezTo>
                <a:close/>
                <a:moveTo>
                  <a:pt x="64168" y="28074"/>
                </a:moveTo>
                <a:cubicBezTo>
                  <a:pt x="84090" y="28074"/>
                  <a:pt x="100263" y="44247"/>
                  <a:pt x="100263" y="64168"/>
                </a:cubicBezTo>
                <a:cubicBezTo>
                  <a:pt x="100263" y="84090"/>
                  <a:pt x="84090" y="100263"/>
                  <a:pt x="64168" y="100263"/>
                </a:cubicBezTo>
                <a:cubicBezTo>
                  <a:pt x="44247" y="100263"/>
                  <a:pt x="28074" y="84090"/>
                  <a:pt x="28074" y="64168"/>
                </a:cubicBezTo>
                <a:cubicBezTo>
                  <a:pt x="28074" y="44247"/>
                  <a:pt x="44247" y="28074"/>
                  <a:pt x="64168" y="28074"/>
                </a:cubicBezTo>
                <a:close/>
                <a:moveTo>
                  <a:pt x="56147" y="64168"/>
                </a:moveTo>
                <a:cubicBezTo>
                  <a:pt x="56147" y="59741"/>
                  <a:pt x="59741" y="56147"/>
                  <a:pt x="64168" y="56147"/>
                </a:cubicBezTo>
                <a:cubicBezTo>
                  <a:pt x="68595" y="56147"/>
                  <a:pt x="72189" y="59741"/>
                  <a:pt x="72189" y="64168"/>
                </a:cubicBezTo>
                <a:cubicBezTo>
                  <a:pt x="72189" y="68595"/>
                  <a:pt x="68595" y="72189"/>
                  <a:pt x="64168" y="72189"/>
                </a:cubicBezTo>
                <a:cubicBezTo>
                  <a:pt x="59741" y="72189"/>
                  <a:pt x="56147" y="68595"/>
                  <a:pt x="56147" y="64168"/>
                </a:cubicBezTo>
                <a:close/>
              </a:path>
            </a:pathLst>
          </a:custGeom>
          <a:solidFill>
            <a:srgbClr val="FF6467"/>
          </a:solidFill>
          <a:ln/>
        </p:spPr>
      </p:sp>
      <p:sp>
        <p:nvSpPr>
          <p:cNvPr id="12" name="Text 10"/>
          <p:cNvSpPr/>
          <p:nvPr/>
        </p:nvSpPr>
        <p:spPr>
          <a:xfrm>
            <a:off x="896290" y="2255062"/>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المحفز الرئيسي</a:t>
            </a:r>
            <a:endParaRPr xmlns:a="http://schemas.openxmlformats.org/drawingml/2006/main" lang="en-US" sz="1600" dirty="0"/>
          </a:p>
        </p:txBody>
      </p:sp>
      <p:sp>
        <p:nvSpPr>
          <p:cNvPr id="13" name="Text 11"/>
          <p:cNvSpPr/>
          <p:nvPr/>
        </p:nvSpPr>
        <p:spPr>
          <a:xfrm>
            <a:off x="678352" y="2475068"/>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تخفيف الأعراض (القلق، الأرق، اضطراب نقص الانتباه مع فرط النشاط)</a:t>
            </a:r>
            <a:endParaRPr xmlns:a="http://schemas.openxmlformats.org/drawingml/2006/main" lang="en-US" sz="1600" dirty="0"/>
          </a:p>
        </p:txBody>
      </p:sp>
      <p:sp>
        <p:nvSpPr>
          <p:cNvPr id="14" name="Shape 12"/>
          <p:cNvSpPr/>
          <p:nvPr/>
        </p:nvSpPr>
        <p:spPr>
          <a:xfrm>
            <a:off x="568349" y="2915080"/>
            <a:ext cx="5234310" cy="660018"/>
          </a:xfrm>
          <a:prstGeom prst="roundRect">
            <a:avLst>
              <a:gd name="adj" fmla="val 11111"/>
            </a:avLst>
          </a:prstGeom>
          <a:solidFill>
            <a:srgbClr val="0A192F">
              <a:alpha val="40000"/>
            </a:srgbClr>
          </a:solidFill>
          <a:ln/>
        </p:spPr>
      </p:sp>
      <p:sp>
        <p:nvSpPr>
          <p:cNvPr id="15" name="Shape 13"/>
          <p:cNvSpPr/>
          <p:nvPr/>
        </p:nvSpPr>
        <p:spPr>
          <a:xfrm>
            <a:off x="696686" y="3048000"/>
            <a:ext cx="128337" cy="128337"/>
          </a:xfrm>
          <a:custGeom>
            <a:avLst/>
            <a:gdLst/>
            <a:ahLst/>
            <a:cxnLst/>
            <a:rect l="l" t="t" r="r" b="b"/>
            <a:pathLst>
              <a:path w="128337" h="128337">
                <a:moveTo>
                  <a:pt x="8146" y="24063"/>
                </a:moveTo>
                <a:lnTo>
                  <a:pt x="8146" y="61537"/>
                </a:lnTo>
                <a:cubicBezTo>
                  <a:pt x="8146" y="65798"/>
                  <a:pt x="9826" y="69883"/>
                  <a:pt x="12834" y="72891"/>
                </a:cubicBezTo>
                <a:lnTo>
                  <a:pt x="60960" y="121018"/>
                </a:lnTo>
                <a:cubicBezTo>
                  <a:pt x="67226" y="127284"/>
                  <a:pt x="77378" y="127284"/>
                  <a:pt x="83645" y="121018"/>
                </a:cubicBezTo>
                <a:lnTo>
                  <a:pt x="121118" y="83544"/>
                </a:lnTo>
                <a:cubicBezTo>
                  <a:pt x="127384" y="77278"/>
                  <a:pt x="127384" y="67126"/>
                  <a:pt x="121118" y="60860"/>
                </a:cubicBezTo>
                <a:lnTo>
                  <a:pt x="72992" y="12733"/>
                </a:lnTo>
                <a:cubicBezTo>
                  <a:pt x="69984" y="9700"/>
                  <a:pt x="65923" y="8021"/>
                  <a:pt x="61662" y="8021"/>
                </a:cubicBezTo>
                <a:lnTo>
                  <a:pt x="24188" y="8021"/>
                </a:lnTo>
                <a:cubicBezTo>
                  <a:pt x="15340" y="8021"/>
                  <a:pt x="8146" y="15215"/>
                  <a:pt x="8146" y="24063"/>
                </a:cubicBezTo>
                <a:close/>
                <a:moveTo>
                  <a:pt x="36220" y="28074"/>
                </a:moveTo>
                <a:cubicBezTo>
                  <a:pt x="40647" y="28074"/>
                  <a:pt x="44241" y="31668"/>
                  <a:pt x="44241" y="36095"/>
                </a:cubicBezTo>
                <a:cubicBezTo>
                  <a:pt x="44241" y="40522"/>
                  <a:pt x="40647" y="44116"/>
                  <a:pt x="36220" y="44116"/>
                </a:cubicBezTo>
                <a:cubicBezTo>
                  <a:pt x="31793" y="44116"/>
                  <a:pt x="28199" y="40522"/>
                  <a:pt x="28199" y="36095"/>
                </a:cubicBezTo>
                <a:cubicBezTo>
                  <a:pt x="28199" y="31668"/>
                  <a:pt x="31793" y="28074"/>
                  <a:pt x="36220" y="28074"/>
                </a:cubicBezTo>
                <a:close/>
              </a:path>
            </a:pathLst>
          </a:custGeom>
          <a:solidFill>
            <a:srgbClr val="FF6467"/>
          </a:solidFill>
          <a:ln/>
        </p:spPr>
      </p:sp>
      <p:sp>
        <p:nvSpPr>
          <p:cNvPr id="16" name="Text 14"/>
          <p:cNvSpPr/>
          <p:nvPr/>
        </p:nvSpPr>
        <p:spPr>
          <a:xfrm>
            <a:off x="896290" y="3025083"/>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حساسية السعر</a:t>
            </a:r>
            <a:endParaRPr xmlns:a="http://schemas.openxmlformats.org/drawingml/2006/main" lang="en-US" sz="1600" dirty="0"/>
          </a:p>
        </p:txBody>
      </p:sp>
      <p:sp>
        <p:nvSpPr>
          <p:cNvPr id="17" name="Text 15"/>
          <p:cNvSpPr/>
          <p:nvPr/>
        </p:nvSpPr>
        <p:spPr>
          <a:xfrm>
            <a:off x="678352" y="3245089"/>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مرتفع - مقارنة بمعدلات العلاج القياسية</a:t>
            </a:r>
            <a:endParaRPr xmlns:a="http://schemas.openxmlformats.org/drawingml/2006/main" lang="en-US" sz="1600" dirty="0"/>
          </a:p>
        </p:txBody>
      </p:sp>
      <p:sp>
        <p:nvSpPr>
          <p:cNvPr id="18" name="Shape 16"/>
          <p:cNvSpPr/>
          <p:nvPr/>
        </p:nvSpPr>
        <p:spPr>
          <a:xfrm>
            <a:off x="568349" y="3685101"/>
            <a:ext cx="5234310" cy="660018"/>
          </a:xfrm>
          <a:prstGeom prst="roundRect">
            <a:avLst>
              <a:gd name="adj" fmla="val 11111"/>
            </a:avLst>
          </a:prstGeom>
          <a:solidFill>
            <a:srgbClr val="0A192F">
              <a:alpha val="40000"/>
            </a:srgbClr>
          </a:solidFill>
          <a:ln/>
        </p:spPr>
      </p:sp>
      <p:sp>
        <p:nvSpPr>
          <p:cNvPr id="19" name="Shape 17"/>
          <p:cNvSpPr/>
          <p:nvPr/>
        </p:nvSpPr>
        <p:spPr>
          <a:xfrm>
            <a:off x="680644" y="3818021"/>
            <a:ext cx="160421" cy="128337"/>
          </a:xfrm>
          <a:custGeom>
            <a:avLst/>
            <a:gdLst/>
            <a:ahLst/>
            <a:cxnLst/>
            <a:rect l="l" t="t" r="r" b="b"/>
            <a:pathLst>
              <a:path w="160421" h="128337">
                <a:moveTo>
                  <a:pt x="6016" y="-4011"/>
                </a:moveTo>
                <a:cubicBezTo>
                  <a:pt x="2682" y="-4011"/>
                  <a:pt x="0" y="-1328"/>
                  <a:pt x="0" y="2005"/>
                </a:cubicBezTo>
                <a:cubicBezTo>
                  <a:pt x="0" y="5339"/>
                  <a:pt x="2682" y="8021"/>
                  <a:pt x="6016" y="8021"/>
                </a:cubicBezTo>
                <a:lnTo>
                  <a:pt x="17371" y="8021"/>
                </a:lnTo>
                <a:cubicBezTo>
                  <a:pt x="18348" y="8021"/>
                  <a:pt x="19175" y="8723"/>
                  <a:pt x="19351" y="9675"/>
                </a:cubicBezTo>
                <a:lnTo>
                  <a:pt x="32410" y="81439"/>
                </a:lnTo>
                <a:cubicBezTo>
                  <a:pt x="33964" y="90011"/>
                  <a:pt x="41434" y="96253"/>
                  <a:pt x="50157" y="96253"/>
                </a:cubicBezTo>
                <a:lnTo>
                  <a:pt x="114300" y="96253"/>
                </a:lnTo>
                <a:cubicBezTo>
                  <a:pt x="117634" y="96253"/>
                  <a:pt x="120316" y="93571"/>
                  <a:pt x="120316" y="90237"/>
                </a:cubicBezTo>
                <a:cubicBezTo>
                  <a:pt x="120316" y="86903"/>
                  <a:pt x="117634" y="84221"/>
                  <a:pt x="114300" y="84221"/>
                </a:cubicBezTo>
                <a:lnTo>
                  <a:pt x="50157" y="84221"/>
                </a:lnTo>
                <a:cubicBezTo>
                  <a:pt x="47249" y="84221"/>
                  <a:pt x="44768" y="82141"/>
                  <a:pt x="44241" y="79283"/>
                </a:cubicBezTo>
                <a:lnTo>
                  <a:pt x="42963" y="72189"/>
                </a:lnTo>
                <a:lnTo>
                  <a:pt x="119062" y="72189"/>
                </a:lnTo>
                <a:cubicBezTo>
                  <a:pt x="126783" y="72189"/>
                  <a:pt x="133400" y="66700"/>
                  <a:pt x="134829" y="59105"/>
                </a:cubicBezTo>
                <a:lnTo>
                  <a:pt x="142599" y="17521"/>
                </a:lnTo>
                <a:cubicBezTo>
                  <a:pt x="143527" y="12583"/>
                  <a:pt x="139742" y="8021"/>
                  <a:pt x="134704" y="8021"/>
                </a:cubicBezTo>
                <a:lnTo>
                  <a:pt x="31257" y="8021"/>
                </a:lnTo>
                <a:lnTo>
                  <a:pt x="31157" y="7520"/>
                </a:lnTo>
                <a:cubicBezTo>
                  <a:pt x="29954" y="852"/>
                  <a:pt x="24138" y="-4011"/>
                  <a:pt x="17346" y="-4011"/>
                </a:cubicBezTo>
                <a:lnTo>
                  <a:pt x="6016" y="-4011"/>
                </a:lnTo>
                <a:close/>
                <a:moveTo>
                  <a:pt x="52137" y="128337"/>
                </a:moveTo>
                <a:cubicBezTo>
                  <a:pt x="58777" y="128337"/>
                  <a:pt x="64168" y="122946"/>
                  <a:pt x="64168" y="116305"/>
                </a:cubicBezTo>
                <a:cubicBezTo>
                  <a:pt x="64168" y="109665"/>
                  <a:pt x="58777" y="104274"/>
                  <a:pt x="52137" y="104274"/>
                </a:cubicBezTo>
                <a:cubicBezTo>
                  <a:pt x="45496" y="104274"/>
                  <a:pt x="40105" y="109665"/>
                  <a:pt x="40105" y="116305"/>
                </a:cubicBezTo>
                <a:cubicBezTo>
                  <a:pt x="40105" y="122946"/>
                  <a:pt x="45496" y="128337"/>
                  <a:pt x="52137" y="128337"/>
                </a:cubicBezTo>
                <a:close/>
                <a:moveTo>
                  <a:pt x="108284" y="128337"/>
                </a:moveTo>
                <a:cubicBezTo>
                  <a:pt x="114925" y="128337"/>
                  <a:pt x="120316" y="122946"/>
                  <a:pt x="120316" y="116305"/>
                </a:cubicBezTo>
                <a:cubicBezTo>
                  <a:pt x="120316" y="109665"/>
                  <a:pt x="114925" y="104274"/>
                  <a:pt x="108284" y="104274"/>
                </a:cubicBezTo>
                <a:cubicBezTo>
                  <a:pt x="101644" y="104274"/>
                  <a:pt x="96253" y="109665"/>
                  <a:pt x="96253" y="116305"/>
                </a:cubicBezTo>
                <a:cubicBezTo>
                  <a:pt x="96253" y="122946"/>
                  <a:pt x="101644" y="128337"/>
                  <a:pt x="108284" y="128337"/>
                </a:cubicBezTo>
                <a:close/>
              </a:path>
            </a:pathLst>
          </a:custGeom>
          <a:solidFill>
            <a:srgbClr val="FF6467"/>
          </a:solidFill>
          <a:ln/>
        </p:spPr>
      </p:sp>
      <p:sp>
        <p:nvSpPr>
          <p:cNvPr id="20" name="Text 18"/>
          <p:cNvSpPr/>
          <p:nvPr/>
        </p:nvSpPr>
        <p:spPr>
          <a:xfrm>
            <a:off x="896290" y="3795104"/>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تقديم الخدمات</a:t>
            </a:r>
            <a:endParaRPr xmlns:a="http://schemas.openxmlformats.org/drawingml/2006/main" lang="en-US" sz="1600" dirty="0"/>
          </a:p>
        </p:txBody>
      </p:sp>
      <p:sp>
        <p:nvSpPr>
          <p:cNvPr id="21" name="Text 19"/>
          <p:cNvSpPr/>
          <p:nvPr/>
        </p:nvSpPr>
        <p:spPr>
          <a:xfrm>
            <a:off x="678352" y="4015110"/>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انتقائية للمعاملات بقيمة </a:t>
            </a:r>
            <a:pPr xmlns:a="http://schemas.openxmlformats.org/drawingml/2006/main">
              <a:lnSpc>
                <a:spcPct val="130000"/>
              </a:lnSpc>
              <a:bidi/>
            </a:pPr>
            <a:r xmlns:a="http://schemas.openxmlformats.org/drawingml/2006/main">
              <a:rPr lang="ar" sz="1155" b="1" dirty="0">
                <a:solidFill>
                  <a:srgbClr val="FF6467"/>
                </a:solidFill>
                <a:latin typeface="Quattrocento Sans" pitchFamily="34" charset="0"/>
                <a:ea typeface="Quattrocento Sans" pitchFamily="34" charset="-122"/>
                <a:cs typeface="Quattrocento Sans" pitchFamily="34" charset="-120"/>
              </a:rPr>
              <a:t>160 دولارًا</a:t>
            </a:r>
            <a:endParaRPr xmlns:a="http://schemas.openxmlformats.org/drawingml/2006/main" lang="en-US" sz="1600" dirty="0"/>
          </a:p>
        </p:txBody>
      </p:sp>
      <p:sp>
        <p:nvSpPr>
          <p:cNvPr id="22" name="Shape 20"/>
          <p:cNvSpPr/>
          <p:nvPr/>
        </p:nvSpPr>
        <p:spPr>
          <a:xfrm>
            <a:off x="568349" y="4455122"/>
            <a:ext cx="5234310" cy="660018"/>
          </a:xfrm>
          <a:prstGeom prst="roundRect">
            <a:avLst>
              <a:gd name="adj" fmla="val 11111"/>
            </a:avLst>
          </a:prstGeom>
          <a:solidFill>
            <a:srgbClr val="0A192F">
              <a:alpha val="40000"/>
            </a:srgbClr>
          </a:solidFill>
          <a:ln/>
        </p:spPr>
      </p:sp>
      <p:sp>
        <p:nvSpPr>
          <p:cNvPr id="23" name="Shape 21"/>
          <p:cNvSpPr/>
          <p:nvPr/>
        </p:nvSpPr>
        <p:spPr>
          <a:xfrm>
            <a:off x="696686" y="4588042"/>
            <a:ext cx="128337" cy="128337"/>
          </a:xfrm>
          <a:custGeom>
            <a:avLst/>
            <a:gdLst/>
            <a:ahLst/>
            <a:cxnLst/>
            <a:rect l="l" t="t" r="r" b="b"/>
            <a:pathLst>
              <a:path w="128337" h="128337">
                <a:moveTo>
                  <a:pt x="128337" y="24063"/>
                </a:moveTo>
                <a:cubicBezTo>
                  <a:pt x="128337" y="36646"/>
                  <a:pt x="113523" y="55420"/>
                  <a:pt x="107131" y="62915"/>
                </a:cubicBezTo>
                <a:cubicBezTo>
                  <a:pt x="106179" y="64018"/>
                  <a:pt x="104775" y="64444"/>
                  <a:pt x="103497" y="64168"/>
                </a:cubicBezTo>
                <a:lnTo>
                  <a:pt x="80211" y="64168"/>
                </a:lnTo>
                <a:cubicBezTo>
                  <a:pt x="75774" y="64168"/>
                  <a:pt x="72189" y="67753"/>
                  <a:pt x="72189" y="72189"/>
                </a:cubicBezTo>
                <a:cubicBezTo>
                  <a:pt x="72189" y="76626"/>
                  <a:pt x="75774" y="80211"/>
                  <a:pt x="80211" y="80211"/>
                </a:cubicBezTo>
                <a:lnTo>
                  <a:pt x="104274" y="80211"/>
                </a:lnTo>
                <a:cubicBezTo>
                  <a:pt x="117559" y="80211"/>
                  <a:pt x="128337" y="90989"/>
                  <a:pt x="128337" y="104274"/>
                </a:cubicBezTo>
                <a:cubicBezTo>
                  <a:pt x="128337" y="117559"/>
                  <a:pt x="117559" y="128337"/>
                  <a:pt x="104274" y="128337"/>
                </a:cubicBezTo>
                <a:lnTo>
                  <a:pt x="34992" y="128337"/>
                </a:lnTo>
                <a:cubicBezTo>
                  <a:pt x="37173" y="125855"/>
                  <a:pt x="39830" y="122672"/>
                  <a:pt x="42512" y="119113"/>
                </a:cubicBezTo>
                <a:cubicBezTo>
                  <a:pt x="44091" y="117007"/>
                  <a:pt x="45720" y="114701"/>
                  <a:pt x="47274" y="112295"/>
                </a:cubicBezTo>
                <a:lnTo>
                  <a:pt x="104274" y="112295"/>
                </a:lnTo>
                <a:cubicBezTo>
                  <a:pt x="108710" y="112295"/>
                  <a:pt x="112295" y="108710"/>
                  <a:pt x="112295" y="104274"/>
                </a:cubicBezTo>
                <a:cubicBezTo>
                  <a:pt x="112295" y="99837"/>
                  <a:pt x="108710" y="96253"/>
                  <a:pt x="104274" y="96253"/>
                </a:cubicBezTo>
                <a:lnTo>
                  <a:pt x="80211" y="96253"/>
                </a:lnTo>
                <a:cubicBezTo>
                  <a:pt x="66926" y="96253"/>
                  <a:pt x="56147" y="85474"/>
                  <a:pt x="56147" y="72189"/>
                </a:cubicBezTo>
                <a:cubicBezTo>
                  <a:pt x="56147" y="58905"/>
                  <a:pt x="66926" y="48126"/>
                  <a:pt x="80211" y="48126"/>
                </a:cubicBezTo>
                <a:lnTo>
                  <a:pt x="90187" y="48126"/>
                </a:lnTo>
                <a:cubicBezTo>
                  <a:pt x="84923" y="40231"/>
                  <a:pt x="80211" y="31157"/>
                  <a:pt x="80211" y="24063"/>
                </a:cubicBezTo>
                <a:cubicBezTo>
                  <a:pt x="80211" y="10778"/>
                  <a:pt x="90989" y="0"/>
                  <a:pt x="104274" y="0"/>
                </a:cubicBezTo>
                <a:cubicBezTo>
                  <a:pt x="117559" y="0"/>
                  <a:pt x="128337" y="10778"/>
                  <a:pt x="128337" y="24063"/>
                </a:cubicBezTo>
                <a:close/>
                <a:moveTo>
                  <a:pt x="29352" y="122597"/>
                </a:moveTo>
                <a:cubicBezTo>
                  <a:pt x="28400" y="123675"/>
                  <a:pt x="27547" y="124627"/>
                  <a:pt x="26820" y="125429"/>
                </a:cubicBezTo>
                <a:lnTo>
                  <a:pt x="26369" y="125931"/>
                </a:lnTo>
                <a:lnTo>
                  <a:pt x="26319" y="125880"/>
                </a:lnTo>
                <a:cubicBezTo>
                  <a:pt x="24815" y="127033"/>
                  <a:pt x="22659" y="126883"/>
                  <a:pt x="21306" y="125429"/>
                </a:cubicBezTo>
                <a:cubicBezTo>
                  <a:pt x="14989" y="118561"/>
                  <a:pt x="0" y="100890"/>
                  <a:pt x="0" y="88232"/>
                </a:cubicBezTo>
                <a:cubicBezTo>
                  <a:pt x="0" y="74947"/>
                  <a:pt x="10778" y="64168"/>
                  <a:pt x="24063" y="64168"/>
                </a:cubicBezTo>
                <a:cubicBezTo>
                  <a:pt x="37348" y="64168"/>
                  <a:pt x="48126" y="74947"/>
                  <a:pt x="48126" y="88232"/>
                </a:cubicBezTo>
                <a:cubicBezTo>
                  <a:pt x="48126" y="95751"/>
                  <a:pt x="42837" y="105026"/>
                  <a:pt x="37223" y="112771"/>
                </a:cubicBezTo>
                <a:cubicBezTo>
                  <a:pt x="34541" y="116456"/>
                  <a:pt x="31783" y="119789"/>
                  <a:pt x="29502" y="122421"/>
                </a:cubicBezTo>
                <a:lnTo>
                  <a:pt x="29352" y="122597"/>
                </a:lnTo>
                <a:close/>
                <a:moveTo>
                  <a:pt x="32084" y="88232"/>
                </a:moveTo>
                <a:cubicBezTo>
                  <a:pt x="32084" y="83805"/>
                  <a:pt x="28490" y="80211"/>
                  <a:pt x="24063" y="80211"/>
                </a:cubicBezTo>
                <a:cubicBezTo>
                  <a:pt x="19636" y="80211"/>
                  <a:pt x="16042" y="83805"/>
                  <a:pt x="16042" y="88232"/>
                </a:cubicBezTo>
                <a:cubicBezTo>
                  <a:pt x="16042" y="92659"/>
                  <a:pt x="19636" y="96253"/>
                  <a:pt x="24063" y="96253"/>
                </a:cubicBezTo>
                <a:cubicBezTo>
                  <a:pt x="28490" y="96253"/>
                  <a:pt x="32084" y="92659"/>
                  <a:pt x="32084" y="88232"/>
                </a:cubicBezTo>
                <a:close/>
                <a:moveTo>
                  <a:pt x="104274" y="32084"/>
                </a:moveTo>
                <a:cubicBezTo>
                  <a:pt x="108701" y="32084"/>
                  <a:pt x="112295" y="28490"/>
                  <a:pt x="112295" y="24063"/>
                </a:cubicBezTo>
                <a:cubicBezTo>
                  <a:pt x="112295" y="19636"/>
                  <a:pt x="108701" y="16042"/>
                  <a:pt x="104274" y="16042"/>
                </a:cubicBezTo>
                <a:cubicBezTo>
                  <a:pt x="99847" y="16042"/>
                  <a:pt x="96253" y="19636"/>
                  <a:pt x="96253" y="24063"/>
                </a:cubicBezTo>
                <a:cubicBezTo>
                  <a:pt x="96253" y="28490"/>
                  <a:pt x="99847" y="32084"/>
                  <a:pt x="104274" y="32084"/>
                </a:cubicBezTo>
                <a:close/>
              </a:path>
            </a:pathLst>
          </a:custGeom>
          <a:solidFill>
            <a:srgbClr val="FF6467"/>
          </a:solidFill>
          <a:ln/>
        </p:spPr>
      </p:sp>
      <p:sp>
        <p:nvSpPr>
          <p:cNvPr id="24" name="Text 22"/>
          <p:cNvSpPr/>
          <p:nvPr/>
        </p:nvSpPr>
        <p:spPr>
          <a:xfrm>
            <a:off x="896290" y="4565125"/>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قناة الاستحواذ</a:t>
            </a:r>
            <a:endParaRPr xmlns:a="http://schemas.openxmlformats.org/drawingml/2006/main" lang="en-US" sz="1600" dirty="0"/>
          </a:p>
        </p:txBody>
      </p:sp>
      <p:sp>
        <p:nvSpPr>
          <p:cNvPr id="25" name="Text 23"/>
          <p:cNvSpPr/>
          <p:nvPr/>
        </p:nvSpPr>
        <p:spPr>
          <a:xfrm>
            <a:off x="678352" y="4785131"/>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البحث الشفهي والبحث المحلي "بالقرب مني"</a:t>
            </a:r>
            <a:endParaRPr xmlns:a="http://schemas.openxmlformats.org/drawingml/2006/main" lang="en-US" sz="1600" dirty="0"/>
          </a:p>
        </p:txBody>
      </p:sp>
      <p:sp>
        <p:nvSpPr>
          <p:cNvPr id="26" name="Shape 24"/>
          <p:cNvSpPr/>
          <p:nvPr/>
        </p:nvSpPr>
        <p:spPr>
          <a:xfrm>
            <a:off x="572932" y="5229726"/>
            <a:ext cx="5225143" cy="449179"/>
          </a:xfrm>
          <a:prstGeom prst="roundRect">
            <a:avLst>
              <a:gd name="adj" fmla="val 16327"/>
            </a:avLst>
          </a:prstGeom>
          <a:solidFill>
            <a:srgbClr val="FB2C36">
              <a:alpha val="10196"/>
            </a:srgbClr>
          </a:solidFill>
          <a:ln w="12700">
            <a:solidFill>
              <a:srgbClr val="FB2C36">
                <a:alpha val="30196"/>
              </a:srgbClr>
            </a:solidFill>
            <a:prstDash val="solid"/>
          </a:ln>
        </p:spPr>
      </p:sp>
      <p:sp>
        <p:nvSpPr>
          <p:cNvPr id="27" name="Text 25"/>
          <p:cNvSpPr/>
          <p:nvPr/>
        </p:nvSpPr>
        <p:spPr>
          <a:xfrm>
            <a:off x="650851" y="5344313"/>
            <a:ext cx="5069305" cy="220006"/>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155" b="1" dirty="0">
                <a:solidFill>
                  <a:srgbClr val="FF6467"/>
                </a:solidFill>
                <a:latin typeface="Quattrocento Sans" pitchFamily="34" charset="0"/>
                <a:ea typeface="Quattrocento Sans" pitchFamily="34" charset="-122"/>
                <a:cs typeface="Quattrocento Sans" pitchFamily="34" charset="-120"/>
              </a:rPr>
              <a:t>القيمة الدائمة للعميل: </a:t>
            </a:r>
            <a:pPr xmlns:a="http://schemas.openxmlformats.org/drawingml/2006/main" algn="ctr">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منخفضة | </a:t>
            </a:r>
            <a:pPr xmlns:a="http://schemas.openxmlformats.org/drawingml/2006/main" algn="ctr">
              <a:lnSpc>
                <a:spcPct val="130000"/>
              </a:lnSpc>
              <a:bidi/>
            </a:pPr>
            <a:r xmlns:a="http://schemas.openxmlformats.org/drawingml/2006/main">
              <a:rPr lang="ar" sz="1155" b="1" dirty="0">
                <a:solidFill>
                  <a:srgbClr val="FF6467"/>
                </a:solidFill>
                <a:latin typeface="Quattrocento Sans" pitchFamily="34" charset="0"/>
                <a:ea typeface="Quattrocento Sans" pitchFamily="34" charset="-122"/>
                <a:cs typeface="Quattrocento Sans" pitchFamily="34" charset="-120"/>
              </a:rPr>
              <a:t>مخاطر فقدان العميل: </a:t>
            </a:r>
            <a:pPr xmlns:a="http://schemas.openxmlformats.org/drawingml/2006/main" algn="ctr">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عالية | </a:t>
            </a:r>
            <a:pPr xmlns:a="http://schemas.openxmlformats.org/drawingml/2006/main" algn="ctr">
              <a:lnSpc>
                <a:spcPct val="130000"/>
              </a:lnSpc>
              <a:bidi/>
            </a:pPr>
            <a:r xmlns:a="http://schemas.openxmlformats.org/drawingml/2006/main">
              <a:rPr lang="ar" sz="1155" b="1" dirty="0">
                <a:solidFill>
                  <a:srgbClr val="FF6467"/>
                </a:solidFill>
                <a:latin typeface="Quattrocento Sans" pitchFamily="34" charset="0"/>
                <a:ea typeface="Quattrocento Sans" pitchFamily="34" charset="-122"/>
                <a:cs typeface="Quattrocento Sans" pitchFamily="34" charset="-120"/>
              </a:rPr>
              <a:t>هامش الربح: </a:t>
            </a:r>
            <a:pPr xmlns:a="http://schemas.openxmlformats.org/drawingml/2006/main" algn="ctr">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15-20%</a:t>
            </a:r>
            <a:endParaRPr xmlns:a="http://schemas.openxmlformats.org/drawingml/2006/main" lang="en-US" sz="1600" dirty="0"/>
          </a:p>
        </p:txBody>
      </p:sp>
      <p:sp>
        <p:nvSpPr>
          <p:cNvPr id="28" name="Shape 26"/>
          <p:cNvSpPr/>
          <p:nvPr/>
        </p:nvSpPr>
        <p:spPr>
          <a:xfrm>
            <a:off x="6195762" y="1329203"/>
            <a:ext cx="5619320" cy="4546791"/>
          </a:xfrm>
          <a:prstGeom prst="roundRect">
            <a:avLst>
              <a:gd name="adj" fmla="val 2419"/>
            </a:avLst>
          </a:prstGeom>
          <a:gradFill rotWithShape="1" flip="none">
            <a:gsLst>
              <a:gs pos="0">
                <a:srgbClr val="1E3A5F">
                  <a:alpha val="40000"/>
                </a:srgbClr>
              </a:gs>
              <a:gs pos="100000">
                <a:srgbClr val="0A192F">
                  <a:alpha val="20000"/>
                </a:srgbClr>
              </a:gs>
            </a:gsLst>
            <a:lin ang="2700000" scaled="1"/>
          </a:gradFill>
          <a:ln w="25400">
            <a:solidFill>
              <a:srgbClr val="D4AF37">
                <a:alpha val="60000"/>
              </a:srgbClr>
            </a:solidFill>
            <a:prstDash val="solid"/>
          </a:ln>
        </p:spPr>
      </p:sp>
      <p:sp>
        <p:nvSpPr>
          <p:cNvPr id="29" name="Shape 27"/>
          <p:cNvSpPr/>
          <p:nvPr/>
        </p:nvSpPr>
        <p:spPr>
          <a:xfrm>
            <a:off x="6388267" y="1540042"/>
            <a:ext cx="440012" cy="440012"/>
          </a:xfrm>
          <a:prstGeom prst="roundRect">
            <a:avLst>
              <a:gd name="adj" fmla="val 50000"/>
            </a:avLst>
          </a:prstGeom>
          <a:solidFill>
            <a:srgbClr val="D4AF37">
              <a:alpha val="20000"/>
            </a:srgbClr>
          </a:solidFill>
          <a:ln/>
        </p:spPr>
      </p:sp>
      <p:sp>
        <p:nvSpPr>
          <p:cNvPr id="30" name="Shape 28"/>
          <p:cNvSpPr/>
          <p:nvPr/>
        </p:nvSpPr>
        <p:spPr>
          <a:xfrm>
            <a:off x="6505145" y="1668379"/>
            <a:ext cx="206256" cy="183338"/>
          </a:xfrm>
          <a:custGeom>
            <a:avLst/>
            <a:gdLst/>
            <a:ahLst/>
            <a:cxnLst/>
            <a:rect l="l" t="t" r="r" b="b"/>
            <a:pathLst>
              <a:path w="206256" h="183338">
                <a:moveTo>
                  <a:pt x="112080" y="31225"/>
                </a:moveTo>
                <a:cubicBezTo>
                  <a:pt x="115374" y="28611"/>
                  <a:pt x="117451" y="24564"/>
                  <a:pt x="117451" y="20053"/>
                </a:cubicBezTo>
                <a:cubicBezTo>
                  <a:pt x="117451" y="12139"/>
                  <a:pt x="111041" y="5729"/>
                  <a:pt x="103128" y="5729"/>
                </a:cubicBezTo>
                <a:cubicBezTo>
                  <a:pt x="95214" y="5729"/>
                  <a:pt x="88805" y="12139"/>
                  <a:pt x="88805" y="20053"/>
                </a:cubicBezTo>
                <a:cubicBezTo>
                  <a:pt x="88805" y="24564"/>
                  <a:pt x="90917" y="28611"/>
                  <a:pt x="94176" y="31225"/>
                </a:cubicBezTo>
                <a:lnTo>
                  <a:pt x="69683" y="69755"/>
                </a:lnTo>
                <a:cubicBezTo>
                  <a:pt x="66102" y="75376"/>
                  <a:pt x="58475" y="76773"/>
                  <a:pt x="53139" y="72762"/>
                </a:cubicBezTo>
                <a:lnTo>
                  <a:pt x="31834" y="56828"/>
                </a:lnTo>
                <a:cubicBezTo>
                  <a:pt x="33445" y="54536"/>
                  <a:pt x="34376" y="51707"/>
                  <a:pt x="34376" y="48699"/>
                </a:cubicBezTo>
                <a:cubicBezTo>
                  <a:pt x="34376" y="40786"/>
                  <a:pt x="27966" y="34376"/>
                  <a:pt x="20053" y="34376"/>
                </a:cubicBezTo>
                <a:cubicBezTo>
                  <a:pt x="12139" y="34376"/>
                  <a:pt x="5729" y="40786"/>
                  <a:pt x="5729" y="48699"/>
                </a:cubicBezTo>
                <a:cubicBezTo>
                  <a:pt x="5729" y="56505"/>
                  <a:pt x="11996" y="62879"/>
                  <a:pt x="19766" y="63023"/>
                </a:cubicBezTo>
                <a:lnTo>
                  <a:pt x="31440" y="140906"/>
                </a:lnTo>
                <a:cubicBezTo>
                  <a:pt x="33123" y="152114"/>
                  <a:pt x="42755" y="160421"/>
                  <a:pt x="54106" y="160421"/>
                </a:cubicBezTo>
                <a:lnTo>
                  <a:pt x="152149" y="160421"/>
                </a:lnTo>
                <a:cubicBezTo>
                  <a:pt x="163501" y="160421"/>
                  <a:pt x="173133" y="152114"/>
                  <a:pt x="174816" y="140906"/>
                </a:cubicBezTo>
                <a:lnTo>
                  <a:pt x="186489" y="63023"/>
                </a:lnTo>
                <a:cubicBezTo>
                  <a:pt x="194260" y="62879"/>
                  <a:pt x="200526" y="56505"/>
                  <a:pt x="200526" y="48699"/>
                </a:cubicBezTo>
                <a:cubicBezTo>
                  <a:pt x="200526" y="40786"/>
                  <a:pt x="194117" y="34376"/>
                  <a:pt x="186203" y="34376"/>
                </a:cubicBezTo>
                <a:cubicBezTo>
                  <a:pt x="178289" y="34376"/>
                  <a:pt x="171880" y="40786"/>
                  <a:pt x="171880" y="48699"/>
                </a:cubicBezTo>
                <a:cubicBezTo>
                  <a:pt x="171880" y="51707"/>
                  <a:pt x="172811" y="54536"/>
                  <a:pt x="174422" y="56828"/>
                </a:cubicBezTo>
                <a:lnTo>
                  <a:pt x="153152" y="72798"/>
                </a:lnTo>
                <a:cubicBezTo>
                  <a:pt x="147817" y="76809"/>
                  <a:pt x="140189" y="75412"/>
                  <a:pt x="136609" y="69790"/>
                </a:cubicBezTo>
                <a:lnTo>
                  <a:pt x="112080" y="31225"/>
                </a:lnTo>
                <a:close/>
              </a:path>
            </a:pathLst>
          </a:custGeom>
          <a:solidFill>
            <a:srgbClr val="D4AF37"/>
          </a:solidFill>
          <a:ln/>
        </p:spPr>
      </p:sp>
      <p:sp>
        <p:nvSpPr>
          <p:cNvPr id="31" name="Text 29"/>
          <p:cNvSpPr/>
          <p:nvPr/>
        </p:nvSpPr>
        <p:spPr>
          <a:xfrm>
            <a:off x="6938282" y="1521708"/>
            <a:ext cx="2484235" cy="293341"/>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732" b="1" dirty="0">
                <a:solidFill>
                  <a:srgbClr val="D4AF37"/>
                </a:solidFill>
                <a:latin typeface="Liter" pitchFamily="34" charset="0"/>
                <a:ea typeface="Liter" pitchFamily="34" charset="-122"/>
                <a:cs typeface="Liter" pitchFamily="34" charset="-120"/>
              </a:rPr>
              <a:t>المدير التنفيذي المخترق البيولوجي</a:t>
            </a:r>
            <a:endParaRPr xmlns:a="http://schemas.openxmlformats.org/drawingml/2006/main" lang="en-US" sz="1600" dirty="0"/>
          </a:p>
        </p:txBody>
      </p:sp>
      <p:sp>
        <p:nvSpPr>
          <p:cNvPr id="32" name="Text 30"/>
          <p:cNvSpPr/>
          <p:nvPr/>
        </p:nvSpPr>
        <p:spPr>
          <a:xfrm>
            <a:off x="6938282" y="1815050"/>
            <a:ext cx="2438400"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dirty="0">
                <a:solidFill>
                  <a:srgbClr val="E6F1FF">
                    <a:alpha val="60000"/>
                  </a:srgbClr>
                </a:solidFill>
                <a:latin typeface="Quattrocento Sans" pitchFamily="34" charset="0"/>
                <a:ea typeface="Quattrocento Sans" pitchFamily="34" charset="-122"/>
                <a:cs typeface="Quattrocento Sans" pitchFamily="34" charset="-120"/>
              </a:rPr>
              <a:t>تحديد الموقع المستقبلي</a:t>
            </a:r>
            <a:endParaRPr xmlns:a="http://schemas.openxmlformats.org/drawingml/2006/main" lang="en-US" sz="1600" dirty="0"/>
          </a:p>
        </p:txBody>
      </p:sp>
      <p:sp>
        <p:nvSpPr>
          <p:cNvPr id="33" name="Shape 31"/>
          <p:cNvSpPr/>
          <p:nvPr/>
        </p:nvSpPr>
        <p:spPr>
          <a:xfrm>
            <a:off x="6388267" y="2145059"/>
            <a:ext cx="5234310" cy="660018"/>
          </a:xfrm>
          <a:prstGeom prst="roundRect">
            <a:avLst>
              <a:gd name="adj" fmla="val 11111"/>
            </a:avLst>
          </a:prstGeom>
          <a:solidFill>
            <a:srgbClr val="0A192F">
              <a:alpha val="40000"/>
            </a:srgbClr>
          </a:solidFill>
          <a:ln/>
        </p:spPr>
      </p:sp>
      <p:sp>
        <p:nvSpPr>
          <p:cNvPr id="34" name="Shape 32"/>
          <p:cNvSpPr/>
          <p:nvPr/>
        </p:nvSpPr>
        <p:spPr>
          <a:xfrm>
            <a:off x="6516604" y="2277979"/>
            <a:ext cx="128337" cy="128337"/>
          </a:xfrm>
          <a:custGeom>
            <a:avLst/>
            <a:gdLst/>
            <a:ahLst/>
            <a:cxnLst/>
            <a:rect l="l" t="t" r="r" b="b"/>
            <a:pathLst>
              <a:path w="128337" h="128337">
                <a:moveTo>
                  <a:pt x="112295" y="64168"/>
                </a:moveTo>
                <a:cubicBezTo>
                  <a:pt x="112295" y="37607"/>
                  <a:pt x="90730" y="16042"/>
                  <a:pt x="64168" y="16042"/>
                </a:cubicBezTo>
                <a:cubicBezTo>
                  <a:pt x="37607" y="16042"/>
                  <a:pt x="16042" y="37607"/>
                  <a:pt x="16042" y="64168"/>
                </a:cubicBezTo>
                <a:cubicBezTo>
                  <a:pt x="16042" y="90730"/>
                  <a:pt x="37607" y="112295"/>
                  <a:pt x="64168" y="112295"/>
                </a:cubicBezTo>
                <a:cubicBezTo>
                  <a:pt x="90730" y="112295"/>
                  <a:pt x="112295" y="90730"/>
                  <a:pt x="112295" y="64168"/>
                </a:cubicBezTo>
                <a:close/>
                <a:moveTo>
                  <a:pt x="0" y="64168"/>
                </a:moveTo>
                <a:cubicBezTo>
                  <a:pt x="0" y="28753"/>
                  <a:pt x="28753" y="0"/>
                  <a:pt x="64168" y="0"/>
                </a:cubicBezTo>
                <a:cubicBezTo>
                  <a:pt x="99584" y="0"/>
                  <a:pt x="128337" y="28753"/>
                  <a:pt x="128337" y="64168"/>
                </a:cubicBezTo>
                <a:cubicBezTo>
                  <a:pt x="128337" y="99584"/>
                  <a:pt x="99584" y="128337"/>
                  <a:pt x="64168" y="128337"/>
                </a:cubicBezTo>
                <a:cubicBezTo>
                  <a:pt x="28753" y="128337"/>
                  <a:pt x="0" y="99584"/>
                  <a:pt x="0" y="64168"/>
                </a:cubicBezTo>
                <a:close/>
                <a:moveTo>
                  <a:pt x="64168" y="84221"/>
                </a:moveTo>
                <a:cubicBezTo>
                  <a:pt x="75236" y="84221"/>
                  <a:pt x="84221" y="75236"/>
                  <a:pt x="84221" y="64168"/>
                </a:cubicBezTo>
                <a:cubicBezTo>
                  <a:pt x="84221" y="53101"/>
                  <a:pt x="75236" y="44116"/>
                  <a:pt x="64168" y="44116"/>
                </a:cubicBezTo>
                <a:cubicBezTo>
                  <a:pt x="53101" y="44116"/>
                  <a:pt x="44116" y="53101"/>
                  <a:pt x="44116" y="64168"/>
                </a:cubicBezTo>
                <a:cubicBezTo>
                  <a:pt x="44116" y="75236"/>
                  <a:pt x="53101" y="84221"/>
                  <a:pt x="64168" y="84221"/>
                </a:cubicBezTo>
                <a:close/>
                <a:moveTo>
                  <a:pt x="64168" y="28074"/>
                </a:moveTo>
                <a:cubicBezTo>
                  <a:pt x="84090" y="28074"/>
                  <a:pt x="100263" y="44247"/>
                  <a:pt x="100263" y="64168"/>
                </a:cubicBezTo>
                <a:cubicBezTo>
                  <a:pt x="100263" y="84090"/>
                  <a:pt x="84090" y="100263"/>
                  <a:pt x="64168" y="100263"/>
                </a:cubicBezTo>
                <a:cubicBezTo>
                  <a:pt x="44247" y="100263"/>
                  <a:pt x="28074" y="84090"/>
                  <a:pt x="28074" y="64168"/>
                </a:cubicBezTo>
                <a:cubicBezTo>
                  <a:pt x="28074" y="44247"/>
                  <a:pt x="44247" y="28074"/>
                  <a:pt x="64168" y="28074"/>
                </a:cubicBezTo>
                <a:close/>
                <a:moveTo>
                  <a:pt x="56147" y="64168"/>
                </a:moveTo>
                <a:cubicBezTo>
                  <a:pt x="56147" y="59741"/>
                  <a:pt x="59741" y="56147"/>
                  <a:pt x="64168" y="56147"/>
                </a:cubicBezTo>
                <a:cubicBezTo>
                  <a:pt x="68595" y="56147"/>
                  <a:pt x="72189" y="59741"/>
                  <a:pt x="72189" y="64168"/>
                </a:cubicBezTo>
                <a:cubicBezTo>
                  <a:pt x="72189" y="68595"/>
                  <a:pt x="68595" y="72189"/>
                  <a:pt x="64168" y="72189"/>
                </a:cubicBezTo>
                <a:cubicBezTo>
                  <a:pt x="59741" y="72189"/>
                  <a:pt x="56147" y="68595"/>
                  <a:pt x="56147" y="64168"/>
                </a:cubicBezTo>
                <a:close/>
              </a:path>
            </a:pathLst>
          </a:custGeom>
          <a:solidFill>
            <a:srgbClr val="D4AF37"/>
          </a:solidFill>
          <a:ln/>
        </p:spPr>
      </p:sp>
      <p:sp>
        <p:nvSpPr>
          <p:cNvPr id="35" name="Text 33"/>
          <p:cNvSpPr/>
          <p:nvPr/>
        </p:nvSpPr>
        <p:spPr>
          <a:xfrm>
            <a:off x="6716208" y="2255062"/>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المحفز الرئيسي</a:t>
            </a:r>
            <a:endParaRPr xmlns:a="http://schemas.openxmlformats.org/drawingml/2006/main" lang="en-US" sz="1600" dirty="0"/>
          </a:p>
        </p:txBody>
      </p:sp>
      <p:sp>
        <p:nvSpPr>
          <p:cNvPr id="36" name="Text 34"/>
          <p:cNvSpPr/>
          <p:nvPr/>
        </p:nvSpPr>
        <p:spPr>
          <a:xfrm>
            <a:off x="6498270" y="2475068"/>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ذروة الأداء المعرفي، وسرعة رد الفعل، والوقاية من الإرهاق</a:t>
            </a:r>
            <a:endParaRPr xmlns:a="http://schemas.openxmlformats.org/drawingml/2006/main" lang="en-US" sz="1600" dirty="0"/>
          </a:p>
        </p:txBody>
      </p:sp>
      <p:sp>
        <p:nvSpPr>
          <p:cNvPr id="37" name="Shape 35"/>
          <p:cNvSpPr/>
          <p:nvPr/>
        </p:nvSpPr>
        <p:spPr>
          <a:xfrm>
            <a:off x="6388267" y="2915080"/>
            <a:ext cx="5234310" cy="660018"/>
          </a:xfrm>
          <a:prstGeom prst="roundRect">
            <a:avLst>
              <a:gd name="adj" fmla="val 11111"/>
            </a:avLst>
          </a:prstGeom>
          <a:solidFill>
            <a:srgbClr val="0A192F">
              <a:alpha val="40000"/>
            </a:srgbClr>
          </a:solidFill>
          <a:ln/>
        </p:spPr>
      </p:sp>
      <p:sp>
        <p:nvSpPr>
          <p:cNvPr id="38" name="Shape 36"/>
          <p:cNvSpPr/>
          <p:nvPr/>
        </p:nvSpPr>
        <p:spPr>
          <a:xfrm>
            <a:off x="6516604" y="3048000"/>
            <a:ext cx="128337" cy="128337"/>
          </a:xfrm>
          <a:custGeom>
            <a:avLst/>
            <a:gdLst/>
            <a:ahLst/>
            <a:cxnLst/>
            <a:rect l="l" t="t" r="r" b="b"/>
            <a:pathLst>
              <a:path w="128337" h="128337">
                <a:moveTo>
                  <a:pt x="8146" y="24063"/>
                </a:moveTo>
                <a:lnTo>
                  <a:pt x="8146" y="61537"/>
                </a:lnTo>
                <a:cubicBezTo>
                  <a:pt x="8146" y="65798"/>
                  <a:pt x="9826" y="69883"/>
                  <a:pt x="12834" y="72891"/>
                </a:cubicBezTo>
                <a:lnTo>
                  <a:pt x="60960" y="121018"/>
                </a:lnTo>
                <a:cubicBezTo>
                  <a:pt x="67226" y="127284"/>
                  <a:pt x="77378" y="127284"/>
                  <a:pt x="83645" y="121018"/>
                </a:cubicBezTo>
                <a:lnTo>
                  <a:pt x="121118" y="83544"/>
                </a:lnTo>
                <a:cubicBezTo>
                  <a:pt x="127384" y="77278"/>
                  <a:pt x="127384" y="67126"/>
                  <a:pt x="121118" y="60860"/>
                </a:cubicBezTo>
                <a:lnTo>
                  <a:pt x="72992" y="12733"/>
                </a:lnTo>
                <a:cubicBezTo>
                  <a:pt x="69984" y="9700"/>
                  <a:pt x="65923" y="8021"/>
                  <a:pt x="61662" y="8021"/>
                </a:cubicBezTo>
                <a:lnTo>
                  <a:pt x="24188" y="8021"/>
                </a:lnTo>
                <a:cubicBezTo>
                  <a:pt x="15340" y="8021"/>
                  <a:pt x="8146" y="15215"/>
                  <a:pt x="8146" y="24063"/>
                </a:cubicBezTo>
                <a:close/>
                <a:moveTo>
                  <a:pt x="36220" y="28074"/>
                </a:moveTo>
                <a:cubicBezTo>
                  <a:pt x="40647" y="28074"/>
                  <a:pt x="44241" y="31668"/>
                  <a:pt x="44241" y="36095"/>
                </a:cubicBezTo>
                <a:cubicBezTo>
                  <a:pt x="44241" y="40522"/>
                  <a:pt x="40647" y="44116"/>
                  <a:pt x="36220" y="44116"/>
                </a:cubicBezTo>
                <a:cubicBezTo>
                  <a:pt x="31793" y="44116"/>
                  <a:pt x="28199" y="40522"/>
                  <a:pt x="28199" y="36095"/>
                </a:cubicBezTo>
                <a:cubicBezTo>
                  <a:pt x="28199" y="31668"/>
                  <a:pt x="31793" y="28074"/>
                  <a:pt x="36220" y="28074"/>
                </a:cubicBezTo>
                <a:close/>
              </a:path>
            </a:pathLst>
          </a:custGeom>
          <a:solidFill>
            <a:srgbClr val="D4AF37"/>
          </a:solidFill>
          <a:ln/>
        </p:spPr>
      </p:sp>
      <p:sp>
        <p:nvSpPr>
          <p:cNvPr id="39" name="Text 37"/>
          <p:cNvSpPr/>
          <p:nvPr/>
        </p:nvSpPr>
        <p:spPr>
          <a:xfrm>
            <a:off x="6716208" y="3025083"/>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حساسية السعر</a:t>
            </a:r>
            <a:endParaRPr xmlns:a="http://schemas.openxmlformats.org/drawingml/2006/main" lang="en-US" sz="1600" dirty="0"/>
          </a:p>
        </p:txBody>
      </p:sp>
      <p:sp>
        <p:nvSpPr>
          <p:cNvPr id="40" name="Text 38"/>
          <p:cNvSpPr/>
          <p:nvPr/>
        </p:nvSpPr>
        <p:spPr>
          <a:xfrm>
            <a:off x="6498270" y="3245089"/>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لو - ينظر إلى تدريب الدماغ كاستثمار </a:t>
            </a:r>
            <a:pPr xmlns:a="http://schemas.openxmlformats.org/drawingml/2006/main">
              <a:lnSpc>
                <a:spcPct val="130000"/>
              </a:lnSpc>
              <a:bidi/>
            </a:pPr>
            <a:r xmlns:a="http://schemas.openxmlformats.org/drawingml/2006/main">
              <a:rPr lang="ar" sz="1155" b="1" dirty="0">
                <a:solidFill>
                  <a:srgbClr val="64FFDA"/>
                </a:solidFill>
                <a:latin typeface="Quattrocento Sans" pitchFamily="34" charset="0"/>
                <a:ea typeface="Quattrocento Sans" pitchFamily="34" charset="-122"/>
                <a:cs typeface="Quattrocento Sans" pitchFamily="34" charset="-120"/>
              </a:rPr>
              <a:t>يحقق عائدًا على الاستثمار</a:t>
            </a:r>
            <a:endParaRPr xmlns:a="http://schemas.openxmlformats.org/drawingml/2006/main" lang="en-US" sz="1600" dirty="0"/>
          </a:p>
        </p:txBody>
      </p:sp>
      <p:sp>
        <p:nvSpPr>
          <p:cNvPr id="41" name="Shape 39"/>
          <p:cNvSpPr/>
          <p:nvPr/>
        </p:nvSpPr>
        <p:spPr>
          <a:xfrm>
            <a:off x="6388267" y="3685101"/>
            <a:ext cx="5234310" cy="660018"/>
          </a:xfrm>
          <a:prstGeom prst="roundRect">
            <a:avLst>
              <a:gd name="adj" fmla="val 11111"/>
            </a:avLst>
          </a:prstGeom>
          <a:solidFill>
            <a:srgbClr val="0A192F">
              <a:alpha val="40000"/>
            </a:srgbClr>
          </a:solidFill>
          <a:ln/>
        </p:spPr>
      </p:sp>
      <p:sp>
        <p:nvSpPr>
          <p:cNvPr id="42" name="Shape 40"/>
          <p:cNvSpPr/>
          <p:nvPr/>
        </p:nvSpPr>
        <p:spPr>
          <a:xfrm>
            <a:off x="6500562" y="3818021"/>
            <a:ext cx="160421" cy="128337"/>
          </a:xfrm>
          <a:custGeom>
            <a:avLst/>
            <a:gdLst/>
            <a:ahLst/>
            <a:cxnLst/>
            <a:rect l="l" t="t" r="r" b="b"/>
            <a:pathLst>
              <a:path w="160421" h="128337">
                <a:moveTo>
                  <a:pt x="6016" y="-4011"/>
                </a:moveTo>
                <a:cubicBezTo>
                  <a:pt x="2682" y="-4011"/>
                  <a:pt x="0" y="-1328"/>
                  <a:pt x="0" y="2005"/>
                </a:cubicBezTo>
                <a:cubicBezTo>
                  <a:pt x="0" y="5339"/>
                  <a:pt x="2682" y="8021"/>
                  <a:pt x="6016" y="8021"/>
                </a:cubicBezTo>
                <a:lnTo>
                  <a:pt x="17371" y="8021"/>
                </a:lnTo>
                <a:cubicBezTo>
                  <a:pt x="18348" y="8021"/>
                  <a:pt x="19175" y="8723"/>
                  <a:pt x="19351" y="9675"/>
                </a:cubicBezTo>
                <a:lnTo>
                  <a:pt x="32410" y="81439"/>
                </a:lnTo>
                <a:cubicBezTo>
                  <a:pt x="33964" y="90011"/>
                  <a:pt x="41434" y="96253"/>
                  <a:pt x="50157" y="96253"/>
                </a:cubicBezTo>
                <a:lnTo>
                  <a:pt x="114300" y="96253"/>
                </a:lnTo>
                <a:cubicBezTo>
                  <a:pt x="117634" y="96253"/>
                  <a:pt x="120316" y="93571"/>
                  <a:pt x="120316" y="90237"/>
                </a:cubicBezTo>
                <a:cubicBezTo>
                  <a:pt x="120316" y="86903"/>
                  <a:pt x="117634" y="84221"/>
                  <a:pt x="114300" y="84221"/>
                </a:cubicBezTo>
                <a:lnTo>
                  <a:pt x="50157" y="84221"/>
                </a:lnTo>
                <a:cubicBezTo>
                  <a:pt x="47249" y="84221"/>
                  <a:pt x="44768" y="82141"/>
                  <a:pt x="44241" y="79283"/>
                </a:cubicBezTo>
                <a:lnTo>
                  <a:pt x="42963" y="72189"/>
                </a:lnTo>
                <a:lnTo>
                  <a:pt x="119062" y="72189"/>
                </a:lnTo>
                <a:cubicBezTo>
                  <a:pt x="126783" y="72189"/>
                  <a:pt x="133400" y="66700"/>
                  <a:pt x="134829" y="59105"/>
                </a:cubicBezTo>
                <a:lnTo>
                  <a:pt x="142599" y="17521"/>
                </a:lnTo>
                <a:cubicBezTo>
                  <a:pt x="143527" y="12583"/>
                  <a:pt x="139742" y="8021"/>
                  <a:pt x="134704" y="8021"/>
                </a:cubicBezTo>
                <a:lnTo>
                  <a:pt x="31257" y="8021"/>
                </a:lnTo>
                <a:lnTo>
                  <a:pt x="31157" y="7520"/>
                </a:lnTo>
                <a:cubicBezTo>
                  <a:pt x="29954" y="852"/>
                  <a:pt x="24138" y="-4011"/>
                  <a:pt x="17346" y="-4011"/>
                </a:cubicBezTo>
                <a:lnTo>
                  <a:pt x="6016" y="-4011"/>
                </a:lnTo>
                <a:close/>
                <a:moveTo>
                  <a:pt x="52137" y="128337"/>
                </a:moveTo>
                <a:cubicBezTo>
                  <a:pt x="58777" y="128337"/>
                  <a:pt x="64168" y="122946"/>
                  <a:pt x="64168" y="116305"/>
                </a:cubicBezTo>
                <a:cubicBezTo>
                  <a:pt x="64168" y="109665"/>
                  <a:pt x="58777" y="104274"/>
                  <a:pt x="52137" y="104274"/>
                </a:cubicBezTo>
                <a:cubicBezTo>
                  <a:pt x="45496" y="104274"/>
                  <a:pt x="40105" y="109665"/>
                  <a:pt x="40105" y="116305"/>
                </a:cubicBezTo>
                <a:cubicBezTo>
                  <a:pt x="40105" y="122946"/>
                  <a:pt x="45496" y="128337"/>
                  <a:pt x="52137" y="128337"/>
                </a:cubicBezTo>
                <a:close/>
                <a:moveTo>
                  <a:pt x="108284" y="128337"/>
                </a:moveTo>
                <a:cubicBezTo>
                  <a:pt x="114925" y="128337"/>
                  <a:pt x="120316" y="122946"/>
                  <a:pt x="120316" y="116305"/>
                </a:cubicBezTo>
                <a:cubicBezTo>
                  <a:pt x="120316" y="109665"/>
                  <a:pt x="114925" y="104274"/>
                  <a:pt x="108284" y="104274"/>
                </a:cubicBezTo>
                <a:cubicBezTo>
                  <a:pt x="101644" y="104274"/>
                  <a:pt x="96253" y="109665"/>
                  <a:pt x="96253" y="116305"/>
                </a:cubicBezTo>
                <a:cubicBezTo>
                  <a:pt x="96253" y="122946"/>
                  <a:pt x="101644" y="128337"/>
                  <a:pt x="108284" y="128337"/>
                </a:cubicBezTo>
                <a:close/>
              </a:path>
            </a:pathLst>
          </a:custGeom>
          <a:solidFill>
            <a:srgbClr val="D4AF37"/>
          </a:solidFill>
          <a:ln/>
        </p:spPr>
      </p:sp>
      <p:sp>
        <p:nvSpPr>
          <p:cNvPr id="43" name="Text 41"/>
          <p:cNvSpPr/>
          <p:nvPr/>
        </p:nvSpPr>
        <p:spPr>
          <a:xfrm>
            <a:off x="6716208" y="3795104"/>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تقديم الخدمات</a:t>
            </a:r>
            <a:endParaRPr xmlns:a="http://schemas.openxmlformats.org/drawingml/2006/main" lang="en-US" sz="1600" dirty="0"/>
          </a:p>
        </p:txBody>
      </p:sp>
      <p:sp>
        <p:nvSpPr>
          <p:cNvPr id="44" name="Text 42"/>
          <p:cNvSpPr/>
          <p:nvPr/>
        </p:nvSpPr>
        <p:spPr>
          <a:xfrm>
            <a:off x="6498270" y="4015110"/>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خدمات الكونسيرج برسوم سنوية وباقات تشخيصية شاملة</a:t>
            </a:r>
            <a:endParaRPr xmlns:a="http://schemas.openxmlformats.org/drawingml/2006/main" lang="en-US" sz="1600" dirty="0"/>
          </a:p>
        </p:txBody>
      </p:sp>
      <p:sp>
        <p:nvSpPr>
          <p:cNvPr id="45" name="Shape 43"/>
          <p:cNvSpPr/>
          <p:nvPr/>
        </p:nvSpPr>
        <p:spPr>
          <a:xfrm>
            <a:off x="6388267" y="4455122"/>
            <a:ext cx="5234310" cy="660018"/>
          </a:xfrm>
          <a:prstGeom prst="roundRect">
            <a:avLst>
              <a:gd name="adj" fmla="val 11111"/>
            </a:avLst>
          </a:prstGeom>
          <a:solidFill>
            <a:srgbClr val="0A192F">
              <a:alpha val="40000"/>
            </a:srgbClr>
          </a:solidFill>
          <a:ln/>
        </p:spPr>
      </p:sp>
      <p:sp>
        <p:nvSpPr>
          <p:cNvPr id="46" name="Shape 44"/>
          <p:cNvSpPr/>
          <p:nvPr/>
        </p:nvSpPr>
        <p:spPr>
          <a:xfrm>
            <a:off x="6516604" y="4588042"/>
            <a:ext cx="128337" cy="128337"/>
          </a:xfrm>
          <a:custGeom>
            <a:avLst/>
            <a:gdLst/>
            <a:ahLst/>
            <a:cxnLst/>
            <a:rect l="l" t="t" r="r" b="b"/>
            <a:pathLst>
              <a:path w="128337" h="128337">
                <a:moveTo>
                  <a:pt x="128337" y="24063"/>
                </a:moveTo>
                <a:cubicBezTo>
                  <a:pt x="128337" y="36646"/>
                  <a:pt x="113523" y="55420"/>
                  <a:pt x="107131" y="62915"/>
                </a:cubicBezTo>
                <a:cubicBezTo>
                  <a:pt x="106179" y="64018"/>
                  <a:pt x="104775" y="64444"/>
                  <a:pt x="103497" y="64168"/>
                </a:cubicBezTo>
                <a:lnTo>
                  <a:pt x="80211" y="64168"/>
                </a:lnTo>
                <a:cubicBezTo>
                  <a:pt x="75774" y="64168"/>
                  <a:pt x="72189" y="67753"/>
                  <a:pt x="72189" y="72189"/>
                </a:cubicBezTo>
                <a:cubicBezTo>
                  <a:pt x="72189" y="76626"/>
                  <a:pt x="75774" y="80211"/>
                  <a:pt x="80211" y="80211"/>
                </a:cubicBezTo>
                <a:lnTo>
                  <a:pt x="104274" y="80211"/>
                </a:lnTo>
                <a:cubicBezTo>
                  <a:pt x="117559" y="80211"/>
                  <a:pt x="128337" y="90989"/>
                  <a:pt x="128337" y="104274"/>
                </a:cubicBezTo>
                <a:cubicBezTo>
                  <a:pt x="128337" y="117559"/>
                  <a:pt x="117559" y="128337"/>
                  <a:pt x="104274" y="128337"/>
                </a:cubicBezTo>
                <a:lnTo>
                  <a:pt x="34992" y="128337"/>
                </a:lnTo>
                <a:cubicBezTo>
                  <a:pt x="37173" y="125855"/>
                  <a:pt x="39830" y="122672"/>
                  <a:pt x="42512" y="119113"/>
                </a:cubicBezTo>
                <a:cubicBezTo>
                  <a:pt x="44091" y="117007"/>
                  <a:pt x="45720" y="114701"/>
                  <a:pt x="47274" y="112295"/>
                </a:cubicBezTo>
                <a:lnTo>
                  <a:pt x="104274" y="112295"/>
                </a:lnTo>
                <a:cubicBezTo>
                  <a:pt x="108710" y="112295"/>
                  <a:pt x="112295" y="108710"/>
                  <a:pt x="112295" y="104274"/>
                </a:cubicBezTo>
                <a:cubicBezTo>
                  <a:pt x="112295" y="99837"/>
                  <a:pt x="108710" y="96253"/>
                  <a:pt x="104274" y="96253"/>
                </a:cubicBezTo>
                <a:lnTo>
                  <a:pt x="80211" y="96253"/>
                </a:lnTo>
                <a:cubicBezTo>
                  <a:pt x="66926" y="96253"/>
                  <a:pt x="56147" y="85474"/>
                  <a:pt x="56147" y="72189"/>
                </a:cubicBezTo>
                <a:cubicBezTo>
                  <a:pt x="56147" y="58905"/>
                  <a:pt x="66926" y="48126"/>
                  <a:pt x="80211" y="48126"/>
                </a:cubicBezTo>
                <a:lnTo>
                  <a:pt x="90187" y="48126"/>
                </a:lnTo>
                <a:cubicBezTo>
                  <a:pt x="84923" y="40231"/>
                  <a:pt x="80211" y="31157"/>
                  <a:pt x="80211" y="24063"/>
                </a:cubicBezTo>
                <a:cubicBezTo>
                  <a:pt x="80211" y="10778"/>
                  <a:pt x="90989" y="0"/>
                  <a:pt x="104274" y="0"/>
                </a:cubicBezTo>
                <a:cubicBezTo>
                  <a:pt x="117559" y="0"/>
                  <a:pt x="128337" y="10778"/>
                  <a:pt x="128337" y="24063"/>
                </a:cubicBezTo>
                <a:close/>
                <a:moveTo>
                  <a:pt x="29352" y="122597"/>
                </a:moveTo>
                <a:cubicBezTo>
                  <a:pt x="28400" y="123675"/>
                  <a:pt x="27547" y="124627"/>
                  <a:pt x="26820" y="125429"/>
                </a:cubicBezTo>
                <a:lnTo>
                  <a:pt x="26369" y="125931"/>
                </a:lnTo>
                <a:lnTo>
                  <a:pt x="26319" y="125880"/>
                </a:lnTo>
                <a:cubicBezTo>
                  <a:pt x="24815" y="127033"/>
                  <a:pt x="22659" y="126883"/>
                  <a:pt x="21306" y="125429"/>
                </a:cubicBezTo>
                <a:cubicBezTo>
                  <a:pt x="14989" y="118561"/>
                  <a:pt x="0" y="100890"/>
                  <a:pt x="0" y="88232"/>
                </a:cubicBezTo>
                <a:cubicBezTo>
                  <a:pt x="0" y="74947"/>
                  <a:pt x="10778" y="64168"/>
                  <a:pt x="24063" y="64168"/>
                </a:cubicBezTo>
                <a:cubicBezTo>
                  <a:pt x="37348" y="64168"/>
                  <a:pt x="48126" y="74947"/>
                  <a:pt x="48126" y="88232"/>
                </a:cubicBezTo>
                <a:cubicBezTo>
                  <a:pt x="48126" y="95751"/>
                  <a:pt x="42837" y="105026"/>
                  <a:pt x="37223" y="112771"/>
                </a:cubicBezTo>
                <a:cubicBezTo>
                  <a:pt x="34541" y="116456"/>
                  <a:pt x="31783" y="119789"/>
                  <a:pt x="29502" y="122421"/>
                </a:cubicBezTo>
                <a:lnTo>
                  <a:pt x="29352" y="122597"/>
                </a:lnTo>
                <a:close/>
                <a:moveTo>
                  <a:pt x="32084" y="88232"/>
                </a:moveTo>
                <a:cubicBezTo>
                  <a:pt x="32084" y="83805"/>
                  <a:pt x="28490" y="80211"/>
                  <a:pt x="24063" y="80211"/>
                </a:cubicBezTo>
                <a:cubicBezTo>
                  <a:pt x="19636" y="80211"/>
                  <a:pt x="16042" y="83805"/>
                  <a:pt x="16042" y="88232"/>
                </a:cubicBezTo>
                <a:cubicBezTo>
                  <a:pt x="16042" y="92659"/>
                  <a:pt x="19636" y="96253"/>
                  <a:pt x="24063" y="96253"/>
                </a:cubicBezTo>
                <a:cubicBezTo>
                  <a:pt x="28490" y="96253"/>
                  <a:pt x="32084" y="92659"/>
                  <a:pt x="32084" y="88232"/>
                </a:cubicBezTo>
                <a:close/>
                <a:moveTo>
                  <a:pt x="104274" y="32084"/>
                </a:moveTo>
                <a:cubicBezTo>
                  <a:pt x="108701" y="32084"/>
                  <a:pt x="112295" y="28490"/>
                  <a:pt x="112295" y="24063"/>
                </a:cubicBezTo>
                <a:cubicBezTo>
                  <a:pt x="112295" y="19636"/>
                  <a:pt x="108701" y="16042"/>
                  <a:pt x="104274" y="16042"/>
                </a:cubicBezTo>
                <a:cubicBezTo>
                  <a:pt x="99847" y="16042"/>
                  <a:pt x="96253" y="19636"/>
                  <a:pt x="96253" y="24063"/>
                </a:cubicBezTo>
                <a:cubicBezTo>
                  <a:pt x="96253" y="28490"/>
                  <a:pt x="99847" y="32084"/>
                  <a:pt x="104274" y="32084"/>
                </a:cubicBezTo>
                <a:close/>
              </a:path>
            </a:pathLst>
          </a:custGeom>
          <a:solidFill>
            <a:srgbClr val="D4AF37"/>
          </a:solidFill>
          <a:ln/>
        </p:spPr>
      </p:sp>
      <p:sp>
        <p:nvSpPr>
          <p:cNvPr id="47" name="Text 45"/>
          <p:cNvSpPr/>
          <p:nvPr/>
        </p:nvSpPr>
        <p:spPr>
          <a:xfrm>
            <a:off x="6716208" y="4565125"/>
            <a:ext cx="4860534" cy="18333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11" b="1" dirty="0">
                <a:solidFill>
                  <a:srgbClr val="E6F1FF">
                    <a:alpha val="70000"/>
                  </a:srgbClr>
                </a:solidFill>
                <a:latin typeface="Quattrocento Sans" pitchFamily="34" charset="0"/>
                <a:ea typeface="Quattrocento Sans" pitchFamily="34" charset="-122"/>
                <a:cs typeface="Quattrocento Sans" pitchFamily="34" charset="-120"/>
              </a:rPr>
              <a:t>قناة الاستحواذ</a:t>
            </a:r>
            <a:endParaRPr xmlns:a="http://schemas.openxmlformats.org/drawingml/2006/main" lang="en-US" sz="1600" dirty="0"/>
          </a:p>
        </p:txBody>
      </p:sp>
      <p:sp>
        <p:nvSpPr>
          <p:cNvPr id="48" name="Text 46"/>
          <p:cNvSpPr/>
          <p:nvPr/>
        </p:nvSpPr>
        <p:spPr>
          <a:xfrm>
            <a:off x="6498270" y="4785131"/>
            <a:ext cx="5087639"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التواصل المؤسسي بين الشركات وقنوات الموارد البشرية المستهدفة على لينكدإن</a:t>
            </a:r>
            <a:endParaRPr xmlns:a="http://schemas.openxmlformats.org/drawingml/2006/main" lang="en-US" sz="1600" dirty="0"/>
          </a:p>
        </p:txBody>
      </p:sp>
      <p:sp>
        <p:nvSpPr>
          <p:cNvPr id="49" name="Shape 47"/>
          <p:cNvSpPr/>
          <p:nvPr/>
        </p:nvSpPr>
        <p:spPr>
          <a:xfrm>
            <a:off x="6392851" y="5229726"/>
            <a:ext cx="5225143" cy="449179"/>
          </a:xfrm>
          <a:prstGeom prst="roundRect">
            <a:avLst>
              <a:gd name="adj" fmla="val 16327"/>
            </a:avLst>
          </a:prstGeom>
          <a:solidFill>
            <a:srgbClr val="D4AF37">
              <a:alpha val="10196"/>
            </a:srgbClr>
          </a:solidFill>
          <a:ln w="12700">
            <a:solidFill>
              <a:srgbClr val="D4AF37">
                <a:alpha val="30196"/>
              </a:srgbClr>
            </a:solidFill>
            <a:prstDash val="solid"/>
          </a:ln>
        </p:spPr>
      </p:sp>
      <p:sp>
        <p:nvSpPr>
          <p:cNvPr id="50" name="Text 48"/>
          <p:cNvSpPr/>
          <p:nvPr/>
        </p:nvSpPr>
        <p:spPr>
          <a:xfrm>
            <a:off x="6470769" y="5344313"/>
            <a:ext cx="5069305" cy="220006"/>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155" b="1" dirty="0">
                <a:solidFill>
                  <a:srgbClr val="D4AF37"/>
                </a:solidFill>
                <a:latin typeface="Quattrocento Sans" pitchFamily="34" charset="0"/>
                <a:ea typeface="Quattrocento Sans" pitchFamily="34" charset="-122"/>
                <a:cs typeface="Quattrocento Sans" pitchFamily="34" charset="-120"/>
              </a:rPr>
              <a:t>القيمة الدائمة للعميل: </a:t>
            </a:r>
            <a:pPr xmlns:a="http://schemas.openxmlformats.org/drawingml/2006/main" algn="ctr">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أعلى بمقدار 2.18 مرة | </a:t>
            </a:r>
            <a:pPr xmlns:a="http://schemas.openxmlformats.org/drawingml/2006/main" algn="ctr">
              <a:lnSpc>
                <a:spcPct val="130000"/>
              </a:lnSpc>
              <a:bidi/>
            </a:pPr>
            <a:r xmlns:a="http://schemas.openxmlformats.org/drawingml/2006/main">
              <a:rPr lang="ar" sz="1155" b="1" dirty="0">
                <a:solidFill>
                  <a:srgbClr val="D4AF37"/>
                </a:solidFill>
                <a:latin typeface="Quattrocento Sans" pitchFamily="34" charset="0"/>
                <a:ea typeface="Quattrocento Sans" pitchFamily="34" charset="-122"/>
                <a:cs typeface="Quattrocento Sans" pitchFamily="34" charset="-120"/>
              </a:rPr>
              <a:t>معدل الاحتفاظ بالعملاء: </a:t>
            </a:r>
            <a:pPr xmlns:a="http://schemas.openxmlformats.org/drawingml/2006/main" algn="ctr">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80% فأكثر | </a:t>
            </a:r>
            <a:pPr xmlns:a="http://schemas.openxmlformats.org/drawingml/2006/main" algn="ctr">
              <a:lnSpc>
                <a:spcPct val="130000"/>
              </a:lnSpc>
              <a:bidi/>
            </a:pPr>
            <a:r xmlns:a="http://schemas.openxmlformats.org/drawingml/2006/main">
              <a:rPr lang="ar" sz="1155" b="1" dirty="0">
                <a:solidFill>
                  <a:srgbClr val="D4AF37"/>
                </a:solidFill>
                <a:latin typeface="Quattrocento Sans" pitchFamily="34" charset="0"/>
                <a:ea typeface="Quattrocento Sans" pitchFamily="34" charset="-122"/>
                <a:cs typeface="Quattrocento Sans" pitchFamily="34" charset="-120"/>
              </a:rPr>
              <a:t>هامش الربح: </a:t>
            </a:r>
            <a:pPr xmlns:a="http://schemas.openxmlformats.org/drawingml/2006/main" algn="ctr">
              <a:lnSpc>
                <a:spcPct val="130000"/>
              </a:lnSpc>
              <a:bidi/>
            </a:pPr>
            <a:r xmlns:a="http://schemas.openxmlformats.org/drawingml/2006/main">
              <a:rPr lang="ar" sz="1155" dirty="0">
                <a:solidFill>
                  <a:srgbClr val="E6F1FF"/>
                </a:solidFill>
                <a:latin typeface="Quattrocento Sans" pitchFamily="34" charset="0"/>
                <a:ea typeface="Quattrocento Sans" pitchFamily="34" charset="-122"/>
                <a:cs typeface="Quattrocento Sans" pitchFamily="34" charset="-120"/>
              </a:rPr>
              <a:t>25-30%</a:t>
            </a:r>
            <a:endParaRPr xmlns:a="http://schemas.openxmlformats.org/drawingml/2006/main" lang="en-US" sz="1600" dirty="0"/>
          </a:p>
        </p:txBody>
      </p:sp>
      <p:sp>
        <p:nvSpPr>
          <p:cNvPr id="51" name="Shape 49"/>
          <p:cNvSpPr/>
          <p:nvPr/>
        </p:nvSpPr>
        <p:spPr>
          <a:xfrm>
            <a:off x="371260" y="6036415"/>
            <a:ext cx="11449480" cy="815856"/>
          </a:xfrm>
          <a:prstGeom prst="roundRect">
            <a:avLst>
              <a:gd name="adj" fmla="val 13483"/>
            </a:avLst>
          </a:prstGeom>
          <a:gradFill rotWithShape="1" flip="none">
            <a:gsLst>
              <a:gs pos="0">
                <a:srgbClr val="D4AF37">
                  <a:alpha val="20000"/>
                </a:srgbClr>
              </a:gs>
              <a:gs pos="100000">
                <a:srgbClr val="64FFDA">
                  <a:alpha val="20000"/>
                </a:srgbClr>
              </a:gs>
            </a:gsLst>
            <a:lin ang="0" scaled="1"/>
          </a:gradFill>
          <a:ln w="12700">
            <a:solidFill>
              <a:srgbClr val="D4AF37">
                <a:alpha val="40000"/>
              </a:srgbClr>
            </a:solidFill>
            <a:prstDash val="solid"/>
          </a:ln>
        </p:spPr>
      </p:sp>
      <p:sp>
        <p:nvSpPr>
          <p:cNvPr id="52" name="Shape 50"/>
          <p:cNvSpPr/>
          <p:nvPr/>
        </p:nvSpPr>
        <p:spPr>
          <a:xfrm>
            <a:off x="593558" y="6306839"/>
            <a:ext cx="206256" cy="275008"/>
          </a:xfrm>
          <a:custGeom>
            <a:avLst/>
            <a:gdLst/>
            <a:ahLst/>
            <a:cxnLst/>
            <a:rect l="l" t="t" r="r" b="b"/>
            <a:pathLst>
              <a:path w="206256" h="275008">
                <a:moveTo>
                  <a:pt x="157324" y="206256"/>
                </a:moveTo>
                <a:cubicBezTo>
                  <a:pt x="161245" y="194278"/>
                  <a:pt x="169087" y="183428"/>
                  <a:pt x="177949" y="174082"/>
                </a:cubicBezTo>
                <a:cubicBezTo>
                  <a:pt x="195513" y="155605"/>
                  <a:pt x="206256" y="130629"/>
                  <a:pt x="206256" y="103128"/>
                </a:cubicBezTo>
                <a:cubicBezTo>
                  <a:pt x="206256" y="46193"/>
                  <a:pt x="160063" y="0"/>
                  <a:pt x="103128" y="0"/>
                </a:cubicBezTo>
                <a:cubicBezTo>
                  <a:pt x="46193" y="0"/>
                  <a:pt x="0" y="46193"/>
                  <a:pt x="0" y="103128"/>
                </a:cubicBezTo>
                <a:cubicBezTo>
                  <a:pt x="0" y="130629"/>
                  <a:pt x="10742" y="155605"/>
                  <a:pt x="28306" y="174082"/>
                </a:cubicBezTo>
                <a:cubicBezTo>
                  <a:pt x="37169" y="183428"/>
                  <a:pt x="45065" y="194278"/>
                  <a:pt x="48932" y="206256"/>
                </a:cubicBezTo>
                <a:lnTo>
                  <a:pt x="157270" y="206256"/>
                </a:lnTo>
                <a:close/>
                <a:moveTo>
                  <a:pt x="154692" y="232038"/>
                </a:moveTo>
                <a:lnTo>
                  <a:pt x="51564" y="232038"/>
                </a:lnTo>
                <a:lnTo>
                  <a:pt x="51564" y="240632"/>
                </a:lnTo>
                <a:cubicBezTo>
                  <a:pt x="51564" y="264372"/>
                  <a:pt x="70793" y="283602"/>
                  <a:pt x="94534" y="283602"/>
                </a:cubicBezTo>
                <a:lnTo>
                  <a:pt x="111722" y="283602"/>
                </a:lnTo>
                <a:cubicBezTo>
                  <a:pt x="135463" y="283602"/>
                  <a:pt x="154692" y="264372"/>
                  <a:pt x="154692" y="240632"/>
                </a:cubicBezTo>
                <a:lnTo>
                  <a:pt x="154692" y="232038"/>
                </a:lnTo>
                <a:close/>
                <a:moveTo>
                  <a:pt x="98831" y="60158"/>
                </a:moveTo>
                <a:cubicBezTo>
                  <a:pt x="77453" y="60158"/>
                  <a:pt x="60158" y="77453"/>
                  <a:pt x="60158" y="98831"/>
                </a:cubicBezTo>
                <a:cubicBezTo>
                  <a:pt x="60158" y="105975"/>
                  <a:pt x="54411" y="111722"/>
                  <a:pt x="47267" y="111722"/>
                </a:cubicBezTo>
                <a:cubicBezTo>
                  <a:pt x="40123" y="111722"/>
                  <a:pt x="34376" y="105975"/>
                  <a:pt x="34376" y="98831"/>
                </a:cubicBezTo>
                <a:cubicBezTo>
                  <a:pt x="34376" y="63220"/>
                  <a:pt x="63220" y="34376"/>
                  <a:pt x="98831" y="34376"/>
                </a:cubicBezTo>
                <a:cubicBezTo>
                  <a:pt x="105975" y="34376"/>
                  <a:pt x="111722" y="40123"/>
                  <a:pt x="111722" y="47267"/>
                </a:cubicBezTo>
                <a:cubicBezTo>
                  <a:pt x="111722" y="54411"/>
                  <a:pt x="105975" y="60158"/>
                  <a:pt x="98831" y="60158"/>
                </a:cubicBezTo>
                <a:close/>
              </a:path>
            </a:pathLst>
          </a:custGeom>
          <a:solidFill>
            <a:srgbClr val="D4AF37"/>
          </a:solidFill>
          <a:ln/>
        </p:spPr>
      </p:sp>
      <p:sp>
        <p:nvSpPr>
          <p:cNvPr id="53" name="Text 51"/>
          <p:cNvSpPr/>
          <p:nvPr/>
        </p:nvSpPr>
        <p:spPr>
          <a:xfrm>
            <a:off x="1012944" y="6187669"/>
            <a:ext cx="8662737" cy="256674"/>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99" b="1" dirty="0">
                <a:solidFill>
                  <a:srgbClr val="E6F1FF"/>
                </a:solidFill>
                <a:latin typeface="Quattrocento Sans" pitchFamily="34" charset="0"/>
                <a:ea typeface="Quattrocento Sans" pitchFamily="34" charset="-122"/>
                <a:cs typeface="Quattrocento Sans" pitchFamily="34" charset="-120"/>
              </a:rPr>
              <a:t>رؤية استراتيجية</a:t>
            </a:r>
            <a:endParaRPr xmlns:a="http://schemas.openxmlformats.org/drawingml/2006/main" lang="en-US" sz="1600" dirty="0"/>
          </a:p>
        </p:txBody>
      </p:sp>
      <p:sp>
        <p:nvSpPr>
          <p:cNvPr id="54" name="Text 52"/>
          <p:cNvSpPr/>
          <p:nvPr/>
        </p:nvSpPr>
        <p:spPr>
          <a:xfrm>
            <a:off x="1012944" y="6481011"/>
            <a:ext cx="8653570" cy="22000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55" dirty="0">
                <a:solidFill>
                  <a:srgbClr val="E6F1FF">
                    <a:alpha val="80000"/>
                  </a:srgbClr>
                </a:solidFill>
                <a:latin typeface="Quattrocento Sans" pitchFamily="34" charset="0"/>
                <a:ea typeface="Quattrocento Sans" pitchFamily="34" charset="-122"/>
                <a:cs typeface="Quattrocento Sans" pitchFamily="34" charset="-120"/>
              </a:rPr>
              <a:t>من خلال التحول من نموذج المعاملات إلى نموذج خدمة العملاء، نزيد متوسط قيمة المعاملة بمقدار </a:t>
            </a:r>
            <a:pPr xmlns:a="http://schemas.openxmlformats.org/drawingml/2006/main">
              <a:lnSpc>
                <a:spcPct val="130000"/>
              </a:lnSpc>
              <a:bidi/>
            </a:pPr>
            <a:r xmlns:a="http://schemas.openxmlformats.org/drawingml/2006/main">
              <a:rPr lang="ar" sz="1155" b="1" dirty="0">
                <a:solidFill>
                  <a:srgbClr val="64FFDA"/>
                </a:solidFill>
                <a:latin typeface="Quattrocento Sans" pitchFamily="34" charset="0"/>
                <a:ea typeface="Quattrocento Sans" pitchFamily="34" charset="-122"/>
                <a:cs typeface="Quattrocento Sans" pitchFamily="34" charset="-120"/>
              </a:rPr>
              <a:t>2.18 ضعف </a:t>
            </a:r>
            <a:pPr xmlns:a="http://schemas.openxmlformats.org/drawingml/2006/main">
              <a:lnSpc>
                <a:spcPct val="130000"/>
              </a:lnSpc>
              <a:bidi/>
            </a:pPr>
            <a:r xmlns:a="http://schemas.openxmlformats.org/drawingml/2006/main">
              <a:rPr lang="ar" sz="1155" dirty="0">
                <a:solidFill>
                  <a:srgbClr val="E6F1FF">
                    <a:alpha val="80000"/>
                  </a:srgbClr>
                </a:solidFill>
                <a:latin typeface="Quattrocento Sans" pitchFamily="34" charset="0"/>
                <a:ea typeface="Quattrocento Sans" pitchFamily="34" charset="-122"/>
                <a:cs typeface="Quattrocento Sans" pitchFamily="34" charset="-120"/>
              </a:rPr>
              <a:t>ونحسن معدل الاحتفاظ بالعملاء إلى أكثر من </a:t>
            </a:r>
            <a:pPr xmlns:a="http://schemas.openxmlformats.org/drawingml/2006/main">
              <a:lnSpc>
                <a:spcPct val="130000"/>
              </a:lnSpc>
              <a:bidi/>
            </a:pPr>
            <a:r xmlns:a="http://schemas.openxmlformats.org/drawingml/2006/main">
              <a:rPr lang="ar" sz="1155" b="1" dirty="0">
                <a:solidFill>
                  <a:srgbClr val="64FFDA"/>
                </a:solidFill>
                <a:latin typeface="Quattrocento Sans" pitchFamily="34" charset="0"/>
                <a:ea typeface="Quattrocento Sans" pitchFamily="34" charset="-122"/>
                <a:cs typeface="Quattrocento Sans" pitchFamily="34" charset="-120"/>
              </a:rPr>
              <a:t>80%</a:t>
            </a:r>
            <a:endParaRPr xmlns:a="http://schemas.openxmlformats.org/drawingml/2006/main" lang="en-US" sz="1600" dirty="0"/>
          </a:p>
        </p:txBody>
      </p:sp>
      <p:sp>
        <p:nvSpPr>
          <p:cNvPr id="55" name="Text 53"/>
          <p:cNvSpPr/>
          <p:nvPr/>
        </p:nvSpPr>
        <p:spPr>
          <a:xfrm>
            <a:off x="10545536" y="6187669"/>
            <a:ext cx="1118364" cy="183338"/>
          </a:xfrm>
          <a:prstGeom prst="rect">
            <a:avLst/>
          </a:prstGeom>
          <a:noFill/>
          <a:ln/>
        </p:spPr>
        <p:txBody>
          <a:bodyPr wrap="square" lIns="0" tIns="0" rIns="0" bIns="0" rtlCol="0" anchor="ctr"/>
          <a:lstStyle/>
          <a:p>
            <a:pPr xmlns:a="http://schemas.openxmlformats.org/drawingml/2006/main" algn="r">
              <a:lnSpc>
                <a:spcPct val="120000"/>
              </a:lnSpc>
              <a:bidi/>
            </a:pPr>
            <a:r xmlns:a="http://schemas.openxmlformats.org/drawingml/2006/main">
              <a:rPr lang="ar" sz="1011" dirty="0">
                <a:solidFill>
                  <a:srgbClr val="E6F1FF">
                    <a:alpha val="70000"/>
                  </a:srgbClr>
                </a:solidFill>
                <a:latin typeface="Quattrocento Sans" pitchFamily="34" charset="0"/>
                <a:ea typeface="Quattrocento Sans" pitchFamily="34" charset="-122"/>
                <a:cs typeface="Quattrocento Sans" pitchFamily="34" charset="-120"/>
              </a:rPr>
              <a:t>الإيرادات لكل عميل</a:t>
            </a:r>
            <a:endParaRPr xmlns:a="http://schemas.openxmlformats.org/drawingml/2006/main" lang="en-US" sz="1600" dirty="0"/>
          </a:p>
        </p:txBody>
      </p:sp>
      <p:sp>
        <p:nvSpPr>
          <p:cNvPr id="56" name="Text 54"/>
          <p:cNvSpPr/>
          <p:nvPr/>
        </p:nvSpPr>
        <p:spPr>
          <a:xfrm>
            <a:off x="10472200" y="6371008"/>
            <a:ext cx="1191699" cy="330009"/>
          </a:xfrm>
          <a:prstGeom prst="rect">
            <a:avLst/>
          </a:prstGeom>
          <a:noFill/>
          <a:ln/>
        </p:spPr>
        <p:txBody>
          <a:bodyPr wrap="square" lIns="0" tIns="0" rIns="0" bIns="0" rtlCol="0" anchor="ctr"/>
          <a:lstStyle/>
          <a:p>
            <a:pPr xmlns:a="http://schemas.openxmlformats.org/drawingml/2006/main" algn="r">
              <a:lnSpc>
                <a:spcPct val="100000"/>
              </a:lnSpc>
              <a:bidi/>
            </a:pPr>
            <a:r xmlns:a="http://schemas.openxmlformats.org/drawingml/2006/main">
              <a:rPr lang="ar" sz="2165" b="1" dirty="0">
                <a:solidFill>
                  <a:srgbClr val="D4AF37"/>
                </a:solidFill>
                <a:latin typeface="Liter" pitchFamily="34" charset="0"/>
                <a:ea typeface="Liter" pitchFamily="34" charset="-122"/>
                <a:cs typeface="Liter" pitchFamily="34" charset="-120"/>
              </a:rPr>
              <a:t>3500 دولار أمريكي أو أكثر</a:t>
            </a:r>
            <a:endParaRPr xmlns:a="http://schemas.openxmlformats.org/drawingml/2006/main"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92F"/>
        </a:solidFill>
      </p:bgPr>
    </p:bg>
    <p:spTree>
      <p:nvGrpSpPr>
        <p:cNvPr id="1" name=""/>
        <p:cNvGrpSpPr/>
        <p:nvPr/>
      </p:nvGrpSpPr>
      <p:grpSpPr>
        <a:xfrm>
          <a:off x="0" y="0"/>
          <a:ext cx="0" cy="0"/>
          <a:chOff x="0" y="0"/>
          <a:chExt cx="0" cy="0"/>
        </a:xfrm>
      </p:grpSpPr>
      <p:pic>
        <p:nvPicPr>
          <p:cNvPr id="2" name="Image 0" descr="https://kimi-web-img.moonshot.cn/img/www.shutterstock.com/9f9a2abc38c994451d3a73cb25745c681e1333c4.jpg">    </p:cNvPr>
          <p:cNvPicPr>
            <a:picLocks noChangeAspect="1"/>
          </p:cNvPicPr>
          <p:nvPr/>
        </p:nvPicPr>
        <p:blipFill>
          <a:blip r:embed="rId1">
            <a:alphaModFix amt="25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0A192F">
                  <a:alpha val="98000"/>
                </a:srgbClr>
              </a:gs>
              <a:gs pos="50000">
                <a:srgbClr val="0A192F">
                  <a:alpha val="90000"/>
                </a:srgbClr>
              </a:gs>
              <a:gs pos="100000">
                <a:srgbClr val="000000">
                  <a:alpha val="0"/>
                </a:srgbClr>
              </a:gs>
            </a:gsLst>
            <a:lin ang="0" scaled="1"/>
          </a:gradFill>
          <a:ln/>
        </p:spPr>
      </p:sp>
      <p:sp>
        <p:nvSpPr>
          <p:cNvPr id="4" name="Shape 1"/>
          <p:cNvSpPr/>
          <p:nvPr/>
        </p:nvSpPr>
        <p:spPr>
          <a:xfrm>
            <a:off x="385763" y="1357313"/>
            <a:ext cx="1428750" cy="428625"/>
          </a:xfrm>
          <a:prstGeom prst="roundRect">
            <a:avLst>
              <a:gd name="adj" fmla="val 17778"/>
            </a:avLst>
          </a:prstGeom>
          <a:solidFill>
            <a:srgbClr val="64FFDA">
              <a:alpha val="20000"/>
            </a:srgbClr>
          </a:solidFill>
          <a:ln w="12700">
            <a:solidFill>
              <a:srgbClr val="64FFDA"/>
            </a:solidFill>
            <a:prstDash val="solid"/>
          </a:ln>
        </p:spPr>
      </p:sp>
      <p:sp>
        <p:nvSpPr>
          <p:cNvPr id="5" name="Text 2"/>
          <p:cNvSpPr/>
          <p:nvPr/>
        </p:nvSpPr>
        <p:spPr>
          <a:xfrm>
            <a:off x="581025" y="1438275"/>
            <a:ext cx="112395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spc="68" kern="0" dirty="0">
                <a:solidFill>
                  <a:srgbClr val="64FFDA"/>
                </a:solidFill>
                <a:latin typeface="Quattrocento Sans" pitchFamily="34" charset="0"/>
                <a:ea typeface="Quattrocento Sans" pitchFamily="34" charset="-122"/>
                <a:cs typeface="Quattrocento Sans" pitchFamily="34" charset="-120"/>
              </a:rPr>
              <a:t>الفصل الثاني</a:t>
            </a:r>
            <a:endParaRPr xmlns:a="http://schemas.openxmlformats.org/drawingml/2006/main" lang="en-US" sz="1600" dirty="0"/>
          </a:p>
        </p:txBody>
      </p:sp>
      <p:sp>
        <p:nvSpPr>
          <p:cNvPr id="6" name="Text 3"/>
          <p:cNvSpPr/>
          <p:nvPr/>
        </p:nvSpPr>
        <p:spPr>
          <a:xfrm>
            <a:off x="381000" y="2019300"/>
            <a:ext cx="7600950" cy="1428750"/>
          </a:xfrm>
          <a:prstGeom prst="rect">
            <a:avLst/>
          </a:prstGeom>
          <a:noFill/>
          <a:ln/>
        </p:spPr>
        <p:txBody>
          <a:bodyPr wrap="square" lIns="0" tIns="0" rIns="0" bIns="0" rtlCol="0" anchor="ctr"/>
          <a:lstStyle/>
          <a:p>
            <a:pPr xmlns:a="http://schemas.openxmlformats.org/drawingml/2006/main">
              <a:lnSpc>
                <a:spcPct val="100000"/>
              </a:lnSpc>
              <a:bidi/>
            </a:pPr>
            <a:r xmlns:a="http://schemas.openxmlformats.org/drawingml/2006/main">
              <a:rPr lang="ar" sz="4500" b="1" dirty="0">
                <a:solidFill>
                  <a:srgbClr val="E6F1FF"/>
                </a:solidFill>
                <a:latin typeface="Liter" pitchFamily="34" charset="0"/>
                <a:ea typeface="Liter" pitchFamily="34" charset="-122"/>
                <a:cs typeface="Liter" pitchFamily="34" charset="-120"/>
              </a:rPr>
              <a:t>الزوايا المتعددة</a:t>
            </a:r>
            <a:endParaRPr xmlns:a="http://schemas.openxmlformats.org/drawingml/2006/main" lang="en-US" sz="1600" dirty="0"/>
          </a:p>
          <a:p>
            <a:pPr xmlns:a="http://schemas.openxmlformats.org/drawingml/2006/main">
              <a:lnSpc>
                <a:spcPct val="100000"/>
              </a:lnSpc>
              <a:bidi/>
            </a:pPr>
            <a:r xmlns:a="http://schemas.openxmlformats.org/drawingml/2006/main">
              <a:rPr lang="ar" sz="4500" b="1" dirty="0">
                <a:solidFill>
                  <a:srgbClr val="E6F1FF"/>
                </a:solidFill>
                <a:latin typeface="Liter" pitchFamily="34" charset="0"/>
                <a:ea typeface="Liter" pitchFamily="34" charset="-122"/>
                <a:cs typeface="Liter" pitchFamily="34" charset="-120"/>
              </a:rPr>
              <a:t>محرك النمو</a:t>
            </a:r>
            <a:endParaRPr xmlns:a="http://schemas.openxmlformats.org/drawingml/2006/main" lang="en-US" sz="1600" dirty="0"/>
          </a:p>
        </p:txBody>
      </p:sp>
      <p:sp>
        <p:nvSpPr>
          <p:cNvPr id="7" name="Shape 4"/>
          <p:cNvSpPr/>
          <p:nvPr/>
        </p:nvSpPr>
        <p:spPr>
          <a:xfrm>
            <a:off x="381000" y="3676650"/>
            <a:ext cx="1524000" cy="57150"/>
          </a:xfrm>
          <a:prstGeom prst="roundRect">
            <a:avLst>
              <a:gd name="adj" fmla="val 0"/>
            </a:avLst>
          </a:prstGeom>
          <a:solidFill>
            <a:srgbClr val="64FFDA"/>
          </a:solidFill>
          <a:ln/>
        </p:spPr>
      </p:sp>
      <p:sp>
        <p:nvSpPr>
          <p:cNvPr id="8" name="Text 5"/>
          <p:cNvSpPr/>
          <p:nvPr/>
        </p:nvSpPr>
        <p:spPr>
          <a:xfrm>
            <a:off x="381000" y="4038600"/>
            <a:ext cx="6515100" cy="742950"/>
          </a:xfrm>
          <a:prstGeom prst="rect">
            <a:avLst/>
          </a:prstGeom>
          <a:noFill/>
          <a:ln/>
        </p:spPr>
        <p:txBody>
          <a:bodyPr wrap="square" lIns="0" tIns="0" rIns="0" bIns="0" rtlCol="0" anchor="ctr"/>
          <a:lstStyle/>
          <a:p>
            <a:pPr xmlns:a="http://schemas.openxmlformats.org/drawingml/2006/main">
              <a:lnSpc>
                <a:spcPct val="140000"/>
              </a:lnSpc>
              <a:bidi/>
            </a:pPr>
            <a:r xmlns:a="http://schemas.openxmlformats.org/drawingml/2006/main">
              <a:rPr lang="ar" sz="1800" dirty="0">
                <a:solidFill>
                  <a:srgbClr val="D4AF37"/>
                </a:solidFill>
                <a:latin typeface="Quattrocento Sans" pitchFamily="34" charset="0"/>
                <a:ea typeface="Quattrocento Sans" pitchFamily="34" charset="-122"/>
                <a:cs typeface="Quattrocento Sans" pitchFamily="34" charset="-120"/>
              </a:rPr>
              <a:t>التنفيذ على ثلاث مراحل: الإعداد الموجه نحو الربح أولاً، والتنفيذ متعدد القنوات، والفرز الآلي</a:t>
            </a:r>
            <a:endParaRPr xmlns:a="http://schemas.openxmlformats.org/drawingml/2006/main" lang="en-US" sz="1600" dirty="0"/>
          </a:p>
        </p:txBody>
      </p:sp>
      <p:sp>
        <p:nvSpPr>
          <p:cNvPr id="9" name="Shape 6"/>
          <p:cNvSpPr/>
          <p:nvPr/>
        </p:nvSpPr>
        <p:spPr>
          <a:xfrm>
            <a:off x="395288" y="5257800"/>
            <a:ext cx="257175" cy="228600"/>
          </a:xfrm>
          <a:custGeom>
            <a:avLst/>
            <a:gdLst/>
            <a:ahLst/>
            <a:cxnLst/>
            <a:rect l="l" t="t" r="r" b="b"/>
            <a:pathLst>
              <a:path w="257175" h="228600">
                <a:moveTo>
                  <a:pt x="100057" y="43354"/>
                </a:moveTo>
                <a:lnTo>
                  <a:pt x="100057" y="65499"/>
                </a:lnTo>
                <a:lnTo>
                  <a:pt x="100280" y="65723"/>
                </a:lnTo>
                <a:cubicBezTo>
                  <a:pt x="103183" y="28932"/>
                  <a:pt x="133945" y="0"/>
                  <a:pt x="171495" y="0"/>
                </a:cubicBezTo>
                <a:cubicBezTo>
                  <a:pt x="180469" y="0"/>
                  <a:pt x="189086" y="1652"/>
                  <a:pt x="196989" y="4688"/>
                </a:cubicBezTo>
                <a:cubicBezTo>
                  <a:pt x="201454" y="6385"/>
                  <a:pt x="202257" y="12055"/>
                  <a:pt x="198909" y="15448"/>
                </a:cubicBezTo>
                <a:lnTo>
                  <a:pt x="159306" y="55052"/>
                </a:lnTo>
                <a:cubicBezTo>
                  <a:pt x="157966" y="56391"/>
                  <a:pt x="157207" y="58222"/>
                  <a:pt x="157207" y="60097"/>
                </a:cubicBezTo>
                <a:lnTo>
                  <a:pt x="157207" y="78581"/>
                </a:lnTo>
                <a:cubicBezTo>
                  <a:pt x="157207" y="82510"/>
                  <a:pt x="160422" y="85725"/>
                  <a:pt x="164351" y="85725"/>
                </a:cubicBezTo>
                <a:lnTo>
                  <a:pt x="182835" y="85725"/>
                </a:lnTo>
                <a:cubicBezTo>
                  <a:pt x="184711" y="85725"/>
                  <a:pt x="186541" y="84966"/>
                  <a:pt x="187881" y="83627"/>
                </a:cubicBezTo>
                <a:lnTo>
                  <a:pt x="227484" y="44023"/>
                </a:lnTo>
                <a:cubicBezTo>
                  <a:pt x="230877" y="40630"/>
                  <a:pt x="236547" y="41478"/>
                  <a:pt x="238244" y="45943"/>
                </a:cubicBezTo>
                <a:cubicBezTo>
                  <a:pt x="241280" y="53846"/>
                  <a:pt x="242932" y="62463"/>
                  <a:pt x="242932" y="71438"/>
                </a:cubicBezTo>
                <a:cubicBezTo>
                  <a:pt x="242932" y="98494"/>
                  <a:pt x="227886" y="122069"/>
                  <a:pt x="205651" y="134169"/>
                </a:cubicBezTo>
                <a:lnTo>
                  <a:pt x="242039" y="170557"/>
                </a:lnTo>
                <a:cubicBezTo>
                  <a:pt x="250388" y="178906"/>
                  <a:pt x="250388" y="192479"/>
                  <a:pt x="242039" y="200873"/>
                </a:cubicBezTo>
                <a:lnTo>
                  <a:pt x="215205" y="227707"/>
                </a:lnTo>
                <a:cubicBezTo>
                  <a:pt x="206856" y="236056"/>
                  <a:pt x="193283" y="236056"/>
                  <a:pt x="184889" y="227707"/>
                </a:cubicBezTo>
                <a:lnTo>
                  <a:pt x="128632" y="171450"/>
                </a:lnTo>
                <a:cubicBezTo>
                  <a:pt x="116398" y="159216"/>
                  <a:pt x="113630" y="141134"/>
                  <a:pt x="120372" y="126221"/>
                </a:cubicBezTo>
                <a:lnTo>
                  <a:pt x="79876" y="85725"/>
                </a:lnTo>
                <a:lnTo>
                  <a:pt x="57730" y="85725"/>
                </a:lnTo>
                <a:cubicBezTo>
                  <a:pt x="52953" y="85725"/>
                  <a:pt x="48488" y="83359"/>
                  <a:pt x="45854" y="79385"/>
                </a:cubicBezTo>
                <a:lnTo>
                  <a:pt x="10448" y="26298"/>
                </a:lnTo>
                <a:cubicBezTo>
                  <a:pt x="8573" y="23485"/>
                  <a:pt x="8930" y="19690"/>
                  <a:pt x="11341" y="17279"/>
                </a:cubicBezTo>
                <a:lnTo>
                  <a:pt x="31611" y="-2991"/>
                </a:lnTo>
                <a:cubicBezTo>
                  <a:pt x="34022" y="-5402"/>
                  <a:pt x="37773" y="-5760"/>
                  <a:pt x="40630" y="-3884"/>
                </a:cubicBezTo>
                <a:lnTo>
                  <a:pt x="93717" y="31477"/>
                </a:lnTo>
                <a:cubicBezTo>
                  <a:pt x="97691" y="34111"/>
                  <a:pt x="100057" y="38576"/>
                  <a:pt x="100057" y="43354"/>
                </a:cubicBezTo>
                <a:close/>
                <a:moveTo>
                  <a:pt x="96262" y="132427"/>
                </a:moveTo>
                <a:cubicBezTo>
                  <a:pt x="93449" y="148947"/>
                  <a:pt x="97334" y="166405"/>
                  <a:pt x="108049" y="180380"/>
                </a:cubicBezTo>
                <a:lnTo>
                  <a:pt x="65633" y="222751"/>
                </a:lnTo>
                <a:cubicBezTo>
                  <a:pt x="53087" y="235297"/>
                  <a:pt x="32727" y="235297"/>
                  <a:pt x="20181" y="222751"/>
                </a:cubicBezTo>
                <a:cubicBezTo>
                  <a:pt x="7635" y="210205"/>
                  <a:pt x="7635" y="189845"/>
                  <a:pt x="20181" y="177299"/>
                </a:cubicBezTo>
                <a:lnTo>
                  <a:pt x="80635" y="116845"/>
                </a:lnTo>
                <a:lnTo>
                  <a:pt x="96262" y="132472"/>
                </a:lnTo>
                <a:close/>
              </a:path>
            </a:pathLst>
          </a:custGeom>
          <a:solidFill>
            <a:srgbClr val="64FFDA"/>
          </a:solidFill>
          <a:ln/>
        </p:spPr>
      </p:sp>
      <p:sp>
        <p:nvSpPr>
          <p:cNvPr id="10" name="Text 7"/>
          <p:cNvSpPr/>
          <p:nvPr/>
        </p:nvSpPr>
        <p:spPr>
          <a:xfrm>
            <a:off x="781050" y="5238750"/>
            <a:ext cx="162877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80000"/>
                  </a:srgbClr>
                </a:solidFill>
                <a:latin typeface="Quattrocento Sans" pitchFamily="34" charset="0"/>
                <a:ea typeface="Quattrocento Sans" pitchFamily="34" charset="-122"/>
                <a:cs typeface="Quattrocento Sans" pitchFamily="34" charset="-120"/>
              </a:rPr>
              <a:t>الأيام من 1 إلى 7: الأساس</a:t>
            </a:r>
            <a:endParaRPr xmlns:a="http://schemas.openxmlformats.org/drawingml/2006/main" lang="en-US" sz="1600" dirty="0"/>
          </a:p>
        </p:txBody>
      </p:sp>
      <p:sp>
        <p:nvSpPr>
          <p:cNvPr id="11" name="Shape 8"/>
          <p:cNvSpPr/>
          <p:nvPr/>
        </p:nvSpPr>
        <p:spPr>
          <a:xfrm>
            <a:off x="2657847" y="5257800"/>
            <a:ext cx="228600" cy="228600"/>
          </a:xfrm>
          <a:custGeom>
            <a:avLst/>
            <a:gdLst/>
            <a:ahLst/>
            <a:cxnLst/>
            <a:rect l="l" t="t" r="r" b="b"/>
            <a:pathLst>
              <a:path w="228600" h="228600">
                <a:moveTo>
                  <a:pt x="205919" y="8439"/>
                </a:moveTo>
                <a:cubicBezTo>
                  <a:pt x="211053" y="10716"/>
                  <a:pt x="214313" y="15806"/>
                  <a:pt x="214313" y="21431"/>
                </a:cubicBezTo>
                <a:lnTo>
                  <a:pt x="214313" y="207169"/>
                </a:lnTo>
                <a:cubicBezTo>
                  <a:pt x="214313" y="212794"/>
                  <a:pt x="211053" y="217884"/>
                  <a:pt x="205919" y="220161"/>
                </a:cubicBezTo>
                <a:cubicBezTo>
                  <a:pt x="200784" y="222439"/>
                  <a:pt x="194846" y="221590"/>
                  <a:pt x="190604" y="217884"/>
                </a:cubicBezTo>
                <a:lnTo>
                  <a:pt x="169798" y="199712"/>
                </a:lnTo>
                <a:cubicBezTo>
                  <a:pt x="150331" y="182701"/>
                  <a:pt x="125730" y="172789"/>
                  <a:pt x="99968" y="171584"/>
                </a:cubicBezTo>
                <a:lnTo>
                  <a:pt x="99968" y="214313"/>
                </a:lnTo>
                <a:cubicBezTo>
                  <a:pt x="99968" y="222215"/>
                  <a:pt x="93583" y="228600"/>
                  <a:pt x="85680" y="228600"/>
                </a:cubicBezTo>
                <a:lnTo>
                  <a:pt x="71393" y="228600"/>
                </a:lnTo>
                <a:cubicBezTo>
                  <a:pt x="63490" y="228600"/>
                  <a:pt x="57105" y="222215"/>
                  <a:pt x="57105" y="214313"/>
                </a:cubicBezTo>
                <a:lnTo>
                  <a:pt x="57105" y="171450"/>
                </a:lnTo>
                <a:cubicBezTo>
                  <a:pt x="25584" y="171450"/>
                  <a:pt x="0" y="145866"/>
                  <a:pt x="0" y="114300"/>
                </a:cubicBezTo>
                <a:cubicBezTo>
                  <a:pt x="0" y="82734"/>
                  <a:pt x="25584" y="57150"/>
                  <a:pt x="57150" y="57150"/>
                </a:cubicBezTo>
                <a:lnTo>
                  <a:pt x="94878" y="57150"/>
                </a:lnTo>
                <a:cubicBezTo>
                  <a:pt x="122471" y="57061"/>
                  <a:pt x="149081" y="47015"/>
                  <a:pt x="169843" y="28888"/>
                </a:cubicBezTo>
                <a:lnTo>
                  <a:pt x="190649" y="10716"/>
                </a:lnTo>
                <a:cubicBezTo>
                  <a:pt x="194846" y="7010"/>
                  <a:pt x="200873" y="6161"/>
                  <a:pt x="205963" y="8439"/>
                </a:cubicBezTo>
                <a:close/>
                <a:moveTo>
                  <a:pt x="100013" y="142875"/>
                </a:moveTo>
                <a:lnTo>
                  <a:pt x="100013" y="142964"/>
                </a:lnTo>
                <a:cubicBezTo>
                  <a:pt x="131400" y="144170"/>
                  <a:pt x="161538" y="155689"/>
                  <a:pt x="185738" y="175736"/>
                </a:cubicBezTo>
                <a:lnTo>
                  <a:pt x="185738" y="52819"/>
                </a:lnTo>
                <a:cubicBezTo>
                  <a:pt x="161538" y="72866"/>
                  <a:pt x="131400" y="84386"/>
                  <a:pt x="100013" y="85591"/>
                </a:cubicBezTo>
                <a:lnTo>
                  <a:pt x="100013" y="142875"/>
                </a:lnTo>
                <a:close/>
              </a:path>
            </a:pathLst>
          </a:custGeom>
          <a:solidFill>
            <a:srgbClr val="64FFDA"/>
          </a:solidFill>
          <a:ln/>
        </p:spPr>
      </p:sp>
      <p:sp>
        <p:nvSpPr>
          <p:cNvPr id="12" name="Text 9"/>
          <p:cNvSpPr/>
          <p:nvPr/>
        </p:nvSpPr>
        <p:spPr>
          <a:xfrm>
            <a:off x="3029322" y="5238750"/>
            <a:ext cx="166687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80000"/>
                  </a:srgbClr>
                </a:solidFill>
                <a:latin typeface="Quattrocento Sans" pitchFamily="34" charset="0"/>
                <a:ea typeface="Quattrocento Sans" pitchFamily="34" charset="-122"/>
                <a:cs typeface="Quattrocento Sans" pitchFamily="34" charset="-120"/>
              </a:rPr>
              <a:t>الأيام من 8 إلى 45: الإعدام</a:t>
            </a:r>
            <a:endParaRPr xmlns:a="http://schemas.openxmlformats.org/drawingml/2006/main" lang="en-US" sz="1600" dirty="0"/>
          </a:p>
        </p:txBody>
      </p:sp>
      <p:sp>
        <p:nvSpPr>
          <p:cNvPr id="13" name="Shape 10"/>
          <p:cNvSpPr/>
          <p:nvPr/>
        </p:nvSpPr>
        <p:spPr>
          <a:xfrm>
            <a:off x="4916463" y="5257800"/>
            <a:ext cx="285750" cy="228600"/>
          </a:xfrm>
          <a:custGeom>
            <a:avLst/>
            <a:gdLst/>
            <a:ahLst/>
            <a:cxnLst/>
            <a:rect l="l" t="t" r="r" b="b"/>
            <a:pathLst>
              <a:path w="285750" h="228600">
                <a:moveTo>
                  <a:pt x="157163" y="0"/>
                </a:moveTo>
                <a:cubicBezTo>
                  <a:pt x="157163" y="-7903"/>
                  <a:pt x="150778" y="-14287"/>
                  <a:pt x="142875" y="-14287"/>
                </a:cubicBezTo>
                <a:cubicBezTo>
                  <a:pt x="134972" y="-14287"/>
                  <a:pt x="128588" y="-7903"/>
                  <a:pt x="128588" y="0"/>
                </a:cubicBezTo>
                <a:lnTo>
                  <a:pt x="128588" y="28575"/>
                </a:lnTo>
                <a:lnTo>
                  <a:pt x="85725" y="28575"/>
                </a:lnTo>
                <a:cubicBezTo>
                  <a:pt x="62061" y="28575"/>
                  <a:pt x="42863" y="47774"/>
                  <a:pt x="42863" y="71438"/>
                </a:cubicBezTo>
                <a:lnTo>
                  <a:pt x="42863" y="171450"/>
                </a:lnTo>
                <a:cubicBezTo>
                  <a:pt x="42863" y="195114"/>
                  <a:pt x="62061" y="214313"/>
                  <a:pt x="85725" y="214313"/>
                </a:cubicBezTo>
                <a:lnTo>
                  <a:pt x="200025" y="214313"/>
                </a:lnTo>
                <a:cubicBezTo>
                  <a:pt x="223689" y="214313"/>
                  <a:pt x="242888" y="195114"/>
                  <a:pt x="242888" y="171450"/>
                </a:cubicBezTo>
                <a:lnTo>
                  <a:pt x="242888" y="71438"/>
                </a:lnTo>
                <a:cubicBezTo>
                  <a:pt x="242888" y="47774"/>
                  <a:pt x="223689" y="28575"/>
                  <a:pt x="200025" y="28575"/>
                </a:cubicBezTo>
                <a:lnTo>
                  <a:pt x="157163" y="28575"/>
                </a:lnTo>
                <a:lnTo>
                  <a:pt x="157163" y="0"/>
                </a:lnTo>
                <a:close/>
                <a:moveTo>
                  <a:pt x="71438" y="164306"/>
                </a:moveTo>
                <a:cubicBezTo>
                  <a:pt x="71438" y="158368"/>
                  <a:pt x="76215" y="153591"/>
                  <a:pt x="82153" y="153591"/>
                </a:cubicBezTo>
                <a:lnTo>
                  <a:pt x="96441" y="153591"/>
                </a:lnTo>
                <a:cubicBezTo>
                  <a:pt x="102379" y="153591"/>
                  <a:pt x="107156" y="158368"/>
                  <a:pt x="107156" y="164306"/>
                </a:cubicBezTo>
                <a:cubicBezTo>
                  <a:pt x="107156" y="170244"/>
                  <a:pt x="102379" y="175022"/>
                  <a:pt x="96441" y="175022"/>
                </a:cubicBezTo>
                <a:lnTo>
                  <a:pt x="82153" y="175022"/>
                </a:lnTo>
                <a:cubicBezTo>
                  <a:pt x="76215" y="175022"/>
                  <a:pt x="71438" y="170244"/>
                  <a:pt x="71438" y="164306"/>
                </a:cubicBezTo>
                <a:close/>
                <a:moveTo>
                  <a:pt x="125016" y="164306"/>
                </a:moveTo>
                <a:cubicBezTo>
                  <a:pt x="125016" y="158368"/>
                  <a:pt x="129793" y="153591"/>
                  <a:pt x="135731" y="153591"/>
                </a:cubicBezTo>
                <a:lnTo>
                  <a:pt x="150019" y="153591"/>
                </a:lnTo>
                <a:cubicBezTo>
                  <a:pt x="155957" y="153591"/>
                  <a:pt x="160734" y="158368"/>
                  <a:pt x="160734" y="164306"/>
                </a:cubicBezTo>
                <a:cubicBezTo>
                  <a:pt x="160734" y="170244"/>
                  <a:pt x="155957" y="175022"/>
                  <a:pt x="150019" y="175022"/>
                </a:cubicBezTo>
                <a:lnTo>
                  <a:pt x="135731" y="175022"/>
                </a:lnTo>
                <a:cubicBezTo>
                  <a:pt x="129793" y="175022"/>
                  <a:pt x="125016" y="170244"/>
                  <a:pt x="125016" y="164306"/>
                </a:cubicBezTo>
                <a:close/>
                <a:moveTo>
                  <a:pt x="178594" y="164306"/>
                </a:moveTo>
                <a:cubicBezTo>
                  <a:pt x="178594" y="158368"/>
                  <a:pt x="183371" y="153591"/>
                  <a:pt x="189309" y="153591"/>
                </a:cubicBezTo>
                <a:lnTo>
                  <a:pt x="203597" y="153591"/>
                </a:lnTo>
                <a:cubicBezTo>
                  <a:pt x="209535" y="153591"/>
                  <a:pt x="214313" y="158368"/>
                  <a:pt x="214313" y="164306"/>
                </a:cubicBezTo>
                <a:cubicBezTo>
                  <a:pt x="214313" y="170244"/>
                  <a:pt x="209535" y="175022"/>
                  <a:pt x="203597" y="175022"/>
                </a:cubicBezTo>
                <a:lnTo>
                  <a:pt x="189309" y="175022"/>
                </a:lnTo>
                <a:cubicBezTo>
                  <a:pt x="183371" y="175022"/>
                  <a:pt x="178594" y="170244"/>
                  <a:pt x="178594" y="164306"/>
                </a:cubicBezTo>
                <a:close/>
                <a:moveTo>
                  <a:pt x="100013" y="78581"/>
                </a:moveTo>
                <a:cubicBezTo>
                  <a:pt x="111841" y="78581"/>
                  <a:pt x="121444" y="88184"/>
                  <a:pt x="121444" y="100013"/>
                </a:cubicBezTo>
                <a:cubicBezTo>
                  <a:pt x="121444" y="111841"/>
                  <a:pt x="111841" y="121444"/>
                  <a:pt x="100013" y="121444"/>
                </a:cubicBezTo>
                <a:cubicBezTo>
                  <a:pt x="88184" y="121444"/>
                  <a:pt x="78581" y="111841"/>
                  <a:pt x="78581" y="100013"/>
                </a:cubicBezTo>
                <a:cubicBezTo>
                  <a:pt x="78581" y="88184"/>
                  <a:pt x="88184" y="78581"/>
                  <a:pt x="100013" y="78581"/>
                </a:cubicBezTo>
                <a:close/>
                <a:moveTo>
                  <a:pt x="164306" y="100013"/>
                </a:moveTo>
                <a:cubicBezTo>
                  <a:pt x="164306" y="88184"/>
                  <a:pt x="173909" y="78581"/>
                  <a:pt x="185738" y="78581"/>
                </a:cubicBezTo>
                <a:cubicBezTo>
                  <a:pt x="197566" y="78581"/>
                  <a:pt x="207169" y="88184"/>
                  <a:pt x="207169" y="100013"/>
                </a:cubicBezTo>
                <a:cubicBezTo>
                  <a:pt x="207169" y="111841"/>
                  <a:pt x="197566" y="121444"/>
                  <a:pt x="185738" y="121444"/>
                </a:cubicBezTo>
                <a:cubicBezTo>
                  <a:pt x="173909" y="121444"/>
                  <a:pt x="164306" y="111841"/>
                  <a:pt x="164306" y="100013"/>
                </a:cubicBezTo>
                <a:close/>
                <a:moveTo>
                  <a:pt x="28575" y="100013"/>
                </a:moveTo>
                <a:cubicBezTo>
                  <a:pt x="28575" y="92110"/>
                  <a:pt x="22190" y="85725"/>
                  <a:pt x="14288" y="85725"/>
                </a:cubicBezTo>
                <a:cubicBezTo>
                  <a:pt x="6385" y="85725"/>
                  <a:pt x="0" y="92110"/>
                  <a:pt x="0" y="100013"/>
                </a:cubicBezTo>
                <a:lnTo>
                  <a:pt x="0" y="142875"/>
                </a:lnTo>
                <a:cubicBezTo>
                  <a:pt x="0" y="150778"/>
                  <a:pt x="6385" y="157163"/>
                  <a:pt x="14288" y="157163"/>
                </a:cubicBezTo>
                <a:cubicBezTo>
                  <a:pt x="22190" y="157163"/>
                  <a:pt x="28575" y="150778"/>
                  <a:pt x="28575" y="142875"/>
                </a:cubicBezTo>
                <a:lnTo>
                  <a:pt x="28575" y="100013"/>
                </a:lnTo>
                <a:close/>
                <a:moveTo>
                  <a:pt x="271463" y="85725"/>
                </a:moveTo>
                <a:cubicBezTo>
                  <a:pt x="263560" y="85725"/>
                  <a:pt x="257175" y="92110"/>
                  <a:pt x="257175" y="100013"/>
                </a:cubicBezTo>
                <a:lnTo>
                  <a:pt x="257175" y="142875"/>
                </a:lnTo>
                <a:cubicBezTo>
                  <a:pt x="257175" y="150778"/>
                  <a:pt x="263560" y="157163"/>
                  <a:pt x="271463" y="157163"/>
                </a:cubicBezTo>
                <a:cubicBezTo>
                  <a:pt x="279365" y="157163"/>
                  <a:pt x="285750" y="150778"/>
                  <a:pt x="285750" y="142875"/>
                </a:cubicBezTo>
                <a:lnTo>
                  <a:pt x="285750" y="100013"/>
                </a:lnTo>
                <a:cubicBezTo>
                  <a:pt x="285750" y="92110"/>
                  <a:pt x="279365" y="85725"/>
                  <a:pt x="271463" y="85725"/>
                </a:cubicBezTo>
                <a:close/>
              </a:path>
            </a:pathLst>
          </a:custGeom>
          <a:solidFill>
            <a:srgbClr val="64FFDA"/>
          </a:solidFill>
          <a:ln/>
        </p:spPr>
      </p:sp>
      <p:sp>
        <p:nvSpPr>
          <p:cNvPr id="14" name="Text 11"/>
          <p:cNvSpPr/>
          <p:nvPr/>
        </p:nvSpPr>
        <p:spPr>
          <a:xfrm>
            <a:off x="5316513" y="5238750"/>
            <a:ext cx="192405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80000"/>
                  </a:srgbClr>
                </a:solidFill>
                <a:latin typeface="Quattrocento Sans" pitchFamily="34" charset="0"/>
                <a:ea typeface="Quattrocento Sans" pitchFamily="34" charset="-122"/>
                <a:cs typeface="Quattrocento Sans" pitchFamily="34" charset="-120"/>
              </a:rPr>
              <a:t>الأيام من 46 إلى 90: الأتمتة</a:t>
            </a:r>
            <a:endParaRPr xmlns:a="http://schemas.openxmlformats.org/drawingml/2006/main"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48094" y="348094"/>
            <a:ext cx="11565430" cy="208857"/>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b="1" spc="55" kern="0" dirty="0">
                <a:solidFill>
                  <a:srgbClr val="64FFDA"/>
                </a:solidFill>
                <a:latin typeface="Quattrocento Sans" pitchFamily="34" charset="0"/>
                <a:ea typeface="Quattrocento Sans" pitchFamily="34" charset="-122"/>
                <a:cs typeface="Quattrocento Sans" pitchFamily="34" charset="-120"/>
              </a:rPr>
              <a:t>المرحلة 1 • الأيام 1-7</a:t>
            </a:r>
            <a:endParaRPr xmlns:a="http://schemas.openxmlformats.org/drawingml/2006/main" lang="en-US" sz="1600" dirty="0"/>
          </a:p>
        </p:txBody>
      </p:sp>
      <p:sp>
        <p:nvSpPr>
          <p:cNvPr id="3" name="Text 1"/>
          <p:cNvSpPr/>
          <p:nvPr/>
        </p:nvSpPr>
        <p:spPr>
          <a:xfrm>
            <a:off x="348094" y="626570"/>
            <a:ext cx="11652454" cy="348094"/>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467" b="1" dirty="0">
                <a:solidFill>
                  <a:srgbClr val="E6F1FF"/>
                </a:solidFill>
                <a:latin typeface="Liter" pitchFamily="34" charset="0"/>
                <a:ea typeface="Liter" pitchFamily="34" charset="-122"/>
                <a:cs typeface="Liter" pitchFamily="34" charset="-120"/>
              </a:rPr>
              <a:t>نموذج "الربح أولاً"</a:t>
            </a:r>
            <a:endParaRPr xmlns:a="http://schemas.openxmlformats.org/drawingml/2006/main" lang="en-US" sz="1600" dirty="0"/>
          </a:p>
        </p:txBody>
      </p:sp>
      <p:sp>
        <p:nvSpPr>
          <p:cNvPr id="4" name="Text 2"/>
          <p:cNvSpPr/>
          <p:nvPr/>
        </p:nvSpPr>
        <p:spPr>
          <a:xfrm>
            <a:off x="348094" y="1044283"/>
            <a:ext cx="11574133" cy="24366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33" dirty="0">
                <a:solidFill>
                  <a:srgbClr val="E6F1FF">
                    <a:alpha val="70000"/>
                  </a:srgbClr>
                </a:solidFill>
                <a:latin typeface="Quattrocento Sans" pitchFamily="34" charset="0"/>
                <a:ea typeface="Quattrocento Sans" pitchFamily="34" charset="-122"/>
                <a:cs typeface="Quattrocento Sans" pitchFamily="34" charset="-120"/>
              </a:rPr>
              <a:t>استغل الأصول الحالية والتتبع التقني إلى أقصى حد لضمان عدم إهدار أي إنفاق إعلاني.</a:t>
            </a:r>
            <a:endParaRPr xmlns:a="http://schemas.openxmlformats.org/drawingml/2006/main" lang="en-US" sz="1600" dirty="0"/>
          </a:p>
        </p:txBody>
      </p:sp>
      <p:sp>
        <p:nvSpPr>
          <p:cNvPr id="5" name="Shape 3"/>
          <p:cNvSpPr/>
          <p:nvPr/>
        </p:nvSpPr>
        <p:spPr>
          <a:xfrm>
            <a:off x="348094" y="1392377"/>
            <a:ext cx="835426" cy="34809"/>
          </a:xfrm>
          <a:prstGeom prst="roundRect">
            <a:avLst>
              <a:gd name="adj" fmla="val 0"/>
            </a:avLst>
          </a:prstGeom>
          <a:solidFill>
            <a:srgbClr val="64FFDA"/>
          </a:solidFill>
          <a:ln/>
        </p:spPr>
      </p:sp>
      <p:sp>
        <p:nvSpPr>
          <p:cNvPr id="6" name="Shape 4"/>
          <p:cNvSpPr/>
          <p:nvPr/>
        </p:nvSpPr>
        <p:spPr>
          <a:xfrm>
            <a:off x="348094" y="1583829"/>
            <a:ext cx="3715906" cy="4351178"/>
          </a:xfrm>
          <a:custGeom>
            <a:avLst/>
            <a:gdLst/>
            <a:ahLst/>
            <a:cxnLst/>
            <a:rect l="l" t="t" r="r" b="b"/>
            <a:pathLst>
              <a:path w="3715906" h="4351178">
                <a:moveTo>
                  <a:pt x="34798" y="0"/>
                </a:moveTo>
                <a:lnTo>
                  <a:pt x="3681095" y="0"/>
                </a:lnTo>
                <a:cubicBezTo>
                  <a:pt x="3700313" y="0"/>
                  <a:pt x="3715893" y="15580"/>
                  <a:pt x="3715893" y="34798"/>
                </a:cubicBezTo>
                <a:lnTo>
                  <a:pt x="3715893" y="4246753"/>
                </a:lnTo>
                <a:cubicBezTo>
                  <a:pt x="3715893" y="4304408"/>
                  <a:pt x="3669154" y="4351147"/>
                  <a:pt x="3611499" y="4351147"/>
                </a:cubicBezTo>
                <a:lnTo>
                  <a:pt x="104394" y="4351147"/>
                </a:lnTo>
                <a:cubicBezTo>
                  <a:pt x="46739" y="4351147"/>
                  <a:pt x="0" y="4304408"/>
                  <a:pt x="0" y="4246753"/>
                </a:cubicBezTo>
                <a:lnTo>
                  <a:pt x="0" y="34798"/>
                </a:lnTo>
                <a:cubicBezTo>
                  <a:pt x="0" y="15592"/>
                  <a:pt x="15592" y="0"/>
                  <a:pt x="34798"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7" name="Shape 5"/>
          <p:cNvSpPr/>
          <p:nvPr/>
        </p:nvSpPr>
        <p:spPr>
          <a:xfrm>
            <a:off x="348094" y="1583829"/>
            <a:ext cx="3715906" cy="34809"/>
          </a:xfrm>
          <a:custGeom>
            <a:avLst/>
            <a:gdLst/>
            <a:ahLst/>
            <a:cxnLst/>
            <a:rect l="l" t="t" r="r" b="b"/>
            <a:pathLst>
              <a:path w="3715906" h="34809">
                <a:moveTo>
                  <a:pt x="34798" y="0"/>
                </a:moveTo>
                <a:lnTo>
                  <a:pt x="3681095" y="0"/>
                </a:lnTo>
                <a:cubicBezTo>
                  <a:pt x="3700313" y="0"/>
                  <a:pt x="3715893" y="15580"/>
                  <a:pt x="3715893" y="34798"/>
                </a:cubicBezTo>
                <a:lnTo>
                  <a:pt x="3715893" y="34798"/>
                </a:lnTo>
                <a:lnTo>
                  <a:pt x="0" y="34798"/>
                </a:lnTo>
                <a:lnTo>
                  <a:pt x="0" y="34798"/>
                </a:lnTo>
                <a:cubicBezTo>
                  <a:pt x="0" y="15592"/>
                  <a:pt x="15592" y="0"/>
                  <a:pt x="34798" y="0"/>
                </a:cubicBezTo>
                <a:close/>
              </a:path>
            </a:pathLst>
          </a:custGeom>
          <a:solidFill>
            <a:srgbClr val="D4AF37"/>
          </a:solidFill>
          <a:ln/>
        </p:spPr>
      </p:sp>
      <p:sp>
        <p:nvSpPr>
          <p:cNvPr id="8" name="Shape 6"/>
          <p:cNvSpPr/>
          <p:nvPr/>
        </p:nvSpPr>
        <p:spPr>
          <a:xfrm>
            <a:off x="522141" y="1775281"/>
            <a:ext cx="487332" cy="487332"/>
          </a:xfrm>
          <a:prstGeom prst="roundRect">
            <a:avLst>
              <a:gd name="adj" fmla="val 50000"/>
            </a:avLst>
          </a:prstGeom>
          <a:solidFill>
            <a:srgbClr val="D4AF37">
              <a:alpha val="20000"/>
            </a:srgbClr>
          </a:solidFill>
          <a:ln/>
        </p:spPr>
      </p:sp>
      <p:sp>
        <p:nvSpPr>
          <p:cNvPr id="9" name="Text 7"/>
          <p:cNvSpPr/>
          <p:nvPr/>
        </p:nvSpPr>
        <p:spPr>
          <a:xfrm>
            <a:off x="657368" y="1879709"/>
            <a:ext cx="321987" cy="278475"/>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645" b="1" dirty="0">
                <a:solidFill>
                  <a:srgbClr val="D4AF37"/>
                </a:solidFill>
                <a:latin typeface="Liter" pitchFamily="34" charset="0"/>
                <a:ea typeface="Liter" pitchFamily="34" charset="-122"/>
                <a:cs typeface="Liter" pitchFamily="34" charset="-120"/>
              </a:rPr>
              <a:t>01</a:t>
            </a:r>
            <a:endParaRPr xmlns:a="http://schemas.openxmlformats.org/drawingml/2006/main" lang="en-US" sz="1600" dirty="0"/>
          </a:p>
        </p:txBody>
      </p:sp>
      <p:sp>
        <p:nvSpPr>
          <p:cNvPr id="10" name="Text 8"/>
          <p:cNvSpPr/>
          <p:nvPr/>
        </p:nvSpPr>
        <p:spPr>
          <a:xfrm>
            <a:off x="1113901" y="1810090"/>
            <a:ext cx="1992839" cy="243666"/>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0" b="1" dirty="0">
                <a:solidFill>
                  <a:srgbClr val="E6F1FF"/>
                </a:solidFill>
                <a:latin typeface="Liter" pitchFamily="34" charset="0"/>
                <a:ea typeface="Liter" pitchFamily="34" charset="-122"/>
                <a:cs typeface="Liter" pitchFamily="34" charset="-120"/>
              </a:rPr>
              <a:t>استخراج بيانات إدارة علاقات العملاء واستعادة العملاء</a:t>
            </a:r>
            <a:endParaRPr xmlns:a="http://schemas.openxmlformats.org/drawingml/2006/main" lang="en-US" sz="1600" dirty="0"/>
          </a:p>
        </p:txBody>
      </p:sp>
      <p:sp>
        <p:nvSpPr>
          <p:cNvPr id="11" name="Text 9"/>
          <p:cNvSpPr/>
          <p:nvPr/>
        </p:nvSpPr>
        <p:spPr>
          <a:xfrm>
            <a:off x="1113901" y="2053756"/>
            <a:ext cx="1966732"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dirty="0">
                <a:solidFill>
                  <a:srgbClr val="64FFDA"/>
                </a:solidFill>
                <a:latin typeface="Quattrocento Sans" pitchFamily="34" charset="0"/>
                <a:ea typeface="Quattrocento Sans" pitchFamily="34" charset="-122"/>
                <a:cs typeface="Quattrocento Sans" pitchFamily="34" charset="-120"/>
              </a:rPr>
              <a:t>اليوم الأول • إنفاق إعلاني صفري</a:t>
            </a:r>
            <a:endParaRPr xmlns:a="http://schemas.openxmlformats.org/drawingml/2006/main" lang="en-US" sz="1600" dirty="0"/>
          </a:p>
        </p:txBody>
      </p:sp>
      <p:sp>
        <p:nvSpPr>
          <p:cNvPr id="12" name="Shape 10"/>
          <p:cNvSpPr/>
          <p:nvPr/>
        </p:nvSpPr>
        <p:spPr>
          <a:xfrm>
            <a:off x="522141" y="2401850"/>
            <a:ext cx="3367812" cy="870236"/>
          </a:xfrm>
          <a:prstGeom prst="roundRect">
            <a:avLst>
              <a:gd name="adj" fmla="val 8000"/>
            </a:avLst>
          </a:prstGeom>
          <a:solidFill>
            <a:srgbClr val="0A192F">
              <a:alpha val="40000"/>
            </a:srgbClr>
          </a:solidFill>
          <a:ln/>
        </p:spPr>
      </p:sp>
      <p:sp>
        <p:nvSpPr>
          <p:cNvPr id="13" name="Shape 11"/>
          <p:cNvSpPr/>
          <p:nvPr/>
        </p:nvSpPr>
        <p:spPr>
          <a:xfrm>
            <a:off x="643974" y="2528034"/>
            <a:ext cx="121833" cy="121833"/>
          </a:xfrm>
          <a:custGeom>
            <a:avLst/>
            <a:gdLst/>
            <a:ahLst/>
            <a:cxnLst/>
            <a:rect l="l" t="t" r="r" b="b"/>
            <a:pathLst>
              <a:path w="121833" h="121833">
                <a:moveTo>
                  <a:pt x="7615" y="15229"/>
                </a:moveTo>
                <a:cubicBezTo>
                  <a:pt x="4545" y="15229"/>
                  <a:pt x="1761" y="17085"/>
                  <a:pt x="571" y="19941"/>
                </a:cubicBezTo>
                <a:cubicBezTo>
                  <a:pt x="-619" y="22796"/>
                  <a:pt x="48" y="26056"/>
                  <a:pt x="2237" y="28221"/>
                </a:cubicBezTo>
                <a:lnTo>
                  <a:pt x="45687" y="71696"/>
                </a:lnTo>
                <a:lnTo>
                  <a:pt x="45687" y="98989"/>
                </a:lnTo>
                <a:cubicBezTo>
                  <a:pt x="45687" y="101012"/>
                  <a:pt x="46496" y="102939"/>
                  <a:pt x="47924" y="104367"/>
                </a:cubicBezTo>
                <a:lnTo>
                  <a:pt x="63153" y="119596"/>
                </a:lnTo>
                <a:cubicBezTo>
                  <a:pt x="65342" y="121785"/>
                  <a:pt x="68602" y="122428"/>
                  <a:pt x="71458" y="121238"/>
                </a:cubicBezTo>
                <a:cubicBezTo>
                  <a:pt x="74313" y="120048"/>
                  <a:pt x="76146" y="117288"/>
                  <a:pt x="76146" y="114218"/>
                </a:cubicBezTo>
                <a:lnTo>
                  <a:pt x="76146" y="71696"/>
                </a:lnTo>
                <a:lnTo>
                  <a:pt x="119596" y="28245"/>
                </a:lnTo>
                <a:cubicBezTo>
                  <a:pt x="121785" y="26056"/>
                  <a:pt x="122428" y="22796"/>
                  <a:pt x="121238" y="19941"/>
                </a:cubicBezTo>
                <a:cubicBezTo>
                  <a:pt x="120048" y="17085"/>
                  <a:pt x="117288" y="15229"/>
                  <a:pt x="114218" y="15229"/>
                </a:cubicBezTo>
                <a:lnTo>
                  <a:pt x="7615" y="15229"/>
                </a:lnTo>
                <a:close/>
              </a:path>
            </a:pathLst>
          </a:custGeom>
          <a:solidFill>
            <a:srgbClr val="D4AF37"/>
          </a:solidFill>
          <a:ln/>
        </p:spPr>
      </p:sp>
      <p:sp>
        <p:nvSpPr>
          <p:cNvPr id="14" name="Text 12"/>
          <p:cNvSpPr/>
          <p:nvPr/>
        </p:nvSpPr>
        <p:spPr>
          <a:xfrm>
            <a:off x="830917" y="2506278"/>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D4AF37"/>
                </a:solidFill>
                <a:latin typeface="Quattrocento Sans" pitchFamily="34" charset="0"/>
                <a:ea typeface="Quattrocento Sans" pitchFamily="34" charset="-122"/>
                <a:cs typeface="Quattrocento Sans" pitchFamily="34" charset="-120"/>
              </a:rPr>
              <a:t>فعل</a:t>
            </a:r>
            <a:endParaRPr xmlns:a="http://schemas.openxmlformats.org/drawingml/2006/main" lang="en-US" sz="1600" dirty="0"/>
          </a:p>
        </p:txBody>
      </p:sp>
      <p:sp>
        <p:nvSpPr>
          <p:cNvPr id="15" name="Text 13"/>
          <p:cNvSpPr/>
          <p:nvPr/>
        </p:nvSpPr>
        <p:spPr>
          <a:xfrm>
            <a:off x="626570" y="2749944"/>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تصفية قاعدة البيانات للمرضى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"غير النشطين"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(أكثر من 6 أشهر بدون زيارة)</a:t>
            </a:r>
            <a:endParaRPr xmlns:a="http://schemas.openxmlformats.org/drawingml/2006/main" lang="en-US" sz="1600" dirty="0"/>
          </a:p>
        </p:txBody>
      </p:sp>
      <p:sp>
        <p:nvSpPr>
          <p:cNvPr id="16" name="Shape 14"/>
          <p:cNvSpPr/>
          <p:nvPr/>
        </p:nvSpPr>
        <p:spPr>
          <a:xfrm>
            <a:off x="522141" y="3376514"/>
            <a:ext cx="3367812" cy="870236"/>
          </a:xfrm>
          <a:prstGeom prst="roundRect">
            <a:avLst>
              <a:gd name="adj" fmla="val 8000"/>
            </a:avLst>
          </a:prstGeom>
          <a:solidFill>
            <a:srgbClr val="0A192F">
              <a:alpha val="40000"/>
            </a:srgbClr>
          </a:solidFill>
          <a:ln/>
        </p:spPr>
      </p:sp>
      <p:sp>
        <p:nvSpPr>
          <p:cNvPr id="17" name="Shape 15"/>
          <p:cNvSpPr/>
          <p:nvPr/>
        </p:nvSpPr>
        <p:spPr>
          <a:xfrm>
            <a:off x="636360" y="3502698"/>
            <a:ext cx="137062" cy="121833"/>
          </a:xfrm>
          <a:custGeom>
            <a:avLst/>
            <a:gdLst/>
            <a:ahLst/>
            <a:cxnLst/>
            <a:rect l="l" t="t" r="r" b="b"/>
            <a:pathLst>
              <a:path w="137062" h="121833">
                <a:moveTo>
                  <a:pt x="127639" y="-6258"/>
                </a:moveTo>
                <a:cubicBezTo>
                  <a:pt x="129971" y="-7091"/>
                  <a:pt x="132541" y="-6496"/>
                  <a:pt x="134302" y="-4759"/>
                </a:cubicBezTo>
                <a:cubicBezTo>
                  <a:pt x="136063" y="-3022"/>
                  <a:pt x="136634" y="-428"/>
                  <a:pt x="135801" y="1904"/>
                </a:cubicBezTo>
                <a:lnTo>
                  <a:pt x="93445" y="120143"/>
                </a:lnTo>
                <a:cubicBezTo>
                  <a:pt x="92255" y="123451"/>
                  <a:pt x="89138" y="125640"/>
                  <a:pt x="85640" y="125640"/>
                </a:cubicBezTo>
                <a:cubicBezTo>
                  <a:pt x="82261" y="125640"/>
                  <a:pt x="79215" y="123594"/>
                  <a:pt x="77954" y="120477"/>
                </a:cubicBezTo>
                <a:lnTo>
                  <a:pt x="62677" y="82880"/>
                </a:lnTo>
                <a:cubicBezTo>
                  <a:pt x="61607" y="80262"/>
                  <a:pt x="62082" y="77264"/>
                  <a:pt x="63915" y="75122"/>
                </a:cubicBezTo>
                <a:lnTo>
                  <a:pt x="86401" y="48376"/>
                </a:lnTo>
                <a:cubicBezTo>
                  <a:pt x="87615" y="46925"/>
                  <a:pt x="87520" y="44807"/>
                  <a:pt x="86187" y="43474"/>
                </a:cubicBezTo>
                <a:cubicBezTo>
                  <a:pt x="84855" y="42142"/>
                  <a:pt x="82713" y="42047"/>
                  <a:pt x="81285" y="43260"/>
                </a:cubicBezTo>
                <a:lnTo>
                  <a:pt x="54539" y="65699"/>
                </a:lnTo>
                <a:cubicBezTo>
                  <a:pt x="52374" y="67508"/>
                  <a:pt x="49399" y="67984"/>
                  <a:pt x="46782" y="66937"/>
                </a:cubicBezTo>
                <a:lnTo>
                  <a:pt x="9066" y="51589"/>
                </a:lnTo>
                <a:cubicBezTo>
                  <a:pt x="5949" y="50327"/>
                  <a:pt x="3902" y="47282"/>
                  <a:pt x="3902" y="43903"/>
                </a:cubicBezTo>
                <a:cubicBezTo>
                  <a:pt x="3902" y="40405"/>
                  <a:pt x="6092" y="37288"/>
                  <a:pt x="9399" y="36098"/>
                </a:cubicBezTo>
                <a:lnTo>
                  <a:pt x="127639" y="-6258"/>
                </a:lnTo>
                <a:close/>
              </a:path>
            </a:pathLst>
          </a:custGeom>
          <a:solidFill>
            <a:srgbClr val="D4AF37"/>
          </a:solidFill>
          <a:ln/>
        </p:spPr>
      </p:sp>
      <p:sp>
        <p:nvSpPr>
          <p:cNvPr id="18" name="Text 16"/>
          <p:cNvSpPr/>
          <p:nvPr/>
        </p:nvSpPr>
        <p:spPr>
          <a:xfrm>
            <a:off x="830917" y="3480942"/>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D4AF37"/>
                </a:solidFill>
                <a:latin typeface="Quattrocento Sans" pitchFamily="34" charset="0"/>
                <a:ea typeface="Quattrocento Sans" pitchFamily="34" charset="-122"/>
                <a:cs typeface="Quattrocento Sans" pitchFamily="34" charset="-120"/>
              </a:rPr>
              <a:t>تقنية</a:t>
            </a:r>
            <a:endParaRPr xmlns:a="http://schemas.openxmlformats.org/drawingml/2006/main" lang="en-US" sz="1600" dirty="0"/>
          </a:p>
        </p:txBody>
      </p:sp>
      <p:sp>
        <p:nvSpPr>
          <p:cNvPr id="19" name="Text 17"/>
          <p:cNvSpPr/>
          <p:nvPr/>
        </p:nvSpPr>
        <p:spPr>
          <a:xfrm>
            <a:off x="626570" y="3724608"/>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أرسل عرضًا شخصيًا عبر واتساب بعنوان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"فحص صحي"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مع خصم حصري عند العودة</a:t>
            </a:r>
            <a:endParaRPr xmlns:a="http://schemas.openxmlformats.org/drawingml/2006/main" lang="en-US" sz="1600" dirty="0"/>
          </a:p>
        </p:txBody>
      </p:sp>
      <p:sp>
        <p:nvSpPr>
          <p:cNvPr id="20" name="Shape 18"/>
          <p:cNvSpPr/>
          <p:nvPr/>
        </p:nvSpPr>
        <p:spPr>
          <a:xfrm>
            <a:off x="522141" y="4351178"/>
            <a:ext cx="3367812" cy="661379"/>
          </a:xfrm>
          <a:prstGeom prst="roundRect">
            <a:avLst>
              <a:gd name="adj" fmla="val 10526"/>
            </a:avLst>
          </a:prstGeom>
          <a:solidFill>
            <a:srgbClr val="0A192F">
              <a:alpha val="40000"/>
            </a:srgbClr>
          </a:solidFill>
          <a:ln/>
        </p:spPr>
      </p:sp>
      <p:sp>
        <p:nvSpPr>
          <p:cNvPr id="21" name="Shape 19"/>
          <p:cNvSpPr/>
          <p:nvPr/>
        </p:nvSpPr>
        <p:spPr>
          <a:xfrm>
            <a:off x="643974" y="4477362"/>
            <a:ext cx="121833" cy="121833"/>
          </a:xfrm>
          <a:custGeom>
            <a:avLst/>
            <a:gdLst/>
            <a:ahLst/>
            <a:cxnLst/>
            <a:rect l="l" t="t" r="r" b="b"/>
            <a:pathLst>
              <a:path w="121833" h="121833">
                <a:moveTo>
                  <a:pt x="15229" y="15229"/>
                </a:moveTo>
                <a:cubicBezTo>
                  <a:pt x="15229" y="11017"/>
                  <a:pt x="11826" y="7615"/>
                  <a:pt x="7615" y="7615"/>
                </a:cubicBezTo>
                <a:cubicBezTo>
                  <a:pt x="3403" y="7615"/>
                  <a:pt x="0" y="11017"/>
                  <a:pt x="0" y="15229"/>
                </a:cubicBezTo>
                <a:lnTo>
                  <a:pt x="0" y="95182"/>
                </a:lnTo>
                <a:cubicBezTo>
                  <a:pt x="0" y="105700"/>
                  <a:pt x="8519" y="114218"/>
                  <a:pt x="19036" y="114218"/>
                </a:cubicBezTo>
                <a:lnTo>
                  <a:pt x="114218" y="114218"/>
                </a:lnTo>
                <a:cubicBezTo>
                  <a:pt x="118430" y="114218"/>
                  <a:pt x="121833" y="110816"/>
                  <a:pt x="121833" y="106604"/>
                </a:cubicBezTo>
                <a:cubicBezTo>
                  <a:pt x="121833" y="102392"/>
                  <a:pt x="118430" y="98989"/>
                  <a:pt x="114218" y="98989"/>
                </a:cubicBezTo>
                <a:lnTo>
                  <a:pt x="19036" y="98989"/>
                </a:lnTo>
                <a:cubicBezTo>
                  <a:pt x="16942" y="98989"/>
                  <a:pt x="15229" y="97276"/>
                  <a:pt x="15229" y="95182"/>
                </a:cubicBezTo>
                <a:lnTo>
                  <a:pt x="15229" y="15229"/>
                </a:lnTo>
                <a:close/>
                <a:moveTo>
                  <a:pt x="111982" y="35836"/>
                </a:moveTo>
                <a:cubicBezTo>
                  <a:pt x="114956" y="32862"/>
                  <a:pt x="114956" y="28031"/>
                  <a:pt x="111982" y="25057"/>
                </a:cubicBezTo>
                <a:cubicBezTo>
                  <a:pt x="109007" y="22082"/>
                  <a:pt x="104177" y="22082"/>
                  <a:pt x="101202" y="25057"/>
                </a:cubicBezTo>
                <a:lnTo>
                  <a:pt x="76146" y="50137"/>
                </a:lnTo>
                <a:lnTo>
                  <a:pt x="62487" y="36502"/>
                </a:lnTo>
                <a:cubicBezTo>
                  <a:pt x="59513" y="33528"/>
                  <a:pt x="54682" y="33528"/>
                  <a:pt x="51708" y="36502"/>
                </a:cubicBezTo>
                <a:lnTo>
                  <a:pt x="28864" y="59346"/>
                </a:lnTo>
                <a:cubicBezTo>
                  <a:pt x="25890" y="62320"/>
                  <a:pt x="25890" y="67151"/>
                  <a:pt x="28864" y="70125"/>
                </a:cubicBezTo>
                <a:cubicBezTo>
                  <a:pt x="31838" y="73100"/>
                  <a:pt x="36669" y="73100"/>
                  <a:pt x="39643" y="70125"/>
                </a:cubicBezTo>
                <a:lnTo>
                  <a:pt x="57109" y="52659"/>
                </a:lnTo>
                <a:lnTo>
                  <a:pt x="70768" y="66318"/>
                </a:lnTo>
                <a:cubicBezTo>
                  <a:pt x="73742" y="69293"/>
                  <a:pt x="78573" y="69293"/>
                  <a:pt x="81547" y="66318"/>
                </a:cubicBezTo>
                <a:lnTo>
                  <a:pt x="112005" y="35860"/>
                </a:lnTo>
                <a:close/>
              </a:path>
            </a:pathLst>
          </a:custGeom>
          <a:solidFill>
            <a:srgbClr val="D4AF37"/>
          </a:solidFill>
          <a:ln/>
        </p:spPr>
      </p:sp>
      <p:sp>
        <p:nvSpPr>
          <p:cNvPr id="22" name="Text 20"/>
          <p:cNvSpPr/>
          <p:nvPr/>
        </p:nvSpPr>
        <p:spPr>
          <a:xfrm>
            <a:off x="830917" y="4455606"/>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D4AF37"/>
                </a:solidFill>
                <a:latin typeface="Quattrocento Sans" pitchFamily="34" charset="0"/>
                <a:ea typeface="Quattrocento Sans" pitchFamily="34" charset="-122"/>
                <a:cs typeface="Quattrocento Sans" pitchFamily="34" charset="-120"/>
              </a:rPr>
              <a:t>النتيجة المتوقعة</a:t>
            </a:r>
            <a:endParaRPr xmlns:a="http://schemas.openxmlformats.org/drawingml/2006/main" lang="en-US" sz="1600" dirty="0"/>
          </a:p>
        </p:txBody>
      </p:sp>
      <p:sp>
        <p:nvSpPr>
          <p:cNvPr id="23" name="Text 21"/>
          <p:cNvSpPr/>
          <p:nvPr/>
        </p:nvSpPr>
        <p:spPr>
          <a:xfrm>
            <a:off x="626570" y="4699272"/>
            <a:ext cx="3228574" cy="208857"/>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تدفق نقدي فوري بدون </a:t>
            </a:r>
            <a:pPr xmlns:a="http://schemas.openxmlformats.org/drawingml/2006/main">
              <a:lnSpc>
                <a:spcPct val="130000"/>
              </a:lnSpc>
              <a:bidi/>
            </a:pPr>
            <a:r xmlns:a="http://schemas.openxmlformats.org/drawingml/2006/main">
              <a:rPr lang="ar" sz="1096" b="1" dirty="0">
                <a:solidFill>
                  <a:srgbClr val="64FFDA"/>
                </a:solidFill>
                <a:latin typeface="Quattrocento Sans" pitchFamily="34" charset="0"/>
                <a:ea typeface="Quattrocento Sans" pitchFamily="34" charset="-122"/>
                <a:cs typeface="Quattrocento Sans" pitchFamily="34" charset="-120"/>
              </a:rPr>
              <a:t>إنفاق إعلاني</a:t>
            </a:r>
            <a:endParaRPr xmlns:a="http://schemas.openxmlformats.org/drawingml/2006/main" lang="en-US" sz="1600" dirty="0"/>
          </a:p>
        </p:txBody>
      </p:sp>
      <p:sp>
        <p:nvSpPr>
          <p:cNvPr id="24" name="Shape 22"/>
          <p:cNvSpPr/>
          <p:nvPr/>
        </p:nvSpPr>
        <p:spPr>
          <a:xfrm>
            <a:off x="526493" y="5330193"/>
            <a:ext cx="3359109" cy="426415"/>
          </a:xfrm>
          <a:prstGeom prst="roundRect">
            <a:avLst>
              <a:gd name="adj" fmla="val 16327"/>
            </a:avLst>
          </a:prstGeom>
          <a:solidFill>
            <a:srgbClr val="D4AF37">
              <a:alpha val="10196"/>
            </a:srgbClr>
          </a:solidFill>
          <a:ln w="12700">
            <a:solidFill>
              <a:srgbClr val="D4AF37">
                <a:alpha val="30196"/>
              </a:srgbClr>
            </a:solidFill>
            <a:prstDash val="solid"/>
          </a:ln>
        </p:spPr>
      </p:sp>
      <p:sp>
        <p:nvSpPr>
          <p:cNvPr id="25" name="Text 23"/>
          <p:cNvSpPr/>
          <p:nvPr/>
        </p:nvSpPr>
        <p:spPr>
          <a:xfrm>
            <a:off x="600463" y="5438972"/>
            <a:ext cx="3211169" cy="208857"/>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096" b="1" dirty="0">
                <a:solidFill>
                  <a:srgbClr val="D4AF37"/>
                </a:solidFill>
                <a:latin typeface="Quattrocento Sans" pitchFamily="34" charset="0"/>
                <a:ea typeface="Quattrocento Sans" pitchFamily="34" charset="-122"/>
                <a:cs typeface="Quattrocento Sans" pitchFamily="34" charset="-120"/>
              </a:rPr>
              <a:t>الهدف: </a:t>
            </a:r>
            <a:pPr xmlns:a="http://schemas.openxmlformats.org/drawingml/2006/main" algn="ctr">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معدل إعادة التنشيط من 15 إلى 25%</a:t>
            </a:r>
            <a:endParaRPr xmlns:a="http://schemas.openxmlformats.org/drawingml/2006/main" lang="en-US" sz="1600" dirty="0"/>
          </a:p>
        </p:txBody>
      </p:sp>
      <p:sp>
        <p:nvSpPr>
          <p:cNvPr id="26" name="Shape 24"/>
          <p:cNvSpPr/>
          <p:nvPr/>
        </p:nvSpPr>
        <p:spPr>
          <a:xfrm>
            <a:off x="4237707" y="1583829"/>
            <a:ext cx="3715906" cy="4351178"/>
          </a:xfrm>
          <a:custGeom>
            <a:avLst/>
            <a:gdLst/>
            <a:ahLst/>
            <a:cxnLst/>
            <a:rect l="l" t="t" r="r" b="b"/>
            <a:pathLst>
              <a:path w="3715906" h="4351178">
                <a:moveTo>
                  <a:pt x="34798" y="0"/>
                </a:moveTo>
                <a:lnTo>
                  <a:pt x="3681095" y="0"/>
                </a:lnTo>
                <a:cubicBezTo>
                  <a:pt x="3700313" y="0"/>
                  <a:pt x="3715893" y="15580"/>
                  <a:pt x="3715893" y="34798"/>
                </a:cubicBezTo>
                <a:lnTo>
                  <a:pt x="3715893" y="4246753"/>
                </a:lnTo>
                <a:cubicBezTo>
                  <a:pt x="3715893" y="4304408"/>
                  <a:pt x="3669154" y="4351147"/>
                  <a:pt x="3611499" y="4351147"/>
                </a:cubicBezTo>
                <a:lnTo>
                  <a:pt x="104394" y="4351147"/>
                </a:lnTo>
                <a:cubicBezTo>
                  <a:pt x="46739" y="4351147"/>
                  <a:pt x="0" y="4304408"/>
                  <a:pt x="0" y="4246753"/>
                </a:cubicBezTo>
                <a:lnTo>
                  <a:pt x="0" y="34798"/>
                </a:lnTo>
                <a:cubicBezTo>
                  <a:pt x="0" y="15592"/>
                  <a:pt x="15592" y="0"/>
                  <a:pt x="34798"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27" name="Shape 25"/>
          <p:cNvSpPr/>
          <p:nvPr/>
        </p:nvSpPr>
        <p:spPr>
          <a:xfrm>
            <a:off x="4237707" y="1583829"/>
            <a:ext cx="3715906" cy="34809"/>
          </a:xfrm>
          <a:custGeom>
            <a:avLst/>
            <a:gdLst/>
            <a:ahLst/>
            <a:cxnLst/>
            <a:rect l="l" t="t" r="r" b="b"/>
            <a:pathLst>
              <a:path w="3715906" h="34809">
                <a:moveTo>
                  <a:pt x="34798" y="0"/>
                </a:moveTo>
                <a:lnTo>
                  <a:pt x="3681095" y="0"/>
                </a:lnTo>
                <a:cubicBezTo>
                  <a:pt x="3700313" y="0"/>
                  <a:pt x="3715893" y="15580"/>
                  <a:pt x="3715893" y="34798"/>
                </a:cubicBezTo>
                <a:lnTo>
                  <a:pt x="3715893" y="34798"/>
                </a:lnTo>
                <a:lnTo>
                  <a:pt x="0" y="34798"/>
                </a:lnTo>
                <a:lnTo>
                  <a:pt x="0" y="34798"/>
                </a:lnTo>
                <a:cubicBezTo>
                  <a:pt x="0" y="15592"/>
                  <a:pt x="15592" y="0"/>
                  <a:pt x="34798" y="0"/>
                </a:cubicBezTo>
                <a:close/>
              </a:path>
            </a:pathLst>
          </a:custGeom>
          <a:solidFill>
            <a:srgbClr val="64FFDA"/>
          </a:solidFill>
          <a:ln/>
        </p:spPr>
      </p:sp>
      <p:sp>
        <p:nvSpPr>
          <p:cNvPr id="28" name="Shape 26"/>
          <p:cNvSpPr/>
          <p:nvPr/>
        </p:nvSpPr>
        <p:spPr>
          <a:xfrm>
            <a:off x="4411754" y="1775281"/>
            <a:ext cx="487332" cy="487332"/>
          </a:xfrm>
          <a:prstGeom prst="roundRect">
            <a:avLst>
              <a:gd name="adj" fmla="val 50000"/>
            </a:avLst>
          </a:prstGeom>
          <a:solidFill>
            <a:srgbClr val="64FFDA">
              <a:alpha val="20000"/>
            </a:srgbClr>
          </a:solidFill>
          <a:ln/>
        </p:spPr>
      </p:sp>
      <p:sp>
        <p:nvSpPr>
          <p:cNvPr id="29" name="Text 27"/>
          <p:cNvSpPr/>
          <p:nvPr/>
        </p:nvSpPr>
        <p:spPr>
          <a:xfrm>
            <a:off x="4528080" y="1879709"/>
            <a:ext cx="356797" cy="278475"/>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645" b="1" dirty="0">
                <a:solidFill>
                  <a:srgbClr val="64FFDA"/>
                </a:solidFill>
                <a:latin typeface="Liter" pitchFamily="34" charset="0"/>
                <a:ea typeface="Liter" pitchFamily="34" charset="-122"/>
                <a:cs typeface="Liter" pitchFamily="34" charset="-120"/>
              </a:rPr>
              <a:t>02</a:t>
            </a:r>
            <a:endParaRPr xmlns:a="http://schemas.openxmlformats.org/drawingml/2006/main" lang="en-US" sz="1600" dirty="0"/>
          </a:p>
        </p:txBody>
      </p:sp>
      <p:sp>
        <p:nvSpPr>
          <p:cNvPr id="30" name="Text 28"/>
          <p:cNvSpPr/>
          <p:nvPr/>
        </p:nvSpPr>
        <p:spPr>
          <a:xfrm>
            <a:off x="5003514" y="1810090"/>
            <a:ext cx="2349636" cy="243666"/>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0" b="1" dirty="0">
                <a:solidFill>
                  <a:srgbClr val="E6F1FF"/>
                </a:solidFill>
                <a:latin typeface="Liter" pitchFamily="34" charset="0"/>
                <a:ea typeface="Liter" pitchFamily="34" charset="-122"/>
                <a:cs typeface="Liter" pitchFamily="34" charset="-120"/>
              </a:rPr>
              <a:t>تحسين محركات البحث المحلية وخدمة جوجل للأعمال</a:t>
            </a:r>
            <a:endParaRPr xmlns:a="http://schemas.openxmlformats.org/drawingml/2006/main" lang="en-US" sz="1600" dirty="0"/>
          </a:p>
        </p:txBody>
      </p:sp>
      <p:sp>
        <p:nvSpPr>
          <p:cNvPr id="31" name="Text 29"/>
          <p:cNvSpPr/>
          <p:nvPr/>
        </p:nvSpPr>
        <p:spPr>
          <a:xfrm>
            <a:off x="5003514" y="2053756"/>
            <a:ext cx="2323529"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dirty="0">
                <a:solidFill>
                  <a:srgbClr val="64FFDA"/>
                </a:solidFill>
                <a:latin typeface="Quattrocento Sans" pitchFamily="34" charset="0"/>
                <a:ea typeface="Quattrocento Sans" pitchFamily="34" charset="-122"/>
                <a:cs typeface="Quattrocento Sans" pitchFamily="34" charset="-120"/>
              </a:rPr>
              <a:t>اليوم الثاني • التأسيس</a:t>
            </a:r>
            <a:endParaRPr xmlns:a="http://schemas.openxmlformats.org/drawingml/2006/main" lang="en-US" sz="1600" dirty="0"/>
          </a:p>
        </p:txBody>
      </p:sp>
      <p:sp>
        <p:nvSpPr>
          <p:cNvPr id="32" name="Shape 30"/>
          <p:cNvSpPr/>
          <p:nvPr/>
        </p:nvSpPr>
        <p:spPr>
          <a:xfrm>
            <a:off x="4411754" y="2401850"/>
            <a:ext cx="3367812" cy="870236"/>
          </a:xfrm>
          <a:prstGeom prst="roundRect">
            <a:avLst>
              <a:gd name="adj" fmla="val 8000"/>
            </a:avLst>
          </a:prstGeom>
          <a:solidFill>
            <a:srgbClr val="0A192F">
              <a:alpha val="40000"/>
            </a:srgbClr>
          </a:solidFill>
          <a:ln/>
        </p:spPr>
      </p:sp>
      <p:sp>
        <p:nvSpPr>
          <p:cNvPr id="33" name="Shape 31"/>
          <p:cNvSpPr/>
          <p:nvPr/>
        </p:nvSpPr>
        <p:spPr>
          <a:xfrm>
            <a:off x="4533587" y="2528034"/>
            <a:ext cx="121833" cy="121833"/>
          </a:xfrm>
          <a:custGeom>
            <a:avLst/>
            <a:gdLst/>
            <a:ahLst/>
            <a:cxnLst/>
            <a:rect l="l" t="t" r="r" b="b"/>
            <a:pathLst>
              <a:path w="121833" h="121833">
                <a:moveTo>
                  <a:pt x="98989" y="49495"/>
                </a:moveTo>
                <a:cubicBezTo>
                  <a:pt x="98989" y="60417"/>
                  <a:pt x="95444" y="70506"/>
                  <a:pt x="89471" y="78692"/>
                </a:cubicBezTo>
                <a:lnTo>
                  <a:pt x="119596" y="108841"/>
                </a:lnTo>
                <a:cubicBezTo>
                  <a:pt x="122571" y="111815"/>
                  <a:pt x="122571" y="116646"/>
                  <a:pt x="119596" y="119620"/>
                </a:cubicBezTo>
                <a:cubicBezTo>
                  <a:pt x="116622" y="122594"/>
                  <a:pt x="111791" y="122594"/>
                  <a:pt x="108817" y="119620"/>
                </a:cubicBezTo>
                <a:lnTo>
                  <a:pt x="78692" y="89471"/>
                </a:lnTo>
                <a:cubicBezTo>
                  <a:pt x="70506" y="95444"/>
                  <a:pt x="60417" y="98989"/>
                  <a:pt x="49495" y="98989"/>
                </a:cubicBezTo>
                <a:cubicBezTo>
                  <a:pt x="22154" y="98989"/>
                  <a:pt x="0" y="76836"/>
                  <a:pt x="0" y="49495"/>
                </a:cubicBezTo>
                <a:cubicBezTo>
                  <a:pt x="0" y="22154"/>
                  <a:pt x="22154" y="0"/>
                  <a:pt x="49495" y="0"/>
                </a:cubicBezTo>
                <a:cubicBezTo>
                  <a:pt x="76836" y="0"/>
                  <a:pt x="98989" y="22154"/>
                  <a:pt x="98989" y="49495"/>
                </a:cubicBezTo>
                <a:close/>
                <a:moveTo>
                  <a:pt x="49495" y="83760"/>
                </a:moveTo>
                <a:cubicBezTo>
                  <a:pt x="68406" y="83760"/>
                  <a:pt x="83760" y="68406"/>
                  <a:pt x="83760" y="49495"/>
                </a:cubicBezTo>
                <a:cubicBezTo>
                  <a:pt x="83760" y="30583"/>
                  <a:pt x="68406" y="15229"/>
                  <a:pt x="49495" y="15229"/>
                </a:cubicBezTo>
                <a:cubicBezTo>
                  <a:pt x="30583" y="15229"/>
                  <a:pt x="15229" y="30583"/>
                  <a:pt x="15229" y="49495"/>
                </a:cubicBezTo>
                <a:cubicBezTo>
                  <a:pt x="15229" y="68406"/>
                  <a:pt x="30583" y="83760"/>
                  <a:pt x="49495" y="83760"/>
                </a:cubicBezTo>
                <a:close/>
              </a:path>
            </a:pathLst>
          </a:custGeom>
          <a:solidFill>
            <a:srgbClr val="64FFDA"/>
          </a:solidFill>
          <a:ln/>
        </p:spPr>
      </p:sp>
      <p:sp>
        <p:nvSpPr>
          <p:cNvPr id="34" name="Text 32"/>
          <p:cNvSpPr/>
          <p:nvPr/>
        </p:nvSpPr>
        <p:spPr>
          <a:xfrm>
            <a:off x="4720530" y="2506278"/>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64FFDA"/>
                </a:solidFill>
                <a:latin typeface="Quattrocento Sans" pitchFamily="34" charset="0"/>
                <a:ea typeface="Quattrocento Sans" pitchFamily="34" charset="-122"/>
                <a:cs typeface="Quattrocento Sans" pitchFamily="34" charset="-120"/>
              </a:rPr>
              <a:t>فعل</a:t>
            </a:r>
            <a:endParaRPr xmlns:a="http://schemas.openxmlformats.org/drawingml/2006/main" lang="en-US" sz="1600" dirty="0"/>
          </a:p>
        </p:txBody>
      </p:sp>
      <p:sp>
        <p:nvSpPr>
          <p:cNvPr id="35" name="Text 33"/>
          <p:cNvSpPr/>
          <p:nvPr/>
        </p:nvSpPr>
        <p:spPr>
          <a:xfrm>
            <a:off x="4516183" y="2749944"/>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تدقيق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مدى اتساق بيانات NAP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(الاسم، العنوان، رقم الهاتف) لمراكز الدار البيضاء ومراكش</a:t>
            </a:r>
            <a:endParaRPr xmlns:a="http://schemas.openxmlformats.org/drawingml/2006/main" lang="en-US" sz="1600" dirty="0"/>
          </a:p>
        </p:txBody>
      </p:sp>
      <p:sp>
        <p:nvSpPr>
          <p:cNvPr id="36" name="Shape 34"/>
          <p:cNvSpPr/>
          <p:nvPr/>
        </p:nvSpPr>
        <p:spPr>
          <a:xfrm>
            <a:off x="4411754" y="3376514"/>
            <a:ext cx="3367812" cy="870236"/>
          </a:xfrm>
          <a:prstGeom prst="roundRect">
            <a:avLst>
              <a:gd name="adj" fmla="val 8000"/>
            </a:avLst>
          </a:prstGeom>
          <a:solidFill>
            <a:srgbClr val="0A192F">
              <a:alpha val="40000"/>
            </a:srgbClr>
          </a:solidFill>
          <a:ln/>
        </p:spPr>
      </p:sp>
      <p:sp>
        <p:nvSpPr>
          <p:cNvPr id="37" name="Shape 35"/>
          <p:cNvSpPr/>
          <p:nvPr/>
        </p:nvSpPr>
        <p:spPr>
          <a:xfrm>
            <a:off x="4525973" y="3502698"/>
            <a:ext cx="137062" cy="121833"/>
          </a:xfrm>
          <a:custGeom>
            <a:avLst/>
            <a:gdLst/>
            <a:ahLst/>
            <a:cxnLst/>
            <a:rect l="l" t="t" r="r" b="b"/>
            <a:pathLst>
              <a:path w="137062" h="121833">
                <a:moveTo>
                  <a:pt x="15229" y="15229"/>
                </a:moveTo>
                <a:cubicBezTo>
                  <a:pt x="6829" y="15229"/>
                  <a:pt x="0" y="22058"/>
                  <a:pt x="0" y="30458"/>
                </a:cubicBezTo>
                <a:lnTo>
                  <a:pt x="0" y="91375"/>
                </a:lnTo>
                <a:cubicBezTo>
                  <a:pt x="0" y="99775"/>
                  <a:pt x="6829" y="106604"/>
                  <a:pt x="15229" y="106604"/>
                </a:cubicBezTo>
                <a:lnTo>
                  <a:pt x="121833" y="106604"/>
                </a:lnTo>
                <a:cubicBezTo>
                  <a:pt x="130233" y="106604"/>
                  <a:pt x="137062" y="99775"/>
                  <a:pt x="137062" y="91375"/>
                </a:cubicBezTo>
                <a:lnTo>
                  <a:pt x="137062" y="30458"/>
                </a:lnTo>
                <a:cubicBezTo>
                  <a:pt x="137062" y="22058"/>
                  <a:pt x="130233" y="15229"/>
                  <a:pt x="121833" y="15229"/>
                </a:cubicBezTo>
                <a:lnTo>
                  <a:pt x="15229" y="15229"/>
                </a:lnTo>
                <a:close/>
                <a:moveTo>
                  <a:pt x="19036" y="30458"/>
                </a:moveTo>
                <a:lnTo>
                  <a:pt x="26651" y="30458"/>
                </a:lnTo>
                <a:cubicBezTo>
                  <a:pt x="28745" y="30458"/>
                  <a:pt x="30458" y="32172"/>
                  <a:pt x="30458" y="34266"/>
                </a:cubicBezTo>
                <a:lnTo>
                  <a:pt x="30458" y="41880"/>
                </a:lnTo>
                <a:cubicBezTo>
                  <a:pt x="30458" y="43974"/>
                  <a:pt x="28745" y="45687"/>
                  <a:pt x="26651" y="45687"/>
                </a:cubicBezTo>
                <a:lnTo>
                  <a:pt x="19036" y="45687"/>
                </a:lnTo>
                <a:cubicBezTo>
                  <a:pt x="16942" y="45687"/>
                  <a:pt x="15229" y="43974"/>
                  <a:pt x="15229" y="41880"/>
                </a:cubicBezTo>
                <a:lnTo>
                  <a:pt x="15229" y="34266"/>
                </a:lnTo>
                <a:cubicBezTo>
                  <a:pt x="15229" y="32172"/>
                  <a:pt x="16942" y="30458"/>
                  <a:pt x="19036" y="30458"/>
                </a:cubicBezTo>
                <a:close/>
                <a:moveTo>
                  <a:pt x="15229" y="57109"/>
                </a:moveTo>
                <a:cubicBezTo>
                  <a:pt x="15229" y="55015"/>
                  <a:pt x="16942" y="53302"/>
                  <a:pt x="19036" y="53302"/>
                </a:cubicBezTo>
                <a:lnTo>
                  <a:pt x="26651" y="53302"/>
                </a:lnTo>
                <a:cubicBezTo>
                  <a:pt x="28745" y="53302"/>
                  <a:pt x="30458" y="55015"/>
                  <a:pt x="30458" y="57109"/>
                </a:cubicBezTo>
                <a:lnTo>
                  <a:pt x="30458" y="64724"/>
                </a:lnTo>
                <a:cubicBezTo>
                  <a:pt x="30458" y="66818"/>
                  <a:pt x="28745" y="68531"/>
                  <a:pt x="26651" y="68531"/>
                </a:cubicBezTo>
                <a:lnTo>
                  <a:pt x="19036" y="68531"/>
                </a:lnTo>
                <a:cubicBezTo>
                  <a:pt x="16942" y="68531"/>
                  <a:pt x="15229" y="66818"/>
                  <a:pt x="15229" y="64724"/>
                </a:cubicBezTo>
                <a:lnTo>
                  <a:pt x="15229" y="57109"/>
                </a:lnTo>
                <a:close/>
                <a:moveTo>
                  <a:pt x="41880" y="30458"/>
                </a:moveTo>
                <a:lnTo>
                  <a:pt x="49495" y="30458"/>
                </a:lnTo>
                <a:cubicBezTo>
                  <a:pt x="51589" y="30458"/>
                  <a:pt x="53302" y="32172"/>
                  <a:pt x="53302" y="34266"/>
                </a:cubicBezTo>
                <a:lnTo>
                  <a:pt x="53302" y="41880"/>
                </a:lnTo>
                <a:cubicBezTo>
                  <a:pt x="53302" y="43974"/>
                  <a:pt x="51589" y="45687"/>
                  <a:pt x="49495" y="45687"/>
                </a:cubicBezTo>
                <a:lnTo>
                  <a:pt x="41880" y="45687"/>
                </a:lnTo>
                <a:cubicBezTo>
                  <a:pt x="39786" y="45687"/>
                  <a:pt x="38073" y="43974"/>
                  <a:pt x="38073" y="41880"/>
                </a:cubicBezTo>
                <a:lnTo>
                  <a:pt x="38073" y="34266"/>
                </a:lnTo>
                <a:cubicBezTo>
                  <a:pt x="38073" y="32172"/>
                  <a:pt x="39786" y="30458"/>
                  <a:pt x="41880" y="30458"/>
                </a:cubicBezTo>
                <a:close/>
                <a:moveTo>
                  <a:pt x="38073" y="57109"/>
                </a:moveTo>
                <a:cubicBezTo>
                  <a:pt x="38073" y="55015"/>
                  <a:pt x="39786" y="53302"/>
                  <a:pt x="41880" y="53302"/>
                </a:cubicBezTo>
                <a:lnTo>
                  <a:pt x="49495" y="53302"/>
                </a:lnTo>
                <a:cubicBezTo>
                  <a:pt x="51589" y="53302"/>
                  <a:pt x="53302" y="55015"/>
                  <a:pt x="53302" y="57109"/>
                </a:cubicBezTo>
                <a:lnTo>
                  <a:pt x="53302" y="64724"/>
                </a:lnTo>
                <a:cubicBezTo>
                  <a:pt x="53302" y="66818"/>
                  <a:pt x="51589" y="68531"/>
                  <a:pt x="49495" y="68531"/>
                </a:cubicBezTo>
                <a:lnTo>
                  <a:pt x="41880" y="68531"/>
                </a:lnTo>
                <a:cubicBezTo>
                  <a:pt x="39786" y="68531"/>
                  <a:pt x="38073" y="66818"/>
                  <a:pt x="38073" y="64724"/>
                </a:cubicBezTo>
                <a:lnTo>
                  <a:pt x="38073" y="57109"/>
                </a:lnTo>
                <a:close/>
                <a:moveTo>
                  <a:pt x="41880" y="76146"/>
                </a:moveTo>
                <a:lnTo>
                  <a:pt x="95182" y="76146"/>
                </a:lnTo>
                <a:cubicBezTo>
                  <a:pt x="97276" y="76146"/>
                  <a:pt x="98989" y="77859"/>
                  <a:pt x="98989" y="79953"/>
                </a:cubicBezTo>
                <a:lnTo>
                  <a:pt x="98989" y="87567"/>
                </a:lnTo>
                <a:cubicBezTo>
                  <a:pt x="98989" y="89661"/>
                  <a:pt x="97276" y="91375"/>
                  <a:pt x="95182" y="91375"/>
                </a:cubicBezTo>
                <a:lnTo>
                  <a:pt x="41880" y="91375"/>
                </a:lnTo>
                <a:cubicBezTo>
                  <a:pt x="39786" y="91375"/>
                  <a:pt x="38073" y="89661"/>
                  <a:pt x="38073" y="87567"/>
                </a:cubicBezTo>
                <a:lnTo>
                  <a:pt x="38073" y="79953"/>
                </a:lnTo>
                <a:cubicBezTo>
                  <a:pt x="38073" y="77859"/>
                  <a:pt x="39786" y="76146"/>
                  <a:pt x="41880" y="76146"/>
                </a:cubicBezTo>
                <a:close/>
                <a:moveTo>
                  <a:pt x="60916" y="34266"/>
                </a:moveTo>
                <a:cubicBezTo>
                  <a:pt x="60916" y="32172"/>
                  <a:pt x="62630" y="30458"/>
                  <a:pt x="64724" y="30458"/>
                </a:cubicBezTo>
                <a:lnTo>
                  <a:pt x="72338" y="30458"/>
                </a:lnTo>
                <a:cubicBezTo>
                  <a:pt x="74432" y="30458"/>
                  <a:pt x="76146" y="32172"/>
                  <a:pt x="76146" y="34266"/>
                </a:cubicBezTo>
                <a:lnTo>
                  <a:pt x="76146" y="41880"/>
                </a:lnTo>
                <a:cubicBezTo>
                  <a:pt x="76146" y="43974"/>
                  <a:pt x="74432" y="45687"/>
                  <a:pt x="72338" y="45687"/>
                </a:cubicBezTo>
                <a:lnTo>
                  <a:pt x="64724" y="45687"/>
                </a:lnTo>
                <a:cubicBezTo>
                  <a:pt x="62630" y="45687"/>
                  <a:pt x="60916" y="43974"/>
                  <a:pt x="60916" y="41880"/>
                </a:cubicBezTo>
                <a:lnTo>
                  <a:pt x="60916" y="34266"/>
                </a:lnTo>
                <a:close/>
                <a:moveTo>
                  <a:pt x="64724" y="53302"/>
                </a:moveTo>
                <a:lnTo>
                  <a:pt x="72338" y="53302"/>
                </a:lnTo>
                <a:cubicBezTo>
                  <a:pt x="74432" y="53302"/>
                  <a:pt x="76146" y="55015"/>
                  <a:pt x="76146" y="57109"/>
                </a:cubicBezTo>
                <a:lnTo>
                  <a:pt x="76146" y="64724"/>
                </a:lnTo>
                <a:cubicBezTo>
                  <a:pt x="76146" y="66818"/>
                  <a:pt x="74432" y="68531"/>
                  <a:pt x="72338" y="68531"/>
                </a:cubicBezTo>
                <a:lnTo>
                  <a:pt x="64724" y="68531"/>
                </a:lnTo>
                <a:cubicBezTo>
                  <a:pt x="62630" y="68531"/>
                  <a:pt x="60916" y="66818"/>
                  <a:pt x="60916" y="64724"/>
                </a:cubicBezTo>
                <a:lnTo>
                  <a:pt x="60916" y="57109"/>
                </a:lnTo>
                <a:cubicBezTo>
                  <a:pt x="60916" y="55015"/>
                  <a:pt x="62630" y="53302"/>
                  <a:pt x="64724" y="53302"/>
                </a:cubicBezTo>
                <a:close/>
                <a:moveTo>
                  <a:pt x="83760" y="34266"/>
                </a:moveTo>
                <a:cubicBezTo>
                  <a:pt x="83760" y="32172"/>
                  <a:pt x="85473" y="30458"/>
                  <a:pt x="87567" y="30458"/>
                </a:cubicBezTo>
                <a:lnTo>
                  <a:pt x="95182" y="30458"/>
                </a:lnTo>
                <a:cubicBezTo>
                  <a:pt x="97276" y="30458"/>
                  <a:pt x="98989" y="32172"/>
                  <a:pt x="98989" y="34266"/>
                </a:cubicBezTo>
                <a:lnTo>
                  <a:pt x="98989" y="41880"/>
                </a:lnTo>
                <a:cubicBezTo>
                  <a:pt x="98989" y="43974"/>
                  <a:pt x="97276" y="45687"/>
                  <a:pt x="95182" y="45687"/>
                </a:cubicBezTo>
                <a:lnTo>
                  <a:pt x="87567" y="45687"/>
                </a:lnTo>
                <a:cubicBezTo>
                  <a:pt x="85473" y="45687"/>
                  <a:pt x="83760" y="43974"/>
                  <a:pt x="83760" y="41880"/>
                </a:cubicBezTo>
                <a:lnTo>
                  <a:pt x="83760" y="34266"/>
                </a:lnTo>
                <a:close/>
                <a:moveTo>
                  <a:pt x="87567" y="53302"/>
                </a:moveTo>
                <a:lnTo>
                  <a:pt x="95182" y="53302"/>
                </a:lnTo>
                <a:cubicBezTo>
                  <a:pt x="97276" y="53302"/>
                  <a:pt x="98989" y="55015"/>
                  <a:pt x="98989" y="57109"/>
                </a:cubicBezTo>
                <a:lnTo>
                  <a:pt x="98989" y="64724"/>
                </a:lnTo>
                <a:cubicBezTo>
                  <a:pt x="98989" y="66818"/>
                  <a:pt x="97276" y="68531"/>
                  <a:pt x="95182" y="68531"/>
                </a:cubicBezTo>
                <a:lnTo>
                  <a:pt x="87567" y="68531"/>
                </a:lnTo>
                <a:cubicBezTo>
                  <a:pt x="85473" y="68531"/>
                  <a:pt x="83760" y="66818"/>
                  <a:pt x="83760" y="64724"/>
                </a:cubicBezTo>
                <a:lnTo>
                  <a:pt x="83760" y="57109"/>
                </a:lnTo>
                <a:cubicBezTo>
                  <a:pt x="83760" y="55015"/>
                  <a:pt x="85473" y="53302"/>
                  <a:pt x="87567" y="53302"/>
                </a:cubicBezTo>
                <a:close/>
                <a:moveTo>
                  <a:pt x="106604" y="34266"/>
                </a:moveTo>
                <a:cubicBezTo>
                  <a:pt x="106604" y="32172"/>
                  <a:pt x="108317" y="30458"/>
                  <a:pt x="110411" y="30458"/>
                </a:cubicBezTo>
                <a:lnTo>
                  <a:pt x="118026" y="30458"/>
                </a:lnTo>
                <a:cubicBezTo>
                  <a:pt x="120120" y="30458"/>
                  <a:pt x="121833" y="32172"/>
                  <a:pt x="121833" y="34266"/>
                </a:cubicBezTo>
                <a:lnTo>
                  <a:pt x="121833" y="41880"/>
                </a:lnTo>
                <a:cubicBezTo>
                  <a:pt x="121833" y="43974"/>
                  <a:pt x="120120" y="45687"/>
                  <a:pt x="118026" y="45687"/>
                </a:cubicBezTo>
                <a:lnTo>
                  <a:pt x="110411" y="45687"/>
                </a:lnTo>
                <a:cubicBezTo>
                  <a:pt x="108317" y="45687"/>
                  <a:pt x="106604" y="43974"/>
                  <a:pt x="106604" y="41880"/>
                </a:cubicBezTo>
                <a:lnTo>
                  <a:pt x="106604" y="34266"/>
                </a:lnTo>
                <a:close/>
                <a:moveTo>
                  <a:pt x="110411" y="53302"/>
                </a:moveTo>
                <a:lnTo>
                  <a:pt x="118026" y="53302"/>
                </a:lnTo>
                <a:cubicBezTo>
                  <a:pt x="120120" y="53302"/>
                  <a:pt x="121833" y="55015"/>
                  <a:pt x="121833" y="57109"/>
                </a:cubicBezTo>
                <a:lnTo>
                  <a:pt x="121833" y="64724"/>
                </a:lnTo>
                <a:cubicBezTo>
                  <a:pt x="121833" y="66818"/>
                  <a:pt x="120120" y="68531"/>
                  <a:pt x="118026" y="68531"/>
                </a:cubicBezTo>
                <a:lnTo>
                  <a:pt x="110411" y="68531"/>
                </a:lnTo>
                <a:cubicBezTo>
                  <a:pt x="108317" y="68531"/>
                  <a:pt x="106604" y="66818"/>
                  <a:pt x="106604" y="64724"/>
                </a:cubicBezTo>
                <a:lnTo>
                  <a:pt x="106604" y="57109"/>
                </a:lnTo>
                <a:cubicBezTo>
                  <a:pt x="106604" y="55015"/>
                  <a:pt x="108317" y="53302"/>
                  <a:pt x="110411" y="53302"/>
                </a:cubicBezTo>
                <a:close/>
              </a:path>
            </a:pathLst>
          </a:custGeom>
          <a:solidFill>
            <a:srgbClr val="64FFDA"/>
          </a:solidFill>
          <a:ln/>
        </p:spPr>
      </p:sp>
      <p:sp>
        <p:nvSpPr>
          <p:cNvPr id="38" name="Text 36"/>
          <p:cNvSpPr/>
          <p:nvPr/>
        </p:nvSpPr>
        <p:spPr>
          <a:xfrm>
            <a:off x="4720530" y="3480942"/>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64FFDA"/>
                </a:solidFill>
                <a:latin typeface="Quattrocento Sans" pitchFamily="34" charset="0"/>
                <a:ea typeface="Quattrocento Sans" pitchFamily="34" charset="-122"/>
                <a:cs typeface="Quattrocento Sans" pitchFamily="34" charset="-120"/>
              </a:rPr>
              <a:t>تحسين</a:t>
            </a:r>
            <a:endParaRPr xmlns:a="http://schemas.openxmlformats.org/drawingml/2006/main" lang="en-US" sz="1600" dirty="0"/>
          </a:p>
        </p:txBody>
      </p:sp>
      <p:sp>
        <p:nvSpPr>
          <p:cNvPr id="39" name="Text 37"/>
          <p:cNvSpPr/>
          <p:nvPr/>
        </p:nvSpPr>
        <p:spPr>
          <a:xfrm>
            <a:off x="4516183" y="3724608"/>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أضف الكلمات المفتاحية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"إطالة العمر"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و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"التحسين الحيوي"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إلى أوصاف ومنشورات نشاطك التجاري على جوجل</a:t>
            </a:r>
            <a:endParaRPr xmlns:a="http://schemas.openxmlformats.org/drawingml/2006/main" lang="en-US" sz="1600" dirty="0"/>
          </a:p>
        </p:txBody>
      </p:sp>
      <p:sp>
        <p:nvSpPr>
          <p:cNvPr id="40" name="Shape 38"/>
          <p:cNvSpPr/>
          <p:nvPr/>
        </p:nvSpPr>
        <p:spPr>
          <a:xfrm>
            <a:off x="4411754" y="4351178"/>
            <a:ext cx="3367812" cy="870236"/>
          </a:xfrm>
          <a:prstGeom prst="roundRect">
            <a:avLst>
              <a:gd name="adj" fmla="val 8000"/>
            </a:avLst>
          </a:prstGeom>
          <a:solidFill>
            <a:srgbClr val="0A192F">
              <a:alpha val="40000"/>
            </a:srgbClr>
          </a:solidFill>
          <a:ln/>
        </p:spPr>
      </p:sp>
      <p:sp>
        <p:nvSpPr>
          <p:cNvPr id="41" name="Shape 39"/>
          <p:cNvSpPr/>
          <p:nvPr/>
        </p:nvSpPr>
        <p:spPr>
          <a:xfrm>
            <a:off x="4548816" y="4477362"/>
            <a:ext cx="91375" cy="121833"/>
          </a:xfrm>
          <a:custGeom>
            <a:avLst/>
            <a:gdLst/>
            <a:ahLst/>
            <a:cxnLst/>
            <a:rect l="l" t="t" r="r" b="b"/>
            <a:pathLst>
              <a:path w="91375" h="121833">
                <a:moveTo>
                  <a:pt x="0" y="44878"/>
                </a:moveTo>
                <a:cubicBezTo>
                  <a:pt x="0" y="20083"/>
                  <a:pt x="20464" y="0"/>
                  <a:pt x="45687" y="0"/>
                </a:cubicBezTo>
                <a:cubicBezTo>
                  <a:pt x="70911" y="0"/>
                  <a:pt x="91375" y="20083"/>
                  <a:pt x="91375" y="44878"/>
                </a:cubicBezTo>
                <a:cubicBezTo>
                  <a:pt x="91375" y="73266"/>
                  <a:pt x="62773" y="107294"/>
                  <a:pt x="50827" y="120262"/>
                </a:cubicBezTo>
                <a:cubicBezTo>
                  <a:pt x="48019" y="123308"/>
                  <a:pt x="43332" y="123308"/>
                  <a:pt x="40524" y="120262"/>
                </a:cubicBezTo>
                <a:cubicBezTo>
                  <a:pt x="28578" y="107294"/>
                  <a:pt x="-24" y="73266"/>
                  <a:pt x="-24" y="44878"/>
                </a:cubicBezTo>
                <a:close/>
                <a:moveTo>
                  <a:pt x="45687" y="60916"/>
                </a:moveTo>
                <a:cubicBezTo>
                  <a:pt x="54093" y="60916"/>
                  <a:pt x="60916" y="54093"/>
                  <a:pt x="60916" y="45687"/>
                </a:cubicBezTo>
                <a:cubicBezTo>
                  <a:pt x="60916" y="37282"/>
                  <a:pt x="54093" y="30458"/>
                  <a:pt x="45687" y="30458"/>
                </a:cubicBezTo>
                <a:cubicBezTo>
                  <a:pt x="37282" y="30458"/>
                  <a:pt x="30458" y="37282"/>
                  <a:pt x="30458" y="45687"/>
                </a:cubicBezTo>
                <a:cubicBezTo>
                  <a:pt x="30458" y="54093"/>
                  <a:pt x="37282" y="60916"/>
                  <a:pt x="45687" y="60916"/>
                </a:cubicBezTo>
                <a:close/>
              </a:path>
            </a:pathLst>
          </a:custGeom>
          <a:solidFill>
            <a:srgbClr val="64FFDA"/>
          </a:solidFill>
          <a:ln/>
        </p:spPr>
      </p:sp>
      <p:sp>
        <p:nvSpPr>
          <p:cNvPr id="42" name="Text 40"/>
          <p:cNvSpPr/>
          <p:nvPr/>
        </p:nvSpPr>
        <p:spPr>
          <a:xfrm>
            <a:off x="4720530" y="4455606"/>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64FFDA"/>
                </a:solidFill>
                <a:latin typeface="Quattrocento Sans" pitchFamily="34" charset="0"/>
                <a:ea typeface="Quattrocento Sans" pitchFamily="34" charset="-122"/>
                <a:cs typeface="Quattrocento Sans" pitchFamily="34" charset="-120"/>
              </a:rPr>
              <a:t>استراتيجية محلية</a:t>
            </a:r>
            <a:endParaRPr xmlns:a="http://schemas.openxmlformats.org/drawingml/2006/main" lang="en-US" sz="1600" dirty="0"/>
          </a:p>
        </p:txBody>
      </p:sp>
      <p:sp>
        <p:nvSpPr>
          <p:cNvPr id="43" name="Text 41"/>
          <p:cNvSpPr/>
          <p:nvPr/>
        </p:nvSpPr>
        <p:spPr>
          <a:xfrm>
            <a:off x="4516183" y="4699272"/>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أنشئ صفحات هبوط خاصة بكل مدينة مع محتوى محلي</a:t>
            </a:r>
            <a:endParaRPr xmlns:a="http://schemas.openxmlformats.org/drawingml/2006/main" lang="en-US" sz="1600" dirty="0"/>
          </a:p>
        </p:txBody>
      </p:sp>
      <p:sp>
        <p:nvSpPr>
          <p:cNvPr id="44" name="Shape 42"/>
          <p:cNvSpPr/>
          <p:nvPr/>
        </p:nvSpPr>
        <p:spPr>
          <a:xfrm>
            <a:off x="4416105" y="5330193"/>
            <a:ext cx="3359109" cy="426415"/>
          </a:xfrm>
          <a:prstGeom prst="roundRect">
            <a:avLst>
              <a:gd name="adj" fmla="val 16327"/>
            </a:avLst>
          </a:prstGeom>
          <a:solidFill>
            <a:srgbClr val="64FFDA">
              <a:alpha val="10196"/>
            </a:srgbClr>
          </a:solidFill>
          <a:ln w="12700">
            <a:solidFill>
              <a:srgbClr val="64FFDA">
                <a:alpha val="30196"/>
              </a:srgbClr>
            </a:solidFill>
            <a:prstDash val="solid"/>
          </a:ln>
        </p:spPr>
      </p:sp>
      <p:sp>
        <p:nvSpPr>
          <p:cNvPr id="45" name="Text 43"/>
          <p:cNvSpPr/>
          <p:nvPr/>
        </p:nvSpPr>
        <p:spPr>
          <a:xfrm>
            <a:off x="4490075" y="5438972"/>
            <a:ext cx="3211169" cy="208857"/>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096" b="1" dirty="0">
                <a:solidFill>
                  <a:srgbClr val="64FFDA"/>
                </a:solidFill>
                <a:latin typeface="Quattrocento Sans" pitchFamily="34" charset="0"/>
                <a:ea typeface="Quattrocento Sans" pitchFamily="34" charset="-122"/>
                <a:cs typeface="Quattrocento Sans" pitchFamily="34" charset="-120"/>
              </a:rPr>
              <a:t>الهدف: </a:t>
            </a:r>
            <a:pPr xmlns:a="http://schemas.openxmlformats.org/drawingml/2006/main" algn="ctr">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السيطرة على عمليات البحث "بالقرب مني"</a:t>
            </a:r>
            <a:endParaRPr xmlns:a="http://schemas.openxmlformats.org/drawingml/2006/main" lang="en-US" sz="1600" dirty="0"/>
          </a:p>
        </p:txBody>
      </p:sp>
      <p:sp>
        <p:nvSpPr>
          <p:cNvPr id="46" name="Shape 44"/>
          <p:cNvSpPr/>
          <p:nvPr/>
        </p:nvSpPr>
        <p:spPr>
          <a:xfrm>
            <a:off x="8127320" y="1583829"/>
            <a:ext cx="3715906" cy="4351178"/>
          </a:xfrm>
          <a:custGeom>
            <a:avLst/>
            <a:gdLst/>
            <a:ahLst/>
            <a:cxnLst/>
            <a:rect l="l" t="t" r="r" b="b"/>
            <a:pathLst>
              <a:path w="3715906" h="4351178">
                <a:moveTo>
                  <a:pt x="34798" y="0"/>
                </a:moveTo>
                <a:lnTo>
                  <a:pt x="3681095" y="0"/>
                </a:lnTo>
                <a:cubicBezTo>
                  <a:pt x="3700313" y="0"/>
                  <a:pt x="3715893" y="15580"/>
                  <a:pt x="3715893" y="34798"/>
                </a:cubicBezTo>
                <a:lnTo>
                  <a:pt x="3715893" y="4246753"/>
                </a:lnTo>
                <a:cubicBezTo>
                  <a:pt x="3715893" y="4304408"/>
                  <a:pt x="3669154" y="4351147"/>
                  <a:pt x="3611499" y="4351147"/>
                </a:cubicBezTo>
                <a:lnTo>
                  <a:pt x="104394" y="4351147"/>
                </a:lnTo>
                <a:cubicBezTo>
                  <a:pt x="46739" y="4351147"/>
                  <a:pt x="0" y="4304408"/>
                  <a:pt x="0" y="4246753"/>
                </a:cubicBezTo>
                <a:lnTo>
                  <a:pt x="0" y="34798"/>
                </a:lnTo>
                <a:cubicBezTo>
                  <a:pt x="0" y="15592"/>
                  <a:pt x="15592" y="0"/>
                  <a:pt x="34798"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47" name="Shape 45"/>
          <p:cNvSpPr/>
          <p:nvPr/>
        </p:nvSpPr>
        <p:spPr>
          <a:xfrm>
            <a:off x="8127320" y="1583829"/>
            <a:ext cx="3715906" cy="34809"/>
          </a:xfrm>
          <a:custGeom>
            <a:avLst/>
            <a:gdLst/>
            <a:ahLst/>
            <a:cxnLst/>
            <a:rect l="l" t="t" r="r" b="b"/>
            <a:pathLst>
              <a:path w="3715906" h="34809">
                <a:moveTo>
                  <a:pt x="34798" y="0"/>
                </a:moveTo>
                <a:lnTo>
                  <a:pt x="3681095" y="0"/>
                </a:lnTo>
                <a:cubicBezTo>
                  <a:pt x="3700313" y="0"/>
                  <a:pt x="3715893" y="15580"/>
                  <a:pt x="3715893" y="34798"/>
                </a:cubicBezTo>
                <a:lnTo>
                  <a:pt x="3715893" y="34798"/>
                </a:lnTo>
                <a:lnTo>
                  <a:pt x="0" y="34798"/>
                </a:lnTo>
                <a:lnTo>
                  <a:pt x="0" y="34798"/>
                </a:lnTo>
                <a:cubicBezTo>
                  <a:pt x="0" y="15592"/>
                  <a:pt x="15592" y="0"/>
                  <a:pt x="34798" y="0"/>
                </a:cubicBezTo>
                <a:close/>
              </a:path>
            </a:pathLst>
          </a:custGeom>
          <a:solidFill>
            <a:srgbClr val="D4AF37"/>
          </a:solidFill>
          <a:ln/>
        </p:spPr>
      </p:sp>
      <p:sp>
        <p:nvSpPr>
          <p:cNvPr id="48" name="Shape 46"/>
          <p:cNvSpPr/>
          <p:nvPr/>
        </p:nvSpPr>
        <p:spPr>
          <a:xfrm>
            <a:off x="8301367" y="1775281"/>
            <a:ext cx="487332" cy="487332"/>
          </a:xfrm>
          <a:prstGeom prst="roundRect">
            <a:avLst>
              <a:gd name="adj" fmla="val 50000"/>
            </a:avLst>
          </a:prstGeom>
          <a:solidFill>
            <a:srgbClr val="D4AF37">
              <a:alpha val="20000"/>
            </a:srgbClr>
          </a:solidFill>
          <a:ln/>
        </p:spPr>
      </p:sp>
      <p:sp>
        <p:nvSpPr>
          <p:cNvPr id="49" name="Text 47"/>
          <p:cNvSpPr/>
          <p:nvPr/>
        </p:nvSpPr>
        <p:spPr>
          <a:xfrm>
            <a:off x="8416741" y="1879709"/>
            <a:ext cx="356797" cy="278475"/>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645" b="1" dirty="0">
                <a:solidFill>
                  <a:srgbClr val="D4AF37"/>
                </a:solidFill>
                <a:latin typeface="Liter" pitchFamily="34" charset="0"/>
                <a:ea typeface="Liter" pitchFamily="34" charset="-122"/>
                <a:cs typeface="Liter" pitchFamily="34" charset="-120"/>
              </a:rPr>
              <a:t>03</a:t>
            </a:r>
            <a:endParaRPr xmlns:a="http://schemas.openxmlformats.org/drawingml/2006/main" lang="en-US" sz="1600" dirty="0"/>
          </a:p>
        </p:txBody>
      </p:sp>
      <p:sp>
        <p:nvSpPr>
          <p:cNvPr id="50" name="Text 48"/>
          <p:cNvSpPr/>
          <p:nvPr/>
        </p:nvSpPr>
        <p:spPr>
          <a:xfrm>
            <a:off x="8893127" y="1810090"/>
            <a:ext cx="1270544" cy="243666"/>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0" b="1" dirty="0">
                <a:solidFill>
                  <a:srgbClr val="E6F1FF"/>
                </a:solidFill>
                <a:latin typeface="Liter" pitchFamily="34" charset="0"/>
                <a:ea typeface="Liter" pitchFamily="34" charset="-122"/>
                <a:cs typeface="Liter" pitchFamily="34" charset="-120"/>
              </a:rPr>
              <a:t>مجموعة التقنيات</a:t>
            </a:r>
            <a:endParaRPr xmlns:a="http://schemas.openxmlformats.org/drawingml/2006/main" lang="en-US" sz="1600" dirty="0"/>
          </a:p>
        </p:txBody>
      </p:sp>
      <p:sp>
        <p:nvSpPr>
          <p:cNvPr id="51" name="Text 49"/>
          <p:cNvSpPr/>
          <p:nvPr/>
        </p:nvSpPr>
        <p:spPr>
          <a:xfrm>
            <a:off x="8893127" y="2053756"/>
            <a:ext cx="1244437"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dirty="0">
                <a:solidFill>
                  <a:srgbClr val="64FFDA"/>
                </a:solidFill>
                <a:latin typeface="Quattrocento Sans" pitchFamily="34" charset="0"/>
                <a:ea typeface="Quattrocento Sans" pitchFamily="34" charset="-122"/>
                <a:cs typeface="Quattrocento Sans" pitchFamily="34" charset="-120"/>
              </a:rPr>
              <a:t>اليوم الثالث • التتبع</a:t>
            </a:r>
            <a:endParaRPr xmlns:a="http://schemas.openxmlformats.org/drawingml/2006/main" lang="en-US" sz="1600" dirty="0"/>
          </a:p>
        </p:txBody>
      </p:sp>
      <p:sp>
        <p:nvSpPr>
          <p:cNvPr id="52" name="Shape 50"/>
          <p:cNvSpPr/>
          <p:nvPr/>
        </p:nvSpPr>
        <p:spPr>
          <a:xfrm>
            <a:off x="8301367" y="2401850"/>
            <a:ext cx="3367812" cy="870236"/>
          </a:xfrm>
          <a:prstGeom prst="roundRect">
            <a:avLst>
              <a:gd name="adj" fmla="val 8000"/>
            </a:avLst>
          </a:prstGeom>
          <a:solidFill>
            <a:srgbClr val="0A192F">
              <a:alpha val="40000"/>
            </a:srgbClr>
          </a:solidFill>
          <a:ln/>
        </p:spPr>
      </p:sp>
      <p:sp>
        <p:nvSpPr>
          <p:cNvPr id="53" name="Shape 51"/>
          <p:cNvSpPr/>
          <p:nvPr/>
        </p:nvSpPr>
        <p:spPr>
          <a:xfrm>
            <a:off x="8415586" y="2528034"/>
            <a:ext cx="137062" cy="121833"/>
          </a:xfrm>
          <a:custGeom>
            <a:avLst/>
            <a:gdLst/>
            <a:ahLst/>
            <a:cxnLst/>
            <a:rect l="l" t="t" r="r" b="b"/>
            <a:pathLst>
              <a:path w="137062" h="121833">
                <a:moveTo>
                  <a:pt x="85854" y="286"/>
                </a:moveTo>
                <a:cubicBezTo>
                  <a:pt x="81809" y="-880"/>
                  <a:pt x="77597" y="1475"/>
                  <a:pt x="76431" y="5521"/>
                </a:cubicBezTo>
                <a:lnTo>
                  <a:pt x="45973" y="112124"/>
                </a:lnTo>
                <a:cubicBezTo>
                  <a:pt x="44807" y="116170"/>
                  <a:pt x="47163" y="120381"/>
                  <a:pt x="51208" y="121547"/>
                </a:cubicBezTo>
                <a:cubicBezTo>
                  <a:pt x="55253" y="122713"/>
                  <a:pt x="59465" y="120358"/>
                  <a:pt x="60631" y="116312"/>
                </a:cubicBezTo>
                <a:lnTo>
                  <a:pt x="91089" y="9709"/>
                </a:lnTo>
                <a:cubicBezTo>
                  <a:pt x="92255" y="5663"/>
                  <a:pt x="89899" y="1452"/>
                  <a:pt x="85854" y="286"/>
                </a:cubicBezTo>
                <a:close/>
                <a:moveTo>
                  <a:pt x="101226" y="32671"/>
                </a:moveTo>
                <a:cubicBezTo>
                  <a:pt x="98252" y="35646"/>
                  <a:pt x="98252" y="40476"/>
                  <a:pt x="101226" y="43451"/>
                </a:cubicBezTo>
                <a:lnTo>
                  <a:pt x="118692" y="60916"/>
                </a:lnTo>
                <a:lnTo>
                  <a:pt x="101226" y="78382"/>
                </a:lnTo>
                <a:cubicBezTo>
                  <a:pt x="98252" y="81357"/>
                  <a:pt x="98252" y="86187"/>
                  <a:pt x="101226" y="89162"/>
                </a:cubicBezTo>
                <a:cubicBezTo>
                  <a:pt x="104201" y="92136"/>
                  <a:pt x="109031" y="92136"/>
                  <a:pt x="112005" y="89162"/>
                </a:cubicBezTo>
                <a:lnTo>
                  <a:pt x="134849" y="66318"/>
                </a:lnTo>
                <a:cubicBezTo>
                  <a:pt x="137824" y="63344"/>
                  <a:pt x="137824" y="58513"/>
                  <a:pt x="134849" y="55539"/>
                </a:cubicBezTo>
                <a:lnTo>
                  <a:pt x="112005" y="32695"/>
                </a:lnTo>
                <a:cubicBezTo>
                  <a:pt x="109031" y="29721"/>
                  <a:pt x="104201" y="29721"/>
                  <a:pt x="101226" y="32695"/>
                </a:cubicBezTo>
                <a:close/>
                <a:moveTo>
                  <a:pt x="35860" y="32671"/>
                </a:moveTo>
                <a:cubicBezTo>
                  <a:pt x="32885" y="29697"/>
                  <a:pt x="28055" y="29697"/>
                  <a:pt x="25080" y="32671"/>
                </a:cubicBezTo>
                <a:lnTo>
                  <a:pt x="2237" y="55515"/>
                </a:lnTo>
                <a:cubicBezTo>
                  <a:pt x="-738" y="58489"/>
                  <a:pt x="-738" y="63320"/>
                  <a:pt x="2237" y="66294"/>
                </a:cubicBezTo>
                <a:lnTo>
                  <a:pt x="25080" y="89138"/>
                </a:lnTo>
                <a:cubicBezTo>
                  <a:pt x="28055" y="92112"/>
                  <a:pt x="32885" y="92112"/>
                  <a:pt x="35860" y="89138"/>
                </a:cubicBezTo>
                <a:cubicBezTo>
                  <a:pt x="38834" y="86164"/>
                  <a:pt x="38834" y="81333"/>
                  <a:pt x="35860" y="78359"/>
                </a:cubicBezTo>
                <a:lnTo>
                  <a:pt x="18394" y="60916"/>
                </a:lnTo>
                <a:lnTo>
                  <a:pt x="35836" y="43451"/>
                </a:lnTo>
                <a:cubicBezTo>
                  <a:pt x="38810" y="40476"/>
                  <a:pt x="38810" y="35646"/>
                  <a:pt x="35836" y="32671"/>
                </a:cubicBezTo>
                <a:close/>
              </a:path>
            </a:pathLst>
          </a:custGeom>
          <a:solidFill>
            <a:srgbClr val="D4AF37"/>
          </a:solidFill>
          <a:ln/>
        </p:spPr>
      </p:sp>
      <p:sp>
        <p:nvSpPr>
          <p:cNvPr id="54" name="Text 52"/>
          <p:cNvSpPr/>
          <p:nvPr/>
        </p:nvSpPr>
        <p:spPr>
          <a:xfrm>
            <a:off x="8610142" y="2506278"/>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D4AF37"/>
                </a:solidFill>
                <a:latin typeface="Quattrocento Sans" pitchFamily="34" charset="0"/>
                <a:ea typeface="Quattrocento Sans" pitchFamily="34" charset="-122"/>
                <a:cs typeface="Quattrocento Sans" pitchFamily="34" charset="-120"/>
              </a:rPr>
              <a:t>تثبيت</a:t>
            </a:r>
            <a:endParaRPr xmlns:a="http://schemas.openxmlformats.org/drawingml/2006/main" lang="en-US" sz="1600" dirty="0"/>
          </a:p>
        </p:txBody>
      </p:sp>
      <p:sp>
        <p:nvSpPr>
          <p:cNvPr id="55" name="Text 53"/>
          <p:cNvSpPr/>
          <p:nvPr/>
        </p:nvSpPr>
        <p:spPr>
          <a:xfrm>
            <a:off x="8405796" y="2749944"/>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قم بتثبيت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Meta Pixel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وتتبع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Google Analytics 4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على جميع صفحات الهبوط</a:t>
            </a:r>
            <a:endParaRPr xmlns:a="http://schemas.openxmlformats.org/drawingml/2006/main" lang="en-US" sz="1600" dirty="0"/>
          </a:p>
        </p:txBody>
      </p:sp>
      <p:sp>
        <p:nvSpPr>
          <p:cNvPr id="56" name="Shape 54"/>
          <p:cNvSpPr/>
          <p:nvPr/>
        </p:nvSpPr>
        <p:spPr>
          <a:xfrm>
            <a:off x="8301367" y="3376514"/>
            <a:ext cx="3367812" cy="870236"/>
          </a:xfrm>
          <a:prstGeom prst="roundRect">
            <a:avLst>
              <a:gd name="adj" fmla="val 8000"/>
            </a:avLst>
          </a:prstGeom>
          <a:solidFill>
            <a:srgbClr val="0A192F">
              <a:alpha val="40000"/>
            </a:srgbClr>
          </a:solidFill>
          <a:ln/>
        </p:spPr>
      </p:sp>
      <p:sp>
        <p:nvSpPr>
          <p:cNvPr id="57" name="Shape 55"/>
          <p:cNvSpPr/>
          <p:nvPr/>
        </p:nvSpPr>
        <p:spPr>
          <a:xfrm>
            <a:off x="8423200" y="3502698"/>
            <a:ext cx="121833" cy="121833"/>
          </a:xfrm>
          <a:custGeom>
            <a:avLst/>
            <a:gdLst/>
            <a:ahLst/>
            <a:cxnLst/>
            <a:rect l="l" t="t" r="r" b="b"/>
            <a:pathLst>
              <a:path w="121833" h="121833">
                <a:moveTo>
                  <a:pt x="60916" y="0"/>
                </a:moveTo>
                <a:cubicBezTo>
                  <a:pt x="62011" y="0"/>
                  <a:pt x="63106" y="238"/>
                  <a:pt x="64105" y="690"/>
                </a:cubicBezTo>
                <a:lnTo>
                  <a:pt x="108936" y="19703"/>
                </a:lnTo>
                <a:cubicBezTo>
                  <a:pt x="114171" y="21916"/>
                  <a:pt x="118073" y="27079"/>
                  <a:pt x="118049" y="33314"/>
                </a:cubicBezTo>
                <a:cubicBezTo>
                  <a:pt x="117931" y="56919"/>
                  <a:pt x="108222" y="100108"/>
                  <a:pt x="67222" y="119739"/>
                </a:cubicBezTo>
                <a:cubicBezTo>
                  <a:pt x="63248" y="121643"/>
                  <a:pt x="58632" y="121643"/>
                  <a:pt x="54658" y="119739"/>
                </a:cubicBezTo>
                <a:cubicBezTo>
                  <a:pt x="13635" y="100108"/>
                  <a:pt x="3950" y="56919"/>
                  <a:pt x="3831" y="33314"/>
                </a:cubicBezTo>
                <a:cubicBezTo>
                  <a:pt x="3807" y="27079"/>
                  <a:pt x="7710" y="21916"/>
                  <a:pt x="12945" y="19703"/>
                </a:cubicBezTo>
                <a:lnTo>
                  <a:pt x="57752" y="690"/>
                </a:lnTo>
                <a:cubicBezTo>
                  <a:pt x="58751" y="238"/>
                  <a:pt x="59822" y="0"/>
                  <a:pt x="60916" y="0"/>
                </a:cubicBezTo>
                <a:close/>
                <a:moveTo>
                  <a:pt x="60916" y="15895"/>
                </a:moveTo>
                <a:lnTo>
                  <a:pt x="60916" y="105866"/>
                </a:lnTo>
                <a:cubicBezTo>
                  <a:pt x="93754" y="89971"/>
                  <a:pt x="102582" y="54753"/>
                  <a:pt x="102797" y="33671"/>
                </a:cubicBezTo>
                <a:lnTo>
                  <a:pt x="60916" y="15919"/>
                </a:lnTo>
                <a:lnTo>
                  <a:pt x="60916" y="15919"/>
                </a:lnTo>
                <a:close/>
              </a:path>
            </a:pathLst>
          </a:custGeom>
          <a:solidFill>
            <a:srgbClr val="D4AF37"/>
          </a:solidFill>
          <a:ln/>
        </p:spPr>
      </p:sp>
      <p:sp>
        <p:nvSpPr>
          <p:cNvPr id="58" name="Text 56"/>
          <p:cNvSpPr/>
          <p:nvPr/>
        </p:nvSpPr>
        <p:spPr>
          <a:xfrm>
            <a:off x="8610142" y="3480942"/>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D4AF37"/>
                </a:solidFill>
                <a:latin typeface="Quattrocento Sans" pitchFamily="34" charset="0"/>
                <a:ea typeface="Quattrocento Sans" pitchFamily="34" charset="-122"/>
                <a:cs typeface="Quattrocento Sans" pitchFamily="34" charset="-120"/>
              </a:rPr>
              <a:t>امتثال</a:t>
            </a:r>
            <a:endParaRPr xmlns:a="http://schemas.openxmlformats.org/drawingml/2006/main" lang="en-US" sz="1600" dirty="0"/>
          </a:p>
        </p:txBody>
      </p:sp>
      <p:sp>
        <p:nvSpPr>
          <p:cNvPr id="59" name="Text 57"/>
          <p:cNvSpPr/>
          <p:nvPr/>
        </p:nvSpPr>
        <p:spPr>
          <a:xfrm>
            <a:off x="8405796" y="3724608"/>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قم بتهيئة تخزين البيانات المتوافق مع </a:t>
            </a:r>
            <a:pPr xmlns:a="http://schemas.openxmlformats.org/drawingml/2006/main">
              <a:lnSpc>
                <a:spcPct val="130000"/>
              </a:lnSpc>
              <a:bidi/>
            </a:pPr>
            <a:r xmlns:a="http://schemas.openxmlformats.org/drawingml/2006/main">
              <a:rPr lang="ar" sz="1096" b="1" dirty="0">
                <a:solidFill>
                  <a:srgbClr val="E6F1FF"/>
                </a:solidFill>
                <a:latin typeface="Quattrocento Sans" pitchFamily="34" charset="0"/>
                <a:ea typeface="Quattrocento Sans" pitchFamily="34" charset="-122"/>
                <a:cs typeface="Quattrocento Sans" pitchFamily="34" charset="-120"/>
              </a:rPr>
              <a:t>قانون CNDP 09-08 </a:t>
            </a:r>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لجميع العملاء المحتملين الواردين</a:t>
            </a:r>
            <a:endParaRPr xmlns:a="http://schemas.openxmlformats.org/drawingml/2006/main" lang="en-US" sz="1600" dirty="0"/>
          </a:p>
        </p:txBody>
      </p:sp>
      <p:sp>
        <p:nvSpPr>
          <p:cNvPr id="60" name="Shape 58"/>
          <p:cNvSpPr/>
          <p:nvPr/>
        </p:nvSpPr>
        <p:spPr>
          <a:xfrm>
            <a:off x="8301367" y="4351178"/>
            <a:ext cx="3367812" cy="870236"/>
          </a:xfrm>
          <a:prstGeom prst="roundRect">
            <a:avLst>
              <a:gd name="adj" fmla="val 8000"/>
            </a:avLst>
          </a:prstGeom>
          <a:solidFill>
            <a:srgbClr val="0A192F">
              <a:alpha val="40000"/>
            </a:srgbClr>
          </a:solidFill>
          <a:ln/>
        </p:spPr>
      </p:sp>
      <p:sp>
        <p:nvSpPr>
          <p:cNvPr id="61" name="Shape 59"/>
          <p:cNvSpPr/>
          <p:nvPr/>
        </p:nvSpPr>
        <p:spPr>
          <a:xfrm>
            <a:off x="8430815" y="4477362"/>
            <a:ext cx="106604" cy="121833"/>
          </a:xfrm>
          <a:custGeom>
            <a:avLst/>
            <a:gdLst/>
            <a:ahLst/>
            <a:cxnLst/>
            <a:rect l="l" t="t" r="r" b="b"/>
            <a:pathLst>
              <a:path w="106604" h="121833">
                <a:moveTo>
                  <a:pt x="106604" y="48971"/>
                </a:moveTo>
                <a:cubicBezTo>
                  <a:pt x="103082" y="51303"/>
                  <a:pt x="99037" y="53183"/>
                  <a:pt x="94825" y="54682"/>
                </a:cubicBezTo>
                <a:cubicBezTo>
                  <a:pt x="83641" y="58680"/>
                  <a:pt x="68959" y="60916"/>
                  <a:pt x="53302" y="60916"/>
                </a:cubicBezTo>
                <a:cubicBezTo>
                  <a:pt x="37644" y="60916"/>
                  <a:pt x="22939" y="58656"/>
                  <a:pt x="11779" y="54682"/>
                </a:cubicBezTo>
                <a:cubicBezTo>
                  <a:pt x="7591" y="53183"/>
                  <a:pt x="3522" y="51303"/>
                  <a:pt x="0" y="48971"/>
                </a:cubicBezTo>
                <a:lnTo>
                  <a:pt x="0" y="68531"/>
                </a:lnTo>
                <a:cubicBezTo>
                  <a:pt x="0" y="79049"/>
                  <a:pt x="23867" y="87567"/>
                  <a:pt x="53302" y="87567"/>
                </a:cubicBezTo>
                <a:cubicBezTo>
                  <a:pt x="82737" y="87567"/>
                  <a:pt x="106604" y="79049"/>
                  <a:pt x="106604" y="68531"/>
                </a:cubicBezTo>
                <a:lnTo>
                  <a:pt x="106604" y="48971"/>
                </a:lnTo>
                <a:close/>
                <a:moveTo>
                  <a:pt x="106604" y="30458"/>
                </a:moveTo>
                <a:lnTo>
                  <a:pt x="106604" y="19036"/>
                </a:lnTo>
                <a:cubicBezTo>
                  <a:pt x="106604" y="8519"/>
                  <a:pt x="82737" y="0"/>
                  <a:pt x="53302" y="0"/>
                </a:cubicBezTo>
                <a:cubicBezTo>
                  <a:pt x="23867" y="0"/>
                  <a:pt x="0" y="8519"/>
                  <a:pt x="0" y="19036"/>
                </a:cubicBezTo>
                <a:lnTo>
                  <a:pt x="0" y="30458"/>
                </a:lnTo>
                <a:cubicBezTo>
                  <a:pt x="0" y="40976"/>
                  <a:pt x="23867" y="49495"/>
                  <a:pt x="53302" y="49495"/>
                </a:cubicBezTo>
                <a:cubicBezTo>
                  <a:pt x="82737" y="49495"/>
                  <a:pt x="106604" y="40976"/>
                  <a:pt x="106604" y="30458"/>
                </a:cubicBezTo>
                <a:close/>
                <a:moveTo>
                  <a:pt x="94825" y="92755"/>
                </a:moveTo>
                <a:cubicBezTo>
                  <a:pt x="83665" y="96729"/>
                  <a:pt x="68983" y="98989"/>
                  <a:pt x="53302" y="98989"/>
                </a:cubicBezTo>
                <a:cubicBezTo>
                  <a:pt x="37621" y="98989"/>
                  <a:pt x="22939" y="96729"/>
                  <a:pt x="11779" y="92755"/>
                </a:cubicBezTo>
                <a:cubicBezTo>
                  <a:pt x="7591" y="91256"/>
                  <a:pt x="3522" y="89376"/>
                  <a:pt x="0" y="87044"/>
                </a:cubicBezTo>
                <a:lnTo>
                  <a:pt x="0" y="102797"/>
                </a:lnTo>
                <a:cubicBezTo>
                  <a:pt x="0" y="113314"/>
                  <a:pt x="23867" y="121833"/>
                  <a:pt x="53302" y="121833"/>
                </a:cubicBezTo>
                <a:cubicBezTo>
                  <a:pt x="82737" y="121833"/>
                  <a:pt x="106604" y="113314"/>
                  <a:pt x="106604" y="102797"/>
                </a:cubicBezTo>
                <a:lnTo>
                  <a:pt x="106604" y="87044"/>
                </a:lnTo>
                <a:cubicBezTo>
                  <a:pt x="103082" y="89376"/>
                  <a:pt x="99037" y="91256"/>
                  <a:pt x="94825" y="92755"/>
                </a:cubicBezTo>
                <a:close/>
              </a:path>
            </a:pathLst>
          </a:custGeom>
          <a:solidFill>
            <a:srgbClr val="D4AF37"/>
          </a:solidFill>
          <a:ln/>
        </p:spPr>
      </p:sp>
      <p:sp>
        <p:nvSpPr>
          <p:cNvPr id="62" name="Text 60"/>
          <p:cNvSpPr/>
          <p:nvPr/>
        </p:nvSpPr>
        <p:spPr>
          <a:xfrm>
            <a:off x="8610142" y="4455606"/>
            <a:ext cx="3015525" cy="174047"/>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59" b="1" dirty="0">
                <a:solidFill>
                  <a:srgbClr val="D4AF37"/>
                </a:solidFill>
                <a:latin typeface="Quattrocento Sans" pitchFamily="34" charset="0"/>
                <a:ea typeface="Quattrocento Sans" pitchFamily="34" charset="-122"/>
                <a:cs typeface="Quattrocento Sans" pitchFamily="34" charset="-120"/>
              </a:rPr>
              <a:t>إعداد نظام إدارة علاقات العملاء (CRM)</a:t>
            </a:r>
            <a:endParaRPr xmlns:a="http://schemas.openxmlformats.org/drawingml/2006/main" lang="en-US" sz="1600" dirty="0"/>
          </a:p>
        </p:txBody>
      </p:sp>
      <p:sp>
        <p:nvSpPr>
          <p:cNvPr id="63" name="Text 61"/>
          <p:cNvSpPr/>
          <p:nvPr/>
        </p:nvSpPr>
        <p:spPr>
          <a:xfrm>
            <a:off x="8405796" y="4699272"/>
            <a:ext cx="3228574" cy="417713"/>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إنشاء نظام لتسجيل نقاط العملاء المحتملين ووضع علامات آلية بناءً على المصدر والنية</a:t>
            </a:r>
            <a:endParaRPr xmlns:a="http://schemas.openxmlformats.org/drawingml/2006/main" lang="en-US" sz="1600" dirty="0"/>
          </a:p>
        </p:txBody>
      </p:sp>
      <p:sp>
        <p:nvSpPr>
          <p:cNvPr id="64" name="Shape 62"/>
          <p:cNvSpPr/>
          <p:nvPr/>
        </p:nvSpPr>
        <p:spPr>
          <a:xfrm>
            <a:off x="8305718" y="5330193"/>
            <a:ext cx="3359109" cy="426415"/>
          </a:xfrm>
          <a:prstGeom prst="roundRect">
            <a:avLst>
              <a:gd name="adj" fmla="val 16327"/>
            </a:avLst>
          </a:prstGeom>
          <a:solidFill>
            <a:srgbClr val="D4AF37">
              <a:alpha val="10196"/>
            </a:srgbClr>
          </a:solidFill>
          <a:ln w="12700">
            <a:solidFill>
              <a:srgbClr val="D4AF37">
                <a:alpha val="30196"/>
              </a:srgbClr>
            </a:solidFill>
            <a:prstDash val="solid"/>
          </a:ln>
        </p:spPr>
      </p:sp>
      <p:sp>
        <p:nvSpPr>
          <p:cNvPr id="65" name="Text 63"/>
          <p:cNvSpPr/>
          <p:nvPr/>
        </p:nvSpPr>
        <p:spPr>
          <a:xfrm>
            <a:off x="8379688" y="5438972"/>
            <a:ext cx="3211169" cy="208857"/>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096" b="1" dirty="0">
                <a:solidFill>
                  <a:srgbClr val="D4AF37"/>
                </a:solidFill>
                <a:latin typeface="Quattrocento Sans" pitchFamily="34" charset="0"/>
                <a:ea typeface="Quattrocento Sans" pitchFamily="34" charset="-122"/>
                <a:cs typeface="Quattrocento Sans" pitchFamily="34" charset="-120"/>
              </a:rPr>
              <a:t>النتيجة: </a:t>
            </a:r>
            <a:pPr xmlns:a="http://schemas.openxmlformats.org/drawingml/2006/main" algn="ctr">
              <a:lnSpc>
                <a:spcPct val="130000"/>
              </a:lnSpc>
              <a:bidi/>
            </a:pPr>
            <a:r xmlns:a="http://schemas.openxmlformats.org/drawingml/2006/main">
              <a:rPr lang="ar" sz="1096" dirty="0">
                <a:solidFill>
                  <a:srgbClr val="E6F1FF"/>
                </a:solidFill>
                <a:latin typeface="Quattrocento Sans" pitchFamily="34" charset="0"/>
                <a:ea typeface="Quattrocento Sans" pitchFamily="34" charset="-122"/>
                <a:cs typeface="Quattrocento Sans" pitchFamily="34" charset="-120"/>
              </a:rPr>
              <a:t>تتبع الإسناد بنسبة 100%</a:t>
            </a:r>
            <a:endParaRPr xmlns:a="http://schemas.openxmlformats.org/drawingml/2006/main" lang="en-US" sz="1600" dirty="0"/>
          </a:p>
        </p:txBody>
      </p:sp>
      <p:sp>
        <p:nvSpPr>
          <p:cNvPr id="66" name="Shape 64"/>
          <p:cNvSpPr/>
          <p:nvPr/>
        </p:nvSpPr>
        <p:spPr>
          <a:xfrm>
            <a:off x="352445" y="6078595"/>
            <a:ext cx="11487109" cy="774510"/>
          </a:xfrm>
          <a:prstGeom prst="roundRect">
            <a:avLst>
              <a:gd name="adj" fmla="val 13483"/>
            </a:avLst>
          </a:prstGeom>
          <a:gradFill rotWithShape="1" flip="none">
            <a:gsLst>
              <a:gs pos="0">
                <a:srgbClr val="64FFDA">
                  <a:alpha val="20000"/>
                </a:srgbClr>
              </a:gs>
              <a:gs pos="100000">
                <a:srgbClr val="D4AF37">
                  <a:alpha val="20000"/>
                </a:srgbClr>
              </a:gs>
            </a:gsLst>
            <a:lin ang="0" scaled="1"/>
          </a:gradFill>
          <a:ln w="12700">
            <a:solidFill>
              <a:srgbClr val="64FFDA">
                <a:alpha val="40000"/>
              </a:srgbClr>
            </a:solidFill>
            <a:prstDash val="solid"/>
          </a:ln>
        </p:spPr>
      </p:sp>
      <p:sp>
        <p:nvSpPr>
          <p:cNvPr id="67" name="Shape 65"/>
          <p:cNvSpPr/>
          <p:nvPr/>
        </p:nvSpPr>
        <p:spPr>
          <a:xfrm>
            <a:off x="530844" y="6335315"/>
            <a:ext cx="261071" cy="261071"/>
          </a:xfrm>
          <a:custGeom>
            <a:avLst/>
            <a:gdLst/>
            <a:ahLst/>
            <a:cxnLst/>
            <a:rect l="l" t="t" r="r" b="b"/>
            <a:pathLst>
              <a:path w="261071" h="261071">
                <a:moveTo>
                  <a:pt x="130535" y="261071"/>
                </a:moveTo>
                <a:cubicBezTo>
                  <a:pt x="202580" y="261071"/>
                  <a:pt x="261071" y="202580"/>
                  <a:pt x="261071" y="130535"/>
                </a:cubicBezTo>
                <a:cubicBezTo>
                  <a:pt x="261071" y="58491"/>
                  <a:pt x="202580" y="0"/>
                  <a:pt x="130535" y="0"/>
                </a:cubicBezTo>
                <a:cubicBezTo>
                  <a:pt x="58491" y="0"/>
                  <a:pt x="0" y="58491"/>
                  <a:pt x="0" y="130535"/>
                </a:cubicBezTo>
                <a:cubicBezTo>
                  <a:pt x="0" y="202580"/>
                  <a:pt x="58491" y="261071"/>
                  <a:pt x="130535" y="261071"/>
                </a:cubicBezTo>
                <a:close/>
                <a:moveTo>
                  <a:pt x="173571" y="108457"/>
                </a:moveTo>
                <a:lnTo>
                  <a:pt x="132779" y="173724"/>
                </a:lnTo>
                <a:cubicBezTo>
                  <a:pt x="130637" y="177141"/>
                  <a:pt x="126966" y="179282"/>
                  <a:pt x="122938" y="179486"/>
                </a:cubicBezTo>
                <a:cubicBezTo>
                  <a:pt x="118910" y="179690"/>
                  <a:pt x="115034" y="177854"/>
                  <a:pt x="112638" y="174591"/>
                </a:cubicBezTo>
                <a:lnTo>
                  <a:pt x="88162" y="141957"/>
                </a:lnTo>
                <a:cubicBezTo>
                  <a:pt x="84083" y="136552"/>
                  <a:pt x="85205" y="128904"/>
                  <a:pt x="90610" y="124824"/>
                </a:cubicBezTo>
                <a:cubicBezTo>
                  <a:pt x="96015" y="120745"/>
                  <a:pt x="103663" y="121867"/>
                  <a:pt x="107743" y="127272"/>
                </a:cubicBezTo>
                <a:lnTo>
                  <a:pt x="121510" y="145628"/>
                </a:lnTo>
                <a:lnTo>
                  <a:pt x="152818" y="95505"/>
                </a:lnTo>
                <a:cubicBezTo>
                  <a:pt x="156387" y="89794"/>
                  <a:pt x="163934" y="88009"/>
                  <a:pt x="169696" y="91630"/>
                </a:cubicBezTo>
                <a:cubicBezTo>
                  <a:pt x="175458" y="95250"/>
                  <a:pt x="177192" y="102746"/>
                  <a:pt x="173571" y="108507"/>
                </a:cubicBezTo>
                <a:close/>
              </a:path>
            </a:pathLst>
          </a:custGeom>
          <a:solidFill>
            <a:srgbClr val="64FFDA"/>
          </a:solidFill>
          <a:ln/>
        </p:spPr>
      </p:sp>
      <p:sp>
        <p:nvSpPr>
          <p:cNvPr id="68" name="Text 66"/>
          <p:cNvSpPr/>
          <p:nvPr/>
        </p:nvSpPr>
        <p:spPr>
          <a:xfrm>
            <a:off x="961610" y="6222184"/>
            <a:ext cx="7144634" cy="243666"/>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33" b="1" dirty="0">
                <a:solidFill>
                  <a:srgbClr val="E6F1FF"/>
                </a:solidFill>
                <a:latin typeface="Quattrocento Sans" pitchFamily="34" charset="0"/>
                <a:ea typeface="Quattrocento Sans" pitchFamily="34" charset="-122"/>
                <a:cs typeface="Quattrocento Sans" pitchFamily="34" charset="-120"/>
              </a:rPr>
              <a:t>معايير إتمام المرحلة الأولى</a:t>
            </a:r>
            <a:endParaRPr xmlns:a="http://schemas.openxmlformats.org/drawingml/2006/main" lang="en-US" sz="1600" dirty="0"/>
          </a:p>
        </p:txBody>
      </p:sp>
      <p:sp>
        <p:nvSpPr>
          <p:cNvPr id="69" name="Text 67"/>
          <p:cNvSpPr/>
          <p:nvPr/>
        </p:nvSpPr>
        <p:spPr>
          <a:xfrm>
            <a:off x="961610" y="6500660"/>
            <a:ext cx="7135931" cy="208857"/>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96" dirty="0">
                <a:solidFill>
                  <a:srgbClr val="E6F1FF">
                    <a:alpha val="80000"/>
                  </a:srgbClr>
                </a:solidFill>
                <a:latin typeface="Quattrocento Sans" pitchFamily="34" charset="0"/>
                <a:ea typeface="Quattrocento Sans" pitchFamily="34" charset="-122"/>
                <a:cs typeface="Quattrocento Sans" pitchFamily="34" charset="-120"/>
              </a:rPr>
              <a:t>جميع وحدات تتبع البيانات تعمل بشكل صحيح • اتساق بيانات الاسم والعنوان ورقم الهاتف بنسبة 100% • إطلاق حملة استعادة العملاء • التحقق من الامتثال لـ CNDP</a:t>
            </a:r>
            <a:endParaRPr xmlns:a="http://schemas.openxmlformats.org/drawingml/2006/main" lang="en-US" sz="1600" dirty="0"/>
          </a:p>
        </p:txBody>
      </p:sp>
      <p:sp>
        <p:nvSpPr>
          <p:cNvPr id="70" name="Text 68"/>
          <p:cNvSpPr/>
          <p:nvPr/>
        </p:nvSpPr>
        <p:spPr>
          <a:xfrm>
            <a:off x="9974871" y="6222184"/>
            <a:ext cx="1723066" cy="174047"/>
          </a:xfrm>
          <a:prstGeom prst="rect">
            <a:avLst/>
          </a:prstGeom>
          <a:noFill/>
          <a:ln/>
        </p:spPr>
        <p:txBody>
          <a:bodyPr wrap="square" lIns="0" tIns="0" rIns="0" bIns="0" rtlCol="0" anchor="ctr"/>
          <a:lstStyle/>
          <a:p>
            <a:pPr xmlns:a="http://schemas.openxmlformats.org/drawingml/2006/main" algn="r">
              <a:lnSpc>
                <a:spcPct val="120000"/>
              </a:lnSpc>
              <a:bidi/>
            </a:pPr>
            <a:r xmlns:a="http://schemas.openxmlformats.org/drawingml/2006/main">
              <a:rPr lang="ar" sz="959" dirty="0">
                <a:solidFill>
                  <a:srgbClr val="E6F1FF">
                    <a:alpha val="70000"/>
                  </a:srgbClr>
                </a:solidFill>
                <a:latin typeface="Quattrocento Sans" pitchFamily="34" charset="0"/>
                <a:ea typeface="Quattrocento Sans" pitchFamily="34" charset="-122"/>
                <a:cs typeface="Quattrocento Sans" pitchFamily="34" charset="-120"/>
              </a:rPr>
              <a:t>الإيرادات الفورية</a:t>
            </a:r>
            <a:endParaRPr xmlns:a="http://schemas.openxmlformats.org/drawingml/2006/main" lang="en-US" sz="1600" dirty="0"/>
          </a:p>
        </p:txBody>
      </p:sp>
      <p:sp>
        <p:nvSpPr>
          <p:cNvPr id="71" name="Text 69"/>
          <p:cNvSpPr/>
          <p:nvPr/>
        </p:nvSpPr>
        <p:spPr>
          <a:xfrm>
            <a:off x="9905252" y="6396231"/>
            <a:ext cx="1792685" cy="313285"/>
          </a:xfrm>
          <a:prstGeom prst="rect">
            <a:avLst/>
          </a:prstGeom>
          <a:noFill/>
          <a:ln/>
        </p:spPr>
        <p:txBody>
          <a:bodyPr wrap="square" lIns="0" tIns="0" rIns="0" bIns="0" rtlCol="0" anchor="ctr"/>
          <a:lstStyle/>
          <a:p>
            <a:pPr xmlns:a="http://schemas.openxmlformats.org/drawingml/2006/main" algn="r">
              <a:lnSpc>
                <a:spcPct val="100000"/>
              </a:lnSpc>
              <a:bidi/>
            </a:pPr>
            <a:r xmlns:a="http://schemas.openxmlformats.org/drawingml/2006/main">
              <a:rPr lang="ar" sz="2056" b="1" dirty="0">
                <a:solidFill>
                  <a:srgbClr val="64FFDA"/>
                </a:solidFill>
                <a:latin typeface="Liter" pitchFamily="34" charset="0"/>
                <a:ea typeface="Liter" pitchFamily="34" charset="-122"/>
                <a:cs typeface="Liter" pitchFamily="34" charset="-120"/>
              </a:rPr>
              <a:t>50-100 ألف درهم مغربي</a:t>
            </a:r>
            <a:endParaRPr xmlns:a="http://schemas.openxmlformats.org/drawingml/2006/main"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21901" y="321901"/>
            <a:ext cx="11612578" cy="19314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b="1" spc="51" kern="0" dirty="0">
                <a:solidFill>
                  <a:srgbClr val="D4AF37"/>
                </a:solidFill>
                <a:latin typeface="Quattrocento Sans" pitchFamily="34" charset="0"/>
                <a:ea typeface="Quattrocento Sans" pitchFamily="34" charset="-122"/>
                <a:cs typeface="Quattrocento Sans" pitchFamily="34" charset="-120"/>
              </a:rPr>
              <a:t>المرحلة الثانية • الأيام من 8 إلى 45</a:t>
            </a:r>
            <a:endParaRPr xmlns:a="http://schemas.openxmlformats.org/drawingml/2006/main" lang="en-US" sz="1600" dirty="0"/>
          </a:p>
        </p:txBody>
      </p:sp>
      <p:sp>
        <p:nvSpPr>
          <p:cNvPr id="3" name="Text 1"/>
          <p:cNvSpPr/>
          <p:nvPr/>
        </p:nvSpPr>
        <p:spPr>
          <a:xfrm>
            <a:off x="321901" y="579422"/>
            <a:ext cx="11693053" cy="321901"/>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281" b="1" dirty="0">
                <a:solidFill>
                  <a:srgbClr val="E6F1FF"/>
                </a:solidFill>
                <a:latin typeface="Liter" pitchFamily="34" charset="0"/>
                <a:ea typeface="Liter" pitchFamily="34" charset="-122"/>
                <a:cs typeface="Liter" pitchFamily="34" charset="-120"/>
              </a:rPr>
              <a:t>تنفيذ التسويق متعدد الزوايا</a:t>
            </a:r>
            <a:endParaRPr xmlns:a="http://schemas.openxmlformats.org/drawingml/2006/main" lang="en-US" sz="1600" dirty="0"/>
          </a:p>
        </p:txBody>
      </p:sp>
      <p:sp>
        <p:nvSpPr>
          <p:cNvPr id="4" name="Text 2"/>
          <p:cNvSpPr/>
          <p:nvPr/>
        </p:nvSpPr>
        <p:spPr>
          <a:xfrm>
            <a:off x="321901" y="965703"/>
            <a:ext cx="11620626" cy="22533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1" dirty="0">
                <a:solidFill>
                  <a:srgbClr val="E6F1FF">
                    <a:alpha val="70000"/>
                  </a:srgbClr>
                </a:solidFill>
                <a:latin typeface="Quattrocento Sans" pitchFamily="34" charset="0"/>
                <a:ea typeface="Quattrocento Sans" pitchFamily="34" charset="-122"/>
                <a:cs typeface="Quattrocento Sans" pitchFamily="34" charset="-120"/>
              </a:rPr>
              <a:t>الوصول إلى شرائح مختلفة حيث يتواجدون على الإنترنت باستخدام أصول إبداعية مصممة خصيصًا</a:t>
            </a:r>
            <a:endParaRPr xmlns:a="http://schemas.openxmlformats.org/drawingml/2006/main" lang="en-US" sz="1600" dirty="0"/>
          </a:p>
        </p:txBody>
      </p:sp>
      <p:sp>
        <p:nvSpPr>
          <p:cNvPr id="5" name="Shape 3"/>
          <p:cNvSpPr/>
          <p:nvPr/>
        </p:nvSpPr>
        <p:spPr>
          <a:xfrm>
            <a:off x="321901" y="1287604"/>
            <a:ext cx="772562" cy="32190"/>
          </a:xfrm>
          <a:prstGeom prst="roundRect">
            <a:avLst>
              <a:gd name="adj" fmla="val 0"/>
            </a:avLst>
          </a:prstGeom>
          <a:solidFill>
            <a:srgbClr val="D4AF37"/>
          </a:solidFill>
          <a:ln/>
        </p:spPr>
      </p:sp>
      <p:sp>
        <p:nvSpPr>
          <p:cNvPr id="6" name="Shape 4"/>
          <p:cNvSpPr/>
          <p:nvPr/>
        </p:nvSpPr>
        <p:spPr>
          <a:xfrm>
            <a:off x="321901" y="1464650"/>
            <a:ext cx="3742099" cy="4426139"/>
          </a:xfrm>
          <a:custGeom>
            <a:avLst/>
            <a:gdLst/>
            <a:ahLst/>
            <a:cxnLst/>
            <a:rect l="l" t="t" r="r" b="b"/>
            <a:pathLst>
              <a:path w="3742099" h="4426139">
                <a:moveTo>
                  <a:pt x="32131" y="0"/>
                </a:moveTo>
                <a:lnTo>
                  <a:pt x="3709924" y="0"/>
                </a:lnTo>
                <a:cubicBezTo>
                  <a:pt x="3727669" y="0"/>
                  <a:pt x="3742055" y="14386"/>
                  <a:pt x="3742055" y="32131"/>
                </a:cubicBezTo>
                <a:lnTo>
                  <a:pt x="3742055" y="4329557"/>
                </a:lnTo>
                <a:cubicBezTo>
                  <a:pt x="3741985" y="4382835"/>
                  <a:pt x="3698813" y="4426007"/>
                  <a:pt x="3645535" y="4426077"/>
                </a:cubicBezTo>
                <a:lnTo>
                  <a:pt x="96647" y="4426077"/>
                </a:lnTo>
                <a:cubicBezTo>
                  <a:pt x="43320" y="4426077"/>
                  <a:pt x="70" y="4382884"/>
                  <a:pt x="0" y="4329557"/>
                </a:cubicBezTo>
                <a:lnTo>
                  <a:pt x="0" y="32131"/>
                </a:lnTo>
                <a:cubicBezTo>
                  <a:pt x="0" y="14397"/>
                  <a:pt x="14397" y="0"/>
                  <a:pt x="32131"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7" name="Shape 5"/>
          <p:cNvSpPr/>
          <p:nvPr/>
        </p:nvSpPr>
        <p:spPr>
          <a:xfrm>
            <a:off x="321901" y="1464650"/>
            <a:ext cx="3742099" cy="32190"/>
          </a:xfrm>
          <a:custGeom>
            <a:avLst/>
            <a:gdLst/>
            <a:ahLst/>
            <a:cxnLst/>
            <a:rect l="l" t="t" r="r" b="b"/>
            <a:pathLst>
              <a:path w="3742099" h="32190">
                <a:moveTo>
                  <a:pt x="32131" y="0"/>
                </a:moveTo>
                <a:lnTo>
                  <a:pt x="3709924" y="0"/>
                </a:lnTo>
                <a:cubicBezTo>
                  <a:pt x="3727669" y="0"/>
                  <a:pt x="3742055" y="14386"/>
                  <a:pt x="3742055" y="32131"/>
                </a:cubicBezTo>
                <a:lnTo>
                  <a:pt x="3742055" y="32131"/>
                </a:lnTo>
                <a:lnTo>
                  <a:pt x="0" y="32131"/>
                </a:lnTo>
                <a:lnTo>
                  <a:pt x="0" y="32131"/>
                </a:lnTo>
                <a:cubicBezTo>
                  <a:pt x="0" y="14397"/>
                  <a:pt x="14397" y="0"/>
                  <a:pt x="32131" y="0"/>
                </a:cubicBezTo>
                <a:close/>
              </a:path>
            </a:pathLst>
          </a:custGeom>
          <a:solidFill>
            <a:srgbClr val="4267B2"/>
          </a:solidFill>
          <a:ln/>
        </p:spPr>
      </p:sp>
      <p:sp>
        <p:nvSpPr>
          <p:cNvPr id="8" name="Shape 6"/>
          <p:cNvSpPr/>
          <p:nvPr/>
        </p:nvSpPr>
        <p:spPr>
          <a:xfrm>
            <a:off x="482851" y="1641695"/>
            <a:ext cx="450661" cy="450661"/>
          </a:xfrm>
          <a:prstGeom prst="roundRect">
            <a:avLst>
              <a:gd name="adj" fmla="val 50000"/>
            </a:avLst>
          </a:prstGeom>
          <a:solidFill>
            <a:srgbClr val="4267B2">
              <a:alpha val="20000"/>
            </a:srgbClr>
          </a:solidFill>
          <a:ln/>
        </p:spPr>
      </p:sp>
      <p:sp>
        <p:nvSpPr>
          <p:cNvPr id="9" name="Shape 7"/>
          <p:cNvSpPr/>
          <p:nvPr/>
        </p:nvSpPr>
        <p:spPr>
          <a:xfrm>
            <a:off x="587469" y="1770455"/>
            <a:ext cx="241426" cy="193141"/>
          </a:xfrm>
          <a:custGeom>
            <a:avLst/>
            <a:gdLst/>
            <a:ahLst/>
            <a:cxnLst/>
            <a:rect l="l" t="t" r="r" b="b"/>
            <a:pathLst>
              <a:path w="241426" h="193141">
                <a:moveTo>
                  <a:pt x="241426" y="119921"/>
                </a:moveTo>
                <a:cubicBezTo>
                  <a:pt x="241426" y="154362"/>
                  <a:pt x="226563" y="175939"/>
                  <a:pt x="199818" y="175939"/>
                </a:cubicBezTo>
                <a:cubicBezTo>
                  <a:pt x="176203" y="175939"/>
                  <a:pt x="163679" y="162887"/>
                  <a:pt x="140630" y="124410"/>
                </a:cubicBezTo>
                <a:lnTo>
                  <a:pt x="128786" y="104568"/>
                </a:lnTo>
                <a:cubicBezTo>
                  <a:pt x="125655" y="99852"/>
                  <a:pt x="123316" y="95439"/>
                  <a:pt x="120788" y="91365"/>
                </a:cubicBezTo>
                <a:cubicBezTo>
                  <a:pt x="113206" y="104115"/>
                  <a:pt x="103021" y="122674"/>
                  <a:pt x="103021" y="122674"/>
                </a:cubicBezTo>
                <a:cubicBezTo>
                  <a:pt x="77747" y="166659"/>
                  <a:pt x="63563" y="175939"/>
                  <a:pt x="43834" y="175939"/>
                </a:cubicBezTo>
                <a:cubicBezTo>
                  <a:pt x="16372" y="175939"/>
                  <a:pt x="0" y="154324"/>
                  <a:pt x="0" y="120901"/>
                </a:cubicBezTo>
                <a:cubicBezTo>
                  <a:pt x="0" y="66958"/>
                  <a:pt x="30103" y="15994"/>
                  <a:pt x="69372" y="15994"/>
                </a:cubicBezTo>
                <a:cubicBezTo>
                  <a:pt x="88309" y="15994"/>
                  <a:pt x="104756" y="25312"/>
                  <a:pt x="123995" y="49756"/>
                </a:cubicBezTo>
                <a:cubicBezTo>
                  <a:pt x="137990" y="30857"/>
                  <a:pt x="153456" y="15994"/>
                  <a:pt x="173261" y="15994"/>
                </a:cubicBezTo>
                <a:cubicBezTo>
                  <a:pt x="210644" y="15994"/>
                  <a:pt x="241426" y="63412"/>
                  <a:pt x="241426" y="119921"/>
                </a:cubicBezTo>
                <a:close/>
                <a:moveTo>
                  <a:pt x="108415" y="72503"/>
                </a:moveTo>
                <a:cubicBezTo>
                  <a:pt x="92232" y="49077"/>
                  <a:pt x="81670" y="42136"/>
                  <a:pt x="69033" y="42136"/>
                </a:cubicBezTo>
                <a:cubicBezTo>
                  <a:pt x="45682" y="42136"/>
                  <a:pt x="26104" y="82160"/>
                  <a:pt x="26104" y="121354"/>
                </a:cubicBezTo>
                <a:cubicBezTo>
                  <a:pt x="26104" y="139650"/>
                  <a:pt x="33083" y="149910"/>
                  <a:pt x="44815" y="149910"/>
                </a:cubicBezTo>
                <a:cubicBezTo>
                  <a:pt x="56207" y="149910"/>
                  <a:pt x="63299" y="142743"/>
                  <a:pt x="83745" y="110754"/>
                </a:cubicBezTo>
                <a:cubicBezTo>
                  <a:pt x="83745" y="110754"/>
                  <a:pt x="93062" y="96004"/>
                  <a:pt x="108415" y="72503"/>
                </a:cubicBezTo>
                <a:close/>
                <a:moveTo>
                  <a:pt x="200383" y="149910"/>
                </a:moveTo>
                <a:cubicBezTo>
                  <a:pt x="212530" y="149910"/>
                  <a:pt x="218075" y="139537"/>
                  <a:pt x="218075" y="121656"/>
                </a:cubicBezTo>
                <a:cubicBezTo>
                  <a:pt x="218075" y="74804"/>
                  <a:pt x="197592" y="36629"/>
                  <a:pt x="171601" y="36629"/>
                </a:cubicBezTo>
                <a:cubicBezTo>
                  <a:pt x="159077" y="36629"/>
                  <a:pt x="148552" y="46399"/>
                  <a:pt x="135802" y="66053"/>
                </a:cubicBezTo>
                <a:cubicBezTo>
                  <a:pt x="139348" y="71258"/>
                  <a:pt x="143007" y="76992"/>
                  <a:pt x="146855" y="83179"/>
                </a:cubicBezTo>
                <a:lnTo>
                  <a:pt x="161001" y="106718"/>
                </a:lnTo>
                <a:cubicBezTo>
                  <a:pt x="183144" y="142215"/>
                  <a:pt x="188727" y="149910"/>
                  <a:pt x="200383" y="149910"/>
                </a:cubicBezTo>
                <a:close/>
              </a:path>
            </a:pathLst>
          </a:custGeom>
          <a:solidFill>
            <a:srgbClr val="4267B2"/>
          </a:solidFill>
          <a:ln/>
        </p:spPr>
      </p:sp>
      <p:sp>
        <p:nvSpPr>
          <p:cNvPr id="10" name="Text 8"/>
          <p:cNvSpPr/>
          <p:nvPr/>
        </p:nvSpPr>
        <p:spPr>
          <a:xfrm>
            <a:off x="1030083" y="1673885"/>
            <a:ext cx="965703" cy="22533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267" b="1" dirty="0">
                <a:solidFill>
                  <a:srgbClr val="E6F1FF"/>
                </a:solidFill>
                <a:latin typeface="Liter" pitchFamily="34" charset="0"/>
                <a:ea typeface="Liter" pitchFamily="34" charset="-122"/>
                <a:cs typeface="Liter" pitchFamily="34" charset="-120"/>
              </a:rPr>
              <a:t>ميتا</a:t>
            </a:r>
            <a:endParaRPr xmlns:a="http://schemas.openxmlformats.org/drawingml/2006/main" lang="en-US" sz="1600" dirty="0"/>
          </a:p>
        </p:txBody>
      </p:sp>
      <p:sp>
        <p:nvSpPr>
          <p:cNvPr id="11" name="Text 9"/>
          <p:cNvSpPr/>
          <p:nvPr/>
        </p:nvSpPr>
        <p:spPr>
          <a:xfrm>
            <a:off x="1030083" y="1899216"/>
            <a:ext cx="941560"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dirty="0">
                <a:solidFill>
                  <a:srgbClr val="64FFDA"/>
                </a:solidFill>
                <a:latin typeface="Quattrocento Sans" pitchFamily="34" charset="0"/>
                <a:ea typeface="Quattrocento Sans" pitchFamily="34" charset="-122"/>
                <a:cs typeface="Quattrocento Sans" pitchFamily="34" charset="-120"/>
              </a:rPr>
              <a:t>خطاف الشخصية</a:t>
            </a:r>
            <a:endParaRPr xmlns:a="http://schemas.openxmlformats.org/drawingml/2006/main" lang="en-US" sz="1600" dirty="0"/>
          </a:p>
        </p:txBody>
      </p:sp>
      <p:sp>
        <p:nvSpPr>
          <p:cNvPr id="12" name="Shape 10"/>
          <p:cNvSpPr/>
          <p:nvPr/>
        </p:nvSpPr>
        <p:spPr>
          <a:xfrm>
            <a:off x="482851" y="2221117"/>
            <a:ext cx="3420198" cy="804752"/>
          </a:xfrm>
          <a:prstGeom prst="roundRect">
            <a:avLst>
              <a:gd name="adj" fmla="val 8000"/>
            </a:avLst>
          </a:prstGeom>
          <a:solidFill>
            <a:srgbClr val="0A192F">
              <a:alpha val="40000"/>
            </a:srgbClr>
          </a:solidFill>
          <a:ln/>
        </p:spPr>
      </p:sp>
      <p:sp>
        <p:nvSpPr>
          <p:cNvPr id="13" name="Shape 11"/>
          <p:cNvSpPr/>
          <p:nvPr/>
        </p:nvSpPr>
        <p:spPr>
          <a:xfrm>
            <a:off x="581434" y="2337806"/>
            <a:ext cx="140832" cy="112665"/>
          </a:xfrm>
          <a:custGeom>
            <a:avLst/>
            <a:gdLst/>
            <a:ahLst/>
            <a:cxnLst/>
            <a:rect l="l" t="t" r="r" b="b"/>
            <a:pathLst>
              <a:path w="140832" h="112665">
                <a:moveTo>
                  <a:pt x="70416" y="3521"/>
                </a:moveTo>
                <a:cubicBezTo>
                  <a:pt x="83046" y="3521"/>
                  <a:pt x="93301" y="13775"/>
                  <a:pt x="93301" y="26406"/>
                </a:cubicBezTo>
                <a:cubicBezTo>
                  <a:pt x="93301" y="39037"/>
                  <a:pt x="83046" y="49291"/>
                  <a:pt x="70416" y="49291"/>
                </a:cubicBezTo>
                <a:cubicBezTo>
                  <a:pt x="57785" y="49291"/>
                  <a:pt x="47531" y="39037"/>
                  <a:pt x="47531" y="26406"/>
                </a:cubicBezTo>
                <a:cubicBezTo>
                  <a:pt x="47531" y="13775"/>
                  <a:pt x="57785" y="3521"/>
                  <a:pt x="70416" y="3521"/>
                </a:cubicBezTo>
                <a:close/>
                <a:moveTo>
                  <a:pt x="21125" y="19364"/>
                </a:moveTo>
                <a:cubicBezTo>
                  <a:pt x="29869" y="19364"/>
                  <a:pt x="36968" y="26464"/>
                  <a:pt x="36968" y="35208"/>
                </a:cubicBezTo>
                <a:cubicBezTo>
                  <a:pt x="36968" y="43952"/>
                  <a:pt x="29869" y="51051"/>
                  <a:pt x="21125" y="51051"/>
                </a:cubicBezTo>
                <a:cubicBezTo>
                  <a:pt x="12380" y="51051"/>
                  <a:pt x="5281" y="43952"/>
                  <a:pt x="5281" y="35208"/>
                </a:cubicBezTo>
                <a:cubicBezTo>
                  <a:pt x="5281" y="26464"/>
                  <a:pt x="12380" y="19364"/>
                  <a:pt x="21125" y="19364"/>
                </a:cubicBezTo>
                <a:close/>
                <a:moveTo>
                  <a:pt x="0" y="91541"/>
                </a:moveTo>
                <a:cubicBezTo>
                  <a:pt x="0" y="75983"/>
                  <a:pt x="12609" y="63374"/>
                  <a:pt x="28166" y="63374"/>
                </a:cubicBezTo>
                <a:cubicBezTo>
                  <a:pt x="30983" y="63374"/>
                  <a:pt x="33712" y="63792"/>
                  <a:pt x="36286" y="64563"/>
                </a:cubicBezTo>
                <a:cubicBezTo>
                  <a:pt x="29047" y="72660"/>
                  <a:pt x="24646" y="83355"/>
                  <a:pt x="24646" y="95061"/>
                </a:cubicBezTo>
                <a:lnTo>
                  <a:pt x="24646" y="98582"/>
                </a:lnTo>
                <a:cubicBezTo>
                  <a:pt x="24646" y="101091"/>
                  <a:pt x="25174" y="103467"/>
                  <a:pt x="26120" y="105624"/>
                </a:cubicBezTo>
                <a:lnTo>
                  <a:pt x="7042" y="105624"/>
                </a:lnTo>
                <a:cubicBezTo>
                  <a:pt x="3147" y="105624"/>
                  <a:pt x="0" y="102477"/>
                  <a:pt x="0" y="98582"/>
                </a:cubicBezTo>
                <a:lnTo>
                  <a:pt x="0" y="91541"/>
                </a:lnTo>
                <a:close/>
                <a:moveTo>
                  <a:pt x="114712" y="105624"/>
                </a:moveTo>
                <a:cubicBezTo>
                  <a:pt x="115658" y="103467"/>
                  <a:pt x="116186" y="101091"/>
                  <a:pt x="116186" y="98582"/>
                </a:cubicBezTo>
                <a:lnTo>
                  <a:pt x="116186" y="95061"/>
                </a:lnTo>
                <a:cubicBezTo>
                  <a:pt x="116186" y="83355"/>
                  <a:pt x="111785" y="72660"/>
                  <a:pt x="104546" y="64563"/>
                </a:cubicBezTo>
                <a:cubicBezTo>
                  <a:pt x="107120" y="63792"/>
                  <a:pt x="109849" y="63374"/>
                  <a:pt x="112665" y="63374"/>
                </a:cubicBezTo>
                <a:cubicBezTo>
                  <a:pt x="128223" y="63374"/>
                  <a:pt x="140832" y="75983"/>
                  <a:pt x="140832" y="91541"/>
                </a:cubicBezTo>
                <a:lnTo>
                  <a:pt x="140832" y="98582"/>
                </a:lnTo>
                <a:cubicBezTo>
                  <a:pt x="140832" y="102477"/>
                  <a:pt x="137685" y="105624"/>
                  <a:pt x="133790" y="105624"/>
                </a:cubicBezTo>
                <a:lnTo>
                  <a:pt x="114712" y="105624"/>
                </a:lnTo>
                <a:close/>
                <a:moveTo>
                  <a:pt x="103863" y="35208"/>
                </a:moveTo>
                <a:cubicBezTo>
                  <a:pt x="103863" y="26464"/>
                  <a:pt x="110963" y="19364"/>
                  <a:pt x="119707" y="19364"/>
                </a:cubicBezTo>
                <a:cubicBezTo>
                  <a:pt x="128451" y="19364"/>
                  <a:pt x="135550" y="26464"/>
                  <a:pt x="135550" y="35208"/>
                </a:cubicBezTo>
                <a:cubicBezTo>
                  <a:pt x="135550" y="43952"/>
                  <a:pt x="128451" y="51051"/>
                  <a:pt x="119707" y="51051"/>
                </a:cubicBezTo>
                <a:cubicBezTo>
                  <a:pt x="110963" y="51051"/>
                  <a:pt x="103863" y="43952"/>
                  <a:pt x="103863" y="35208"/>
                </a:cubicBezTo>
                <a:close/>
                <a:moveTo>
                  <a:pt x="35208" y="95061"/>
                </a:moveTo>
                <a:cubicBezTo>
                  <a:pt x="35208" y="75609"/>
                  <a:pt x="50963" y="59853"/>
                  <a:pt x="70416" y="59853"/>
                </a:cubicBezTo>
                <a:cubicBezTo>
                  <a:pt x="89868" y="59853"/>
                  <a:pt x="105624" y="75609"/>
                  <a:pt x="105624" y="95061"/>
                </a:cubicBezTo>
                <a:lnTo>
                  <a:pt x="105624" y="98582"/>
                </a:lnTo>
                <a:cubicBezTo>
                  <a:pt x="105624" y="102477"/>
                  <a:pt x="102477" y="105624"/>
                  <a:pt x="98582" y="105624"/>
                </a:cubicBezTo>
                <a:lnTo>
                  <a:pt x="42250" y="105624"/>
                </a:lnTo>
                <a:cubicBezTo>
                  <a:pt x="38355" y="105624"/>
                  <a:pt x="35208" y="102477"/>
                  <a:pt x="35208" y="98582"/>
                </a:cubicBezTo>
                <a:lnTo>
                  <a:pt x="35208" y="95061"/>
                </a:lnTo>
                <a:close/>
              </a:path>
            </a:pathLst>
          </a:custGeom>
          <a:solidFill>
            <a:srgbClr val="4267B2"/>
          </a:solidFill>
          <a:ln/>
        </p:spPr>
      </p:sp>
      <p:sp>
        <p:nvSpPr>
          <p:cNvPr id="14" name="Text 12"/>
          <p:cNvSpPr/>
          <p:nvPr/>
        </p:nvSpPr>
        <p:spPr>
          <a:xfrm>
            <a:off x="765073" y="2317687"/>
            <a:ext cx="309773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4267B2"/>
                </a:solidFill>
                <a:latin typeface="Quattrocento Sans" pitchFamily="34" charset="0"/>
                <a:ea typeface="Quattrocento Sans" pitchFamily="34" charset="-122"/>
                <a:cs typeface="Quattrocento Sans" pitchFamily="34" charset="-120"/>
              </a:rPr>
              <a:t>هدف</a:t>
            </a:r>
            <a:endParaRPr xmlns:a="http://schemas.openxmlformats.org/drawingml/2006/main" lang="en-US" sz="1600" dirty="0"/>
          </a:p>
        </p:txBody>
      </p:sp>
      <p:sp>
        <p:nvSpPr>
          <p:cNvPr id="15" name="Text 13"/>
          <p:cNvSpPr/>
          <p:nvPr/>
        </p:nvSpPr>
        <p:spPr>
          <a:xfrm>
            <a:off x="579422" y="2543018"/>
            <a:ext cx="3291438" cy="38628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الآباء (الذين يعانون من اضطراب فرط الحركة ونقص الانتباه/التركيز) والمهنيون الذين يعانون من ضغوط عالية في الدار البيضاء ومراكش</a:t>
            </a:r>
            <a:endParaRPr xmlns:a="http://schemas.openxmlformats.org/drawingml/2006/main" lang="en-US" sz="1600" dirty="0"/>
          </a:p>
        </p:txBody>
      </p:sp>
      <p:sp>
        <p:nvSpPr>
          <p:cNvPr id="16" name="Shape 14"/>
          <p:cNvSpPr/>
          <p:nvPr/>
        </p:nvSpPr>
        <p:spPr>
          <a:xfrm>
            <a:off x="482851" y="3122440"/>
            <a:ext cx="3420198" cy="804752"/>
          </a:xfrm>
          <a:prstGeom prst="roundRect">
            <a:avLst>
              <a:gd name="adj" fmla="val 8000"/>
            </a:avLst>
          </a:prstGeom>
          <a:solidFill>
            <a:srgbClr val="0A192F">
              <a:alpha val="40000"/>
            </a:srgbClr>
          </a:solidFill>
          <a:ln/>
        </p:spPr>
      </p:sp>
      <p:sp>
        <p:nvSpPr>
          <p:cNvPr id="17" name="Shape 15"/>
          <p:cNvSpPr/>
          <p:nvPr/>
        </p:nvSpPr>
        <p:spPr>
          <a:xfrm>
            <a:off x="588475" y="3239129"/>
            <a:ext cx="126749" cy="112665"/>
          </a:xfrm>
          <a:custGeom>
            <a:avLst/>
            <a:gdLst/>
            <a:ahLst/>
            <a:cxnLst/>
            <a:rect l="l" t="t" r="r" b="b"/>
            <a:pathLst>
              <a:path w="126749" h="112665">
                <a:moveTo>
                  <a:pt x="21125" y="14083"/>
                </a:moveTo>
                <a:cubicBezTo>
                  <a:pt x="13357" y="14083"/>
                  <a:pt x="7042" y="20399"/>
                  <a:pt x="7042" y="28166"/>
                </a:cubicBezTo>
                <a:lnTo>
                  <a:pt x="7042" y="84499"/>
                </a:lnTo>
                <a:cubicBezTo>
                  <a:pt x="7042" y="92267"/>
                  <a:pt x="13357" y="98582"/>
                  <a:pt x="21125" y="98582"/>
                </a:cubicBezTo>
                <a:lnTo>
                  <a:pt x="77457" y="98582"/>
                </a:lnTo>
                <a:cubicBezTo>
                  <a:pt x="85225" y="98582"/>
                  <a:pt x="91541" y="92267"/>
                  <a:pt x="91541" y="84499"/>
                </a:cubicBezTo>
                <a:lnTo>
                  <a:pt x="91541" y="28166"/>
                </a:lnTo>
                <a:cubicBezTo>
                  <a:pt x="91541" y="20399"/>
                  <a:pt x="85225" y="14083"/>
                  <a:pt x="77457" y="14083"/>
                </a:cubicBezTo>
                <a:lnTo>
                  <a:pt x="21125" y="14083"/>
                </a:lnTo>
                <a:close/>
                <a:moveTo>
                  <a:pt x="102103" y="73937"/>
                </a:moveTo>
                <a:lnTo>
                  <a:pt x="118277" y="86876"/>
                </a:lnTo>
                <a:cubicBezTo>
                  <a:pt x="119201" y="87624"/>
                  <a:pt x="120345" y="88020"/>
                  <a:pt x="121533" y="88020"/>
                </a:cubicBezTo>
                <a:cubicBezTo>
                  <a:pt x="124416" y="88020"/>
                  <a:pt x="126749" y="85687"/>
                  <a:pt x="126749" y="82805"/>
                </a:cubicBezTo>
                <a:lnTo>
                  <a:pt x="126749" y="29861"/>
                </a:lnTo>
                <a:cubicBezTo>
                  <a:pt x="126749" y="26978"/>
                  <a:pt x="124416" y="24646"/>
                  <a:pt x="121533" y="24646"/>
                </a:cubicBezTo>
                <a:cubicBezTo>
                  <a:pt x="120345" y="24646"/>
                  <a:pt x="119201" y="25042"/>
                  <a:pt x="118277" y="25790"/>
                </a:cubicBezTo>
                <a:lnTo>
                  <a:pt x="102103" y="38729"/>
                </a:lnTo>
                <a:lnTo>
                  <a:pt x="102103" y="73937"/>
                </a:lnTo>
                <a:close/>
              </a:path>
            </a:pathLst>
          </a:custGeom>
          <a:solidFill>
            <a:srgbClr val="4267B2"/>
          </a:solidFill>
          <a:ln/>
        </p:spPr>
      </p:sp>
      <p:sp>
        <p:nvSpPr>
          <p:cNvPr id="18" name="Text 16"/>
          <p:cNvSpPr/>
          <p:nvPr/>
        </p:nvSpPr>
        <p:spPr>
          <a:xfrm>
            <a:off x="765073" y="3219010"/>
            <a:ext cx="309773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4267B2"/>
                </a:solidFill>
                <a:latin typeface="Quattrocento Sans" pitchFamily="34" charset="0"/>
                <a:ea typeface="Quattrocento Sans" pitchFamily="34" charset="-122"/>
                <a:cs typeface="Quattrocento Sans" pitchFamily="34" charset="-120"/>
              </a:rPr>
              <a:t>مبدع</a:t>
            </a:r>
            <a:endParaRPr xmlns:a="http://schemas.openxmlformats.org/drawingml/2006/main" lang="en-US" sz="1600" dirty="0"/>
          </a:p>
        </p:txBody>
      </p:sp>
      <p:sp>
        <p:nvSpPr>
          <p:cNvPr id="19" name="Text 17"/>
          <p:cNvSpPr/>
          <p:nvPr/>
        </p:nvSpPr>
        <p:spPr>
          <a:xfrm>
            <a:off x="579422" y="3444341"/>
            <a:ext cx="3291438" cy="38628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مقاطع فيديو على نمط المحتوى الذي ينشئه المستخدمون (أشخاص حقيقيون، تم تصويرهم بالهاتف المحمول) أو صور ثابتة مع طبقات نصية واضحة</a:t>
            </a:r>
            <a:endParaRPr xmlns:a="http://schemas.openxmlformats.org/drawingml/2006/main" lang="en-US" sz="1600" dirty="0"/>
          </a:p>
        </p:txBody>
      </p:sp>
      <p:sp>
        <p:nvSpPr>
          <p:cNvPr id="20" name="Shape 18"/>
          <p:cNvSpPr/>
          <p:nvPr/>
        </p:nvSpPr>
        <p:spPr>
          <a:xfrm>
            <a:off x="486875" y="4027786"/>
            <a:ext cx="3412150" cy="1005941"/>
          </a:xfrm>
          <a:prstGeom prst="roundRect">
            <a:avLst>
              <a:gd name="adj" fmla="val 6400"/>
            </a:avLst>
          </a:prstGeom>
          <a:solidFill>
            <a:srgbClr val="0A192F">
              <a:alpha val="40000"/>
            </a:srgbClr>
          </a:solidFill>
          <a:ln w="12700">
            <a:solidFill>
              <a:srgbClr val="D4AF37">
                <a:alpha val="30196"/>
              </a:srgbClr>
            </a:solidFill>
            <a:prstDash val="solid"/>
          </a:ln>
        </p:spPr>
      </p:sp>
      <p:sp>
        <p:nvSpPr>
          <p:cNvPr id="21" name="Shape 19"/>
          <p:cNvSpPr/>
          <p:nvPr/>
        </p:nvSpPr>
        <p:spPr>
          <a:xfrm>
            <a:off x="603564" y="4148499"/>
            <a:ext cx="112665" cy="112665"/>
          </a:xfrm>
          <a:custGeom>
            <a:avLst/>
            <a:gdLst/>
            <a:ahLst/>
            <a:cxnLst/>
            <a:rect l="l" t="t" r="r" b="b"/>
            <a:pathLst>
              <a:path w="112665" h="112665">
                <a:moveTo>
                  <a:pt x="112665" y="52812"/>
                </a:moveTo>
                <a:cubicBezTo>
                  <a:pt x="112665" y="81968"/>
                  <a:pt x="87448" y="105624"/>
                  <a:pt x="56333" y="105624"/>
                </a:cubicBezTo>
                <a:cubicBezTo>
                  <a:pt x="48169" y="105624"/>
                  <a:pt x="40423" y="103995"/>
                  <a:pt x="33426" y="101069"/>
                </a:cubicBezTo>
                <a:lnTo>
                  <a:pt x="7372" y="112247"/>
                </a:lnTo>
                <a:cubicBezTo>
                  <a:pt x="5303" y="113127"/>
                  <a:pt x="2927" y="112621"/>
                  <a:pt x="1408" y="110971"/>
                </a:cubicBezTo>
                <a:cubicBezTo>
                  <a:pt x="-110" y="109321"/>
                  <a:pt x="-440" y="106900"/>
                  <a:pt x="616" y="104920"/>
                </a:cubicBezTo>
                <a:lnTo>
                  <a:pt x="11355" y="84631"/>
                </a:lnTo>
                <a:cubicBezTo>
                  <a:pt x="4225" y="75763"/>
                  <a:pt x="0" y="64761"/>
                  <a:pt x="0" y="52812"/>
                </a:cubicBezTo>
                <a:cubicBezTo>
                  <a:pt x="0" y="23655"/>
                  <a:pt x="25218" y="0"/>
                  <a:pt x="56333" y="0"/>
                </a:cubicBezTo>
                <a:cubicBezTo>
                  <a:pt x="87448" y="0"/>
                  <a:pt x="112665" y="23655"/>
                  <a:pt x="112665" y="52812"/>
                </a:cubicBezTo>
                <a:close/>
              </a:path>
            </a:pathLst>
          </a:custGeom>
          <a:solidFill>
            <a:srgbClr val="D4AF37"/>
          </a:solidFill>
          <a:ln/>
        </p:spPr>
      </p:sp>
      <p:sp>
        <p:nvSpPr>
          <p:cNvPr id="22" name="Text 20"/>
          <p:cNvSpPr/>
          <p:nvPr/>
        </p:nvSpPr>
        <p:spPr>
          <a:xfrm>
            <a:off x="773120" y="4128380"/>
            <a:ext cx="3081644"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D4AF37"/>
                </a:solidFill>
                <a:latin typeface="Quattrocento Sans" pitchFamily="34" charset="0"/>
                <a:ea typeface="Quattrocento Sans" pitchFamily="34" charset="-122"/>
                <a:cs typeface="Quattrocento Sans" pitchFamily="34" charset="-120"/>
              </a:rPr>
              <a:t>نص</a:t>
            </a:r>
            <a:endParaRPr xmlns:a="http://schemas.openxmlformats.org/drawingml/2006/main" lang="en-US" sz="1600" dirty="0"/>
          </a:p>
        </p:txBody>
      </p:sp>
      <p:sp>
        <p:nvSpPr>
          <p:cNvPr id="23" name="Text 21"/>
          <p:cNvSpPr/>
          <p:nvPr/>
        </p:nvSpPr>
        <p:spPr>
          <a:xfrm>
            <a:off x="587469" y="4353711"/>
            <a:ext cx="3275343" cy="579422"/>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"مؤسسو كازابلانكا: عقلك هو أثمن ما تملك. هل تحميه؟ التغذية الراجعة العصبية ليست علاجاً؛ إنها تحسين لمدة 15 دقيقة لعائد استثمارك المعرفي."</a:t>
            </a:r>
            <a:endParaRPr xmlns:a="http://schemas.openxmlformats.org/drawingml/2006/main" lang="en-US" sz="1600" dirty="0"/>
          </a:p>
        </p:txBody>
      </p:sp>
      <p:sp>
        <p:nvSpPr>
          <p:cNvPr id="24" name="Shape 22"/>
          <p:cNvSpPr/>
          <p:nvPr/>
        </p:nvSpPr>
        <p:spPr>
          <a:xfrm>
            <a:off x="486875" y="5331485"/>
            <a:ext cx="3412150" cy="394329"/>
          </a:xfrm>
          <a:prstGeom prst="roundRect">
            <a:avLst>
              <a:gd name="adj" fmla="val 16327"/>
            </a:avLst>
          </a:prstGeom>
          <a:solidFill>
            <a:srgbClr val="4267B2">
              <a:alpha val="10196"/>
            </a:srgbClr>
          </a:solidFill>
          <a:ln w="12700">
            <a:solidFill>
              <a:srgbClr val="4267B2">
                <a:alpha val="30196"/>
              </a:srgbClr>
            </a:solidFill>
            <a:prstDash val="solid"/>
          </a:ln>
        </p:spPr>
      </p:sp>
      <p:sp>
        <p:nvSpPr>
          <p:cNvPr id="25" name="Text 23"/>
          <p:cNvSpPr/>
          <p:nvPr/>
        </p:nvSpPr>
        <p:spPr>
          <a:xfrm>
            <a:off x="555279" y="5432079"/>
            <a:ext cx="3275343" cy="193141"/>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014" b="1" dirty="0">
                <a:solidFill>
                  <a:srgbClr val="4267B2"/>
                </a:solidFill>
                <a:latin typeface="Quattrocento Sans" pitchFamily="34" charset="0"/>
                <a:ea typeface="Quattrocento Sans" pitchFamily="34" charset="-122"/>
                <a:cs typeface="Quattrocento Sans" pitchFamily="34" charset="-120"/>
              </a:rPr>
              <a:t>دعوة للعمل: </a:t>
            </a:r>
            <a:pPr xmlns:a="http://schemas.openxmlformats.org/drawingml/2006/main" algn="ctr">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بيان مجاني حول مرونة الدماغ</a:t>
            </a:r>
            <a:endParaRPr xmlns:a="http://schemas.openxmlformats.org/drawingml/2006/main" lang="en-US" sz="1600" dirty="0"/>
          </a:p>
        </p:txBody>
      </p:sp>
      <p:sp>
        <p:nvSpPr>
          <p:cNvPr id="26" name="Shape 24"/>
          <p:cNvSpPr/>
          <p:nvPr/>
        </p:nvSpPr>
        <p:spPr>
          <a:xfrm>
            <a:off x="4224007" y="1464650"/>
            <a:ext cx="3742099" cy="4426139"/>
          </a:xfrm>
          <a:custGeom>
            <a:avLst/>
            <a:gdLst/>
            <a:ahLst/>
            <a:cxnLst/>
            <a:rect l="l" t="t" r="r" b="b"/>
            <a:pathLst>
              <a:path w="3742099" h="4426139">
                <a:moveTo>
                  <a:pt x="32131" y="0"/>
                </a:moveTo>
                <a:lnTo>
                  <a:pt x="3709924" y="0"/>
                </a:lnTo>
                <a:cubicBezTo>
                  <a:pt x="3727669" y="0"/>
                  <a:pt x="3742055" y="14386"/>
                  <a:pt x="3742055" y="32131"/>
                </a:cubicBezTo>
                <a:lnTo>
                  <a:pt x="3742055" y="4329557"/>
                </a:lnTo>
                <a:cubicBezTo>
                  <a:pt x="3741985" y="4382835"/>
                  <a:pt x="3698813" y="4426007"/>
                  <a:pt x="3645535" y="4426077"/>
                </a:cubicBezTo>
                <a:lnTo>
                  <a:pt x="96647" y="4426077"/>
                </a:lnTo>
                <a:cubicBezTo>
                  <a:pt x="43320" y="4426077"/>
                  <a:pt x="70" y="4382884"/>
                  <a:pt x="0" y="4329557"/>
                </a:cubicBezTo>
                <a:lnTo>
                  <a:pt x="0" y="32131"/>
                </a:lnTo>
                <a:cubicBezTo>
                  <a:pt x="0" y="14397"/>
                  <a:pt x="14397" y="0"/>
                  <a:pt x="32131"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27" name="Shape 25"/>
          <p:cNvSpPr/>
          <p:nvPr/>
        </p:nvSpPr>
        <p:spPr>
          <a:xfrm>
            <a:off x="4224007" y="1464650"/>
            <a:ext cx="3742099" cy="32190"/>
          </a:xfrm>
          <a:custGeom>
            <a:avLst/>
            <a:gdLst/>
            <a:ahLst/>
            <a:cxnLst/>
            <a:rect l="l" t="t" r="r" b="b"/>
            <a:pathLst>
              <a:path w="3742099" h="32190">
                <a:moveTo>
                  <a:pt x="32131" y="0"/>
                </a:moveTo>
                <a:lnTo>
                  <a:pt x="3709924" y="0"/>
                </a:lnTo>
                <a:cubicBezTo>
                  <a:pt x="3727669" y="0"/>
                  <a:pt x="3742055" y="14386"/>
                  <a:pt x="3742055" y="32131"/>
                </a:cubicBezTo>
                <a:lnTo>
                  <a:pt x="3742055" y="32131"/>
                </a:lnTo>
                <a:lnTo>
                  <a:pt x="0" y="32131"/>
                </a:lnTo>
                <a:lnTo>
                  <a:pt x="0" y="32131"/>
                </a:lnTo>
                <a:cubicBezTo>
                  <a:pt x="0" y="14397"/>
                  <a:pt x="14397" y="0"/>
                  <a:pt x="32131" y="0"/>
                </a:cubicBezTo>
                <a:close/>
              </a:path>
            </a:pathLst>
          </a:custGeom>
          <a:solidFill>
            <a:srgbClr val="0077B5"/>
          </a:solidFill>
          <a:ln/>
        </p:spPr>
      </p:sp>
      <p:sp>
        <p:nvSpPr>
          <p:cNvPr id="28" name="Shape 26"/>
          <p:cNvSpPr/>
          <p:nvPr/>
        </p:nvSpPr>
        <p:spPr>
          <a:xfrm>
            <a:off x="4384958" y="1641695"/>
            <a:ext cx="450661" cy="450661"/>
          </a:xfrm>
          <a:prstGeom prst="roundRect">
            <a:avLst>
              <a:gd name="adj" fmla="val 50000"/>
            </a:avLst>
          </a:prstGeom>
          <a:solidFill>
            <a:srgbClr val="0077B5">
              <a:alpha val="20000"/>
            </a:srgbClr>
          </a:solidFill>
          <a:ln/>
        </p:spPr>
      </p:sp>
      <p:sp>
        <p:nvSpPr>
          <p:cNvPr id="29" name="Shape 27"/>
          <p:cNvSpPr/>
          <p:nvPr/>
        </p:nvSpPr>
        <p:spPr>
          <a:xfrm>
            <a:off x="4525790" y="1770455"/>
            <a:ext cx="168998" cy="193141"/>
          </a:xfrm>
          <a:custGeom>
            <a:avLst/>
            <a:gdLst/>
            <a:ahLst/>
            <a:cxnLst/>
            <a:rect l="l" t="t" r="r" b="b"/>
            <a:pathLst>
              <a:path w="168998" h="193141">
                <a:moveTo>
                  <a:pt x="156927" y="12071"/>
                </a:moveTo>
                <a:lnTo>
                  <a:pt x="12034" y="12071"/>
                </a:lnTo>
                <a:cubicBezTo>
                  <a:pt x="5394" y="12071"/>
                  <a:pt x="0" y="17541"/>
                  <a:pt x="0" y="24256"/>
                </a:cubicBezTo>
                <a:lnTo>
                  <a:pt x="0" y="168885"/>
                </a:lnTo>
                <a:cubicBezTo>
                  <a:pt x="0" y="175600"/>
                  <a:pt x="5394" y="181069"/>
                  <a:pt x="12034" y="181069"/>
                </a:cubicBezTo>
                <a:lnTo>
                  <a:pt x="156927" y="181069"/>
                </a:lnTo>
                <a:cubicBezTo>
                  <a:pt x="163566" y="181069"/>
                  <a:pt x="168998" y="175600"/>
                  <a:pt x="168998" y="168885"/>
                </a:cubicBezTo>
                <a:lnTo>
                  <a:pt x="168998" y="24256"/>
                </a:lnTo>
                <a:cubicBezTo>
                  <a:pt x="168998" y="17541"/>
                  <a:pt x="163566" y="12071"/>
                  <a:pt x="156927" y="12071"/>
                </a:cubicBezTo>
                <a:close/>
                <a:moveTo>
                  <a:pt x="51077" y="156927"/>
                </a:moveTo>
                <a:lnTo>
                  <a:pt x="26029" y="156927"/>
                </a:lnTo>
                <a:lnTo>
                  <a:pt x="26029" y="76275"/>
                </a:lnTo>
                <a:lnTo>
                  <a:pt x="51114" y="76275"/>
                </a:lnTo>
                <a:lnTo>
                  <a:pt x="51114" y="156927"/>
                </a:lnTo>
                <a:lnTo>
                  <a:pt x="51077" y="156927"/>
                </a:lnTo>
                <a:close/>
                <a:moveTo>
                  <a:pt x="38553" y="36214"/>
                </a:moveTo>
                <a:cubicBezTo>
                  <a:pt x="46568" y="36214"/>
                  <a:pt x="53076" y="42722"/>
                  <a:pt x="53076" y="50737"/>
                </a:cubicBezTo>
                <a:cubicBezTo>
                  <a:pt x="53076" y="58753"/>
                  <a:pt x="46568" y="65260"/>
                  <a:pt x="38553" y="65260"/>
                </a:cubicBezTo>
                <a:cubicBezTo>
                  <a:pt x="30537" y="65260"/>
                  <a:pt x="24029" y="58753"/>
                  <a:pt x="24029" y="50737"/>
                </a:cubicBezTo>
                <a:cubicBezTo>
                  <a:pt x="24029" y="42722"/>
                  <a:pt x="30537" y="36214"/>
                  <a:pt x="38553" y="36214"/>
                </a:cubicBezTo>
                <a:close/>
                <a:moveTo>
                  <a:pt x="144969" y="156927"/>
                </a:moveTo>
                <a:lnTo>
                  <a:pt x="119921" y="156927"/>
                </a:lnTo>
                <a:lnTo>
                  <a:pt x="119921" y="117695"/>
                </a:lnTo>
                <a:cubicBezTo>
                  <a:pt x="119921" y="108340"/>
                  <a:pt x="119732" y="96306"/>
                  <a:pt x="106906" y="96306"/>
                </a:cubicBezTo>
                <a:cubicBezTo>
                  <a:pt x="93854" y="96306"/>
                  <a:pt x="91855" y="106491"/>
                  <a:pt x="91855" y="117016"/>
                </a:cubicBezTo>
                <a:lnTo>
                  <a:pt x="91855" y="156927"/>
                </a:lnTo>
                <a:lnTo>
                  <a:pt x="66807" y="156927"/>
                </a:lnTo>
                <a:lnTo>
                  <a:pt x="66807" y="76275"/>
                </a:lnTo>
                <a:lnTo>
                  <a:pt x="90836" y="76275"/>
                </a:lnTo>
                <a:lnTo>
                  <a:pt x="90836" y="87290"/>
                </a:lnTo>
                <a:lnTo>
                  <a:pt x="91176" y="87290"/>
                </a:lnTo>
                <a:cubicBezTo>
                  <a:pt x="94533" y="80953"/>
                  <a:pt x="102719" y="74276"/>
                  <a:pt x="114904" y="74276"/>
                </a:cubicBezTo>
                <a:cubicBezTo>
                  <a:pt x="140253" y="74276"/>
                  <a:pt x="144969" y="90987"/>
                  <a:pt x="144969" y="112716"/>
                </a:cubicBezTo>
                <a:lnTo>
                  <a:pt x="144969" y="156927"/>
                </a:lnTo>
                <a:close/>
              </a:path>
            </a:pathLst>
          </a:custGeom>
          <a:solidFill>
            <a:srgbClr val="0077B5"/>
          </a:solidFill>
          <a:ln/>
        </p:spPr>
      </p:sp>
      <p:sp>
        <p:nvSpPr>
          <p:cNvPr id="30" name="Text 28"/>
          <p:cNvSpPr/>
          <p:nvPr/>
        </p:nvSpPr>
        <p:spPr>
          <a:xfrm>
            <a:off x="4932190" y="1673885"/>
            <a:ext cx="1295651" cy="22533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267" b="1" dirty="0">
                <a:solidFill>
                  <a:srgbClr val="E6F1FF"/>
                </a:solidFill>
                <a:latin typeface="Liter" pitchFamily="34" charset="0"/>
                <a:ea typeface="Liter" pitchFamily="34" charset="-122"/>
                <a:cs typeface="Liter" pitchFamily="34" charset="-120"/>
              </a:rPr>
              <a:t>لينكد إن</a:t>
            </a:r>
            <a:endParaRPr xmlns:a="http://schemas.openxmlformats.org/drawingml/2006/main" lang="en-US" sz="1600" dirty="0"/>
          </a:p>
        </p:txBody>
      </p:sp>
      <p:sp>
        <p:nvSpPr>
          <p:cNvPr id="31" name="Text 29"/>
          <p:cNvSpPr/>
          <p:nvPr/>
        </p:nvSpPr>
        <p:spPr>
          <a:xfrm>
            <a:off x="4932190" y="1899216"/>
            <a:ext cx="127150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dirty="0">
                <a:solidFill>
                  <a:srgbClr val="64FFDA"/>
                </a:solidFill>
                <a:latin typeface="Quattrocento Sans" pitchFamily="34" charset="0"/>
                <a:ea typeface="Quattrocento Sans" pitchFamily="34" charset="-122"/>
                <a:cs typeface="Quattrocento Sans" pitchFamily="34" charset="-120"/>
              </a:rPr>
              <a:t>اللعب عالي القيمة بين الشركات</a:t>
            </a:r>
            <a:endParaRPr xmlns:a="http://schemas.openxmlformats.org/drawingml/2006/main" lang="en-US" sz="1600" dirty="0"/>
          </a:p>
        </p:txBody>
      </p:sp>
      <p:sp>
        <p:nvSpPr>
          <p:cNvPr id="32" name="Shape 30"/>
          <p:cNvSpPr/>
          <p:nvPr/>
        </p:nvSpPr>
        <p:spPr>
          <a:xfrm>
            <a:off x="4384958" y="2221117"/>
            <a:ext cx="3420198" cy="804752"/>
          </a:xfrm>
          <a:prstGeom prst="roundRect">
            <a:avLst>
              <a:gd name="adj" fmla="val 8000"/>
            </a:avLst>
          </a:prstGeom>
          <a:solidFill>
            <a:srgbClr val="0A192F">
              <a:alpha val="40000"/>
            </a:srgbClr>
          </a:solidFill>
          <a:ln/>
        </p:spPr>
      </p:sp>
      <p:sp>
        <p:nvSpPr>
          <p:cNvPr id="33" name="Shape 31"/>
          <p:cNvSpPr/>
          <p:nvPr/>
        </p:nvSpPr>
        <p:spPr>
          <a:xfrm>
            <a:off x="4511706" y="2337806"/>
            <a:ext cx="84499" cy="112665"/>
          </a:xfrm>
          <a:custGeom>
            <a:avLst/>
            <a:gdLst/>
            <a:ahLst/>
            <a:cxnLst/>
            <a:rect l="l" t="t" r="r" b="b"/>
            <a:pathLst>
              <a:path w="84499" h="112665">
                <a:moveTo>
                  <a:pt x="14083" y="0"/>
                </a:moveTo>
                <a:cubicBezTo>
                  <a:pt x="6315" y="0"/>
                  <a:pt x="0" y="6315"/>
                  <a:pt x="0" y="14083"/>
                </a:cubicBezTo>
                <a:lnTo>
                  <a:pt x="0" y="98582"/>
                </a:lnTo>
                <a:cubicBezTo>
                  <a:pt x="0" y="106350"/>
                  <a:pt x="6315" y="112665"/>
                  <a:pt x="14083" y="112665"/>
                </a:cubicBezTo>
                <a:lnTo>
                  <a:pt x="70416" y="112665"/>
                </a:lnTo>
                <a:cubicBezTo>
                  <a:pt x="78184" y="112665"/>
                  <a:pt x="84499" y="106350"/>
                  <a:pt x="84499" y="98582"/>
                </a:cubicBezTo>
                <a:lnTo>
                  <a:pt x="84499" y="14083"/>
                </a:lnTo>
                <a:cubicBezTo>
                  <a:pt x="84499" y="6315"/>
                  <a:pt x="78184" y="0"/>
                  <a:pt x="70416" y="0"/>
                </a:cubicBezTo>
                <a:lnTo>
                  <a:pt x="14083" y="0"/>
                </a:lnTo>
                <a:close/>
                <a:moveTo>
                  <a:pt x="38729" y="77457"/>
                </a:moveTo>
                <a:lnTo>
                  <a:pt x="45770" y="77457"/>
                </a:lnTo>
                <a:cubicBezTo>
                  <a:pt x="49665" y="77457"/>
                  <a:pt x="52812" y="80604"/>
                  <a:pt x="52812" y="84499"/>
                </a:cubicBezTo>
                <a:lnTo>
                  <a:pt x="52812" y="102103"/>
                </a:lnTo>
                <a:lnTo>
                  <a:pt x="31687" y="102103"/>
                </a:lnTo>
                <a:lnTo>
                  <a:pt x="31687" y="84499"/>
                </a:lnTo>
                <a:cubicBezTo>
                  <a:pt x="31687" y="80604"/>
                  <a:pt x="34834" y="77457"/>
                  <a:pt x="38729" y="77457"/>
                </a:cubicBezTo>
                <a:close/>
                <a:moveTo>
                  <a:pt x="21125" y="24646"/>
                </a:moveTo>
                <a:cubicBezTo>
                  <a:pt x="21125" y="22709"/>
                  <a:pt x="22709" y="21125"/>
                  <a:pt x="24646" y="21125"/>
                </a:cubicBezTo>
                <a:lnTo>
                  <a:pt x="31687" y="21125"/>
                </a:lnTo>
                <a:cubicBezTo>
                  <a:pt x="33624" y="21125"/>
                  <a:pt x="35208" y="22709"/>
                  <a:pt x="35208" y="24646"/>
                </a:cubicBezTo>
                <a:lnTo>
                  <a:pt x="35208" y="31687"/>
                </a:lnTo>
                <a:cubicBezTo>
                  <a:pt x="35208" y="33624"/>
                  <a:pt x="33624" y="35208"/>
                  <a:pt x="31687" y="35208"/>
                </a:cubicBezTo>
                <a:lnTo>
                  <a:pt x="24646" y="35208"/>
                </a:lnTo>
                <a:cubicBezTo>
                  <a:pt x="22709" y="35208"/>
                  <a:pt x="21125" y="33624"/>
                  <a:pt x="21125" y="31687"/>
                </a:cubicBezTo>
                <a:lnTo>
                  <a:pt x="21125" y="24646"/>
                </a:lnTo>
                <a:close/>
                <a:moveTo>
                  <a:pt x="52812" y="21125"/>
                </a:moveTo>
                <a:lnTo>
                  <a:pt x="59853" y="21125"/>
                </a:lnTo>
                <a:cubicBezTo>
                  <a:pt x="61790" y="21125"/>
                  <a:pt x="63374" y="22709"/>
                  <a:pt x="63374" y="24646"/>
                </a:cubicBezTo>
                <a:lnTo>
                  <a:pt x="63374" y="31687"/>
                </a:lnTo>
                <a:cubicBezTo>
                  <a:pt x="63374" y="33624"/>
                  <a:pt x="61790" y="35208"/>
                  <a:pt x="59853" y="35208"/>
                </a:cubicBezTo>
                <a:lnTo>
                  <a:pt x="52812" y="35208"/>
                </a:lnTo>
                <a:cubicBezTo>
                  <a:pt x="50875" y="35208"/>
                  <a:pt x="49291" y="33624"/>
                  <a:pt x="49291" y="31687"/>
                </a:cubicBezTo>
                <a:lnTo>
                  <a:pt x="49291" y="24646"/>
                </a:lnTo>
                <a:cubicBezTo>
                  <a:pt x="49291" y="22709"/>
                  <a:pt x="50875" y="21125"/>
                  <a:pt x="52812" y="21125"/>
                </a:cubicBezTo>
                <a:close/>
                <a:moveTo>
                  <a:pt x="21125" y="52812"/>
                </a:moveTo>
                <a:cubicBezTo>
                  <a:pt x="21125" y="50875"/>
                  <a:pt x="22709" y="49291"/>
                  <a:pt x="24646" y="49291"/>
                </a:cubicBezTo>
                <a:lnTo>
                  <a:pt x="31687" y="49291"/>
                </a:lnTo>
                <a:cubicBezTo>
                  <a:pt x="33624" y="49291"/>
                  <a:pt x="35208" y="50875"/>
                  <a:pt x="35208" y="52812"/>
                </a:cubicBezTo>
                <a:lnTo>
                  <a:pt x="35208" y="59853"/>
                </a:lnTo>
                <a:cubicBezTo>
                  <a:pt x="35208" y="61790"/>
                  <a:pt x="33624" y="63374"/>
                  <a:pt x="31687" y="63374"/>
                </a:cubicBezTo>
                <a:lnTo>
                  <a:pt x="24646" y="63374"/>
                </a:lnTo>
                <a:cubicBezTo>
                  <a:pt x="22709" y="63374"/>
                  <a:pt x="21125" y="61790"/>
                  <a:pt x="21125" y="59853"/>
                </a:cubicBezTo>
                <a:lnTo>
                  <a:pt x="21125" y="52812"/>
                </a:lnTo>
                <a:close/>
                <a:moveTo>
                  <a:pt x="52812" y="49291"/>
                </a:moveTo>
                <a:lnTo>
                  <a:pt x="59853" y="49291"/>
                </a:lnTo>
                <a:cubicBezTo>
                  <a:pt x="61790" y="49291"/>
                  <a:pt x="63374" y="50875"/>
                  <a:pt x="63374" y="52812"/>
                </a:cubicBezTo>
                <a:lnTo>
                  <a:pt x="63374" y="59853"/>
                </a:lnTo>
                <a:cubicBezTo>
                  <a:pt x="63374" y="61790"/>
                  <a:pt x="61790" y="63374"/>
                  <a:pt x="59853" y="63374"/>
                </a:cubicBezTo>
                <a:lnTo>
                  <a:pt x="52812" y="63374"/>
                </a:lnTo>
                <a:cubicBezTo>
                  <a:pt x="50875" y="63374"/>
                  <a:pt x="49291" y="61790"/>
                  <a:pt x="49291" y="59853"/>
                </a:cubicBezTo>
                <a:lnTo>
                  <a:pt x="49291" y="52812"/>
                </a:lnTo>
                <a:cubicBezTo>
                  <a:pt x="49291" y="50875"/>
                  <a:pt x="50875" y="49291"/>
                  <a:pt x="52812" y="49291"/>
                </a:cubicBezTo>
                <a:close/>
              </a:path>
            </a:pathLst>
          </a:custGeom>
          <a:solidFill>
            <a:srgbClr val="0077B5"/>
          </a:solidFill>
          <a:ln/>
        </p:spPr>
      </p:sp>
      <p:sp>
        <p:nvSpPr>
          <p:cNvPr id="34" name="Text 32"/>
          <p:cNvSpPr/>
          <p:nvPr/>
        </p:nvSpPr>
        <p:spPr>
          <a:xfrm>
            <a:off x="4667179" y="2317687"/>
            <a:ext cx="309773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0077B5"/>
                </a:solidFill>
                <a:latin typeface="Quattrocento Sans" pitchFamily="34" charset="0"/>
                <a:ea typeface="Quattrocento Sans" pitchFamily="34" charset="-122"/>
                <a:cs typeface="Quattrocento Sans" pitchFamily="34" charset="-120"/>
              </a:rPr>
              <a:t>هدف</a:t>
            </a:r>
            <a:endParaRPr xmlns:a="http://schemas.openxmlformats.org/drawingml/2006/main" lang="en-US" sz="1600" dirty="0"/>
          </a:p>
        </p:txBody>
      </p:sp>
      <p:sp>
        <p:nvSpPr>
          <p:cNvPr id="35" name="Text 33"/>
          <p:cNvSpPr/>
          <p:nvPr/>
        </p:nvSpPr>
        <p:spPr>
          <a:xfrm>
            <a:off x="4481528" y="2543018"/>
            <a:ext cx="3291438" cy="38628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مديرو الموارد البشرية والرؤساء التنفيذيون في المراكز التجارية الرئيسية في الدار البيضاء/طنجة</a:t>
            </a:r>
            <a:endParaRPr xmlns:a="http://schemas.openxmlformats.org/drawingml/2006/main" lang="en-US" sz="1600" dirty="0"/>
          </a:p>
        </p:txBody>
      </p:sp>
      <p:sp>
        <p:nvSpPr>
          <p:cNvPr id="36" name="Shape 34"/>
          <p:cNvSpPr/>
          <p:nvPr/>
        </p:nvSpPr>
        <p:spPr>
          <a:xfrm>
            <a:off x="4384958" y="3122440"/>
            <a:ext cx="3420198" cy="804752"/>
          </a:xfrm>
          <a:prstGeom prst="roundRect">
            <a:avLst>
              <a:gd name="adj" fmla="val 8000"/>
            </a:avLst>
          </a:prstGeom>
          <a:solidFill>
            <a:srgbClr val="0A192F">
              <a:alpha val="40000"/>
            </a:srgbClr>
          </a:solidFill>
          <a:ln/>
        </p:spPr>
      </p:sp>
      <p:sp>
        <p:nvSpPr>
          <p:cNvPr id="37" name="Shape 35"/>
          <p:cNvSpPr/>
          <p:nvPr/>
        </p:nvSpPr>
        <p:spPr>
          <a:xfrm>
            <a:off x="4497623" y="3239129"/>
            <a:ext cx="112665" cy="112665"/>
          </a:xfrm>
          <a:custGeom>
            <a:avLst/>
            <a:gdLst/>
            <a:ahLst/>
            <a:cxnLst/>
            <a:rect l="l" t="t" r="r" b="b"/>
            <a:pathLst>
              <a:path w="112665" h="112665">
                <a:moveTo>
                  <a:pt x="44010" y="10562"/>
                </a:moveTo>
                <a:lnTo>
                  <a:pt x="68655" y="10562"/>
                </a:lnTo>
                <a:cubicBezTo>
                  <a:pt x="69624" y="10562"/>
                  <a:pt x="70416" y="11355"/>
                  <a:pt x="70416" y="12323"/>
                </a:cubicBezTo>
                <a:lnTo>
                  <a:pt x="70416" y="21125"/>
                </a:lnTo>
                <a:lnTo>
                  <a:pt x="42250" y="21125"/>
                </a:lnTo>
                <a:lnTo>
                  <a:pt x="42250" y="12323"/>
                </a:lnTo>
                <a:cubicBezTo>
                  <a:pt x="42250" y="11355"/>
                  <a:pt x="43042" y="10562"/>
                  <a:pt x="44010" y="10562"/>
                </a:cubicBezTo>
                <a:close/>
                <a:moveTo>
                  <a:pt x="31687" y="12323"/>
                </a:moveTo>
                <a:lnTo>
                  <a:pt x="31687" y="21125"/>
                </a:lnTo>
                <a:lnTo>
                  <a:pt x="14083" y="21125"/>
                </a:lnTo>
                <a:cubicBezTo>
                  <a:pt x="6315" y="21125"/>
                  <a:pt x="0" y="27440"/>
                  <a:pt x="0" y="35208"/>
                </a:cubicBezTo>
                <a:lnTo>
                  <a:pt x="0" y="56333"/>
                </a:lnTo>
                <a:lnTo>
                  <a:pt x="112665" y="56333"/>
                </a:lnTo>
                <a:lnTo>
                  <a:pt x="112665" y="35208"/>
                </a:lnTo>
                <a:cubicBezTo>
                  <a:pt x="112665" y="27440"/>
                  <a:pt x="106350" y="21125"/>
                  <a:pt x="98582" y="21125"/>
                </a:cubicBezTo>
                <a:lnTo>
                  <a:pt x="80978" y="21125"/>
                </a:lnTo>
                <a:lnTo>
                  <a:pt x="80978" y="12323"/>
                </a:lnTo>
                <a:cubicBezTo>
                  <a:pt x="80978" y="5523"/>
                  <a:pt x="75455" y="0"/>
                  <a:pt x="68655" y="0"/>
                </a:cubicBezTo>
                <a:lnTo>
                  <a:pt x="44010" y="0"/>
                </a:lnTo>
                <a:cubicBezTo>
                  <a:pt x="37210" y="0"/>
                  <a:pt x="31687" y="5523"/>
                  <a:pt x="31687" y="12323"/>
                </a:cubicBezTo>
                <a:close/>
                <a:moveTo>
                  <a:pt x="112665" y="66895"/>
                </a:moveTo>
                <a:lnTo>
                  <a:pt x="70416" y="66895"/>
                </a:lnTo>
                <a:lnTo>
                  <a:pt x="70416" y="70416"/>
                </a:lnTo>
                <a:cubicBezTo>
                  <a:pt x="70416" y="74311"/>
                  <a:pt x="67269" y="77457"/>
                  <a:pt x="63374" y="77457"/>
                </a:cubicBezTo>
                <a:lnTo>
                  <a:pt x="49291" y="77457"/>
                </a:lnTo>
                <a:cubicBezTo>
                  <a:pt x="45396" y="77457"/>
                  <a:pt x="42250" y="74311"/>
                  <a:pt x="42250" y="70416"/>
                </a:cubicBezTo>
                <a:lnTo>
                  <a:pt x="42250" y="66895"/>
                </a:lnTo>
                <a:lnTo>
                  <a:pt x="0" y="66895"/>
                </a:lnTo>
                <a:lnTo>
                  <a:pt x="0" y="91541"/>
                </a:lnTo>
                <a:cubicBezTo>
                  <a:pt x="0" y="99308"/>
                  <a:pt x="6315" y="105624"/>
                  <a:pt x="14083" y="105624"/>
                </a:cubicBezTo>
                <a:lnTo>
                  <a:pt x="98582" y="105624"/>
                </a:lnTo>
                <a:cubicBezTo>
                  <a:pt x="106350" y="105624"/>
                  <a:pt x="112665" y="99308"/>
                  <a:pt x="112665" y="91541"/>
                </a:cubicBezTo>
                <a:lnTo>
                  <a:pt x="112665" y="66895"/>
                </a:lnTo>
                <a:close/>
              </a:path>
            </a:pathLst>
          </a:custGeom>
          <a:solidFill>
            <a:srgbClr val="0077B5"/>
          </a:solidFill>
          <a:ln/>
        </p:spPr>
      </p:sp>
      <p:sp>
        <p:nvSpPr>
          <p:cNvPr id="38" name="Text 36"/>
          <p:cNvSpPr/>
          <p:nvPr/>
        </p:nvSpPr>
        <p:spPr>
          <a:xfrm>
            <a:off x="4667179" y="3219010"/>
            <a:ext cx="309773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0077B5"/>
                </a:solidFill>
                <a:latin typeface="Quattrocento Sans" pitchFamily="34" charset="0"/>
                <a:ea typeface="Quattrocento Sans" pitchFamily="34" charset="-122"/>
                <a:cs typeface="Quattrocento Sans" pitchFamily="34" charset="-120"/>
              </a:rPr>
              <a:t>تحديد الموقع</a:t>
            </a:r>
            <a:endParaRPr xmlns:a="http://schemas.openxmlformats.org/drawingml/2006/main" lang="en-US" sz="1600" dirty="0"/>
          </a:p>
        </p:txBody>
      </p:sp>
      <p:sp>
        <p:nvSpPr>
          <p:cNvPr id="39" name="Text 37"/>
          <p:cNvSpPr/>
          <p:nvPr/>
        </p:nvSpPr>
        <p:spPr>
          <a:xfrm>
            <a:off x="4481528" y="3444341"/>
            <a:ext cx="3291438" cy="38628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b="1" dirty="0">
                <a:solidFill>
                  <a:srgbClr val="E6F1FF"/>
                </a:solidFill>
                <a:latin typeface="Quattrocento Sans" pitchFamily="34" charset="0"/>
                <a:ea typeface="Quattrocento Sans" pitchFamily="34" charset="-122"/>
                <a:cs typeface="Quattrocento Sans" pitchFamily="34" charset="-120"/>
              </a:rPr>
              <a:t>"مرونة الدماغ التنفيذية" </a:t>
            </a:r>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للوقاية من الإرهاق وتحقيق أعلى مستويات الأداء</a:t>
            </a:r>
            <a:endParaRPr xmlns:a="http://schemas.openxmlformats.org/drawingml/2006/main" lang="en-US" sz="1600" dirty="0"/>
          </a:p>
        </p:txBody>
      </p:sp>
      <p:sp>
        <p:nvSpPr>
          <p:cNvPr id="40" name="Shape 38"/>
          <p:cNvSpPr/>
          <p:nvPr/>
        </p:nvSpPr>
        <p:spPr>
          <a:xfrm>
            <a:off x="4388982" y="4027786"/>
            <a:ext cx="3412150" cy="1199081"/>
          </a:xfrm>
          <a:prstGeom prst="roundRect">
            <a:avLst>
              <a:gd name="adj" fmla="val 5369"/>
            </a:avLst>
          </a:prstGeom>
          <a:solidFill>
            <a:srgbClr val="0A192F">
              <a:alpha val="40000"/>
            </a:srgbClr>
          </a:solidFill>
          <a:ln w="12700">
            <a:solidFill>
              <a:srgbClr val="D4AF37">
                <a:alpha val="30196"/>
              </a:srgbClr>
            </a:solidFill>
            <a:prstDash val="solid"/>
          </a:ln>
        </p:spPr>
      </p:sp>
      <p:sp>
        <p:nvSpPr>
          <p:cNvPr id="41" name="Shape 39"/>
          <p:cNvSpPr/>
          <p:nvPr/>
        </p:nvSpPr>
        <p:spPr>
          <a:xfrm>
            <a:off x="4505671" y="4148499"/>
            <a:ext cx="112665" cy="112665"/>
          </a:xfrm>
          <a:custGeom>
            <a:avLst/>
            <a:gdLst/>
            <a:ahLst/>
            <a:cxnLst/>
            <a:rect l="l" t="t" r="r" b="b"/>
            <a:pathLst>
              <a:path w="112665" h="112665">
                <a:moveTo>
                  <a:pt x="10562" y="14083"/>
                </a:moveTo>
                <a:cubicBezTo>
                  <a:pt x="4731" y="14083"/>
                  <a:pt x="0" y="18814"/>
                  <a:pt x="0" y="24646"/>
                </a:cubicBezTo>
                <a:cubicBezTo>
                  <a:pt x="0" y="27968"/>
                  <a:pt x="1562" y="31093"/>
                  <a:pt x="4225" y="33095"/>
                </a:cubicBezTo>
                <a:lnTo>
                  <a:pt x="49995" y="67423"/>
                </a:lnTo>
                <a:cubicBezTo>
                  <a:pt x="53758" y="70240"/>
                  <a:pt x="58907" y="70240"/>
                  <a:pt x="62670" y="67423"/>
                </a:cubicBezTo>
                <a:lnTo>
                  <a:pt x="108440" y="33095"/>
                </a:lnTo>
                <a:cubicBezTo>
                  <a:pt x="111103" y="31093"/>
                  <a:pt x="112665" y="27968"/>
                  <a:pt x="112665" y="24646"/>
                </a:cubicBezTo>
                <a:cubicBezTo>
                  <a:pt x="112665" y="18814"/>
                  <a:pt x="107934" y="14083"/>
                  <a:pt x="102103" y="14083"/>
                </a:cubicBezTo>
                <a:lnTo>
                  <a:pt x="10562" y="14083"/>
                </a:lnTo>
                <a:close/>
                <a:moveTo>
                  <a:pt x="0" y="43130"/>
                </a:moveTo>
                <a:lnTo>
                  <a:pt x="0" y="84499"/>
                </a:lnTo>
                <a:cubicBezTo>
                  <a:pt x="0" y="92267"/>
                  <a:pt x="6315" y="98582"/>
                  <a:pt x="14083" y="98582"/>
                </a:cubicBezTo>
                <a:lnTo>
                  <a:pt x="98582" y="98582"/>
                </a:lnTo>
                <a:cubicBezTo>
                  <a:pt x="106350" y="98582"/>
                  <a:pt x="112665" y="92267"/>
                  <a:pt x="112665" y="84499"/>
                </a:cubicBezTo>
                <a:lnTo>
                  <a:pt x="112665" y="43130"/>
                </a:lnTo>
                <a:lnTo>
                  <a:pt x="69008" y="75873"/>
                </a:lnTo>
                <a:cubicBezTo>
                  <a:pt x="61504" y="81506"/>
                  <a:pt x="51162" y="81506"/>
                  <a:pt x="43658" y="75873"/>
                </a:cubicBezTo>
                <a:lnTo>
                  <a:pt x="0" y="43130"/>
                </a:lnTo>
                <a:close/>
              </a:path>
            </a:pathLst>
          </a:custGeom>
          <a:solidFill>
            <a:srgbClr val="D4AF37"/>
          </a:solidFill>
          <a:ln/>
        </p:spPr>
      </p:sp>
      <p:sp>
        <p:nvSpPr>
          <p:cNvPr id="42" name="Text 40"/>
          <p:cNvSpPr/>
          <p:nvPr/>
        </p:nvSpPr>
        <p:spPr>
          <a:xfrm>
            <a:off x="4675227" y="4128380"/>
            <a:ext cx="3081644"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D4AF37"/>
                </a:solidFill>
                <a:latin typeface="Quattrocento Sans" pitchFamily="34" charset="0"/>
                <a:ea typeface="Quattrocento Sans" pitchFamily="34" charset="-122"/>
                <a:cs typeface="Quattrocento Sans" pitchFamily="34" charset="-120"/>
              </a:rPr>
              <a:t>نص التواصل</a:t>
            </a:r>
            <a:endParaRPr xmlns:a="http://schemas.openxmlformats.org/drawingml/2006/main" lang="en-US" sz="1600" dirty="0"/>
          </a:p>
        </p:txBody>
      </p:sp>
      <p:sp>
        <p:nvSpPr>
          <p:cNvPr id="43" name="Text 41"/>
          <p:cNvSpPr/>
          <p:nvPr/>
        </p:nvSpPr>
        <p:spPr>
          <a:xfrm>
            <a:off x="4489576" y="4353711"/>
            <a:ext cx="3275343" cy="772562"/>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مرحباً [الاسم]، لاحظتُ أن [الشركة] تشهد نمواً سريعاً. لقد كنا نساعد المديرين التنفيذيين المغاربة على الحفاظ على أعلى مستويات التركيز باستخدام تقنية تخطيط الدماغ الكمي (qEEG) القابلة للقياس. هل أنتم مستعدون لتقديم موجز حول مشروع تجريبي بعنوان "إطالة عمر المديرين التنفيذيين"؟</a:t>
            </a:r>
            <a:endParaRPr xmlns:a="http://schemas.openxmlformats.org/drawingml/2006/main" lang="en-US" sz="1600" dirty="0"/>
          </a:p>
        </p:txBody>
      </p:sp>
      <p:sp>
        <p:nvSpPr>
          <p:cNvPr id="44" name="Shape 42"/>
          <p:cNvSpPr/>
          <p:nvPr/>
        </p:nvSpPr>
        <p:spPr>
          <a:xfrm>
            <a:off x="4388982" y="5331485"/>
            <a:ext cx="3412150" cy="394329"/>
          </a:xfrm>
          <a:prstGeom prst="roundRect">
            <a:avLst>
              <a:gd name="adj" fmla="val 16327"/>
            </a:avLst>
          </a:prstGeom>
          <a:solidFill>
            <a:srgbClr val="0077B5">
              <a:alpha val="10196"/>
            </a:srgbClr>
          </a:solidFill>
          <a:ln w="12700">
            <a:solidFill>
              <a:srgbClr val="0077B5">
                <a:alpha val="30196"/>
              </a:srgbClr>
            </a:solidFill>
            <a:prstDash val="solid"/>
          </a:ln>
        </p:spPr>
      </p:sp>
      <p:sp>
        <p:nvSpPr>
          <p:cNvPr id="45" name="Text 43"/>
          <p:cNvSpPr/>
          <p:nvPr/>
        </p:nvSpPr>
        <p:spPr>
          <a:xfrm>
            <a:off x="4457386" y="5432079"/>
            <a:ext cx="3275343" cy="193141"/>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014" b="1" dirty="0">
                <a:solidFill>
                  <a:srgbClr val="0077B5"/>
                </a:solidFill>
                <a:latin typeface="Quattrocento Sans" pitchFamily="34" charset="0"/>
                <a:ea typeface="Quattrocento Sans" pitchFamily="34" charset="-122"/>
                <a:cs typeface="Quattrocento Sans" pitchFamily="34" charset="-120"/>
              </a:rPr>
              <a:t>باقة: </a:t>
            </a:r>
            <a:pPr xmlns:a="http://schemas.openxmlformats.org/drawingml/2006/main" algn="ctr">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عقود استشارية للشركات</a:t>
            </a:r>
            <a:endParaRPr xmlns:a="http://schemas.openxmlformats.org/drawingml/2006/main" lang="en-US" sz="1600" dirty="0"/>
          </a:p>
        </p:txBody>
      </p:sp>
      <p:sp>
        <p:nvSpPr>
          <p:cNvPr id="46" name="Shape 44"/>
          <p:cNvSpPr/>
          <p:nvPr/>
        </p:nvSpPr>
        <p:spPr>
          <a:xfrm>
            <a:off x="8126177" y="1464650"/>
            <a:ext cx="3742099" cy="4426139"/>
          </a:xfrm>
          <a:custGeom>
            <a:avLst/>
            <a:gdLst/>
            <a:ahLst/>
            <a:cxnLst/>
            <a:rect l="l" t="t" r="r" b="b"/>
            <a:pathLst>
              <a:path w="3742099" h="4426139">
                <a:moveTo>
                  <a:pt x="32131" y="0"/>
                </a:moveTo>
                <a:lnTo>
                  <a:pt x="3709924" y="0"/>
                </a:lnTo>
                <a:cubicBezTo>
                  <a:pt x="3727669" y="0"/>
                  <a:pt x="3742055" y="14386"/>
                  <a:pt x="3742055" y="32131"/>
                </a:cubicBezTo>
                <a:lnTo>
                  <a:pt x="3742055" y="4329557"/>
                </a:lnTo>
                <a:cubicBezTo>
                  <a:pt x="3741985" y="4382835"/>
                  <a:pt x="3698813" y="4426007"/>
                  <a:pt x="3645535" y="4426077"/>
                </a:cubicBezTo>
                <a:lnTo>
                  <a:pt x="96647" y="4426077"/>
                </a:lnTo>
                <a:cubicBezTo>
                  <a:pt x="43320" y="4426077"/>
                  <a:pt x="70" y="4382884"/>
                  <a:pt x="0" y="4329557"/>
                </a:cubicBezTo>
                <a:lnTo>
                  <a:pt x="0" y="32131"/>
                </a:lnTo>
                <a:cubicBezTo>
                  <a:pt x="0" y="14397"/>
                  <a:pt x="14397" y="0"/>
                  <a:pt x="32131"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47" name="Shape 45"/>
          <p:cNvSpPr/>
          <p:nvPr/>
        </p:nvSpPr>
        <p:spPr>
          <a:xfrm>
            <a:off x="8126177" y="1464650"/>
            <a:ext cx="3742099" cy="32190"/>
          </a:xfrm>
          <a:custGeom>
            <a:avLst/>
            <a:gdLst/>
            <a:ahLst/>
            <a:cxnLst/>
            <a:rect l="l" t="t" r="r" b="b"/>
            <a:pathLst>
              <a:path w="3742099" h="32190">
                <a:moveTo>
                  <a:pt x="32131" y="0"/>
                </a:moveTo>
                <a:lnTo>
                  <a:pt x="3709924" y="0"/>
                </a:lnTo>
                <a:cubicBezTo>
                  <a:pt x="3727669" y="0"/>
                  <a:pt x="3742055" y="14386"/>
                  <a:pt x="3742055" y="32131"/>
                </a:cubicBezTo>
                <a:lnTo>
                  <a:pt x="3742055" y="32131"/>
                </a:lnTo>
                <a:lnTo>
                  <a:pt x="0" y="32131"/>
                </a:lnTo>
                <a:lnTo>
                  <a:pt x="0" y="32131"/>
                </a:lnTo>
                <a:cubicBezTo>
                  <a:pt x="0" y="14397"/>
                  <a:pt x="14397" y="0"/>
                  <a:pt x="32131" y="0"/>
                </a:cubicBezTo>
                <a:close/>
              </a:path>
            </a:pathLst>
          </a:custGeom>
          <a:solidFill>
            <a:srgbClr val="EA4335"/>
          </a:solidFill>
          <a:ln/>
        </p:spPr>
      </p:sp>
      <p:sp>
        <p:nvSpPr>
          <p:cNvPr id="48" name="Shape 46"/>
          <p:cNvSpPr/>
          <p:nvPr/>
        </p:nvSpPr>
        <p:spPr>
          <a:xfrm>
            <a:off x="8287127" y="1641695"/>
            <a:ext cx="450661" cy="450661"/>
          </a:xfrm>
          <a:prstGeom prst="roundRect">
            <a:avLst>
              <a:gd name="adj" fmla="val 50000"/>
            </a:avLst>
          </a:prstGeom>
          <a:solidFill>
            <a:srgbClr val="EA4335">
              <a:alpha val="20000"/>
            </a:srgbClr>
          </a:solidFill>
          <a:ln/>
        </p:spPr>
      </p:sp>
      <p:sp>
        <p:nvSpPr>
          <p:cNvPr id="49" name="Shape 47"/>
          <p:cNvSpPr/>
          <p:nvPr/>
        </p:nvSpPr>
        <p:spPr>
          <a:xfrm>
            <a:off x="8415888" y="1770455"/>
            <a:ext cx="193141" cy="193141"/>
          </a:xfrm>
          <a:custGeom>
            <a:avLst/>
            <a:gdLst/>
            <a:ahLst/>
            <a:cxnLst/>
            <a:rect l="l" t="t" r="r" b="b"/>
            <a:pathLst>
              <a:path w="193141" h="193141">
                <a:moveTo>
                  <a:pt x="188614" y="98758"/>
                </a:moveTo>
                <a:cubicBezTo>
                  <a:pt x="188614" y="152136"/>
                  <a:pt x="152060" y="190123"/>
                  <a:pt x="98079" y="190123"/>
                </a:cubicBezTo>
                <a:cubicBezTo>
                  <a:pt x="46324" y="190123"/>
                  <a:pt x="4527" y="148326"/>
                  <a:pt x="4527" y="96570"/>
                </a:cubicBezTo>
                <a:cubicBezTo>
                  <a:pt x="4527" y="44815"/>
                  <a:pt x="46324" y="3018"/>
                  <a:pt x="98079" y="3018"/>
                </a:cubicBezTo>
                <a:cubicBezTo>
                  <a:pt x="123278" y="3018"/>
                  <a:pt x="144478" y="12260"/>
                  <a:pt x="160812" y="27500"/>
                </a:cubicBezTo>
                <a:lnTo>
                  <a:pt x="135349" y="51982"/>
                </a:lnTo>
                <a:cubicBezTo>
                  <a:pt x="102040" y="19842"/>
                  <a:pt x="40099" y="43985"/>
                  <a:pt x="40099" y="96570"/>
                </a:cubicBezTo>
                <a:cubicBezTo>
                  <a:pt x="40099" y="129200"/>
                  <a:pt x="66166" y="155644"/>
                  <a:pt x="98079" y="155644"/>
                </a:cubicBezTo>
                <a:cubicBezTo>
                  <a:pt x="135123" y="155644"/>
                  <a:pt x="149005" y="129087"/>
                  <a:pt x="151193" y="115319"/>
                </a:cubicBezTo>
                <a:lnTo>
                  <a:pt x="98079" y="115319"/>
                </a:lnTo>
                <a:lnTo>
                  <a:pt x="98079" y="83141"/>
                </a:lnTo>
                <a:lnTo>
                  <a:pt x="187143" y="83141"/>
                </a:lnTo>
                <a:cubicBezTo>
                  <a:pt x="188010" y="87932"/>
                  <a:pt x="188614" y="92534"/>
                  <a:pt x="188614" y="98758"/>
                </a:cubicBezTo>
                <a:close/>
              </a:path>
            </a:pathLst>
          </a:custGeom>
          <a:solidFill>
            <a:srgbClr val="EA4335"/>
          </a:solidFill>
          <a:ln/>
        </p:spPr>
      </p:sp>
      <p:sp>
        <p:nvSpPr>
          <p:cNvPr id="50" name="Text 48"/>
          <p:cNvSpPr/>
          <p:nvPr/>
        </p:nvSpPr>
        <p:spPr>
          <a:xfrm>
            <a:off x="8834359" y="1673885"/>
            <a:ext cx="1118606" cy="22533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267" b="1" dirty="0">
                <a:solidFill>
                  <a:srgbClr val="E6F1FF"/>
                </a:solidFill>
                <a:latin typeface="Liter" pitchFamily="34" charset="0"/>
                <a:ea typeface="Liter" pitchFamily="34" charset="-122"/>
                <a:cs typeface="Liter" pitchFamily="34" charset="-120"/>
              </a:rPr>
              <a:t>بحث جوجل</a:t>
            </a:r>
            <a:endParaRPr xmlns:a="http://schemas.openxmlformats.org/drawingml/2006/main" lang="en-US" sz="1600" dirty="0"/>
          </a:p>
        </p:txBody>
      </p:sp>
      <p:sp>
        <p:nvSpPr>
          <p:cNvPr id="51" name="Text 49"/>
          <p:cNvSpPr/>
          <p:nvPr/>
        </p:nvSpPr>
        <p:spPr>
          <a:xfrm>
            <a:off x="8834359" y="1899216"/>
            <a:ext cx="1094463"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dirty="0">
                <a:solidFill>
                  <a:srgbClr val="64FFDA"/>
                </a:solidFill>
                <a:latin typeface="Quattrocento Sans" pitchFamily="34" charset="0"/>
                <a:ea typeface="Quattrocento Sans" pitchFamily="34" charset="-122"/>
                <a:cs typeface="Quattrocento Sans" pitchFamily="34" charset="-120"/>
              </a:rPr>
              <a:t>نية "بالقرب مني"</a:t>
            </a:r>
            <a:endParaRPr xmlns:a="http://schemas.openxmlformats.org/drawingml/2006/main" lang="en-US" sz="1600" dirty="0"/>
          </a:p>
        </p:txBody>
      </p:sp>
      <p:sp>
        <p:nvSpPr>
          <p:cNvPr id="52" name="Shape 50"/>
          <p:cNvSpPr/>
          <p:nvPr/>
        </p:nvSpPr>
        <p:spPr>
          <a:xfrm>
            <a:off x="8287127" y="2221117"/>
            <a:ext cx="3420198" cy="804752"/>
          </a:xfrm>
          <a:prstGeom prst="roundRect">
            <a:avLst>
              <a:gd name="adj" fmla="val 8000"/>
            </a:avLst>
          </a:prstGeom>
          <a:solidFill>
            <a:srgbClr val="0A192F">
              <a:alpha val="40000"/>
            </a:srgbClr>
          </a:solidFill>
          <a:ln/>
        </p:spPr>
      </p:sp>
      <p:sp>
        <p:nvSpPr>
          <p:cNvPr id="53" name="Shape 51"/>
          <p:cNvSpPr/>
          <p:nvPr/>
        </p:nvSpPr>
        <p:spPr>
          <a:xfrm>
            <a:off x="8399793" y="2337806"/>
            <a:ext cx="112665" cy="112665"/>
          </a:xfrm>
          <a:custGeom>
            <a:avLst/>
            <a:gdLst/>
            <a:ahLst/>
            <a:cxnLst/>
            <a:rect l="l" t="t" r="r" b="b"/>
            <a:pathLst>
              <a:path w="112665" h="112665">
                <a:moveTo>
                  <a:pt x="91541" y="45770"/>
                </a:moveTo>
                <a:cubicBezTo>
                  <a:pt x="91541" y="55871"/>
                  <a:pt x="88262" y="65201"/>
                  <a:pt x="82739" y="72770"/>
                </a:cubicBezTo>
                <a:lnTo>
                  <a:pt x="110597" y="100651"/>
                </a:lnTo>
                <a:cubicBezTo>
                  <a:pt x="113348" y="103401"/>
                  <a:pt x="113348" y="107868"/>
                  <a:pt x="110597" y="110619"/>
                </a:cubicBezTo>
                <a:cubicBezTo>
                  <a:pt x="107846" y="113370"/>
                  <a:pt x="103379" y="113370"/>
                  <a:pt x="100629" y="110619"/>
                </a:cubicBezTo>
                <a:lnTo>
                  <a:pt x="72770" y="82739"/>
                </a:lnTo>
                <a:cubicBezTo>
                  <a:pt x="65201" y="88262"/>
                  <a:pt x="55871" y="91541"/>
                  <a:pt x="45770" y="91541"/>
                </a:cubicBezTo>
                <a:cubicBezTo>
                  <a:pt x="20487" y="91541"/>
                  <a:pt x="0" y="71054"/>
                  <a:pt x="0" y="45770"/>
                </a:cubicBezTo>
                <a:cubicBezTo>
                  <a:pt x="0" y="20487"/>
                  <a:pt x="20487" y="0"/>
                  <a:pt x="45770" y="0"/>
                </a:cubicBezTo>
                <a:cubicBezTo>
                  <a:pt x="71054" y="0"/>
                  <a:pt x="91541" y="20487"/>
                  <a:pt x="91541" y="45770"/>
                </a:cubicBezTo>
                <a:close/>
                <a:moveTo>
                  <a:pt x="45770" y="77457"/>
                </a:moveTo>
                <a:cubicBezTo>
                  <a:pt x="63259" y="77457"/>
                  <a:pt x="77457" y="63259"/>
                  <a:pt x="77457" y="45770"/>
                </a:cubicBezTo>
                <a:cubicBezTo>
                  <a:pt x="77457" y="28282"/>
                  <a:pt x="63259" y="14083"/>
                  <a:pt x="45770" y="14083"/>
                </a:cubicBezTo>
                <a:cubicBezTo>
                  <a:pt x="28282" y="14083"/>
                  <a:pt x="14083" y="28282"/>
                  <a:pt x="14083" y="45770"/>
                </a:cubicBezTo>
                <a:cubicBezTo>
                  <a:pt x="14083" y="63259"/>
                  <a:pt x="28282" y="77457"/>
                  <a:pt x="45770" y="77457"/>
                </a:cubicBezTo>
                <a:close/>
              </a:path>
            </a:pathLst>
          </a:custGeom>
          <a:solidFill>
            <a:srgbClr val="EA4335"/>
          </a:solidFill>
          <a:ln/>
        </p:spPr>
      </p:sp>
      <p:sp>
        <p:nvSpPr>
          <p:cNvPr id="54" name="Text 52"/>
          <p:cNvSpPr/>
          <p:nvPr/>
        </p:nvSpPr>
        <p:spPr>
          <a:xfrm>
            <a:off x="8569348" y="2317687"/>
            <a:ext cx="309773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EA4335"/>
                </a:solidFill>
                <a:latin typeface="Quattrocento Sans" pitchFamily="34" charset="0"/>
                <a:ea typeface="Quattrocento Sans" pitchFamily="34" charset="-122"/>
                <a:cs typeface="Quattrocento Sans" pitchFamily="34" charset="-120"/>
              </a:rPr>
              <a:t>الكلمات المفتاحية المستهدفة</a:t>
            </a:r>
            <a:endParaRPr xmlns:a="http://schemas.openxmlformats.org/drawingml/2006/main" lang="en-US" sz="1600" dirty="0"/>
          </a:p>
        </p:txBody>
      </p:sp>
      <p:sp>
        <p:nvSpPr>
          <p:cNvPr id="55" name="Text 53"/>
          <p:cNvSpPr/>
          <p:nvPr/>
        </p:nvSpPr>
        <p:spPr>
          <a:xfrm>
            <a:off x="8383698" y="2543018"/>
            <a:ext cx="3291438" cy="38628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"العلاج بالارتجاع العصبي في الدار البيضاء"، "مركز علاج اضطراب نقص الانتباه مع فرط النشاط في مراكش"، "كيفية تحسين التركيز بدون أدوية"</a:t>
            </a:r>
            <a:endParaRPr xmlns:a="http://schemas.openxmlformats.org/drawingml/2006/main" lang="en-US" sz="1600" dirty="0"/>
          </a:p>
        </p:txBody>
      </p:sp>
      <p:sp>
        <p:nvSpPr>
          <p:cNvPr id="56" name="Shape 54"/>
          <p:cNvSpPr/>
          <p:nvPr/>
        </p:nvSpPr>
        <p:spPr>
          <a:xfrm>
            <a:off x="8287127" y="3122440"/>
            <a:ext cx="3420198" cy="804752"/>
          </a:xfrm>
          <a:prstGeom prst="roundRect">
            <a:avLst>
              <a:gd name="adj" fmla="val 8000"/>
            </a:avLst>
          </a:prstGeom>
          <a:solidFill>
            <a:srgbClr val="0A192F">
              <a:alpha val="40000"/>
            </a:srgbClr>
          </a:solidFill>
          <a:ln/>
        </p:spPr>
      </p:sp>
      <p:sp>
        <p:nvSpPr>
          <p:cNvPr id="57" name="Shape 55"/>
          <p:cNvSpPr/>
          <p:nvPr/>
        </p:nvSpPr>
        <p:spPr>
          <a:xfrm>
            <a:off x="8399793" y="3239129"/>
            <a:ext cx="112665" cy="112665"/>
          </a:xfrm>
          <a:custGeom>
            <a:avLst/>
            <a:gdLst/>
            <a:ahLst/>
            <a:cxnLst/>
            <a:rect l="l" t="t" r="r" b="b"/>
            <a:pathLst>
              <a:path w="112665" h="112665">
                <a:moveTo>
                  <a:pt x="7042" y="14083"/>
                </a:moveTo>
                <a:cubicBezTo>
                  <a:pt x="3147" y="14083"/>
                  <a:pt x="0" y="17230"/>
                  <a:pt x="0" y="21125"/>
                </a:cubicBezTo>
                <a:cubicBezTo>
                  <a:pt x="0" y="25020"/>
                  <a:pt x="3147" y="28166"/>
                  <a:pt x="7042" y="28166"/>
                </a:cubicBezTo>
                <a:lnTo>
                  <a:pt x="26120" y="28166"/>
                </a:lnTo>
                <a:cubicBezTo>
                  <a:pt x="28826" y="34394"/>
                  <a:pt x="35032" y="38729"/>
                  <a:pt x="42250" y="38729"/>
                </a:cubicBezTo>
                <a:cubicBezTo>
                  <a:pt x="49467" y="38729"/>
                  <a:pt x="55673" y="34394"/>
                  <a:pt x="58379" y="28166"/>
                </a:cubicBezTo>
                <a:lnTo>
                  <a:pt x="105624" y="28166"/>
                </a:lnTo>
                <a:cubicBezTo>
                  <a:pt x="109519" y="28166"/>
                  <a:pt x="112665" y="25020"/>
                  <a:pt x="112665" y="21125"/>
                </a:cubicBezTo>
                <a:cubicBezTo>
                  <a:pt x="112665" y="17230"/>
                  <a:pt x="109519" y="14083"/>
                  <a:pt x="105624" y="14083"/>
                </a:cubicBezTo>
                <a:lnTo>
                  <a:pt x="58379" y="14083"/>
                </a:lnTo>
                <a:cubicBezTo>
                  <a:pt x="55673" y="7856"/>
                  <a:pt x="49467" y="3521"/>
                  <a:pt x="42250" y="3521"/>
                </a:cubicBezTo>
                <a:cubicBezTo>
                  <a:pt x="35032" y="3521"/>
                  <a:pt x="28826" y="7856"/>
                  <a:pt x="26120" y="14083"/>
                </a:cubicBezTo>
                <a:lnTo>
                  <a:pt x="7042" y="14083"/>
                </a:lnTo>
                <a:close/>
                <a:moveTo>
                  <a:pt x="7042" y="49291"/>
                </a:moveTo>
                <a:cubicBezTo>
                  <a:pt x="3147" y="49291"/>
                  <a:pt x="0" y="52438"/>
                  <a:pt x="0" y="56333"/>
                </a:cubicBezTo>
                <a:cubicBezTo>
                  <a:pt x="0" y="60228"/>
                  <a:pt x="3147" y="63374"/>
                  <a:pt x="7042" y="63374"/>
                </a:cubicBezTo>
                <a:lnTo>
                  <a:pt x="61328" y="63374"/>
                </a:lnTo>
                <a:cubicBezTo>
                  <a:pt x="64034" y="69602"/>
                  <a:pt x="70240" y="73937"/>
                  <a:pt x="77457" y="73937"/>
                </a:cubicBezTo>
                <a:cubicBezTo>
                  <a:pt x="84675" y="73937"/>
                  <a:pt x="90880" y="69602"/>
                  <a:pt x="93587" y="63374"/>
                </a:cubicBezTo>
                <a:lnTo>
                  <a:pt x="105624" y="63374"/>
                </a:lnTo>
                <a:cubicBezTo>
                  <a:pt x="109519" y="63374"/>
                  <a:pt x="112665" y="60228"/>
                  <a:pt x="112665" y="56333"/>
                </a:cubicBezTo>
                <a:cubicBezTo>
                  <a:pt x="112665" y="52438"/>
                  <a:pt x="109519" y="49291"/>
                  <a:pt x="105624" y="49291"/>
                </a:cubicBezTo>
                <a:lnTo>
                  <a:pt x="93587" y="49291"/>
                </a:lnTo>
                <a:cubicBezTo>
                  <a:pt x="90880" y="43064"/>
                  <a:pt x="84675" y="38729"/>
                  <a:pt x="77457" y="38729"/>
                </a:cubicBezTo>
                <a:cubicBezTo>
                  <a:pt x="70240" y="38729"/>
                  <a:pt x="64034" y="43064"/>
                  <a:pt x="61328" y="49291"/>
                </a:cubicBezTo>
                <a:lnTo>
                  <a:pt x="7042" y="49291"/>
                </a:lnTo>
                <a:close/>
                <a:moveTo>
                  <a:pt x="7042" y="84499"/>
                </a:moveTo>
                <a:cubicBezTo>
                  <a:pt x="3147" y="84499"/>
                  <a:pt x="0" y="87646"/>
                  <a:pt x="0" y="91541"/>
                </a:cubicBezTo>
                <a:cubicBezTo>
                  <a:pt x="0" y="95435"/>
                  <a:pt x="3147" y="98582"/>
                  <a:pt x="7042" y="98582"/>
                </a:cubicBezTo>
                <a:lnTo>
                  <a:pt x="19078" y="98582"/>
                </a:lnTo>
                <a:cubicBezTo>
                  <a:pt x="21785" y="104810"/>
                  <a:pt x="27990" y="109145"/>
                  <a:pt x="35208" y="109145"/>
                </a:cubicBezTo>
                <a:cubicBezTo>
                  <a:pt x="42426" y="109145"/>
                  <a:pt x="48631" y="104810"/>
                  <a:pt x="51338" y="98582"/>
                </a:cubicBezTo>
                <a:lnTo>
                  <a:pt x="105624" y="98582"/>
                </a:lnTo>
                <a:cubicBezTo>
                  <a:pt x="109519" y="98582"/>
                  <a:pt x="112665" y="95435"/>
                  <a:pt x="112665" y="91541"/>
                </a:cubicBezTo>
                <a:cubicBezTo>
                  <a:pt x="112665" y="87646"/>
                  <a:pt x="109519" y="84499"/>
                  <a:pt x="105624" y="84499"/>
                </a:cubicBezTo>
                <a:lnTo>
                  <a:pt x="51338" y="84499"/>
                </a:lnTo>
                <a:cubicBezTo>
                  <a:pt x="48631" y="78272"/>
                  <a:pt x="42426" y="73937"/>
                  <a:pt x="35208" y="73937"/>
                </a:cubicBezTo>
                <a:cubicBezTo>
                  <a:pt x="27990" y="73937"/>
                  <a:pt x="21785" y="78272"/>
                  <a:pt x="19078" y="84499"/>
                </a:cubicBezTo>
                <a:lnTo>
                  <a:pt x="7042" y="84499"/>
                </a:lnTo>
                <a:close/>
              </a:path>
            </a:pathLst>
          </a:custGeom>
          <a:solidFill>
            <a:srgbClr val="EA4335"/>
          </a:solidFill>
          <a:ln/>
        </p:spPr>
      </p:sp>
      <p:sp>
        <p:nvSpPr>
          <p:cNvPr id="58" name="Text 56"/>
          <p:cNvSpPr/>
          <p:nvPr/>
        </p:nvSpPr>
        <p:spPr>
          <a:xfrm>
            <a:off x="8569348" y="3219010"/>
            <a:ext cx="309773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EA4335"/>
                </a:solidFill>
                <a:latin typeface="Quattrocento Sans" pitchFamily="34" charset="0"/>
                <a:ea typeface="Quattrocento Sans" pitchFamily="34" charset="-122"/>
                <a:cs typeface="Quattrocento Sans" pitchFamily="34" charset="-120"/>
              </a:rPr>
              <a:t>تقنية</a:t>
            </a:r>
            <a:endParaRPr xmlns:a="http://schemas.openxmlformats.org/drawingml/2006/main" lang="en-US" sz="1600" dirty="0"/>
          </a:p>
        </p:txBody>
      </p:sp>
      <p:sp>
        <p:nvSpPr>
          <p:cNvPr id="59" name="Text 57"/>
          <p:cNvSpPr/>
          <p:nvPr/>
        </p:nvSpPr>
        <p:spPr>
          <a:xfrm>
            <a:off x="8383698" y="3444341"/>
            <a:ext cx="3291438" cy="38628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استخدم </a:t>
            </a:r>
            <a:pPr xmlns:a="http://schemas.openxmlformats.org/drawingml/2006/main">
              <a:lnSpc>
                <a:spcPct val="130000"/>
              </a:lnSpc>
              <a:bidi/>
            </a:pPr>
            <a:r xmlns:a="http://schemas.openxmlformats.org/drawingml/2006/main">
              <a:rPr lang="ar" sz="1014" b="1" dirty="0">
                <a:solidFill>
                  <a:srgbClr val="E6F1FF"/>
                </a:solidFill>
                <a:latin typeface="Quattrocento Sans" pitchFamily="34" charset="0"/>
                <a:ea typeface="Quattrocento Sans" pitchFamily="34" charset="-122"/>
                <a:cs typeface="Quattrocento Sans" pitchFamily="34" charset="-120"/>
              </a:rPr>
              <a:t>المطابقة الواسعة </a:t>
            </a:r>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المقترنة </a:t>
            </a:r>
            <a:pPr xmlns:a="http://schemas.openxmlformats.org/drawingml/2006/main">
              <a:lnSpc>
                <a:spcPct val="130000"/>
              </a:lnSpc>
              <a:bidi/>
            </a:pPr>
            <a:r xmlns:a="http://schemas.openxmlformats.org/drawingml/2006/main">
              <a:rPr lang="ar" sz="1014" b="1" dirty="0">
                <a:solidFill>
                  <a:srgbClr val="E6F1FF"/>
                </a:solidFill>
                <a:latin typeface="Quattrocento Sans" pitchFamily="34" charset="0"/>
                <a:ea typeface="Quattrocento Sans" pitchFamily="34" charset="-122"/>
                <a:cs typeface="Quattrocento Sans" pitchFamily="34" charset="-120"/>
              </a:rPr>
              <a:t>بالمزايدة الذكية </a:t>
            </a:r>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لالتقاط نية المحادثة</a:t>
            </a:r>
            <a:endParaRPr xmlns:a="http://schemas.openxmlformats.org/drawingml/2006/main" lang="en-US" sz="1600" dirty="0"/>
          </a:p>
        </p:txBody>
      </p:sp>
      <p:sp>
        <p:nvSpPr>
          <p:cNvPr id="60" name="Shape 58"/>
          <p:cNvSpPr/>
          <p:nvPr/>
        </p:nvSpPr>
        <p:spPr>
          <a:xfrm>
            <a:off x="8287127" y="4023762"/>
            <a:ext cx="3420198" cy="804752"/>
          </a:xfrm>
          <a:prstGeom prst="roundRect">
            <a:avLst>
              <a:gd name="adj" fmla="val 8000"/>
            </a:avLst>
          </a:prstGeom>
          <a:solidFill>
            <a:srgbClr val="0A192F">
              <a:alpha val="40000"/>
            </a:srgbClr>
          </a:solidFill>
          <a:ln/>
        </p:spPr>
      </p:sp>
      <p:sp>
        <p:nvSpPr>
          <p:cNvPr id="61" name="Shape 59"/>
          <p:cNvSpPr/>
          <p:nvPr/>
        </p:nvSpPr>
        <p:spPr>
          <a:xfrm>
            <a:off x="8385709" y="4140451"/>
            <a:ext cx="140832" cy="112665"/>
          </a:xfrm>
          <a:custGeom>
            <a:avLst/>
            <a:gdLst/>
            <a:ahLst/>
            <a:cxnLst/>
            <a:rect l="l" t="t" r="r" b="b"/>
            <a:pathLst>
              <a:path w="140832" h="112665">
                <a:moveTo>
                  <a:pt x="28166" y="7042"/>
                </a:moveTo>
                <a:cubicBezTo>
                  <a:pt x="20399" y="7042"/>
                  <a:pt x="14083" y="13357"/>
                  <a:pt x="14083" y="21125"/>
                </a:cubicBezTo>
                <a:lnTo>
                  <a:pt x="14083" y="73937"/>
                </a:lnTo>
                <a:lnTo>
                  <a:pt x="28166" y="73937"/>
                </a:lnTo>
                <a:lnTo>
                  <a:pt x="28166" y="21125"/>
                </a:lnTo>
                <a:lnTo>
                  <a:pt x="112665" y="21125"/>
                </a:lnTo>
                <a:lnTo>
                  <a:pt x="112665" y="73937"/>
                </a:lnTo>
                <a:lnTo>
                  <a:pt x="126749" y="73937"/>
                </a:lnTo>
                <a:lnTo>
                  <a:pt x="126749" y="21125"/>
                </a:lnTo>
                <a:cubicBezTo>
                  <a:pt x="126749" y="13357"/>
                  <a:pt x="120433" y="7042"/>
                  <a:pt x="112665" y="7042"/>
                </a:cubicBezTo>
                <a:lnTo>
                  <a:pt x="28166" y="7042"/>
                </a:lnTo>
                <a:close/>
                <a:moveTo>
                  <a:pt x="4225" y="84499"/>
                </a:moveTo>
                <a:cubicBezTo>
                  <a:pt x="1892" y="84499"/>
                  <a:pt x="0" y="86391"/>
                  <a:pt x="0" y="88724"/>
                </a:cubicBezTo>
                <a:cubicBezTo>
                  <a:pt x="0" y="98054"/>
                  <a:pt x="7570" y="105624"/>
                  <a:pt x="16900" y="105624"/>
                </a:cubicBezTo>
                <a:lnTo>
                  <a:pt x="123932" y="105624"/>
                </a:lnTo>
                <a:cubicBezTo>
                  <a:pt x="133262" y="105624"/>
                  <a:pt x="140832" y="98054"/>
                  <a:pt x="140832" y="88724"/>
                </a:cubicBezTo>
                <a:cubicBezTo>
                  <a:pt x="140832" y="86391"/>
                  <a:pt x="138939" y="84499"/>
                  <a:pt x="136607" y="84499"/>
                </a:cubicBezTo>
                <a:lnTo>
                  <a:pt x="4225" y="84499"/>
                </a:lnTo>
                <a:close/>
              </a:path>
            </a:pathLst>
          </a:custGeom>
          <a:solidFill>
            <a:srgbClr val="EA4335"/>
          </a:solidFill>
          <a:ln/>
        </p:spPr>
      </p:sp>
      <p:sp>
        <p:nvSpPr>
          <p:cNvPr id="62" name="Text 60"/>
          <p:cNvSpPr/>
          <p:nvPr/>
        </p:nvSpPr>
        <p:spPr>
          <a:xfrm>
            <a:off x="8569348" y="4120333"/>
            <a:ext cx="3097739" cy="16095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887" b="1" dirty="0">
                <a:solidFill>
                  <a:srgbClr val="EA4335"/>
                </a:solidFill>
                <a:latin typeface="Quattrocento Sans" pitchFamily="34" charset="0"/>
                <a:ea typeface="Quattrocento Sans" pitchFamily="34" charset="-122"/>
                <a:cs typeface="Quattrocento Sans" pitchFamily="34" charset="-120"/>
              </a:rPr>
              <a:t>الصفحة الرئيسية</a:t>
            </a:r>
            <a:endParaRPr xmlns:a="http://schemas.openxmlformats.org/drawingml/2006/main" lang="en-US" sz="1600" dirty="0"/>
          </a:p>
        </p:txBody>
      </p:sp>
      <p:sp>
        <p:nvSpPr>
          <p:cNvPr id="63" name="Text 61"/>
          <p:cNvSpPr/>
          <p:nvPr/>
        </p:nvSpPr>
        <p:spPr>
          <a:xfrm>
            <a:off x="8383698" y="4345663"/>
            <a:ext cx="3291438" cy="38628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ابدأ بإجابة مباشرة من جملة أو جملتين لبناء الثقة فورًا، ثم اطلب إجراء استشارة مجانية</a:t>
            </a:r>
            <a:endParaRPr xmlns:a="http://schemas.openxmlformats.org/drawingml/2006/main" lang="en-US" sz="1600" dirty="0"/>
          </a:p>
        </p:txBody>
      </p:sp>
      <p:sp>
        <p:nvSpPr>
          <p:cNvPr id="64" name="Shape 62"/>
          <p:cNvSpPr/>
          <p:nvPr/>
        </p:nvSpPr>
        <p:spPr>
          <a:xfrm>
            <a:off x="8291151" y="5331485"/>
            <a:ext cx="3412150" cy="394329"/>
          </a:xfrm>
          <a:prstGeom prst="roundRect">
            <a:avLst>
              <a:gd name="adj" fmla="val 16327"/>
            </a:avLst>
          </a:prstGeom>
          <a:solidFill>
            <a:srgbClr val="EA4335">
              <a:alpha val="10196"/>
            </a:srgbClr>
          </a:solidFill>
          <a:ln w="12700">
            <a:solidFill>
              <a:srgbClr val="EA4335">
                <a:alpha val="30196"/>
              </a:srgbClr>
            </a:solidFill>
            <a:prstDash val="solid"/>
          </a:ln>
        </p:spPr>
      </p:sp>
      <p:sp>
        <p:nvSpPr>
          <p:cNvPr id="65" name="Text 63"/>
          <p:cNvSpPr/>
          <p:nvPr/>
        </p:nvSpPr>
        <p:spPr>
          <a:xfrm>
            <a:off x="8359555" y="5432079"/>
            <a:ext cx="3275343" cy="193141"/>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014" b="1" dirty="0">
                <a:solidFill>
                  <a:srgbClr val="EA4335"/>
                </a:solidFill>
                <a:latin typeface="Quattrocento Sans" pitchFamily="34" charset="0"/>
                <a:ea typeface="Quattrocento Sans" pitchFamily="34" charset="-122"/>
                <a:cs typeface="Quattrocento Sans" pitchFamily="34" charset="-120"/>
              </a:rPr>
              <a:t>التركيز: </a:t>
            </a:r>
            <a:pPr xmlns:a="http://schemas.openxmlformats.org/drawingml/2006/main" algn="ctr">
              <a:lnSpc>
                <a:spcPct val="130000"/>
              </a:lnSpc>
              <a:bidi/>
            </a:pPr>
            <a:r xmlns:a="http://schemas.openxmlformats.org/drawingml/2006/main">
              <a:rPr lang="ar" sz="1014" dirty="0">
                <a:solidFill>
                  <a:srgbClr val="E6F1FF"/>
                </a:solidFill>
                <a:latin typeface="Quattrocento Sans" pitchFamily="34" charset="0"/>
                <a:ea typeface="Quattrocento Sans" pitchFamily="34" charset="-122"/>
                <a:cs typeface="Quattrocento Sans" pitchFamily="34" charset="-120"/>
              </a:rPr>
              <a:t>الاستحواذ عالي النية</a:t>
            </a:r>
            <a:endParaRPr xmlns:a="http://schemas.openxmlformats.org/drawingml/2006/main" lang="en-US" sz="1600" dirty="0"/>
          </a:p>
        </p:txBody>
      </p:sp>
      <p:sp>
        <p:nvSpPr>
          <p:cNvPr id="66" name="Shape 64"/>
          <p:cNvSpPr/>
          <p:nvPr/>
        </p:nvSpPr>
        <p:spPr>
          <a:xfrm>
            <a:off x="337996" y="6019549"/>
            <a:ext cx="3750147" cy="643802"/>
          </a:xfrm>
          <a:custGeom>
            <a:avLst/>
            <a:gdLst/>
            <a:ahLst/>
            <a:cxnLst/>
            <a:rect l="l" t="t" r="r" b="b"/>
            <a:pathLst>
              <a:path w="3750147" h="643802">
                <a:moveTo>
                  <a:pt x="32131" y="0"/>
                </a:moveTo>
                <a:lnTo>
                  <a:pt x="3685794" y="0"/>
                </a:lnTo>
                <a:cubicBezTo>
                  <a:pt x="3721355" y="0"/>
                  <a:pt x="3750183" y="28828"/>
                  <a:pt x="3750183" y="64389"/>
                </a:cubicBezTo>
                <a:lnTo>
                  <a:pt x="3750183" y="579374"/>
                </a:lnTo>
                <a:cubicBezTo>
                  <a:pt x="3750183" y="614935"/>
                  <a:pt x="3721355" y="643763"/>
                  <a:pt x="3685794" y="643763"/>
                </a:cubicBezTo>
                <a:lnTo>
                  <a:pt x="32131" y="643763"/>
                </a:lnTo>
                <a:cubicBezTo>
                  <a:pt x="14386" y="643763"/>
                  <a:pt x="0" y="629377"/>
                  <a:pt x="0" y="611632"/>
                </a:cubicBezTo>
                <a:lnTo>
                  <a:pt x="0" y="32131"/>
                </a:lnTo>
                <a:cubicBezTo>
                  <a:pt x="0" y="14397"/>
                  <a:pt x="14397" y="0"/>
                  <a:pt x="32131" y="0"/>
                </a:cubicBezTo>
                <a:close/>
              </a:path>
            </a:pathLst>
          </a:custGeom>
          <a:solidFill>
            <a:srgbClr val="1E3A5F">
              <a:alpha val="30196"/>
            </a:srgbClr>
          </a:solidFill>
          <a:ln/>
        </p:spPr>
      </p:sp>
      <p:sp>
        <p:nvSpPr>
          <p:cNvPr id="67" name="Shape 65"/>
          <p:cNvSpPr/>
          <p:nvPr/>
        </p:nvSpPr>
        <p:spPr>
          <a:xfrm>
            <a:off x="337996" y="6019549"/>
            <a:ext cx="32190" cy="643802"/>
          </a:xfrm>
          <a:custGeom>
            <a:avLst/>
            <a:gdLst/>
            <a:ahLst/>
            <a:cxnLst/>
            <a:rect l="l" t="t" r="r" b="b"/>
            <a:pathLst>
              <a:path w="32190" h="643802">
                <a:moveTo>
                  <a:pt x="32131" y="0"/>
                </a:moveTo>
                <a:lnTo>
                  <a:pt x="32131" y="0"/>
                </a:lnTo>
                <a:lnTo>
                  <a:pt x="32131" y="643763"/>
                </a:lnTo>
                <a:lnTo>
                  <a:pt x="32131" y="643763"/>
                </a:lnTo>
                <a:cubicBezTo>
                  <a:pt x="14386" y="643763"/>
                  <a:pt x="0" y="629377"/>
                  <a:pt x="0" y="611632"/>
                </a:cubicBezTo>
                <a:lnTo>
                  <a:pt x="0" y="32131"/>
                </a:lnTo>
                <a:cubicBezTo>
                  <a:pt x="0" y="14397"/>
                  <a:pt x="14397" y="0"/>
                  <a:pt x="32131" y="0"/>
                </a:cubicBezTo>
                <a:close/>
              </a:path>
            </a:pathLst>
          </a:custGeom>
          <a:solidFill>
            <a:srgbClr val="4267B2"/>
          </a:solidFill>
          <a:ln/>
        </p:spPr>
      </p:sp>
      <p:sp>
        <p:nvSpPr>
          <p:cNvPr id="68" name="Text 66"/>
          <p:cNvSpPr/>
          <p:nvPr/>
        </p:nvSpPr>
        <p:spPr>
          <a:xfrm>
            <a:off x="422495" y="6116119"/>
            <a:ext cx="3597244" cy="16095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887" dirty="0">
                <a:solidFill>
                  <a:srgbClr val="E6F1FF">
                    <a:alpha val="70000"/>
                  </a:srgbClr>
                </a:solidFill>
                <a:latin typeface="Quattrocento Sans" pitchFamily="34" charset="0"/>
                <a:ea typeface="Quattrocento Sans" pitchFamily="34" charset="-122"/>
                <a:cs typeface="Quattrocento Sans" pitchFamily="34" charset="-120"/>
              </a:rPr>
              <a:t>الميزانية الميتا</a:t>
            </a:r>
            <a:endParaRPr xmlns:a="http://schemas.openxmlformats.org/drawingml/2006/main" lang="en-US" sz="1600" dirty="0"/>
          </a:p>
        </p:txBody>
      </p:sp>
      <p:sp>
        <p:nvSpPr>
          <p:cNvPr id="69" name="Text 67"/>
          <p:cNvSpPr/>
          <p:nvPr/>
        </p:nvSpPr>
        <p:spPr>
          <a:xfrm>
            <a:off x="402376" y="6309259"/>
            <a:ext cx="3637481" cy="257521"/>
          </a:xfrm>
          <a:prstGeom prst="rect">
            <a:avLst/>
          </a:prstGeom>
          <a:noFill/>
          <a:ln/>
        </p:spPr>
        <p:txBody>
          <a:bodyPr wrap="square" lIns="0" tIns="0" rIns="0" bIns="0" rtlCol="0" anchor="ctr"/>
          <a:lstStyle/>
          <a:p>
            <a:pPr xmlns:a="http://schemas.openxmlformats.org/drawingml/2006/main" algn="ctr">
              <a:lnSpc>
                <a:spcPct val="110000"/>
              </a:lnSpc>
              <a:bidi/>
            </a:pPr>
            <a:r xmlns:a="http://schemas.openxmlformats.org/drawingml/2006/main">
              <a:rPr lang="ar" sz="1521" b="1" dirty="0">
                <a:solidFill>
                  <a:srgbClr val="4267B2"/>
                </a:solidFill>
                <a:latin typeface="Liter" pitchFamily="34" charset="0"/>
                <a:ea typeface="Liter" pitchFamily="34" charset="-122"/>
                <a:cs typeface="Liter" pitchFamily="34" charset="-120"/>
              </a:rPr>
              <a:t>5-8 آلاف درهم مغربي شهرياً</a:t>
            </a:r>
            <a:endParaRPr xmlns:a="http://schemas.openxmlformats.org/drawingml/2006/main" lang="en-US" sz="1600" dirty="0"/>
          </a:p>
        </p:txBody>
      </p:sp>
      <p:sp>
        <p:nvSpPr>
          <p:cNvPr id="70" name="Shape 68"/>
          <p:cNvSpPr/>
          <p:nvPr/>
        </p:nvSpPr>
        <p:spPr>
          <a:xfrm>
            <a:off x="4229414" y="6019549"/>
            <a:ext cx="3750147" cy="643802"/>
          </a:xfrm>
          <a:custGeom>
            <a:avLst/>
            <a:gdLst/>
            <a:ahLst/>
            <a:cxnLst/>
            <a:rect l="l" t="t" r="r" b="b"/>
            <a:pathLst>
              <a:path w="3750147" h="643802">
                <a:moveTo>
                  <a:pt x="32131" y="0"/>
                </a:moveTo>
                <a:lnTo>
                  <a:pt x="3685794" y="0"/>
                </a:lnTo>
                <a:cubicBezTo>
                  <a:pt x="3721355" y="0"/>
                  <a:pt x="3750183" y="28828"/>
                  <a:pt x="3750183" y="64389"/>
                </a:cubicBezTo>
                <a:lnTo>
                  <a:pt x="3750183" y="579374"/>
                </a:lnTo>
                <a:cubicBezTo>
                  <a:pt x="3750183" y="614935"/>
                  <a:pt x="3721355" y="643763"/>
                  <a:pt x="3685794" y="643763"/>
                </a:cubicBezTo>
                <a:lnTo>
                  <a:pt x="32131" y="643763"/>
                </a:lnTo>
                <a:cubicBezTo>
                  <a:pt x="14386" y="643763"/>
                  <a:pt x="0" y="629377"/>
                  <a:pt x="0" y="611632"/>
                </a:cubicBezTo>
                <a:lnTo>
                  <a:pt x="0" y="32131"/>
                </a:lnTo>
                <a:cubicBezTo>
                  <a:pt x="0" y="14397"/>
                  <a:pt x="14397" y="0"/>
                  <a:pt x="32131" y="0"/>
                </a:cubicBezTo>
                <a:close/>
              </a:path>
            </a:pathLst>
          </a:custGeom>
          <a:solidFill>
            <a:srgbClr val="1E3A5F">
              <a:alpha val="30196"/>
            </a:srgbClr>
          </a:solidFill>
          <a:ln/>
        </p:spPr>
      </p:sp>
      <p:sp>
        <p:nvSpPr>
          <p:cNvPr id="71" name="Shape 69"/>
          <p:cNvSpPr/>
          <p:nvPr/>
        </p:nvSpPr>
        <p:spPr>
          <a:xfrm>
            <a:off x="4229414" y="6019549"/>
            <a:ext cx="32190" cy="643802"/>
          </a:xfrm>
          <a:custGeom>
            <a:avLst/>
            <a:gdLst/>
            <a:ahLst/>
            <a:cxnLst/>
            <a:rect l="l" t="t" r="r" b="b"/>
            <a:pathLst>
              <a:path w="32190" h="643802">
                <a:moveTo>
                  <a:pt x="32131" y="0"/>
                </a:moveTo>
                <a:lnTo>
                  <a:pt x="32131" y="0"/>
                </a:lnTo>
                <a:lnTo>
                  <a:pt x="32131" y="643763"/>
                </a:lnTo>
                <a:lnTo>
                  <a:pt x="32131" y="643763"/>
                </a:lnTo>
                <a:cubicBezTo>
                  <a:pt x="14386" y="643763"/>
                  <a:pt x="0" y="629377"/>
                  <a:pt x="0" y="611632"/>
                </a:cubicBezTo>
                <a:lnTo>
                  <a:pt x="0" y="32131"/>
                </a:lnTo>
                <a:cubicBezTo>
                  <a:pt x="0" y="14397"/>
                  <a:pt x="14397" y="0"/>
                  <a:pt x="32131" y="0"/>
                </a:cubicBezTo>
                <a:close/>
              </a:path>
            </a:pathLst>
          </a:custGeom>
          <a:solidFill>
            <a:srgbClr val="0077B5"/>
          </a:solidFill>
          <a:ln/>
        </p:spPr>
      </p:sp>
      <p:sp>
        <p:nvSpPr>
          <p:cNvPr id="72" name="Text 70"/>
          <p:cNvSpPr/>
          <p:nvPr/>
        </p:nvSpPr>
        <p:spPr>
          <a:xfrm>
            <a:off x="4313913" y="6116119"/>
            <a:ext cx="3597244" cy="16095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887" dirty="0">
                <a:solidFill>
                  <a:srgbClr val="E6F1FF">
                    <a:alpha val="70000"/>
                  </a:srgbClr>
                </a:solidFill>
                <a:latin typeface="Quattrocento Sans" pitchFamily="34" charset="0"/>
                <a:ea typeface="Quattrocento Sans" pitchFamily="34" charset="-122"/>
                <a:cs typeface="Quattrocento Sans" pitchFamily="34" charset="-120"/>
              </a:rPr>
              <a:t>ميزانية لينكدإن</a:t>
            </a:r>
            <a:endParaRPr xmlns:a="http://schemas.openxmlformats.org/drawingml/2006/main" lang="en-US" sz="1600" dirty="0"/>
          </a:p>
        </p:txBody>
      </p:sp>
      <p:sp>
        <p:nvSpPr>
          <p:cNvPr id="73" name="Text 71"/>
          <p:cNvSpPr/>
          <p:nvPr/>
        </p:nvSpPr>
        <p:spPr>
          <a:xfrm>
            <a:off x="4293795" y="6309259"/>
            <a:ext cx="3637481" cy="257521"/>
          </a:xfrm>
          <a:prstGeom prst="rect">
            <a:avLst/>
          </a:prstGeom>
          <a:noFill/>
          <a:ln/>
        </p:spPr>
        <p:txBody>
          <a:bodyPr wrap="square" lIns="0" tIns="0" rIns="0" bIns="0" rtlCol="0" anchor="ctr"/>
          <a:lstStyle/>
          <a:p>
            <a:pPr xmlns:a="http://schemas.openxmlformats.org/drawingml/2006/main" algn="ctr">
              <a:lnSpc>
                <a:spcPct val="110000"/>
              </a:lnSpc>
              <a:bidi/>
            </a:pPr>
            <a:r xmlns:a="http://schemas.openxmlformats.org/drawingml/2006/main">
              <a:rPr lang="ar" sz="1521" b="1" dirty="0">
                <a:solidFill>
                  <a:srgbClr val="0077B5"/>
                </a:solidFill>
                <a:latin typeface="Liter" pitchFamily="34" charset="0"/>
                <a:ea typeface="Liter" pitchFamily="34" charset="-122"/>
                <a:cs typeface="Liter" pitchFamily="34" charset="-120"/>
              </a:rPr>
              <a:t>3-5 آلاف درهم مغربي شهرياً</a:t>
            </a:r>
            <a:endParaRPr xmlns:a="http://schemas.openxmlformats.org/drawingml/2006/main" lang="en-US" sz="1600" dirty="0"/>
          </a:p>
        </p:txBody>
      </p:sp>
      <p:sp>
        <p:nvSpPr>
          <p:cNvPr id="74" name="Shape 72"/>
          <p:cNvSpPr/>
          <p:nvPr/>
        </p:nvSpPr>
        <p:spPr>
          <a:xfrm>
            <a:off x="8120833" y="6019549"/>
            <a:ext cx="3750147" cy="643802"/>
          </a:xfrm>
          <a:custGeom>
            <a:avLst/>
            <a:gdLst/>
            <a:ahLst/>
            <a:cxnLst/>
            <a:rect l="l" t="t" r="r" b="b"/>
            <a:pathLst>
              <a:path w="3750147" h="643802">
                <a:moveTo>
                  <a:pt x="32131" y="0"/>
                </a:moveTo>
                <a:lnTo>
                  <a:pt x="3685794" y="0"/>
                </a:lnTo>
                <a:cubicBezTo>
                  <a:pt x="3721355" y="0"/>
                  <a:pt x="3750183" y="28828"/>
                  <a:pt x="3750183" y="64389"/>
                </a:cubicBezTo>
                <a:lnTo>
                  <a:pt x="3750183" y="579374"/>
                </a:lnTo>
                <a:cubicBezTo>
                  <a:pt x="3750183" y="614935"/>
                  <a:pt x="3721355" y="643763"/>
                  <a:pt x="3685794" y="643763"/>
                </a:cubicBezTo>
                <a:lnTo>
                  <a:pt x="32131" y="643763"/>
                </a:lnTo>
                <a:cubicBezTo>
                  <a:pt x="14386" y="643763"/>
                  <a:pt x="0" y="629377"/>
                  <a:pt x="0" y="611632"/>
                </a:cubicBezTo>
                <a:lnTo>
                  <a:pt x="0" y="32131"/>
                </a:lnTo>
                <a:cubicBezTo>
                  <a:pt x="0" y="14397"/>
                  <a:pt x="14397" y="0"/>
                  <a:pt x="32131" y="0"/>
                </a:cubicBezTo>
                <a:close/>
              </a:path>
            </a:pathLst>
          </a:custGeom>
          <a:solidFill>
            <a:srgbClr val="1E3A5F">
              <a:alpha val="30196"/>
            </a:srgbClr>
          </a:solidFill>
          <a:ln/>
        </p:spPr>
      </p:sp>
      <p:sp>
        <p:nvSpPr>
          <p:cNvPr id="75" name="Shape 73"/>
          <p:cNvSpPr/>
          <p:nvPr/>
        </p:nvSpPr>
        <p:spPr>
          <a:xfrm>
            <a:off x="8120833" y="6019549"/>
            <a:ext cx="32190" cy="643802"/>
          </a:xfrm>
          <a:custGeom>
            <a:avLst/>
            <a:gdLst/>
            <a:ahLst/>
            <a:cxnLst/>
            <a:rect l="l" t="t" r="r" b="b"/>
            <a:pathLst>
              <a:path w="32190" h="643802">
                <a:moveTo>
                  <a:pt x="32131" y="0"/>
                </a:moveTo>
                <a:lnTo>
                  <a:pt x="32131" y="0"/>
                </a:lnTo>
                <a:lnTo>
                  <a:pt x="32131" y="643763"/>
                </a:lnTo>
                <a:lnTo>
                  <a:pt x="32131" y="643763"/>
                </a:lnTo>
                <a:cubicBezTo>
                  <a:pt x="14386" y="643763"/>
                  <a:pt x="0" y="629377"/>
                  <a:pt x="0" y="611632"/>
                </a:cubicBezTo>
                <a:lnTo>
                  <a:pt x="0" y="32131"/>
                </a:lnTo>
                <a:cubicBezTo>
                  <a:pt x="0" y="14397"/>
                  <a:pt x="14397" y="0"/>
                  <a:pt x="32131" y="0"/>
                </a:cubicBezTo>
                <a:close/>
              </a:path>
            </a:pathLst>
          </a:custGeom>
          <a:solidFill>
            <a:srgbClr val="EA4335"/>
          </a:solidFill>
          <a:ln/>
        </p:spPr>
      </p:sp>
      <p:sp>
        <p:nvSpPr>
          <p:cNvPr id="76" name="Text 74"/>
          <p:cNvSpPr/>
          <p:nvPr/>
        </p:nvSpPr>
        <p:spPr>
          <a:xfrm>
            <a:off x="8205332" y="6116119"/>
            <a:ext cx="3597244" cy="16095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887" dirty="0">
                <a:solidFill>
                  <a:srgbClr val="E6F1FF">
                    <a:alpha val="70000"/>
                  </a:srgbClr>
                </a:solidFill>
                <a:latin typeface="Quattrocento Sans" pitchFamily="34" charset="0"/>
                <a:ea typeface="Quattrocento Sans" pitchFamily="34" charset="-122"/>
                <a:cs typeface="Quattrocento Sans" pitchFamily="34" charset="-120"/>
              </a:rPr>
              <a:t>ميزانية جوجل</a:t>
            </a:r>
            <a:endParaRPr xmlns:a="http://schemas.openxmlformats.org/drawingml/2006/main" lang="en-US" sz="1600" dirty="0"/>
          </a:p>
        </p:txBody>
      </p:sp>
      <p:sp>
        <p:nvSpPr>
          <p:cNvPr id="77" name="Text 75"/>
          <p:cNvSpPr/>
          <p:nvPr/>
        </p:nvSpPr>
        <p:spPr>
          <a:xfrm>
            <a:off x="8185213" y="6309259"/>
            <a:ext cx="3637481" cy="257521"/>
          </a:xfrm>
          <a:prstGeom prst="rect">
            <a:avLst/>
          </a:prstGeom>
          <a:noFill/>
          <a:ln/>
        </p:spPr>
        <p:txBody>
          <a:bodyPr wrap="square" lIns="0" tIns="0" rIns="0" bIns="0" rtlCol="0" anchor="ctr"/>
          <a:lstStyle/>
          <a:p>
            <a:pPr xmlns:a="http://schemas.openxmlformats.org/drawingml/2006/main" algn="ctr">
              <a:lnSpc>
                <a:spcPct val="110000"/>
              </a:lnSpc>
              <a:bidi/>
            </a:pPr>
            <a:r xmlns:a="http://schemas.openxmlformats.org/drawingml/2006/main">
              <a:rPr lang="ar" sz="1521" b="1" dirty="0">
                <a:solidFill>
                  <a:srgbClr val="EA4335"/>
                </a:solidFill>
                <a:latin typeface="Liter" pitchFamily="34" charset="0"/>
                <a:ea typeface="Liter" pitchFamily="34" charset="-122"/>
                <a:cs typeface="Liter" pitchFamily="34" charset="-120"/>
              </a:rPr>
              <a:t>4-6 آلاف درهم مغربي شهرياً</a:t>
            </a:r>
            <a:endParaRPr xmlns:a="http://schemas.openxmlformats.org/drawingml/2006/main"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49842" y="349842"/>
            <a:ext cx="11562284"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spc="55" kern="0" dirty="0">
                <a:solidFill>
                  <a:srgbClr val="64FFDA"/>
                </a:solidFill>
                <a:latin typeface="Quattrocento Sans" pitchFamily="34" charset="0"/>
                <a:ea typeface="Quattrocento Sans" pitchFamily="34" charset="-122"/>
                <a:cs typeface="Quattrocento Sans" pitchFamily="34" charset="-120"/>
              </a:rPr>
              <a:t>المرحلة 3 • الأيام 46-90</a:t>
            </a:r>
            <a:endParaRPr xmlns:a="http://schemas.openxmlformats.org/drawingml/2006/main" lang="en-US" sz="1600" dirty="0"/>
          </a:p>
        </p:txBody>
      </p:sp>
      <p:sp>
        <p:nvSpPr>
          <p:cNvPr id="3" name="Text 1"/>
          <p:cNvSpPr/>
          <p:nvPr/>
        </p:nvSpPr>
        <p:spPr>
          <a:xfrm>
            <a:off x="349842" y="629716"/>
            <a:ext cx="11649745" cy="349842"/>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479" b="1" dirty="0">
                <a:solidFill>
                  <a:srgbClr val="E6F1FF"/>
                </a:solidFill>
                <a:latin typeface="Liter" pitchFamily="34" charset="0"/>
                <a:ea typeface="Liter" pitchFamily="34" charset="-122"/>
                <a:cs typeface="Liter" pitchFamily="34" charset="-120"/>
              </a:rPr>
              <a:t>نظام الفرز الآلي</a:t>
            </a:r>
            <a:endParaRPr xmlns:a="http://schemas.openxmlformats.org/drawingml/2006/main" lang="en-US" sz="1600" dirty="0"/>
          </a:p>
        </p:txBody>
      </p:sp>
      <p:sp>
        <p:nvSpPr>
          <p:cNvPr id="4" name="Text 2"/>
          <p:cNvSpPr/>
          <p:nvPr/>
        </p:nvSpPr>
        <p:spPr>
          <a:xfrm>
            <a:off x="349842" y="1049527"/>
            <a:ext cx="11571030" cy="24489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40" dirty="0">
                <a:solidFill>
                  <a:srgbClr val="E6F1FF">
                    <a:alpha val="70000"/>
                  </a:srgbClr>
                </a:solidFill>
                <a:latin typeface="Quattrocento Sans" pitchFamily="34" charset="0"/>
                <a:ea typeface="Quattrocento Sans" pitchFamily="34" charset="-122"/>
                <a:cs typeface="Quattrocento Sans" pitchFamily="34" charset="-120"/>
              </a:rPr>
              <a:t>استخدم الذكاء الاصطناعي لتأهيل العملاء المحتملين على مدار الساعة طوال أيام الأسبوع، مما يقلل من العمل الإداري اليدوي.</a:t>
            </a:r>
            <a:endParaRPr xmlns:a="http://schemas.openxmlformats.org/drawingml/2006/main" lang="en-US" sz="1600" dirty="0"/>
          </a:p>
        </p:txBody>
      </p:sp>
      <p:sp>
        <p:nvSpPr>
          <p:cNvPr id="5" name="Shape 3"/>
          <p:cNvSpPr/>
          <p:nvPr/>
        </p:nvSpPr>
        <p:spPr>
          <a:xfrm>
            <a:off x="349842" y="1399369"/>
            <a:ext cx="839621" cy="34984"/>
          </a:xfrm>
          <a:prstGeom prst="roundRect">
            <a:avLst>
              <a:gd name="adj" fmla="val 0"/>
            </a:avLst>
          </a:prstGeom>
          <a:solidFill>
            <a:srgbClr val="64FFDA"/>
          </a:solidFill>
          <a:ln/>
        </p:spPr>
      </p:sp>
      <p:sp>
        <p:nvSpPr>
          <p:cNvPr id="6" name="Shape 4"/>
          <p:cNvSpPr/>
          <p:nvPr/>
        </p:nvSpPr>
        <p:spPr>
          <a:xfrm>
            <a:off x="354215" y="1578663"/>
            <a:ext cx="6813176" cy="4416758"/>
          </a:xfrm>
          <a:prstGeom prst="roundRect">
            <a:avLst>
              <a:gd name="adj" fmla="val 2376"/>
            </a:avLst>
          </a:prstGeom>
          <a:gradFill rotWithShape="1" flip="none">
            <a:gsLst>
              <a:gs pos="0">
                <a:srgbClr val="1E3A5F">
                  <a:alpha val="50000"/>
                </a:srgbClr>
              </a:gs>
              <a:gs pos="100000">
                <a:srgbClr val="0A192F">
                  <a:alpha val="30000"/>
                </a:srgbClr>
              </a:gs>
            </a:gsLst>
            <a:lin ang="2700000" scaled="1"/>
          </a:gradFill>
          <a:ln w="12700">
            <a:solidFill>
              <a:srgbClr val="64FFDA">
                <a:alpha val="40000"/>
              </a:srgbClr>
            </a:solidFill>
            <a:prstDash val="solid"/>
          </a:ln>
        </p:spPr>
      </p:sp>
      <p:sp>
        <p:nvSpPr>
          <p:cNvPr id="7" name="Shape 5"/>
          <p:cNvSpPr/>
          <p:nvPr/>
        </p:nvSpPr>
        <p:spPr>
          <a:xfrm>
            <a:off x="533509" y="1788568"/>
            <a:ext cx="218651" cy="174921"/>
          </a:xfrm>
          <a:custGeom>
            <a:avLst/>
            <a:gdLst/>
            <a:ahLst/>
            <a:cxnLst/>
            <a:rect l="l" t="t" r="r" b="b"/>
            <a:pathLst>
              <a:path w="218651" h="174921">
                <a:moveTo>
                  <a:pt x="120258" y="0"/>
                </a:moveTo>
                <a:cubicBezTo>
                  <a:pt x="120258" y="-6047"/>
                  <a:pt x="115373" y="-10933"/>
                  <a:pt x="109326" y="-10933"/>
                </a:cubicBezTo>
                <a:cubicBezTo>
                  <a:pt x="103279" y="-10933"/>
                  <a:pt x="98393" y="-6047"/>
                  <a:pt x="98393" y="0"/>
                </a:cubicBezTo>
                <a:lnTo>
                  <a:pt x="98393" y="21865"/>
                </a:lnTo>
                <a:lnTo>
                  <a:pt x="65595" y="21865"/>
                </a:lnTo>
                <a:cubicBezTo>
                  <a:pt x="47488" y="21865"/>
                  <a:pt x="32798" y="36556"/>
                  <a:pt x="32798" y="54663"/>
                </a:cubicBezTo>
                <a:lnTo>
                  <a:pt x="32798" y="131191"/>
                </a:lnTo>
                <a:cubicBezTo>
                  <a:pt x="32798" y="149298"/>
                  <a:pt x="47488" y="163989"/>
                  <a:pt x="65595" y="163989"/>
                </a:cubicBezTo>
                <a:lnTo>
                  <a:pt x="153056" y="163989"/>
                </a:lnTo>
                <a:cubicBezTo>
                  <a:pt x="171163" y="163989"/>
                  <a:pt x="185854" y="149298"/>
                  <a:pt x="185854" y="131191"/>
                </a:cubicBezTo>
                <a:lnTo>
                  <a:pt x="185854" y="54663"/>
                </a:lnTo>
                <a:cubicBezTo>
                  <a:pt x="185854" y="36556"/>
                  <a:pt x="171163" y="21865"/>
                  <a:pt x="153056" y="21865"/>
                </a:cubicBezTo>
                <a:lnTo>
                  <a:pt x="120258" y="21865"/>
                </a:lnTo>
                <a:lnTo>
                  <a:pt x="120258" y="0"/>
                </a:lnTo>
                <a:close/>
                <a:moveTo>
                  <a:pt x="54663" y="125725"/>
                </a:moveTo>
                <a:cubicBezTo>
                  <a:pt x="54663" y="121181"/>
                  <a:pt x="58318" y="117525"/>
                  <a:pt x="62862" y="117525"/>
                </a:cubicBezTo>
                <a:lnTo>
                  <a:pt x="73795" y="117525"/>
                </a:lnTo>
                <a:cubicBezTo>
                  <a:pt x="78339" y="117525"/>
                  <a:pt x="81994" y="121181"/>
                  <a:pt x="81994" y="125725"/>
                </a:cubicBezTo>
                <a:cubicBezTo>
                  <a:pt x="81994" y="130268"/>
                  <a:pt x="78339" y="133924"/>
                  <a:pt x="73795" y="133924"/>
                </a:cubicBezTo>
                <a:lnTo>
                  <a:pt x="62862" y="133924"/>
                </a:lnTo>
                <a:cubicBezTo>
                  <a:pt x="58318" y="133924"/>
                  <a:pt x="54663" y="130268"/>
                  <a:pt x="54663" y="125725"/>
                </a:cubicBezTo>
                <a:close/>
                <a:moveTo>
                  <a:pt x="95660" y="125725"/>
                </a:moveTo>
                <a:cubicBezTo>
                  <a:pt x="95660" y="121181"/>
                  <a:pt x="99316" y="117525"/>
                  <a:pt x="103859" y="117525"/>
                </a:cubicBezTo>
                <a:lnTo>
                  <a:pt x="114792" y="117525"/>
                </a:lnTo>
                <a:cubicBezTo>
                  <a:pt x="119336" y="117525"/>
                  <a:pt x="122991" y="121181"/>
                  <a:pt x="122991" y="125725"/>
                </a:cubicBezTo>
                <a:cubicBezTo>
                  <a:pt x="122991" y="130268"/>
                  <a:pt x="119336" y="133924"/>
                  <a:pt x="114792" y="133924"/>
                </a:cubicBezTo>
                <a:lnTo>
                  <a:pt x="103859" y="133924"/>
                </a:lnTo>
                <a:cubicBezTo>
                  <a:pt x="99316" y="133924"/>
                  <a:pt x="95660" y="130268"/>
                  <a:pt x="95660" y="125725"/>
                </a:cubicBezTo>
                <a:close/>
                <a:moveTo>
                  <a:pt x="136657" y="125725"/>
                </a:moveTo>
                <a:cubicBezTo>
                  <a:pt x="136657" y="121181"/>
                  <a:pt x="140313" y="117525"/>
                  <a:pt x="144857" y="117525"/>
                </a:cubicBezTo>
                <a:lnTo>
                  <a:pt x="155789" y="117525"/>
                </a:lnTo>
                <a:cubicBezTo>
                  <a:pt x="160333" y="117525"/>
                  <a:pt x="163989" y="121181"/>
                  <a:pt x="163989" y="125725"/>
                </a:cubicBezTo>
                <a:cubicBezTo>
                  <a:pt x="163989" y="130268"/>
                  <a:pt x="160333" y="133924"/>
                  <a:pt x="155789" y="133924"/>
                </a:cubicBezTo>
                <a:lnTo>
                  <a:pt x="144857" y="133924"/>
                </a:lnTo>
                <a:cubicBezTo>
                  <a:pt x="140313" y="133924"/>
                  <a:pt x="136657" y="130268"/>
                  <a:pt x="136657" y="125725"/>
                </a:cubicBezTo>
                <a:close/>
                <a:moveTo>
                  <a:pt x="76528" y="60129"/>
                </a:moveTo>
                <a:cubicBezTo>
                  <a:pt x="85579" y="60129"/>
                  <a:pt x="92927" y="67477"/>
                  <a:pt x="92927" y="76528"/>
                </a:cubicBezTo>
                <a:cubicBezTo>
                  <a:pt x="92927" y="85579"/>
                  <a:pt x="85579" y="92927"/>
                  <a:pt x="76528" y="92927"/>
                </a:cubicBezTo>
                <a:cubicBezTo>
                  <a:pt x="67477" y="92927"/>
                  <a:pt x="60129" y="85579"/>
                  <a:pt x="60129" y="76528"/>
                </a:cubicBezTo>
                <a:cubicBezTo>
                  <a:pt x="60129" y="67477"/>
                  <a:pt x="67477" y="60129"/>
                  <a:pt x="76528" y="60129"/>
                </a:cubicBezTo>
                <a:close/>
                <a:moveTo>
                  <a:pt x="125725" y="76528"/>
                </a:moveTo>
                <a:cubicBezTo>
                  <a:pt x="125725" y="67477"/>
                  <a:pt x="133073" y="60129"/>
                  <a:pt x="142123" y="60129"/>
                </a:cubicBezTo>
                <a:cubicBezTo>
                  <a:pt x="151174" y="60129"/>
                  <a:pt x="158522" y="67477"/>
                  <a:pt x="158522" y="76528"/>
                </a:cubicBezTo>
                <a:cubicBezTo>
                  <a:pt x="158522" y="85579"/>
                  <a:pt x="151174" y="92927"/>
                  <a:pt x="142123" y="92927"/>
                </a:cubicBezTo>
                <a:cubicBezTo>
                  <a:pt x="133073" y="92927"/>
                  <a:pt x="125725" y="85579"/>
                  <a:pt x="125725" y="76528"/>
                </a:cubicBezTo>
                <a:close/>
                <a:moveTo>
                  <a:pt x="21865" y="76528"/>
                </a:moveTo>
                <a:cubicBezTo>
                  <a:pt x="21865" y="70481"/>
                  <a:pt x="16980" y="65595"/>
                  <a:pt x="10933" y="65595"/>
                </a:cubicBezTo>
                <a:cubicBezTo>
                  <a:pt x="4885" y="65595"/>
                  <a:pt x="0" y="70481"/>
                  <a:pt x="0" y="76528"/>
                </a:cubicBezTo>
                <a:lnTo>
                  <a:pt x="0" y="109326"/>
                </a:lnTo>
                <a:cubicBezTo>
                  <a:pt x="0" y="115373"/>
                  <a:pt x="4885" y="120258"/>
                  <a:pt x="10933" y="120258"/>
                </a:cubicBezTo>
                <a:cubicBezTo>
                  <a:pt x="16980" y="120258"/>
                  <a:pt x="21865" y="115373"/>
                  <a:pt x="21865" y="109326"/>
                </a:cubicBezTo>
                <a:lnTo>
                  <a:pt x="21865" y="76528"/>
                </a:lnTo>
                <a:close/>
                <a:moveTo>
                  <a:pt x="207719" y="65595"/>
                </a:moveTo>
                <a:cubicBezTo>
                  <a:pt x="201672" y="65595"/>
                  <a:pt x="196786" y="70481"/>
                  <a:pt x="196786" y="76528"/>
                </a:cubicBezTo>
                <a:lnTo>
                  <a:pt x="196786" y="109326"/>
                </a:lnTo>
                <a:cubicBezTo>
                  <a:pt x="196786" y="115373"/>
                  <a:pt x="201672" y="120258"/>
                  <a:pt x="207719" y="120258"/>
                </a:cubicBezTo>
                <a:cubicBezTo>
                  <a:pt x="213766" y="120258"/>
                  <a:pt x="218651" y="115373"/>
                  <a:pt x="218651" y="109326"/>
                </a:cubicBezTo>
                <a:lnTo>
                  <a:pt x="218651" y="76528"/>
                </a:lnTo>
                <a:cubicBezTo>
                  <a:pt x="218651" y="70481"/>
                  <a:pt x="213766" y="65595"/>
                  <a:pt x="207719" y="65595"/>
                </a:cubicBezTo>
                <a:close/>
              </a:path>
            </a:pathLst>
          </a:custGeom>
          <a:solidFill>
            <a:srgbClr val="64FFDA"/>
          </a:solidFill>
          <a:ln/>
        </p:spPr>
      </p:sp>
      <p:sp>
        <p:nvSpPr>
          <p:cNvPr id="8" name="Text 6"/>
          <p:cNvSpPr/>
          <p:nvPr/>
        </p:nvSpPr>
        <p:spPr>
          <a:xfrm>
            <a:off x="800346" y="1757957"/>
            <a:ext cx="6275213"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64FFDA"/>
                </a:solidFill>
                <a:latin typeface="Liter" pitchFamily="34" charset="0"/>
                <a:ea typeface="Liter" pitchFamily="34" charset="-122"/>
                <a:cs typeface="Liter" pitchFamily="34" charset="-120"/>
              </a:rPr>
              <a:t>سير عمل قمع الذكاء الاصطناعي</a:t>
            </a:r>
            <a:endParaRPr xmlns:a="http://schemas.openxmlformats.org/drawingml/2006/main" lang="en-US" sz="1600" dirty="0"/>
          </a:p>
        </p:txBody>
      </p:sp>
      <p:sp>
        <p:nvSpPr>
          <p:cNvPr id="9" name="Shape 7"/>
          <p:cNvSpPr/>
          <p:nvPr/>
        </p:nvSpPr>
        <p:spPr>
          <a:xfrm>
            <a:off x="533509" y="2142783"/>
            <a:ext cx="419811" cy="419811"/>
          </a:xfrm>
          <a:prstGeom prst="roundRect">
            <a:avLst>
              <a:gd name="adj" fmla="val 50000"/>
            </a:avLst>
          </a:prstGeom>
          <a:solidFill>
            <a:srgbClr val="4267B2">
              <a:alpha val="20000"/>
            </a:srgbClr>
          </a:solidFill>
          <a:ln/>
        </p:spPr>
      </p:sp>
      <p:sp>
        <p:nvSpPr>
          <p:cNvPr id="10" name="Text 8"/>
          <p:cNvSpPr/>
          <p:nvPr/>
        </p:nvSpPr>
        <p:spPr>
          <a:xfrm>
            <a:off x="715673" y="2230244"/>
            <a:ext cx="139937"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4267B2"/>
                </a:solidFill>
                <a:latin typeface="Quattrocento Sans" pitchFamily="34" charset="0"/>
                <a:ea typeface="Quattrocento Sans" pitchFamily="34" charset="-122"/>
                <a:cs typeface="Quattrocento Sans" pitchFamily="34" charset="-120"/>
              </a:rPr>
              <a:t>1</a:t>
            </a:r>
            <a:endParaRPr xmlns:a="http://schemas.openxmlformats.org/drawingml/2006/main" lang="en-US" sz="1600" dirty="0"/>
          </a:p>
        </p:txBody>
      </p:sp>
      <p:sp>
        <p:nvSpPr>
          <p:cNvPr id="11" name="Shape 9"/>
          <p:cNvSpPr/>
          <p:nvPr/>
        </p:nvSpPr>
        <p:spPr>
          <a:xfrm>
            <a:off x="1093257" y="2142783"/>
            <a:ext cx="5894841" cy="629716"/>
          </a:xfrm>
          <a:prstGeom prst="roundRect">
            <a:avLst>
              <a:gd name="adj" fmla="val 11111"/>
            </a:avLst>
          </a:prstGeom>
          <a:solidFill>
            <a:srgbClr val="0A192F">
              <a:alpha val="40000"/>
            </a:srgbClr>
          </a:solidFill>
          <a:ln/>
        </p:spPr>
      </p:sp>
      <p:sp>
        <p:nvSpPr>
          <p:cNvPr id="12" name="Text 10"/>
          <p:cNvSpPr/>
          <p:nvPr/>
        </p:nvSpPr>
        <p:spPr>
          <a:xfrm>
            <a:off x="1198209" y="2247736"/>
            <a:ext cx="5754904"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4267B2"/>
                </a:solidFill>
                <a:latin typeface="Quattrocento Sans" pitchFamily="34" charset="0"/>
                <a:ea typeface="Quattrocento Sans" pitchFamily="34" charset="-122"/>
                <a:cs typeface="Quattrocento Sans" pitchFamily="34" charset="-120"/>
              </a:rPr>
              <a:t>المحفز: </a:t>
            </a:r>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نقر المستخدم على إعلان ميتا</a:t>
            </a:r>
            <a:endParaRPr xmlns:a="http://schemas.openxmlformats.org/drawingml/2006/main" lang="en-US" sz="1600" dirty="0"/>
          </a:p>
        </p:txBody>
      </p:sp>
      <p:sp>
        <p:nvSpPr>
          <p:cNvPr id="13" name="Text 11"/>
          <p:cNvSpPr/>
          <p:nvPr/>
        </p:nvSpPr>
        <p:spPr>
          <a:xfrm>
            <a:off x="1198209" y="2492626"/>
            <a:ext cx="5746158" cy="17492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64" dirty="0">
                <a:solidFill>
                  <a:srgbClr val="E6F1FF">
                    <a:alpha val="70000"/>
                  </a:srgbClr>
                </a:solidFill>
                <a:latin typeface="Quattrocento Sans" pitchFamily="34" charset="0"/>
                <a:ea typeface="Quattrocento Sans" pitchFamily="34" charset="-122"/>
                <a:cs typeface="Quattrocento Sans" pitchFamily="34" charset="-120"/>
              </a:rPr>
              <a:t>يُحيل الإعلان إلى رسائل واتساب الخاصة بدلاً من صفحة الهبوط</a:t>
            </a:r>
            <a:endParaRPr xmlns:a="http://schemas.openxmlformats.org/drawingml/2006/main" lang="en-US" sz="1600" dirty="0"/>
          </a:p>
        </p:txBody>
      </p:sp>
      <p:sp>
        <p:nvSpPr>
          <p:cNvPr id="14" name="Shape 12"/>
          <p:cNvSpPr/>
          <p:nvPr/>
        </p:nvSpPr>
        <p:spPr>
          <a:xfrm>
            <a:off x="3696301" y="2877452"/>
            <a:ext cx="131191" cy="174921"/>
          </a:xfrm>
          <a:custGeom>
            <a:avLst/>
            <a:gdLst/>
            <a:ahLst/>
            <a:cxnLst/>
            <a:rect l="l" t="t" r="r" b="b"/>
            <a:pathLst>
              <a:path w="131191" h="174921">
                <a:moveTo>
                  <a:pt x="57874" y="171710"/>
                </a:moveTo>
                <a:cubicBezTo>
                  <a:pt x="62145" y="175980"/>
                  <a:pt x="69080" y="175980"/>
                  <a:pt x="73351" y="171710"/>
                </a:cubicBezTo>
                <a:lnTo>
                  <a:pt x="128014" y="117047"/>
                </a:lnTo>
                <a:cubicBezTo>
                  <a:pt x="132284" y="112776"/>
                  <a:pt x="132284" y="105841"/>
                  <a:pt x="128014" y="101570"/>
                </a:cubicBezTo>
                <a:cubicBezTo>
                  <a:pt x="123743" y="97300"/>
                  <a:pt x="116808" y="97300"/>
                  <a:pt x="112537" y="101570"/>
                </a:cubicBezTo>
                <a:lnTo>
                  <a:pt x="76528" y="137580"/>
                </a:lnTo>
                <a:lnTo>
                  <a:pt x="76528" y="10933"/>
                </a:lnTo>
                <a:cubicBezTo>
                  <a:pt x="76528" y="4885"/>
                  <a:pt x="71642" y="0"/>
                  <a:pt x="65595" y="0"/>
                </a:cubicBezTo>
                <a:cubicBezTo>
                  <a:pt x="59548" y="0"/>
                  <a:pt x="54663" y="4885"/>
                  <a:pt x="54663" y="10933"/>
                </a:cubicBezTo>
                <a:lnTo>
                  <a:pt x="54663" y="137580"/>
                </a:lnTo>
                <a:lnTo>
                  <a:pt x="18654" y="101570"/>
                </a:lnTo>
                <a:cubicBezTo>
                  <a:pt x="14383" y="97300"/>
                  <a:pt x="7448" y="97300"/>
                  <a:pt x="3177" y="101570"/>
                </a:cubicBezTo>
                <a:cubicBezTo>
                  <a:pt x="-1093" y="105841"/>
                  <a:pt x="-1093" y="112776"/>
                  <a:pt x="3177" y="117047"/>
                </a:cubicBezTo>
                <a:lnTo>
                  <a:pt x="57840" y="171710"/>
                </a:lnTo>
                <a:close/>
              </a:path>
            </a:pathLst>
          </a:custGeom>
          <a:solidFill>
            <a:srgbClr val="64FFDA"/>
          </a:solidFill>
          <a:ln/>
        </p:spPr>
      </p:sp>
      <p:sp>
        <p:nvSpPr>
          <p:cNvPr id="15" name="Shape 13"/>
          <p:cNvSpPr/>
          <p:nvPr/>
        </p:nvSpPr>
        <p:spPr>
          <a:xfrm>
            <a:off x="533509" y="3157326"/>
            <a:ext cx="419811" cy="419811"/>
          </a:xfrm>
          <a:prstGeom prst="roundRect">
            <a:avLst>
              <a:gd name="adj" fmla="val 50000"/>
            </a:avLst>
          </a:prstGeom>
          <a:solidFill>
            <a:srgbClr val="64FFDA">
              <a:alpha val="20000"/>
            </a:srgbClr>
          </a:solidFill>
          <a:ln/>
        </p:spPr>
      </p:sp>
      <p:sp>
        <p:nvSpPr>
          <p:cNvPr id="16" name="Text 14"/>
          <p:cNvSpPr/>
          <p:nvPr/>
        </p:nvSpPr>
        <p:spPr>
          <a:xfrm>
            <a:off x="698864" y="3244786"/>
            <a:ext cx="174921"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64FFDA"/>
                </a:solidFill>
                <a:latin typeface="Quattrocento Sans" pitchFamily="34" charset="0"/>
                <a:ea typeface="Quattrocento Sans" pitchFamily="34" charset="-122"/>
                <a:cs typeface="Quattrocento Sans" pitchFamily="34" charset="-120"/>
              </a:rPr>
              <a:t>2</a:t>
            </a:r>
            <a:endParaRPr xmlns:a="http://schemas.openxmlformats.org/drawingml/2006/main" lang="en-US" sz="1600" dirty="0"/>
          </a:p>
        </p:txBody>
      </p:sp>
      <p:sp>
        <p:nvSpPr>
          <p:cNvPr id="17" name="Shape 15"/>
          <p:cNvSpPr/>
          <p:nvPr/>
        </p:nvSpPr>
        <p:spPr>
          <a:xfrm>
            <a:off x="1093257" y="3157326"/>
            <a:ext cx="5894841" cy="629716"/>
          </a:xfrm>
          <a:prstGeom prst="roundRect">
            <a:avLst>
              <a:gd name="adj" fmla="val 11111"/>
            </a:avLst>
          </a:prstGeom>
          <a:solidFill>
            <a:srgbClr val="0A192F">
              <a:alpha val="40000"/>
            </a:srgbClr>
          </a:solidFill>
          <a:ln/>
        </p:spPr>
      </p:sp>
      <p:sp>
        <p:nvSpPr>
          <p:cNvPr id="18" name="Text 16"/>
          <p:cNvSpPr/>
          <p:nvPr/>
        </p:nvSpPr>
        <p:spPr>
          <a:xfrm>
            <a:off x="1198209" y="3262278"/>
            <a:ext cx="5754904"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64FFDA"/>
                </a:solidFill>
                <a:latin typeface="Quattrocento Sans" pitchFamily="34" charset="0"/>
                <a:ea typeface="Quattrocento Sans" pitchFamily="34" charset="-122"/>
                <a:cs typeface="Quattrocento Sans" pitchFamily="34" charset="-120"/>
              </a:rPr>
              <a:t>واتساب بتقنية الذكاء الاصطناعي: </a:t>
            </a:r>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تأهيل فوري</a:t>
            </a:r>
            <a:endParaRPr xmlns:a="http://schemas.openxmlformats.org/drawingml/2006/main" lang="en-US" sz="1600" dirty="0"/>
          </a:p>
        </p:txBody>
      </p:sp>
      <p:sp>
        <p:nvSpPr>
          <p:cNvPr id="19" name="Text 17"/>
          <p:cNvSpPr/>
          <p:nvPr/>
        </p:nvSpPr>
        <p:spPr>
          <a:xfrm>
            <a:off x="1198209" y="3507168"/>
            <a:ext cx="5746158" cy="17492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64" dirty="0">
                <a:solidFill>
                  <a:srgbClr val="E6F1FF">
                    <a:alpha val="70000"/>
                  </a:srgbClr>
                </a:solidFill>
                <a:latin typeface="Quattrocento Sans" pitchFamily="34" charset="0"/>
                <a:ea typeface="Quattrocento Sans" pitchFamily="34" charset="-122"/>
                <a:cs typeface="Quattrocento Sans" pitchFamily="34" charset="-120"/>
              </a:rPr>
              <a:t>"العمر؟ المدينة؟ الهدف الرئيسي (التركيز/التوتر/النوم)؟"</a:t>
            </a:r>
            <a:endParaRPr xmlns:a="http://schemas.openxmlformats.org/drawingml/2006/main" lang="en-US" sz="1600" dirty="0"/>
          </a:p>
        </p:txBody>
      </p:sp>
      <p:sp>
        <p:nvSpPr>
          <p:cNvPr id="20" name="Shape 18"/>
          <p:cNvSpPr/>
          <p:nvPr/>
        </p:nvSpPr>
        <p:spPr>
          <a:xfrm>
            <a:off x="3696301" y="3891994"/>
            <a:ext cx="131191" cy="174921"/>
          </a:xfrm>
          <a:custGeom>
            <a:avLst/>
            <a:gdLst/>
            <a:ahLst/>
            <a:cxnLst/>
            <a:rect l="l" t="t" r="r" b="b"/>
            <a:pathLst>
              <a:path w="131191" h="174921">
                <a:moveTo>
                  <a:pt x="57874" y="171710"/>
                </a:moveTo>
                <a:cubicBezTo>
                  <a:pt x="62145" y="175980"/>
                  <a:pt x="69080" y="175980"/>
                  <a:pt x="73351" y="171710"/>
                </a:cubicBezTo>
                <a:lnTo>
                  <a:pt x="128014" y="117047"/>
                </a:lnTo>
                <a:cubicBezTo>
                  <a:pt x="132284" y="112776"/>
                  <a:pt x="132284" y="105841"/>
                  <a:pt x="128014" y="101570"/>
                </a:cubicBezTo>
                <a:cubicBezTo>
                  <a:pt x="123743" y="97300"/>
                  <a:pt x="116808" y="97300"/>
                  <a:pt x="112537" y="101570"/>
                </a:cubicBezTo>
                <a:lnTo>
                  <a:pt x="76528" y="137580"/>
                </a:lnTo>
                <a:lnTo>
                  <a:pt x="76528" y="10933"/>
                </a:lnTo>
                <a:cubicBezTo>
                  <a:pt x="76528" y="4885"/>
                  <a:pt x="71642" y="0"/>
                  <a:pt x="65595" y="0"/>
                </a:cubicBezTo>
                <a:cubicBezTo>
                  <a:pt x="59548" y="0"/>
                  <a:pt x="54663" y="4885"/>
                  <a:pt x="54663" y="10933"/>
                </a:cubicBezTo>
                <a:lnTo>
                  <a:pt x="54663" y="137580"/>
                </a:lnTo>
                <a:lnTo>
                  <a:pt x="18654" y="101570"/>
                </a:lnTo>
                <a:cubicBezTo>
                  <a:pt x="14383" y="97300"/>
                  <a:pt x="7448" y="97300"/>
                  <a:pt x="3177" y="101570"/>
                </a:cubicBezTo>
                <a:cubicBezTo>
                  <a:pt x="-1093" y="105841"/>
                  <a:pt x="-1093" y="112776"/>
                  <a:pt x="3177" y="117047"/>
                </a:cubicBezTo>
                <a:lnTo>
                  <a:pt x="57840" y="171710"/>
                </a:lnTo>
                <a:close/>
              </a:path>
            </a:pathLst>
          </a:custGeom>
          <a:solidFill>
            <a:srgbClr val="64FFDA"/>
          </a:solidFill>
          <a:ln/>
        </p:spPr>
      </p:sp>
      <p:sp>
        <p:nvSpPr>
          <p:cNvPr id="21" name="Shape 19"/>
          <p:cNvSpPr/>
          <p:nvPr/>
        </p:nvSpPr>
        <p:spPr>
          <a:xfrm>
            <a:off x="533509" y="4171868"/>
            <a:ext cx="419811" cy="419811"/>
          </a:xfrm>
          <a:prstGeom prst="roundRect">
            <a:avLst>
              <a:gd name="adj" fmla="val 50000"/>
            </a:avLst>
          </a:prstGeom>
          <a:solidFill>
            <a:srgbClr val="D4AF37">
              <a:alpha val="20000"/>
            </a:srgbClr>
          </a:solidFill>
          <a:ln/>
        </p:spPr>
      </p:sp>
      <p:sp>
        <p:nvSpPr>
          <p:cNvPr id="22" name="Text 20"/>
          <p:cNvSpPr/>
          <p:nvPr/>
        </p:nvSpPr>
        <p:spPr>
          <a:xfrm>
            <a:off x="696610" y="4259329"/>
            <a:ext cx="183667"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D4AF37"/>
                </a:solidFill>
                <a:latin typeface="Quattrocento Sans" pitchFamily="34" charset="0"/>
                <a:ea typeface="Quattrocento Sans" pitchFamily="34" charset="-122"/>
                <a:cs typeface="Quattrocento Sans" pitchFamily="34" charset="-120"/>
              </a:rPr>
              <a:t>3</a:t>
            </a:r>
            <a:endParaRPr xmlns:a="http://schemas.openxmlformats.org/drawingml/2006/main" lang="en-US" sz="1600" dirty="0"/>
          </a:p>
        </p:txBody>
      </p:sp>
      <p:sp>
        <p:nvSpPr>
          <p:cNvPr id="23" name="Shape 21"/>
          <p:cNvSpPr/>
          <p:nvPr/>
        </p:nvSpPr>
        <p:spPr>
          <a:xfrm>
            <a:off x="1093257" y="4171868"/>
            <a:ext cx="5894841" cy="629716"/>
          </a:xfrm>
          <a:prstGeom prst="roundRect">
            <a:avLst>
              <a:gd name="adj" fmla="val 11111"/>
            </a:avLst>
          </a:prstGeom>
          <a:solidFill>
            <a:srgbClr val="0A192F">
              <a:alpha val="40000"/>
            </a:srgbClr>
          </a:solidFill>
          <a:ln/>
        </p:spPr>
      </p:sp>
      <p:sp>
        <p:nvSpPr>
          <p:cNvPr id="24" name="Text 22"/>
          <p:cNvSpPr/>
          <p:nvPr/>
        </p:nvSpPr>
        <p:spPr>
          <a:xfrm>
            <a:off x="1198209" y="4276821"/>
            <a:ext cx="5754904"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D4AF37"/>
                </a:solidFill>
                <a:latin typeface="Quattrocento Sans" pitchFamily="34" charset="0"/>
                <a:ea typeface="Quattrocento Sans" pitchFamily="34" charset="-122"/>
                <a:cs typeface="Quattrocento Sans" pitchFamily="34" charset="-120"/>
              </a:rPr>
              <a:t>مخرجات الذكاء الاصطناعي: </a:t>
            </a:r>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وضع العلامات والتوجيه التلقائي</a:t>
            </a:r>
            <a:endParaRPr xmlns:a="http://schemas.openxmlformats.org/drawingml/2006/main" lang="en-US" sz="1600" dirty="0"/>
          </a:p>
        </p:txBody>
      </p:sp>
      <p:sp>
        <p:nvSpPr>
          <p:cNvPr id="25" name="Text 23"/>
          <p:cNvSpPr/>
          <p:nvPr/>
        </p:nvSpPr>
        <p:spPr>
          <a:xfrm>
            <a:off x="1198209" y="4521710"/>
            <a:ext cx="5746158" cy="17492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64" dirty="0">
                <a:solidFill>
                  <a:srgbClr val="E6F1FF">
                    <a:alpha val="70000"/>
                  </a:srgbClr>
                </a:solidFill>
                <a:latin typeface="Quattrocento Sans" pitchFamily="34" charset="0"/>
                <a:ea typeface="Quattrocento Sans" pitchFamily="34" charset="-122"/>
                <a:cs typeface="Quattrocento Sans" pitchFamily="34" charset="-120"/>
              </a:rPr>
              <a:t>تُساهم علامات الذكاء الاصطناعي في إدارة علاقات العملاء وتوفر رابط حجز للمركز المحلي</a:t>
            </a:r>
            <a:endParaRPr xmlns:a="http://schemas.openxmlformats.org/drawingml/2006/main" lang="en-US" sz="1600" dirty="0"/>
          </a:p>
        </p:txBody>
      </p:sp>
      <p:sp>
        <p:nvSpPr>
          <p:cNvPr id="26" name="Shape 24"/>
          <p:cNvSpPr/>
          <p:nvPr/>
        </p:nvSpPr>
        <p:spPr>
          <a:xfrm>
            <a:off x="3696301" y="4906537"/>
            <a:ext cx="131191" cy="174921"/>
          </a:xfrm>
          <a:custGeom>
            <a:avLst/>
            <a:gdLst/>
            <a:ahLst/>
            <a:cxnLst/>
            <a:rect l="l" t="t" r="r" b="b"/>
            <a:pathLst>
              <a:path w="131191" h="174921">
                <a:moveTo>
                  <a:pt x="57874" y="171710"/>
                </a:moveTo>
                <a:cubicBezTo>
                  <a:pt x="62145" y="175980"/>
                  <a:pt x="69080" y="175980"/>
                  <a:pt x="73351" y="171710"/>
                </a:cubicBezTo>
                <a:lnTo>
                  <a:pt x="128014" y="117047"/>
                </a:lnTo>
                <a:cubicBezTo>
                  <a:pt x="132284" y="112776"/>
                  <a:pt x="132284" y="105841"/>
                  <a:pt x="128014" y="101570"/>
                </a:cubicBezTo>
                <a:cubicBezTo>
                  <a:pt x="123743" y="97300"/>
                  <a:pt x="116808" y="97300"/>
                  <a:pt x="112537" y="101570"/>
                </a:cubicBezTo>
                <a:lnTo>
                  <a:pt x="76528" y="137580"/>
                </a:lnTo>
                <a:lnTo>
                  <a:pt x="76528" y="10933"/>
                </a:lnTo>
                <a:cubicBezTo>
                  <a:pt x="76528" y="4885"/>
                  <a:pt x="71642" y="0"/>
                  <a:pt x="65595" y="0"/>
                </a:cubicBezTo>
                <a:cubicBezTo>
                  <a:pt x="59548" y="0"/>
                  <a:pt x="54663" y="4885"/>
                  <a:pt x="54663" y="10933"/>
                </a:cubicBezTo>
                <a:lnTo>
                  <a:pt x="54663" y="137580"/>
                </a:lnTo>
                <a:lnTo>
                  <a:pt x="18654" y="101570"/>
                </a:lnTo>
                <a:cubicBezTo>
                  <a:pt x="14383" y="97300"/>
                  <a:pt x="7448" y="97300"/>
                  <a:pt x="3177" y="101570"/>
                </a:cubicBezTo>
                <a:cubicBezTo>
                  <a:pt x="-1093" y="105841"/>
                  <a:pt x="-1093" y="112776"/>
                  <a:pt x="3177" y="117047"/>
                </a:cubicBezTo>
                <a:lnTo>
                  <a:pt x="57840" y="171710"/>
                </a:lnTo>
                <a:close/>
              </a:path>
            </a:pathLst>
          </a:custGeom>
          <a:solidFill>
            <a:srgbClr val="64FFDA"/>
          </a:solidFill>
          <a:ln/>
        </p:spPr>
      </p:sp>
      <p:sp>
        <p:nvSpPr>
          <p:cNvPr id="27" name="Shape 25"/>
          <p:cNvSpPr/>
          <p:nvPr/>
        </p:nvSpPr>
        <p:spPr>
          <a:xfrm>
            <a:off x="533509" y="5186410"/>
            <a:ext cx="419811" cy="419811"/>
          </a:xfrm>
          <a:prstGeom prst="roundRect">
            <a:avLst>
              <a:gd name="adj" fmla="val 50000"/>
            </a:avLst>
          </a:prstGeom>
          <a:solidFill>
            <a:srgbClr val="00C950">
              <a:alpha val="20000"/>
            </a:srgbClr>
          </a:solidFill>
          <a:ln/>
        </p:spPr>
      </p:sp>
      <p:sp>
        <p:nvSpPr>
          <p:cNvPr id="28" name="Text 26"/>
          <p:cNvSpPr/>
          <p:nvPr/>
        </p:nvSpPr>
        <p:spPr>
          <a:xfrm>
            <a:off x="698933" y="5273871"/>
            <a:ext cx="174921"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05DF72"/>
                </a:solidFill>
                <a:latin typeface="Quattrocento Sans" pitchFamily="34" charset="0"/>
                <a:ea typeface="Quattrocento Sans" pitchFamily="34" charset="-122"/>
                <a:cs typeface="Quattrocento Sans" pitchFamily="34" charset="-120"/>
              </a:rPr>
              <a:t>4</a:t>
            </a:r>
            <a:endParaRPr xmlns:a="http://schemas.openxmlformats.org/drawingml/2006/main" lang="en-US" sz="1600" dirty="0"/>
          </a:p>
        </p:txBody>
      </p:sp>
      <p:sp>
        <p:nvSpPr>
          <p:cNvPr id="29" name="Shape 27"/>
          <p:cNvSpPr/>
          <p:nvPr/>
        </p:nvSpPr>
        <p:spPr>
          <a:xfrm>
            <a:off x="1093257" y="5186410"/>
            <a:ext cx="5894841" cy="629716"/>
          </a:xfrm>
          <a:prstGeom prst="roundRect">
            <a:avLst>
              <a:gd name="adj" fmla="val 11111"/>
            </a:avLst>
          </a:prstGeom>
          <a:solidFill>
            <a:srgbClr val="0A192F">
              <a:alpha val="40000"/>
            </a:srgbClr>
          </a:solidFill>
          <a:ln/>
        </p:spPr>
      </p:sp>
      <p:sp>
        <p:nvSpPr>
          <p:cNvPr id="30" name="Text 28"/>
          <p:cNvSpPr/>
          <p:nvPr/>
        </p:nvSpPr>
        <p:spPr>
          <a:xfrm>
            <a:off x="1198209" y="5291363"/>
            <a:ext cx="5754904"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05DF72"/>
                </a:solidFill>
                <a:latin typeface="Quattrocento Sans" pitchFamily="34" charset="0"/>
                <a:ea typeface="Quattrocento Sans" pitchFamily="34" charset="-122"/>
                <a:cs typeface="Quattrocento Sans" pitchFamily="34" charset="-120"/>
              </a:rPr>
              <a:t>النتيجة: </a:t>
            </a:r>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حجز عميل محتمل مؤهل</a:t>
            </a:r>
            <a:endParaRPr xmlns:a="http://schemas.openxmlformats.org/drawingml/2006/main" lang="en-US" sz="1600" dirty="0"/>
          </a:p>
        </p:txBody>
      </p:sp>
      <p:sp>
        <p:nvSpPr>
          <p:cNvPr id="31" name="Text 29"/>
          <p:cNvSpPr/>
          <p:nvPr/>
        </p:nvSpPr>
        <p:spPr>
          <a:xfrm>
            <a:off x="1198209" y="5536253"/>
            <a:ext cx="5746158" cy="17492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64" dirty="0">
                <a:solidFill>
                  <a:srgbClr val="E6F1FF">
                    <a:alpha val="70000"/>
                  </a:srgbClr>
                </a:solidFill>
                <a:latin typeface="Quattrocento Sans" pitchFamily="34" charset="0"/>
                <a:ea typeface="Quattrocento Sans" pitchFamily="34" charset="-122"/>
                <a:cs typeface="Quattrocento Sans" pitchFamily="34" charset="-120"/>
              </a:rPr>
              <a:t>يتلقى القائد تأكيدًا وتعليمات ما قبل الجلسة</a:t>
            </a:r>
            <a:endParaRPr xmlns:a="http://schemas.openxmlformats.org/drawingml/2006/main" lang="en-US" sz="1600" dirty="0"/>
          </a:p>
        </p:txBody>
      </p:sp>
      <p:sp>
        <p:nvSpPr>
          <p:cNvPr id="32" name="Shape 30"/>
          <p:cNvSpPr/>
          <p:nvPr/>
        </p:nvSpPr>
        <p:spPr>
          <a:xfrm>
            <a:off x="354215" y="6144103"/>
            <a:ext cx="6813176" cy="708430"/>
          </a:xfrm>
          <a:prstGeom prst="roundRect">
            <a:avLst>
              <a:gd name="adj" fmla="val 14815"/>
            </a:avLst>
          </a:prstGeom>
          <a:gradFill rotWithShape="1" flip="none">
            <a:gsLst>
              <a:gs pos="0">
                <a:srgbClr val="64FFDA">
                  <a:alpha val="20000"/>
                </a:srgbClr>
              </a:gs>
              <a:gs pos="100000">
                <a:srgbClr val="D4AF37">
                  <a:alpha val="20000"/>
                </a:srgbClr>
              </a:gs>
            </a:gsLst>
            <a:lin ang="0" scaled="1"/>
          </a:gradFill>
          <a:ln w="12700">
            <a:solidFill>
              <a:srgbClr val="64FFDA">
                <a:alpha val="40000"/>
              </a:srgbClr>
            </a:solidFill>
            <a:prstDash val="solid"/>
          </a:ln>
        </p:spPr>
      </p:sp>
      <p:sp>
        <p:nvSpPr>
          <p:cNvPr id="33" name="Shape 31"/>
          <p:cNvSpPr/>
          <p:nvPr/>
        </p:nvSpPr>
        <p:spPr>
          <a:xfrm>
            <a:off x="533509" y="6319024"/>
            <a:ext cx="104953" cy="139937"/>
          </a:xfrm>
          <a:custGeom>
            <a:avLst/>
            <a:gdLst/>
            <a:ahLst/>
            <a:cxnLst/>
            <a:rect l="l" t="t" r="r" b="b"/>
            <a:pathLst>
              <a:path w="104953" h="139937">
                <a:moveTo>
                  <a:pt x="80054" y="104953"/>
                </a:moveTo>
                <a:cubicBezTo>
                  <a:pt x="82049" y="98858"/>
                  <a:pt x="86039" y="93337"/>
                  <a:pt x="90549" y="88581"/>
                </a:cubicBezTo>
                <a:cubicBezTo>
                  <a:pt x="99486" y="79179"/>
                  <a:pt x="104953" y="66470"/>
                  <a:pt x="104953" y="52476"/>
                </a:cubicBezTo>
                <a:cubicBezTo>
                  <a:pt x="104953" y="23505"/>
                  <a:pt x="81448" y="0"/>
                  <a:pt x="52476" y="0"/>
                </a:cubicBezTo>
                <a:cubicBezTo>
                  <a:pt x="23505" y="0"/>
                  <a:pt x="0" y="23505"/>
                  <a:pt x="0" y="52476"/>
                </a:cubicBezTo>
                <a:cubicBezTo>
                  <a:pt x="0" y="66470"/>
                  <a:pt x="5466" y="79179"/>
                  <a:pt x="14404" y="88581"/>
                </a:cubicBezTo>
                <a:cubicBezTo>
                  <a:pt x="18913" y="93337"/>
                  <a:pt x="22931" y="98858"/>
                  <a:pt x="24899" y="104953"/>
                </a:cubicBezTo>
                <a:lnTo>
                  <a:pt x="80026" y="104953"/>
                </a:lnTo>
                <a:close/>
                <a:moveTo>
                  <a:pt x="78714" y="118072"/>
                </a:moveTo>
                <a:lnTo>
                  <a:pt x="26238" y="118072"/>
                </a:lnTo>
                <a:lnTo>
                  <a:pt x="26238" y="122445"/>
                </a:lnTo>
                <a:cubicBezTo>
                  <a:pt x="26238" y="134525"/>
                  <a:pt x="36023" y="144310"/>
                  <a:pt x="48103" y="144310"/>
                </a:cubicBezTo>
                <a:lnTo>
                  <a:pt x="56849" y="144310"/>
                </a:lnTo>
                <a:cubicBezTo>
                  <a:pt x="68930" y="144310"/>
                  <a:pt x="78714" y="134525"/>
                  <a:pt x="78714" y="122445"/>
                </a:cubicBezTo>
                <a:lnTo>
                  <a:pt x="78714" y="118072"/>
                </a:lnTo>
                <a:close/>
                <a:moveTo>
                  <a:pt x="50290" y="30611"/>
                </a:moveTo>
                <a:cubicBezTo>
                  <a:pt x="39412" y="30611"/>
                  <a:pt x="30611" y="39412"/>
                  <a:pt x="30611" y="50290"/>
                </a:cubicBezTo>
                <a:cubicBezTo>
                  <a:pt x="30611" y="53925"/>
                  <a:pt x="27687" y="56849"/>
                  <a:pt x="24052" y="56849"/>
                </a:cubicBezTo>
                <a:cubicBezTo>
                  <a:pt x="20417" y="56849"/>
                  <a:pt x="17492" y="53925"/>
                  <a:pt x="17492" y="50290"/>
                </a:cubicBezTo>
                <a:cubicBezTo>
                  <a:pt x="17492" y="32169"/>
                  <a:pt x="32169" y="17492"/>
                  <a:pt x="50290" y="17492"/>
                </a:cubicBezTo>
                <a:cubicBezTo>
                  <a:pt x="53925" y="17492"/>
                  <a:pt x="56849" y="20417"/>
                  <a:pt x="56849" y="24052"/>
                </a:cubicBezTo>
                <a:cubicBezTo>
                  <a:pt x="56849" y="27687"/>
                  <a:pt x="53925" y="30611"/>
                  <a:pt x="50290" y="30611"/>
                </a:cubicBezTo>
                <a:close/>
              </a:path>
            </a:pathLst>
          </a:custGeom>
          <a:solidFill>
            <a:srgbClr val="D4AF37"/>
          </a:solidFill>
          <a:ln/>
        </p:spPr>
      </p:sp>
      <p:sp>
        <p:nvSpPr>
          <p:cNvPr id="34" name="Text 32"/>
          <p:cNvSpPr/>
          <p:nvPr/>
        </p:nvSpPr>
        <p:spPr>
          <a:xfrm>
            <a:off x="721631" y="6288413"/>
            <a:ext cx="6371419" cy="419811"/>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D4AF37"/>
                </a:solidFill>
                <a:latin typeface="Quattrocento Sans" pitchFamily="34" charset="0"/>
                <a:ea typeface="Quattrocento Sans" pitchFamily="34" charset="-122"/>
                <a:cs typeface="Quattrocento Sans" pitchFamily="34" charset="-120"/>
              </a:rPr>
              <a:t>منطق التحسين: </a:t>
            </a:r>
            <a:pPr xmlns:a="http://schemas.openxmlformats.org/drawingml/2006/main">
              <a:lnSpc>
                <a:spcPct val="130000"/>
              </a:lnSpc>
              <a:bidi/>
            </a:pPr>
            <a:r xmlns:a="http://schemas.openxmlformats.org/drawingml/2006/main">
              <a:rPr lang="ar" sz="1102" dirty="0">
                <a:solidFill>
                  <a:srgbClr val="E6F1FF"/>
                </a:solidFill>
                <a:latin typeface="Quattrocento Sans" pitchFamily="34" charset="0"/>
                <a:ea typeface="Quattrocento Sans" pitchFamily="34" charset="-122"/>
                <a:cs typeface="Quattrocento Sans" pitchFamily="34" charset="-120"/>
              </a:rPr>
              <a:t>إذا كان معدل تكلفة النقرة منخفضًا ولكن عدد مرات الظهور منخفض، فقم بتعديل نص الذكاء الاصطناعي ليكون أكثر انتقائية في التأهيل.</a:t>
            </a:r>
            <a:endParaRPr xmlns:a="http://schemas.openxmlformats.org/drawingml/2006/main" lang="en-US" sz="1600" dirty="0"/>
          </a:p>
        </p:txBody>
      </p:sp>
      <p:sp>
        <p:nvSpPr>
          <p:cNvPr id="35" name="Shape 33"/>
          <p:cNvSpPr/>
          <p:nvPr/>
        </p:nvSpPr>
        <p:spPr>
          <a:xfrm>
            <a:off x="7353314" y="1578663"/>
            <a:ext cx="4486726" cy="3402215"/>
          </a:xfrm>
          <a:prstGeom prst="roundRect">
            <a:avLst>
              <a:gd name="adj" fmla="val 3085"/>
            </a:avLst>
          </a:prstGeom>
          <a:gradFill rotWithShape="1" flip="none">
            <a:gsLst>
              <a:gs pos="0">
                <a:srgbClr val="1E3A5F">
                  <a:alpha val="50000"/>
                </a:srgbClr>
              </a:gs>
              <a:gs pos="100000">
                <a:srgbClr val="0A192F">
                  <a:alpha val="30000"/>
                </a:srgbClr>
              </a:gs>
            </a:gsLst>
            <a:lin ang="2700000" scaled="1"/>
          </a:gradFill>
          <a:ln w="12700">
            <a:solidFill>
              <a:srgbClr val="D4AF37">
                <a:alpha val="40000"/>
              </a:srgbClr>
            </a:solidFill>
            <a:prstDash val="solid"/>
          </a:ln>
        </p:spPr>
      </p:sp>
      <p:sp>
        <p:nvSpPr>
          <p:cNvPr id="36" name="Shape 34"/>
          <p:cNvSpPr/>
          <p:nvPr/>
        </p:nvSpPr>
        <p:spPr>
          <a:xfrm>
            <a:off x="7554473" y="1788568"/>
            <a:ext cx="174921" cy="174921"/>
          </a:xfrm>
          <a:custGeom>
            <a:avLst/>
            <a:gdLst/>
            <a:ahLst/>
            <a:cxnLst/>
            <a:rect l="l" t="t" r="r" b="b"/>
            <a:pathLst>
              <a:path w="174921" h="174921">
                <a:moveTo>
                  <a:pt x="10933" y="10933"/>
                </a:moveTo>
                <a:cubicBezTo>
                  <a:pt x="16980" y="10933"/>
                  <a:pt x="21865" y="15818"/>
                  <a:pt x="21865" y="21865"/>
                </a:cubicBezTo>
                <a:lnTo>
                  <a:pt x="21865" y="136657"/>
                </a:lnTo>
                <a:cubicBezTo>
                  <a:pt x="21865" y="139664"/>
                  <a:pt x="24325" y="142123"/>
                  <a:pt x="27331" y="142123"/>
                </a:cubicBezTo>
                <a:lnTo>
                  <a:pt x="163989" y="142123"/>
                </a:lnTo>
                <a:cubicBezTo>
                  <a:pt x="170036" y="142123"/>
                  <a:pt x="174921" y="147009"/>
                  <a:pt x="174921" y="153056"/>
                </a:cubicBezTo>
                <a:cubicBezTo>
                  <a:pt x="174921" y="159103"/>
                  <a:pt x="170036" y="163989"/>
                  <a:pt x="163989" y="163989"/>
                </a:cubicBezTo>
                <a:lnTo>
                  <a:pt x="27331" y="163989"/>
                </a:lnTo>
                <a:cubicBezTo>
                  <a:pt x="12231" y="163989"/>
                  <a:pt x="0" y="151758"/>
                  <a:pt x="0" y="136657"/>
                </a:cubicBezTo>
                <a:lnTo>
                  <a:pt x="0" y="21865"/>
                </a:lnTo>
                <a:cubicBezTo>
                  <a:pt x="0" y="15818"/>
                  <a:pt x="4885" y="10933"/>
                  <a:pt x="10933" y="10933"/>
                </a:cubicBezTo>
                <a:close/>
                <a:moveTo>
                  <a:pt x="43730" y="32798"/>
                </a:moveTo>
                <a:cubicBezTo>
                  <a:pt x="43730" y="26751"/>
                  <a:pt x="48616" y="21865"/>
                  <a:pt x="54663" y="21865"/>
                </a:cubicBezTo>
                <a:lnTo>
                  <a:pt x="120258" y="21865"/>
                </a:lnTo>
                <a:cubicBezTo>
                  <a:pt x="126305" y="21865"/>
                  <a:pt x="131191" y="26751"/>
                  <a:pt x="131191" y="32798"/>
                </a:cubicBezTo>
                <a:cubicBezTo>
                  <a:pt x="131191" y="38845"/>
                  <a:pt x="126305" y="43730"/>
                  <a:pt x="120258" y="43730"/>
                </a:cubicBezTo>
                <a:lnTo>
                  <a:pt x="54663" y="43730"/>
                </a:lnTo>
                <a:cubicBezTo>
                  <a:pt x="48616" y="43730"/>
                  <a:pt x="43730" y="38845"/>
                  <a:pt x="43730" y="32798"/>
                </a:cubicBezTo>
                <a:close/>
                <a:moveTo>
                  <a:pt x="54663" y="60129"/>
                </a:moveTo>
                <a:lnTo>
                  <a:pt x="98393" y="60129"/>
                </a:lnTo>
                <a:cubicBezTo>
                  <a:pt x="104440" y="60129"/>
                  <a:pt x="109326" y="65015"/>
                  <a:pt x="109326" y="71062"/>
                </a:cubicBezTo>
                <a:cubicBezTo>
                  <a:pt x="109326" y="77109"/>
                  <a:pt x="104440" y="81994"/>
                  <a:pt x="98393" y="81994"/>
                </a:cubicBezTo>
                <a:lnTo>
                  <a:pt x="54663" y="81994"/>
                </a:lnTo>
                <a:cubicBezTo>
                  <a:pt x="48616" y="81994"/>
                  <a:pt x="43730" y="77109"/>
                  <a:pt x="43730" y="71062"/>
                </a:cubicBezTo>
                <a:cubicBezTo>
                  <a:pt x="43730" y="65015"/>
                  <a:pt x="48616" y="60129"/>
                  <a:pt x="54663" y="60129"/>
                </a:cubicBezTo>
                <a:close/>
                <a:moveTo>
                  <a:pt x="54663" y="98393"/>
                </a:moveTo>
                <a:lnTo>
                  <a:pt x="142123" y="98393"/>
                </a:lnTo>
                <a:cubicBezTo>
                  <a:pt x="148170" y="98393"/>
                  <a:pt x="153056" y="103279"/>
                  <a:pt x="153056" y="109326"/>
                </a:cubicBezTo>
                <a:cubicBezTo>
                  <a:pt x="153056" y="115373"/>
                  <a:pt x="148170" y="120258"/>
                  <a:pt x="142123" y="120258"/>
                </a:cubicBezTo>
                <a:lnTo>
                  <a:pt x="54663" y="120258"/>
                </a:lnTo>
                <a:cubicBezTo>
                  <a:pt x="48616" y="120258"/>
                  <a:pt x="43730" y="115373"/>
                  <a:pt x="43730" y="109326"/>
                </a:cubicBezTo>
                <a:cubicBezTo>
                  <a:pt x="43730" y="103279"/>
                  <a:pt x="48616" y="98393"/>
                  <a:pt x="54663" y="98393"/>
                </a:cubicBezTo>
                <a:close/>
              </a:path>
            </a:pathLst>
          </a:custGeom>
          <a:solidFill>
            <a:srgbClr val="D4AF37"/>
          </a:solidFill>
          <a:ln/>
        </p:spPr>
      </p:sp>
      <p:sp>
        <p:nvSpPr>
          <p:cNvPr id="37" name="Text 35"/>
          <p:cNvSpPr/>
          <p:nvPr/>
        </p:nvSpPr>
        <p:spPr>
          <a:xfrm>
            <a:off x="7799444" y="1757957"/>
            <a:ext cx="3948762"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D4AF37"/>
                </a:solidFill>
                <a:latin typeface="Liter" pitchFamily="34" charset="0"/>
                <a:ea typeface="Liter" pitchFamily="34" charset="-122"/>
                <a:cs typeface="Liter" pitchFamily="34" charset="-120"/>
              </a:rPr>
              <a:t>المؤشرات الرئيسية التي يجب تتبعها</a:t>
            </a:r>
            <a:endParaRPr xmlns:a="http://schemas.openxmlformats.org/drawingml/2006/main" lang="en-US" sz="1600" dirty="0"/>
          </a:p>
        </p:txBody>
      </p:sp>
      <p:sp>
        <p:nvSpPr>
          <p:cNvPr id="38" name="Shape 36"/>
          <p:cNvSpPr/>
          <p:nvPr/>
        </p:nvSpPr>
        <p:spPr>
          <a:xfrm>
            <a:off x="7550100" y="2142783"/>
            <a:ext cx="4110646" cy="804637"/>
          </a:xfrm>
          <a:custGeom>
            <a:avLst/>
            <a:gdLst/>
            <a:ahLst/>
            <a:cxnLst/>
            <a:rect l="l" t="t" r="r" b="b"/>
            <a:pathLst>
              <a:path w="4110646" h="804637">
                <a:moveTo>
                  <a:pt x="34925" y="0"/>
                </a:moveTo>
                <a:lnTo>
                  <a:pt x="4040632" y="0"/>
                </a:lnTo>
                <a:cubicBezTo>
                  <a:pt x="4079279" y="0"/>
                  <a:pt x="4110609" y="31330"/>
                  <a:pt x="4110609" y="69977"/>
                </a:cubicBezTo>
                <a:lnTo>
                  <a:pt x="4110609" y="734695"/>
                </a:lnTo>
                <a:cubicBezTo>
                  <a:pt x="4110609" y="773342"/>
                  <a:pt x="4079279" y="804672"/>
                  <a:pt x="4040632" y="804672"/>
                </a:cubicBezTo>
                <a:lnTo>
                  <a:pt x="34925" y="804672"/>
                </a:lnTo>
                <a:cubicBezTo>
                  <a:pt x="25640" y="804672"/>
                  <a:pt x="16738" y="800975"/>
                  <a:pt x="10184" y="794398"/>
                </a:cubicBezTo>
                <a:cubicBezTo>
                  <a:pt x="3631" y="787821"/>
                  <a:pt x="-34" y="778905"/>
                  <a:pt x="0" y="769620"/>
                </a:cubicBezTo>
                <a:lnTo>
                  <a:pt x="0" y="34925"/>
                </a:lnTo>
                <a:cubicBezTo>
                  <a:pt x="0" y="15649"/>
                  <a:pt x="15649" y="0"/>
                  <a:pt x="34925" y="0"/>
                </a:cubicBezTo>
                <a:close/>
              </a:path>
            </a:pathLst>
          </a:custGeom>
          <a:solidFill>
            <a:srgbClr val="0A192F">
              <a:alpha val="40000"/>
            </a:srgbClr>
          </a:solidFill>
          <a:ln/>
        </p:spPr>
      </p:sp>
      <p:sp>
        <p:nvSpPr>
          <p:cNvPr id="39" name="Shape 37"/>
          <p:cNvSpPr/>
          <p:nvPr/>
        </p:nvSpPr>
        <p:spPr>
          <a:xfrm>
            <a:off x="7550100" y="2142783"/>
            <a:ext cx="34984" cy="804637"/>
          </a:xfrm>
          <a:custGeom>
            <a:avLst/>
            <a:gdLst/>
            <a:ahLst/>
            <a:cxnLst/>
            <a:rect l="l" t="t" r="r" b="b"/>
            <a:pathLst>
              <a:path w="34984" h="804637">
                <a:moveTo>
                  <a:pt x="34925" y="0"/>
                </a:moveTo>
                <a:lnTo>
                  <a:pt x="34925" y="0"/>
                </a:lnTo>
                <a:lnTo>
                  <a:pt x="34925" y="804672"/>
                </a:lnTo>
                <a:lnTo>
                  <a:pt x="34925" y="804672"/>
                </a:lnTo>
                <a:cubicBezTo>
                  <a:pt x="25640" y="804672"/>
                  <a:pt x="16738" y="800975"/>
                  <a:pt x="10184" y="794398"/>
                </a:cubicBezTo>
                <a:cubicBezTo>
                  <a:pt x="3631" y="787821"/>
                  <a:pt x="-34" y="778905"/>
                  <a:pt x="0" y="769620"/>
                </a:cubicBezTo>
                <a:lnTo>
                  <a:pt x="0" y="34925"/>
                </a:lnTo>
                <a:cubicBezTo>
                  <a:pt x="0" y="15649"/>
                  <a:pt x="15649" y="0"/>
                  <a:pt x="34925" y="0"/>
                </a:cubicBezTo>
                <a:close/>
              </a:path>
            </a:pathLst>
          </a:custGeom>
          <a:solidFill>
            <a:srgbClr val="D4AF37"/>
          </a:solidFill>
          <a:ln/>
        </p:spPr>
      </p:sp>
      <p:sp>
        <p:nvSpPr>
          <p:cNvPr id="40" name="Text 38"/>
          <p:cNvSpPr/>
          <p:nvPr/>
        </p:nvSpPr>
        <p:spPr>
          <a:xfrm>
            <a:off x="7707529" y="2317704"/>
            <a:ext cx="1250686"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تكلفة الحصول على عميل محتمل (CPL)</a:t>
            </a:r>
            <a:endParaRPr xmlns:a="http://schemas.openxmlformats.org/drawingml/2006/main" lang="en-US" sz="1600" dirty="0"/>
          </a:p>
        </p:txBody>
      </p:sp>
      <p:sp>
        <p:nvSpPr>
          <p:cNvPr id="41" name="Text 39"/>
          <p:cNvSpPr/>
          <p:nvPr/>
        </p:nvSpPr>
        <p:spPr>
          <a:xfrm>
            <a:off x="10621878" y="2282720"/>
            <a:ext cx="997050" cy="279874"/>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653" b="1" dirty="0">
                <a:solidFill>
                  <a:srgbClr val="D4AF37"/>
                </a:solidFill>
                <a:latin typeface="Liter" pitchFamily="34" charset="0"/>
                <a:ea typeface="Liter" pitchFamily="34" charset="-122"/>
                <a:cs typeface="Liter" pitchFamily="34" charset="-120"/>
              </a:rPr>
              <a:t>أقل من 80 درهم إماراتي</a:t>
            </a:r>
            <a:endParaRPr xmlns:a="http://schemas.openxmlformats.org/drawingml/2006/main" lang="en-US" sz="1600" dirty="0"/>
          </a:p>
        </p:txBody>
      </p:sp>
      <p:sp>
        <p:nvSpPr>
          <p:cNvPr id="42" name="Text 40"/>
          <p:cNvSpPr/>
          <p:nvPr/>
        </p:nvSpPr>
        <p:spPr>
          <a:xfrm>
            <a:off x="7707529" y="2632562"/>
            <a:ext cx="3874502" cy="17492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64" dirty="0">
                <a:solidFill>
                  <a:srgbClr val="E6F1FF">
                    <a:alpha val="70000"/>
                  </a:srgbClr>
                </a:solidFill>
                <a:latin typeface="Quattrocento Sans" pitchFamily="34" charset="0"/>
                <a:ea typeface="Quattrocento Sans" pitchFamily="34" charset="-122"/>
                <a:cs typeface="Quattrocento Sans" pitchFamily="34" charset="-120"/>
              </a:rPr>
              <a:t>مقياس الاهتمام "أعلى القمع" ذو الحجم الكبير</a:t>
            </a:r>
            <a:endParaRPr xmlns:a="http://schemas.openxmlformats.org/drawingml/2006/main" lang="en-US" sz="1600" dirty="0"/>
          </a:p>
        </p:txBody>
      </p:sp>
      <p:sp>
        <p:nvSpPr>
          <p:cNvPr id="43" name="Shape 41"/>
          <p:cNvSpPr/>
          <p:nvPr/>
        </p:nvSpPr>
        <p:spPr>
          <a:xfrm>
            <a:off x="7550100" y="3052373"/>
            <a:ext cx="4110646" cy="804637"/>
          </a:xfrm>
          <a:custGeom>
            <a:avLst/>
            <a:gdLst/>
            <a:ahLst/>
            <a:cxnLst/>
            <a:rect l="l" t="t" r="r" b="b"/>
            <a:pathLst>
              <a:path w="4110646" h="804637">
                <a:moveTo>
                  <a:pt x="34925" y="0"/>
                </a:moveTo>
                <a:lnTo>
                  <a:pt x="4040632" y="0"/>
                </a:lnTo>
                <a:cubicBezTo>
                  <a:pt x="4079279" y="0"/>
                  <a:pt x="4110609" y="31330"/>
                  <a:pt x="4110609" y="69977"/>
                </a:cubicBezTo>
                <a:lnTo>
                  <a:pt x="4110609" y="734695"/>
                </a:lnTo>
                <a:cubicBezTo>
                  <a:pt x="4110609" y="773342"/>
                  <a:pt x="4079279" y="804672"/>
                  <a:pt x="4040632" y="804672"/>
                </a:cubicBezTo>
                <a:lnTo>
                  <a:pt x="34925" y="804672"/>
                </a:lnTo>
                <a:cubicBezTo>
                  <a:pt x="25640" y="804672"/>
                  <a:pt x="16738" y="800975"/>
                  <a:pt x="10184" y="794398"/>
                </a:cubicBezTo>
                <a:cubicBezTo>
                  <a:pt x="3631" y="787821"/>
                  <a:pt x="-34" y="778905"/>
                  <a:pt x="0" y="769620"/>
                </a:cubicBezTo>
                <a:lnTo>
                  <a:pt x="0" y="34925"/>
                </a:lnTo>
                <a:cubicBezTo>
                  <a:pt x="0" y="15649"/>
                  <a:pt x="15649" y="0"/>
                  <a:pt x="34925" y="0"/>
                </a:cubicBezTo>
                <a:close/>
              </a:path>
            </a:pathLst>
          </a:custGeom>
          <a:solidFill>
            <a:srgbClr val="0A192F">
              <a:alpha val="40000"/>
            </a:srgbClr>
          </a:solidFill>
          <a:ln/>
        </p:spPr>
      </p:sp>
      <p:sp>
        <p:nvSpPr>
          <p:cNvPr id="44" name="Shape 42"/>
          <p:cNvSpPr/>
          <p:nvPr/>
        </p:nvSpPr>
        <p:spPr>
          <a:xfrm>
            <a:off x="7550100" y="3052373"/>
            <a:ext cx="34984" cy="804637"/>
          </a:xfrm>
          <a:custGeom>
            <a:avLst/>
            <a:gdLst/>
            <a:ahLst/>
            <a:cxnLst/>
            <a:rect l="l" t="t" r="r" b="b"/>
            <a:pathLst>
              <a:path w="34984" h="804637">
                <a:moveTo>
                  <a:pt x="34925" y="0"/>
                </a:moveTo>
                <a:lnTo>
                  <a:pt x="34925" y="0"/>
                </a:lnTo>
                <a:lnTo>
                  <a:pt x="34925" y="804672"/>
                </a:lnTo>
                <a:lnTo>
                  <a:pt x="34925" y="804672"/>
                </a:lnTo>
                <a:cubicBezTo>
                  <a:pt x="25640" y="804672"/>
                  <a:pt x="16738" y="800975"/>
                  <a:pt x="10184" y="794398"/>
                </a:cubicBezTo>
                <a:cubicBezTo>
                  <a:pt x="3631" y="787821"/>
                  <a:pt x="-34" y="778905"/>
                  <a:pt x="0" y="769620"/>
                </a:cubicBezTo>
                <a:lnTo>
                  <a:pt x="0" y="34925"/>
                </a:lnTo>
                <a:cubicBezTo>
                  <a:pt x="0" y="15649"/>
                  <a:pt x="15649" y="0"/>
                  <a:pt x="34925" y="0"/>
                </a:cubicBezTo>
                <a:close/>
              </a:path>
            </a:pathLst>
          </a:custGeom>
          <a:solidFill>
            <a:srgbClr val="64FFDA"/>
          </a:solidFill>
          <a:ln/>
        </p:spPr>
      </p:sp>
      <p:sp>
        <p:nvSpPr>
          <p:cNvPr id="45" name="Text 43"/>
          <p:cNvSpPr/>
          <p:nvPr/>
        </p:nvSpPr>
        <p:spPr>
          <a:xfrm>
            <a:off x="7707529" y="3227294"/>
            <a:ext cx="970812"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معدل الاستخدام</a:t>
            </a:r>
            <a:endParaRPr xmlns:a="http://schemas.openxmlformats.org/drawingml/2006/main" lang="en-US" sz="1600" dirty="0"/>
          </a:p>
        </p:txBody>
      </p:sp>
      <p:sp>
        <p:nvSpPr>
          <p:cNvPr id="46" name="Text 44"/>
          <p:cNvSpPr/>
          <p:nvPr/>
        </p:nvSpPr>
        <p:spPr>
          <a:xfrm>
            <a:off x="10970900" y="3192310"/>
            <a:ext cx="647208" cy="279874"/>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653" b="1" dirty="0">
                <a:solidFill>
                  <a:srgbClr val="64FFDA"/>
                </a:solidFill>
                <a:latin typeface="Liter" pitchFamily="34" charset="0"/>
                <a:ea typeface="Liter" pitchFamily="34" charset="-122"/>
                <a:cs typeface="Liter" pitchFamily="34" charset="-120"/>
              </a:rPr>
              <a:t>80%+</a:t>
            </a:r>
            <a:endParaRPr xmlns:a="http://schemas.openxmlformats.org/drawingml/2006/main" lang="en-US" sz="1600" dirty="0"/>
          </a:p>
        </p:txBody>
      </p:sp>
      <p:sp>
        <p:nvSpPr>
          <p:cNvPr id="47" name="Text 45"/>
          <p:cNvSpPr/>
          <p:nvPr/>
        </p:nvSpPr>
        <p:spPr>
          <a:xfrm>
            <a:off x="7707529" y="3542152"/>
            <a:ext cx="3874502" cy="17492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64" dirty="0">
                <a:solidFill>
                  <a:srgbClr val="E6F1FF">
                    <a:alpha val="70000"/>
                  </a:srgbClr>
                </a:solidFill>
                <a:latin typeface="Quattrocento Sans" pitchFamily="34" charset="0"/>
                <a:ea typeface="Quattrocento Sans" pitchFamily="34" charset="-122"/>
                <a:cs typeface="Quattrocento Sans" pitchFamily="34" charset="-120"/>
              </a:rPr>
              <a:t>الانتقال من "نقطة التعادل" إلى "منطقة الربح الصافي"</a:t>
            </a:r>
            <a:endParaRPr xmlns:a="http://schemas.openxmlformats.org/drawingml/2006/main" lang="en-US" sz="1600" dirty="0"/>
          </a:p>
        </p:txBody>
      </p:sp>
      <p:sp>
        <p:nvSpPr>
          <p:cNvPr id="48" name="Shape 46"/>
          <p:cNvSpPr/>
          <p:nvPr/>
        </p:nvSpPr>
        <p:spPr>
          <a:xfrm>
            <a:off x="7550100" y="3961963"/>
            <a:ext cx="4110646" cy="804637"/>
          </a:xfrm>
          <a:custGeom>
            <a:avLst/>
            <a:gdLst/>
            <a:ahLst/>
            <a:cxnLst/>
            <a:rect l="l" t="t" r="r" b="b"/>
            <a:pathLst>
              <a:path w="4110646" h="804637">
                <a:moveTo>
                  <a:pt x="34925" y="0"/>
                </a:moveTo>
                <a:lnTo>
                  <a:pt x="4040632" y="0"/>
                </a:lnTo>
                <a:cubicBezTo>
                  <a:pt x="4079279" y="0"/>
                  <a:pt x="4110609" y="31330"/>
                  <a:pt x="4110609" y="69977"/>
                </a:cubicBezTo>
                <a:lnTo>
                  <a:pt x="4110609" y="734695"/>
                </a:lnTo>
                <a:cubicBezTo>
                  <a:pt x="4110609" y="773342"/>
                  <a:pt x="4079279" y="804672"/>
                  <a:pt x="4040632" y="804672"/>
                </a:cubicBezTo>
                <a:lnTo>
                  <a:pt x="34925" y="804672"/>
                </a:lnTo>
                <a:cubicBezTo>
                  <a:pt x="25640" y="804672"/>
                  <a:pt x="16738" y="800975"/>
                  <a:pt x="10184" y="794398"/>
                </a:cubicBezTo>
                <a:cubicBezTo>
                  <a:pt x="3631" y="787821"/>
                  <a:pt x="-34" y="778905"/>
                  <a:pt x="0" y="769620"/>
                </a:cubicBezTo>
                <a:lnTo>
                  <a:pt x="0" y="34925"/>
                </a:lnTo>
                <a:cubicBezTo>
                  <a:pt x="0" y="15649"/>
                  <a:pt x="15649" y="0"/>
                  <a:pt x="34925" y="0"/>
                </a:cubicBezTo>
                <a:close/>
              </a:path>
            </a:pathLst>
          </a:custGeom>
          <a:solidFill>
            <a:srgbClr val="0A192F">
              <a:alpha val="40000"/>
            </a:srgbClr>
          </a:solidFill>
          <a:ln/>
        </p:spPr>
      </p:sp>
      <p:sp>
        <p:nvSpPr>
          <p:cNvPr id="49" name="Shape 47"/>
          <p:cNvSpPr/>
          <p:nvPr/>
        </p:nvSpPr>
        <p:spPr>
          <a:xfrm>
            <a:off x="7550100" y="3961963"/>
            <a:ext cx="34984" cy="804637"/>
          </a:xfrm>
          <a:custGeom>
            <a:avLst/>
            <a:gdLst/>
            <a:ahLst/>
            <a:cxnLst/>
            <a:rect l="l" t="t" r="r" b="b"/>
            <a:pathLst>
              <a:path w="34984" h="804637">
                <a:moveTo>
                  <a:pt x="34925" y="0"/>
                </a:moveTo>
                <a:lnTo>
                  <a:pt x="34925" y="0"/>
                </a:lnTo>
                <a:lnTo>
                  <a:pt x="34925" y="804672"/>
                </a:lnTo>
                <a:lnTo>
                  <a:pt x="34925" y="804672"/>
                </a:lnTo>
                <a:cubicBezTo>
                  <a:pt x="25640" y="804672"/>
                  <a:pt x="16738" y="800975"/>
                  <a:pt x="10184" y="794398"/>
                </a:cubicBezTo>
                <a:cubicBezTo>
                  <a:pt x="3631" y="787821"/>
                  <a:pt x="-34" y="778905"/>
                  <a:pt x="0" y="769620"/>
                </a:cubicBezTo>
                <a:lnTo>
                  <a:pt x="0" y="34925"/>
                </a:lnTo>
                <a:cubicBezTo>
                  <a:pt x="0" y="15649"/>
                  <a:pt x="15649" y="0"/>
                  <a:pt x="34925" y="0"/>
                </a:cubicBezTo>
                <a:close/>
              </a:path>
            </a:pathLst>
          </a:custGeom>
          <a:solidFill>
            <a:srgbClr val="D4AF37"/>
          </a:solidFill>
          <a:ln/>
        </p:spPr>
      </p:sp>
      <p:sp>
        <p:nvSpPr>
          <p:cNvPr id="50" name="Text 48"/>
          <p:cNvSpPr/>
          <p:nvPr/>
        </p:nvSpPr>
        <p:spPr>
          <a:xfrm>
            <a:off x="7707529" y="4136884"/>
            <a:ext cx="1285670"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القيمة الدائمة (LTV)</a:t>
            </a:r>
            <a:endParaRPr xmlns:a="http://schemas.openxmlformats.org/drawingml/2006/main" lang="en-US" sz="1600" dirty="0"/>
          </a:p>
        </p:txBody>
      </p:sp>
      <p:sp>
        <p:nvSpPr>
          <p:cNvPr id="51" name="Text 49"/>
          <p:cNvSpPr/>
          <p:nvPr/>
        </p:nvSpPr>
        <p:spPr>
          <a:xfrm>
            <a:off x="11029253" y="4101900"/>
            <a:ext cx="594732" cy="279874"/>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653" b="1" dirty="0">
                <a:solidFill>
                  <a:srgbClr val="D4AF37"/>
                </a:solidFill>
                <a:latin typeface="Liter" pitchFamily="34" charset="0"/>
                <a:ea typeface="Liter" pitchFamily="34" charset="-122"/>
                <a:cs typeface="Liter" pitchFamily="34" charset="-120"/>
              </a:rPr>
              <a:t>2.18x</a:t>
            </a:r>
            <a:endParaRPr xmlns:a="http://schemas.openxmlformats.org/drawingml/2006/main" lang="en-US" sz="1600" dirty="0"/>
          </a:p>
        </p:txBody>
      </p:sp>
      <p:sp>
        <p:nvSpPr>
          <p:cNvPr id="52" name="Text 50"/>
          <p:cNvSpPr/>
          <p:nvPr/>
        </p:nvSpPr>
        <p:spPr>
          <a:xfrm>
            <a:off x="7707529" y="4451742"/>
            <a:ext cx="3874502" cy="174921"/>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964" dirty="0">
                <a:solidFill>
                  <a:srgbClr val="E6F1FF">
                    <a:alpha val="70000"/>
                  </a:srgbClr>
                </a:solidFill>
                <a:latin typeface="Quattrocento Sans" pitchFamily="34" charset="0"/>
                <a:ea typeface="Quattrocento Sans" pitchFamily="34" charset="-122"/>
                <a:cs typeface="Quattrocento Sans" pitchFamily="34" charset="-120"/>
              </a:rPr>
              <a:t>تم تحقيق ذلك من خلال تحميل تشخيص qEEG الذي تبلغ تكلفته 350 دولارًا في البداية</a:t>
            </a:r>
            <a:endParaRPr xmlns:a="http://schemas.openxmlformats.org/drawingml/2006/main" lang="en-US" sz="1600" dirty="0"/>
          </a:p>
        </p:txBody>
      </p:sp>
      <p:sp>
        <p:nvSpPr>
          <p:cNvPr id="53" name="Shape 51"/>
          <p:cNvSpPr/>
          <p:nvPr/>
        </p:nvSpPr>
        <p:spPr>
          <a:xfrm>
            <a:off x="7353314" y="5129561"/>
            <a:ext cx="4486726" cy="1722973"/>
          </a:xfrm>
          <a:prstGeom prst="roundRect">
            <a:avLst>
              <a:gd name="adj" fmla="val 6091"/>
            </a:avLst>
          </a:prstGeom>
          <a:gradFill rotWithShape="1" flip="none">
            <a:gsLst>
              <a:gs pos="0">
                <a:srgbClr val="1E3A5F">
                  <a:alpha val="50000"/>
                </a:srgbClr>
              </a:gs>
              <a:gs pos="100000">
                <a:srgbClr val="0A192F">
                  <a:alpha val="30000"/>
                </a:srgbClr>
              </a:gs>
            </a:gsLst>
            <a:lin ang="2700000" scaled="1"/>
          </a:gradFill>
          <a:ln w="12700">
            <a:solidFill>
              <a:srgbClr val="64FFDA">
                <a:alpha val="40000"/>
              </a:srgbClr>
            </a:solidFill>
            <a:prstDash val="solid"/>
          </a:ln>
        </p:spPr>
      </p:sp>
      <p:sp>
        <p:nvSpPr>
          <p:cNvPr id="54" name="Shape 52"/>
          <p:cNvSpPr/>
          <p:nvPr/>
        </p:nvSpPr>
        <p:spPr>
          <a:xfrm>
            <a:off x="7574152" y="5352585"/>
            <a:ext cx="118072" cy="157429"/>
          </a:xfrm>
          <a:custGeom>
            <a:avLst/>
            <a:gdLst/>
            <a:ahLst/>
            <a:cxnLst/>
            <a:rect l="l" t="t" r="r" b="b"/>
            <a:pathLst>
              <a:path w="118072" h="157429">
                <a:moveTo>
                  <a:pt x="19679" y="0"/>
                </a:moveTo>
                <a:cubicBezTo>
                  <a:pt x="8825" y="0"/>
                  <a:pt x="0" y="8825"/>
                  <a:pt x="0" y="19679"/>
                </a:cubicBezTo>
                <a:lnTo>
                  <a:pt x="0" y="137750"/>
                </a:lnTo>
                <a:cubicBezTo>
                  <a:pt x="0" y="148604"/>
                  <a:pt x="8825" y="157429"/>
                  <a:pt x="19679" y="157429"/>
                </a:cubicBezTo>
                <a:lnTo>
                  <a:pt x="98393" y="157429"/>
                </a:lnTo>
                <a:cubicBezTo>
                  <a:pt x="109247" y="157429"/>
                  <a:pt x="118072" y="148604"/>
                  <a:pt x="118072" y="137750"/>
                </a:cubicBezTo>
                <a:lnTo>
                  <a:pt x="118072" y="19679"/>
                </a:lnTo>
                <a:cubicBezTo>
                  <a:pt x="118072" y="8825"/>
                  <a:pt x="109247" y="0"/>
                  <a:pt x="98393" y="0"/>
                </a:cubicBezTo>
                <a:lnTo>
                  <a:pt x="19679" y="0"/>
                </a:lnTo>
                <a:close/>
                <a:moveTo>
                  <a:pt x="29518" y="19679"/>
                </a:moveTo>
                <a:lnTo>
                  <a:pt x="88554" y="19679"/>
                </a:lnTo>
                <a:cubicBezTo>
                  <a:pt x="93996" y="19679"/>
                  <a:pt x="98393" y="24076"/>
                  <a:pt x="98393" y="29518"/>
                </a:cubicBezTo>
                <a:lnTo>
                  <a:pt x="98393" y="39357"/>
                </a:lnTo>
                <a:cubicBezTo>
                  <a:pt x="98393" y="44800"/>
                  <a:pt x="93996" y="49197"/>
                  <a:pt x="88554" y="49197"/>
                </a:cubicBezTo>
                <a:lnTo>
                  <a:pt x="29518" y="49197"/>
                </a:lnTo>
                <a:cubicBezTo>
                  <a:pt x="24076" y="49197"/>
                  <a:pt x="19679" y="44800"/>
                  <a:pt x="19679" y="39357"/>
                </a:cubicBezTo>
                <a:lnTo>
                  <a:pt x="19679" y="29518"/>
                </a:lnTo>
                <a:cubicBezTo>
                  <a:pt x="19679" y="24076"/>
                  <a:pt x="24076" y="19679"/>
                  <a:pt x="29518" y="19679"/>
                </a:cubicBezTo>
                <a:close/>
                <a:moveTo>
                  <a:pt x="34438" y="71335"/>
                </a:moveTo>
                <a:cubicBezTo>
                  <a:pt x="34438" y="75408"/>
                  <a:pt x="31131" y="78714"/>
                  <a:pt x="27058" y="78714"/>
                </a:cubicBezTo>
                <a:cubicBezTo>
                  <a:pt x="22985" y="78714"/>
                  <a:pt x="19679" y="75408"/>
                  <a:pt x="19679" y="71335"/>
                </a:cubicBezTo>
                <a:cubicBezTo>
                  <a:pt x="19679" y="67262"/>
                  <a:pt x="22985" y="63956"/>
                  <a:pt x="27058" y="63956"/>
                </a:cubicBezTo>
                <a:cubicBezTo>
                  <a:pt x="31131" y="63956"/>
                  <a:pt x="34438" y="67262"/>
                  <a:pt x="34438" y="71335"/>
                </a:cubicBezTo>
                <a:close/>
                <a:moveTo>
                  <a:pt x="59036" y="78714"/>
                </a:moveTo>
                <a:cubicBezTo>
                  <a:pt x="54963" y="78714"/>
                  <a:pt x="51656" y="75408"/>
                  <a:pt x="51656" y="71335"/>
                </a:cubicBezTo>
                <a:cubicBezTo>
                  <a:pt x="51656" y="67262"/>
                  <a:pt x="54963" y="63956"/>
                  <a:pt x="59036" y="63956"/>
                </a:cubicBezTo>
                <a:cubicBezTo>
                  <a:pt x="63109" y="63956"/>
                  <a:pt x="66415" y="67262"/>
                  <a:pt x="66415" y="71335"/>
                </a:cubicBezTo>
                <a:cubicBezTo>
                  <a:pt x="66415" y="75408"/>
                  <a:pt x="63109" y="78714"/>
                  <a:pt x="59036" y="78714"/>
                </a:cubicBezTo>
                <a:close/>
                <a:moveTo>
                  <a:pt x="98393" y="71335"/>
                </a:moveTo>
                <a:cubicBezTo>
                  <a:pt x="98393" y="75408"/>
                  <a:pt x="95086" y="78714"/>
                  <a:pt x="91014" y="78714"/>
                </a:cubicBezTo>
                <a:cubicBezTo>
                  <a:pt x="86941" y="78714"/>
                  <a:pt x="83634" y="75408"/>
                  <a:pt x="83634" y="71335"/>
                </a:cubicBezTo>
                <a:cubicBezTo>
                  <a:pt x="83634" y="67262"/>
                  <a:pt x="86941" y="63956"/>
                  <a:pt x="91014" y="63956"/>
                </a:cubicBezTo>
                <a:cubicBezTo>
                  <a:pt x="95086" y="63956"/>
                  <a:pt x="98393" y="67262"/>
                  <a:pt x="98393" y="71335"/>
                </a:cubicBezTo>
                <a:close/>
                <a:moveTo>
                  <a:pt x="27058" y="108232"/>
                </a:moveTo>
                <a:cubicBezTo>
                  <a:pt x="22985" y="108232"/>
                  <a:pt x="19679" y="104926"/>
                  <a:pt x="19679" y="100853"/>
                </a:cubicBezTo>
                <a:cubicBezTo>
                  <a:pt x="19679" y="96780"/>
                  <a:pt x="22985" y="93473"/>
                  <a:pt x="27058" y="93473"/>
                </a:cubicBezTo>
                <a:cubicBezTo>
                  <a:pt x="31131" y="93473"/>
                  <a:pt x="34438" y="96780"/>
                  <a:pt x="34438" y="100853"/>
                </a:cubicBezTo>
                <a:cubicBezTo>
                  <a:pt x="34438" y="104926"/>
                  <a:pt x="31131" y="108232"/>
                  <a:pt x="27058" y="108232"/>
                </a:cubicBezTo>
                <a:close/>
                <a:moveTo>
                  <a:pt x="66415" y="100853"/>
                </a:moveTo>
                <a:cubicBezTo>
                  <a:pt x="66415" y="104926"/>
                  <a:pt x="63109" y="108232"/>
                  <a:pt x="59036" y="108232"/>
                </a:cubicBezTo>
                <a:cubicBezTo>
                  <a:pt x="54963" y="108232"/>
                  <a:pt x="51656" y="104926"/>
                  <a:pt x="51656" y="100853"/>
                </a:cubicBezTo>
                <a:cubicBezTo>
                  <a:pt x="51656" y="96780"/>
                  <a:pt x="54963" y="93473"/>
                  <a:pt x="59036" y="93473"/>
                </a:cubicBezTo>
                <a:cubicBezTo>
                  <a:pt x="63109" y="93473"/>
                  <a:pt x="66415" y="96780"/>
                  <a:pt x="66415" y="100853"/>
                </a:cubicBezTo>
                <a:close/>
                <a:moveTo>
                  <a:pt x="91014" y="108232"/>
                </a:moveTo>
                <a:cubicBezTo>
                  <a:pt x="86941" y="108232"/>
                  <a:pt x="83634" y="104926"/>
                  <a:pt x="83634" y="100853"/>
                </a:cubicBezTo>
                <a:cubicBezTo>
                  <a:pt x="83634" y="96780"/>
                  <a:pt x="86941" y="93473"/>
                  <a:pt x="91014" y="93473"/>
                </a:cubicBezTo>
                <a:cubicBezTo>
                  <a:pt x="95086" y="93473"/>
                  <a:pt x="98393" y="96780"/>
                  <a:pt x="98393" y="100853"/>
                </a:cubicBezTo>
                <a:cubicBezTo>
                  <a:pt x="98393" y="104926"/>
                  <a:pt x="95086" y="108232"/>
                  <a:pt x="91014" y="108232"/>
                </a:cubicBezTo>
                <a:close/>
                <a:moveTo>
                  <a:pt x="19679" y="130371"/>
                </a:moveTo>
                <a:cubicBezTo>
                  <a:pt x="19679" y="126281"/>
                  <a:pt x="22969" y="122991"/>
                  <a:pt x="27058" y="122991"/>
                </a:cubicBezTo>
                <a:lnTo>
                  <a:pt x="61496" y="122991"/>
                </a:lnTo>
                <a:cubicBezTo>
                  <a:pt x="65585" y="122991"/>
                  <a:pt x="68875" y="126281"/>
                  <a:pt x="68875" y="130371"/>
                </a:cubicBezTo>
                <a:cubicBezTo>
                  <a:pt x="68875" y="134460"/>
                  <a:pt x="65585" y="137750"/>
                  <a:pt x="61496" y="137750"/>
                </a:cubicBezTo>
                <a:lnTo>
                  <a:pt x="27058" y="137750"/>
                </a:lnTo>
                <a:cubicBezTo>
                  <a:pt x="22969" y="137750"/>
                  <a:pt x="19679" y="134460"/>
                  <a:pt x="19679" y="130371"/>
                </a:cubicBezTo>
                <a:close/>
                <a:moveTo>
                  <a:pt x="91014" y="122991"/>
                </a:moveTo>
                <a:cubicBezTo>
                  <a:pt x="95103" y="122991"/>
                  <a:pt x="98393" y="126281"/>
                  <a:pt x="98393" y="130371"/>
                </a:cubicBezTo>
                <a:cubicBezTo>
                  <a:pt x="98393" y="134460"/>
                  <a:pt x="95103" y="137750"/>
                  <a:pt x="91014" y="137750"/>
                </a:cubicBezTo>
                <a:cubicBezTo>
                  <a:pt x="86924" y="137750"/>
                  <a:pt x="83634" y="134460"/>
                  <a:pt x="83634" y="130371"/>
                </a:cubicBezTo>
                <a:cubicBezTo>
                  <a:pt x="83634" y="126281"/>
                  <a:pt x="86924" y="122991"/>
                  <a:pt x="91014" y="122991"/>
                </a:cubicBezTo>
                <a:close/>
              </a:path>
            </a:pathLst>
          </a:custGeom>
          <a:solidFill>
            <a:srgbClr val="64FFDA"/>
          </a:solidFill>
          <a:ln/>
        </p:spPr>
      </p:sp>
      <p:sp>
        <p:nvSpPr>
          <p:cNvPr id="55" name="Text 53"/>
          <p:cNvSpPr/>
          <p:nvPr/>
        </p:nvSpPr>
        <p:spPr>
          <a:xfrm>
            <a:off x="7781952" y="5308855"/>
            <a:ext cx="3957508" cy="24489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40" b="1" dirty="0">
                <a:solidFill>
                  <a:srgbClr val="64FFDA"/>
                </a:solidFill>
                <a:latin typeface="Liter" pitchFamily="34" charset="0"/>
                <a:ea typeface="Liter" pitchFamily="34" charset="-122"/>
                <a:cs typeface="Liter" pitchFamily="34" charset="-120"/>
              </a:rPr>
              <a:t>تأثير الهامش</a:t>
            </a:r>
            <a:endParaRPr xmlns:a="http://schemas.openxmlformats.org/drawingml/2006/main" lang="en-US" sz="1600" dirty="0"/>
          </a:p>
        </p:txBody>
      </p:sp>
      <p:sp>
        <p:nvSpPr>
          <p:cNvPr id="56" name="Text 54"/>
          <p:cNvSpPr/>
          <p:nvPr/>
        </p:nvSpPr>
        <p:spPr>
          <a:xfrm>
            <a:off x="7532608" y="5676189"/>
            <a:ext cx="1346892"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dirty="0">
                <a:solidFill>
                  <a:srgbClr val="E6F1FF"/>
                </a:solidFill>
                <a:latin typeface="Quattrocento Sans" pitchFamily="34" charset="0"/>
                <a:ea typeface="Quattrocento Sans" pitchFamily="34" charset="-122"/>
                <a:cs typeface="Quattrocento Sans" pitchFamily="34" charset="-120"/>
              </a:rPr>
              <a:t>تكلفة الإحالة الحالية</a:t>
            </a:r>
            <a:endParaRPr xmlns:a="http://schemas.openxmlformats.org/drawingml/2006/main" lang="en-US" sz="1600" dirty="0"/>
          </a:p>
        </p:txBody>
      </p:sp>
      <p:sp>
        <p:nvSpPr>
          <p:cNvPr id="57" name="Text 55"/>
          <p:cNvSpPr/>
          <p:nvPr/>
        </p:nvSpPr>
        <p:spPr>
          <a:xfrm>
            <a:off x="11306189" y="5658697"/>
            <a:ext cx="437303"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FF6467"/>
                </a:solidFill>
                <a:latin typeface="Quattrocento Sans" pitchFamily="34" charset="0"/>
                <a:ea typeface="Quattrocento Sans" pitchFamily="34" charset="-122"/>
                <a:cs typeface="Quattrocento Sans" pitchFamily="34" charset="-120"/>
              </a:rPr>
              <a:t>30%</a:t>
            </a:r>
            <a:endParaRPr xmlns:a="http://schemas.openxmlformats.org/drawingml/2006/main" lang="en-US" sz="1600" dirty="0"/>
          </a:p>
        </p:txBody>
      </p:sp>
      <p:sp>
        <p:nvSpPr>
          <p:cNvPr id="58" name="Text 56"/>
          <p:cNvSpPr/>
          <p:nvPr/>
        </p:nvSpPr>
        <p:spPr>
          <a:xfrm>
            <a:off x="7532608" y="5991047"/>
            <a:ext cx="1591782"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dirty="0">
                <a:solidFill>
                  <a:srgbClr val="E6F1FF"/>
                </a:solidFill>
                <a:latin typeface="Quattrocento Sans" pitchFamily="34" charset="0"/>
                <a:ea typeface="Quattrocento Sans" pitchFamily="34" charset="-122"/>
                <a:cs typeface="Quattrocento Sans" pitchFamily="34" charset="-120"/>
              </a:rPr>
              <a:t>تكلفة المركز الرقمي والفروع</a:t>
            </a:r>
            <a:endParaRPr xmlns:a="http://schemas.openxmlformats.org/drawingml/2006/main" lang="en-US" sz="1600" dirty="0"/>
          </a:p>
        </p:txBody>
      </p:sp>
      <p:sp>
        <p:nvSpPr>
          <p:cNvPr id="59" name="Text 57"/>
          <p:cNvSpPr/>
          <p:nvPr/>
        </p:nvSpPr>
        <p:spPr>
          <a:xfrm>
            <a:off x="11363790" y="5973555"/>
            <a:ext cx="376080" cy="24489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377" b="1" dirty="0">
                <a:solidFill>
                  <a:srgbClr val="64FFDA"/>
                </a:solidFill>
                <a:latin typeface="Quattrocento Sans" pitchFamily="34" charset="0"/>
                <a:ea typeface="Quattrocento Sans" pitchFamily="34" charset="-122"/>
                <a:cs typeface="Quattrocento Sans" pitchFamily="34" charset="-120"/>
              </a:rPr>
              <a:t>15%</a:t>
            </a:r>
            <a:endParaRPr xmlns:a="http://schemas.openxmlformats.org/drawingml/2006/main" lang="en-US" sz="1600" dirty="0"/>
          </a:p>
        </p:txBody>
      </p:sp>
      <p:sp>
        <p:nvSpPr>
          <p:cNvPr id="60" name="Shape 58"/>
          <p:cNvSpPr/>
          <p:nvPr/>
        </p:nvSpPr>
        <p:spPr>
          <a:xfrm>
            <a:off x="7532608" y="6288413"/>
            <a:ext cx="4128138" cy="34984"/>
          </a:xfrm>
          <a:prstGeom prst="roundRect">
            <a:avLst>
              <a:gd name="adj" fmla="val 50000"/>
            </a:avLst>
          </a:prstGeom>
          <a:solidFill>
            <a:srgbClr val="1E3A5F"/>
          </a:solidFill>
          <a:ln/>
        </p:spPr>
      </p:sp>
      <p:sp>
        <p:nvSpPr>
          <p:cNvPr id="61" name="Shape 59"/>
          <p:cNvSpPr/>
          <p:nvPr/>
        </p:nvSpPr>
        <p:spPr>
          <a:xfrm>
            <a:off x="7532608" y="6288413"/>
            <a:ext cx="2064069" cy="34984"/>
          </a:xfrm>
          <a:prstGeom prst="roundRect">
            <a:avLst>
              <a:gd name="adj" fmla="val 50000"/>
            </a:avLst>
          </a:prstGeom>
          <a:gradFill rotWithShape="1" flip="none">
            <a:gsLst>
              <a:gs pos="0">
                <a:srgbClr val="64FFDA"/>
              </a:gs>
              <a:gs pos="100000">
                <a:srgbClr val="D4AF37"/>
              </a:gs>
            </a:gsLst>
            <a:lin ang="0" scaled="1"/>
          </a:gradFill>
          <a:ln/>
        </p:spPr>
      </p:sp>
      <p:sp>
        <p:nvSpPr>
          <p:cNvPr id="62" name="Text 60"/>
          <p:cNvSpPr/>
          <p:nvPr/>
        </p:nvSpPr>
        <p:spPr>
          <a:xfrm>
            <a:off x="7532608" y="6428350"/>
            <a:ext cx="1591782" cy="209905"/>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02" b="1" dirty="0">
                <a:solidFill>
                  <a:srgbClr val="E6F1FF"/>
                </a:solidFill>
                <a:latin typeface="Quattrocento Sans" pitchFamily="34" charset="0"/>
                <a:ea typeface="Quattrocento Sans" pitchFamily="34" charset="-122"/>
                <a:cs typeface="Quattrocento Sans" pitchFamily="34" charset="-120"/>
              </a:rPr>
              <a:t>تحسين هامش الربح الصافي</a:t>
            </a:r>
            <a:endParaRPr xmlns:a="http://schemas.openxmlformats.org/drawingml/2006/main" lang="en-US" sz="1600" dirty="0"/>
          </a:p>
        </p:txBody>
      </p:sp>
      <p:sp>
        <p:nvSpPr>
          <p:cNvPr id="63" name="Text 61"/>
          <p:cNvSpPr/>
          <p:nvPr/>
        </p:nvSpPr>
        <p:spPr>
          <a:xfrm>
            <a:off x="10984908" y="6393366"/>
            <a:ext cx="778399" cy="279874"/>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653" b="1" dirty="0">
                <a:solidFill>
                  <a:srgbClr val="D4AF37"/>
                </a:solidFill>
                <a:latin typeface="Liter" pitchFamily="34" charset="0"/>
                <a:ea typeface="Liter" pitchFamily="34" charset="-122"/>
                <a:cs typeface="Liter" pitchFamily="34" charset="-120"/>
              </a:rPr>
              <a:t>+10 نقاط</a:t>
            </a:r>
            <a:endParaRPr xmlns:a="http://schemas.openxmlformats.org/drawingml/2006/main"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spc="60" kern="0" dirty="0">
                <a:solidFill>
                  <a:srgbClr val="D4AF37"/>
                </a:solidFill>
                <a:latin typeface="Quattrocento Sans" pitchFamily="34" charset="0"/>
                <a:ea typeface="Quattrocento Sans" pitchFamily="34" charset="-122"/>
                <a:cs typeface="Quattrocento Sans" pitchFamily="34" charset="-120"/>
              </a:rPr>
              <a:t>تكامل الأنظمة</a:t>
            </a:r>
            <a:endParaRPr xmlns:a="http://schemas.openxmlformats.org/drawingml/2006/main"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700" b="1" dirty="0">
                <a:solidFill>
                  <a:srgbClr val="E6F1FF"/>
                </a:solidFill>
                <a:latin typeface="Liter" pitchFamily="34" charset="0"/>
                <a:ea typeface="Liter" pitchFamily="34" charset="-122"/>
                <a:cs typeface="Liter" pitchFamily="34" charset="-120"/>
              </a:rPr>
              <a:t>بنية النظام البيئي الكاملة</a:t>
            </a:r>
            <a:endParaRPr xmlns:a="http://schemas.openxmlformats.org/drawingml/2006/main" lang="en-US" sz="1600" dirty="0"/>
          </a:p>
        </p:txBody>
      </p:sp>
      <p:sp>
        <p:nvSpPr>
          <p:cNvPr id="4" name="Text 2"/>
          <p:cNvSpPr/>
          <p:nvPr/>
        </p:nvSpPr>
        <p:spPr>
          <a:xfrm>
            <a:off x="381000" y="1143000"/>
            <a:ext cx="1151572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70000"/>
                  </a:srgbClr>
                </a:solidFill>
                <a:latin typeface="Quattrocento Sans" pitchFamily="34" charset="0"/>
                <a:ea typeface="Quattrocento Sans" pitchFamily="34" charset="-122"/>
                <a:cs typeface="Quattrocento Sans" pitchFamily="34" charset="-120"/>
              </a:rPr>
              <a:t>نظام بيئي آلي من أربع مراحل مع حماية بيانات متوافقة مع قانون حماية البيانات الوطنية 09-08</a:t>
            </a:r>
            <a:endParaRPr xmlns:a="http://schemas.openxmlformats.org/drawingml/2006/main" lang="en-US" sz="1600" dirty="0"/>
          </a:p>
        </p:txBody>
      </p:sp>
      <p:sp>
        <p:nvSpPr>
          <p:cNvPr id="5" name="Shape 3"/>
          <p:cNvSpPr/>
          <p:nvPr/>
        </p:nvSpPr>
        <p:spPr>
          <a:xfrm>
            <a:off x="381000" y="1524000"/>
            <a:ext cx="914400" cy="38100"/>
          </a:xfrm>
          <a:prstGeom prst="roundRect">
            <a:avLst>
              <a:gd name="adj" fmla="val 0"/>
            </a:avLst>
          </a:prstGeom>
          <a:solidFill>
            <a:srgbClr val="D4AF37"/>
          </a:solidFill>
          <a:ln/>
        </p:spPr>
      </p:sp>
      <p:sp>
        <p:nvSpPr>
          <p:cNvPr id="6" name="Shape 4"/>
          <p:cNvSpPr/>
          <p:nvPr/>
        </p:nvSpPr>
        <p:spPr>
          <a:xfrm>
            <a:off x="381000" y="1733550"/>
            <a:ext cx="2743200" cy="3657600"/>
          </a:xfrm>
          <a:custGeom>
            <a:avLst/>
            <a:gdLst/>
            <a:ahLst/>
            <a:cxnLst/>
            <a:rect l="l" t="t" r="r" b="b"/>
            <a:pathLst>
              <a:path w="2743200" h="3657600">
                <a:moveTo>
                  <a:pt x="38100" y="0"/>
                </a:moveTo>
                <a:lnTo>
                  <a:pt x="2705100" y="0"/>
                </a:lnTo>
                <a:cubicBezTo>
                  <a:pt x="2726128" y="0"/>
                  <a:pt x="2743200" y="17072"/>
                  <a:pt x="2743200" y="38100"/>
                </a:cubicBezTo>
                <a:lnTo>
                  <a:pt x="2743200" y="3543300"/>
                </a:lnTo>
                <a:cubicBezTo>
                  <a:pt x="2743200" y="3606384"/>
                  <a:pt x="2691984" y="3657600"/>
                  <a:pt x="2628900" y="3657600"/>
                </a:cubicBezTo>
                <a:lnTo>
                  <a:pt x="114300" y="3657600"/>
                </a:lnTo>
                <a:cubicBezTo>
                  <a:pt x="51216" y="3657600"/>
                  <a:pt x="0" y="3606384"/>
                  <a:pt x="0" y="35433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7" name="Shape 5"/>
          <p:cNvSpPr/>
          <p:nvPr/>
        </p:nvSpPr>
        <p:spPr>
          <a:xfrm>
            <a:off x="381000" y="17335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4267B2"/>
          </a:solidFill>
          <a:ln/>
        </p:spPr>
      </p:sp>
      <p:sp>
        <p:nvSpPr>
          <p:cNvPr id="8" name="Shape 6"/>
          <p:cNvSpPr/>
          <p:nvPr/>
        </p:nvSpPr>
        <p:spPr>
          <a:xfrm>
            <a:off x="533400" y="1905000"/>
            <a:ext cx="457200" cy="457200"/>
          </a:xfrm>
          <a:prstGeom prst="roundRect">
            <a:avLst>
              <a:gd name="adj" fmla="val 50000"/>
            </a:avLst>
          </a:prstGeom>
          <a:solidFill>
            <a:srgbClr val="4267B2">
              <a:alpha val="20000"/>
            </a:srgbClr>
          </a:solidFill>
          <a:ln/>
        </p:spPr>
      </p:sp>
      <p:sp>
        <p:nvSpPr>
          <p:cNvPr id="9" name="Text 7"/>
          <p:cNvSpPr/>
          <p:nvPr/>
        </p:nvSpPr>
        <p:spPr>
          <a:xfrm>
            <a:off x="663104" y="2000250"/>
            <a:ext cx="2952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4267B2"/>
                </a:solidFill>
                <a:latin typeface="Liter" pitchFamily="34" charset="0"/>
                <a:ea typeface="Liter" pitchFamily="34" charset="-122"/>
                <a:cs typeface="Liter" pitchFamily="34" charset="-120"/>
              </a:rPr>
              <a:t>01</a:t>
            </a:r>
            <a:endParaRPr xmlns:a="http://schemas.openxmlformats.org/drawingml/2006/main" lang="en-US" sz="1600" dirty="0"/>
          </a:p>
        </p:txBody>
      </p:sp>
      <p:sp>
        <p:nvSpPr>
          <p:cNvPr id="10" name="Text 8"/>
          <p:cNvSpPr/>
          <p:nvPr/>
        </p:nvSpPr>
        <p:spPr>
          <a:xfrm>
            <a:off x="1104900" y="1905000"/>
            <a:ext cx="72390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dirty="0">
                <a:solidFill>
                  <a:srgbClr val="E6F1FF"/>
                </a:solidFill>
                <a:latin typeface="Liter" pitchFamily="34" charset="0"/>
                <a:ea typeface="Liter" pitchFamily="34" charset="-122"/>
                <a:cs typeface="Liter" pitchFamily="34" charset="-120"/>
              </a:rPr>
              <a:t>مرور</a:t>
            </a:r>
            <a:endParaRPr xmlns:a="http://schemas.openxmlformats.org/drawingml/2006/main" lang="en-US" sz="1600" dirty="0"/>
          </a:p>
        </p:txBody>
      </p:sp>
      <p:sp>
        <p:nvSpPr>
          <p:cNvPr id="11" name="Text 9"/>
          <p:cNvSpPr/>
          <p:nvPr/>
        </p:nvSpPr>
        <p:spPr>
          <a:xfrm>
            <a:off x="1104900" y="2171700"/>
            <a:ext cx="704850"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64FFDA"/>
                </a:solidFill>
                <a:latin typeface="Quattrocento Sans" pitchFamily="34" charset="0"/>
                <a:ea typeface="Quattrocento Sans" pitchFamily="34" charset="-122"/>
                <a:cs typeface="Quattrocento Sans" pitchFamily="34" charset="-120"/>
              </a:rPr>
              <a:t>اكتساب</a:t>
            </a:r>
            <a:endParaRPr xmlns:a="http://schemas.openxmlformats.org/drawingml/2006/main" lang="en-US" sz="1600" dirty="0"/>
          </a:p>
        </p:txBody>
      </p:sp>
      <p:sp>
        <p:nvSpPr>
          <p:cNvPr id="12" name="Shape 10"/>
          <p:cNvSpPr/>
          <p:nvPr/>
        </p:nvSpPr>
        <p:spPr>
          <a:xfrm>
            <a:off x="533400" y="2476500"/>
            <a:ext cx="2438400" cy="647700"/>
          </a:xfrm>
          <a:prstGeom prst="roundRect">
            <a:avLst>
              <a:gd name="adj" fmla="val 11765"/>
            </a:avLst>
          </a:prstGeom>
          <a:solidFill>
            <a:srgbClr val="0A192F">
              <a:alpha val="40000"/>
            </a:srgbClr>
          </a:solidFill>
          <a:ln/>
        </p:spPr>
      </p:sp>
      <p:sp>
        <p:nvSpPr>
          <p:cNvPr id="13" name="Shape 11"/>
          <p:cNvSpPr/>
          <p:nvPr/>
        </p:nvSpPr>
        <p:spPr>
          <a:xfrm>
            <a:off x="671513" y="2714625"/>
            <a:ext cx="171450" cy="171450"/>
          </a:xfrm>
          <a:custGeom>
            <a:avLst/>
            <a:gdLst/>
            <a:ahLst/>
            <a:cxnLst/>
            <a:rect l="l" t="t" r="r" b="b"/>
            <a:pathLst>
              <a:path w="171450" h="171450">
                <a:moveTo>
                  <a:pt x="139303" y="69652"/>
                </a:moveTo>
                <a:cubicBezTo>
                  <a:pt x="139303" y="85022"/>
                  <a:pt x="134314" y="99220"/>
                  <a:pt x="125909" y="110739"/>
                </a:cubicBezTo>
                <a:lnTo>
                  <a:pt x="168302" y="153166"/>
                </a:lnTo>
                <a:cubicBezTo>
                  <a:pt x="172488" y="157352"/>
                  <a:pt x="172488" y="164150"/>
                  <a:pt x="168302" y="168336"/>
                </a:cubicBezTo>
                <a:cubicBezTo>
                  <a:pt x="164116" y="172522"/>
                  <a:pt x="157319" y="172522"/>
                  <a:pt x="153133" y="168336"/>
                </a:cubicBezTo>
                <a:lnTo>
                  <a:pt x="110739" y="125909"/>
                </a:lnTo>
                <a:cubicBezTo>
                  <a:pt x="99220" y="134314"/>
                  <a:pt x="85022" y="139303"/>
                  <a:pt x="69652" y="139303"/>
                </a:cubicBezTo>
                <a:cubicBezTo>
                  <a:pt x="31176" y="139303"/>
                  <a:pt x="0" y="108127"/>
                  <a:pt x="0" y="69652"/>
                </a:cubicBezTo>
                <a:cubicBezTo>
                  <a:pt x="0" y="31176"/>
                  <a:pt x="31176" y="0"/>
                  <a:pt x="69652" y="0"/>
                </a:cubicBezTo>
                <a:cubicBezTo>
                  <a:pt x="108127" y="0"/>
                  <a:pt x="139303" y="31176"/>
                  <a:pt x="139303" y="69652"/>
                </a:cubicBezTo>
                <a:close/>
                <a:moveTo>
                  <a:pt x="69652" y="117872"/>
                </a:moveTo>
                <a:cubicBezTo>
                  <a:pt x="96265" y="117872"/>
                  <a:pt x="117872" y="96265"/>
                  <a:pt x="117872" y="69652"/>
                </a:cubicBezTo>
                <a:cubicBezTo>
                  <a:pt x="117872" y="43038"/>
                  <a:pt x="96265" y="21431"/>
                  <a:pt x="69652" y="21431"/>
                </a:cubicBezTo>
                <a:cubicBezTo>
                  <a:pt x="43038" y="21431"/>
                  <a:pt x="21431" y="43038"/>
                  <a:pt x="21431" y="69652"/>
                </a:cubicBezTo>
                <a:cubicBezTo>
                  <a:pt x="21431" y="96265"/>
                  <a:pt x="43038" y="117872"/>
                  <a:pt x="69652" y="117872"/>
                </a:cubicBezTo>
                <a:close/>
              </a:path>
            </a:pathLst>
          </a:custGeom>
          <a:solidFill>
            <a:srgbClr val="64FFDA"/>
          </a:solidFill>
          <a:ln/>
        </p:spPr>
      </p:sp>
      <p:sp>
        <p:nvSpPr>
          <p:cNvPr id="14" name="Text 12"/>
          <p:cNvSpPr/>
          <p:nvPr/>
        </p:nvSpPr>
        <p:spPr>
          <a:xfrm>
            <a:off x="976312" y="2590800"/>
            <a:ext cx="16002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تحسين محركات البحث والخرائط المحلية</a:t>
            </a:r>
            <a:endParaRPr xmlns:a="http://schemas.openxmlformats.org/drawingml/2006/main" lang="en-US" sz="1600" dirty="0"/>
          </a:p>
        </p:txBody>
      </p:sp>
      <p:sp>
        <p:nvSpPr>
          <p:cNvPr id="15" name="Text 13"/>
          <p:cNvSpPr/>
          <p:nvPr/>
        </p:nvSpPr>
        <p:spPr>
          <a:xfrm>
            <a:off x="976312" y="2819400"/>
            <a:ext cx="159067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عضوي + جوجل للأعمال</a:t>
            </a:r>
            <a:endParaRPr xmlns:a="http://schemas.openxmlformats.org/drawingml/2006/main" lang="en-US" sz="1600" dirty="0"/>
          </a:p>
        </p:txBody>
      </p:sp>
      <p:sp>
        <p:nvSpPr>
          <p:cNvPr id="16" name="Shape 14"/>
          <p:cNvSpPr/>
          <p:nvPr/>
        </p:nvSpPr>
        <p:spPr>
          <a:xfrm>
            <a:off x="533400" y="3200400"/>
            <a:ext cx="2438400" cy="647700"/>
          </a:xfrm>
          <a:prstGeom prst="roundRect">
            <a:avLst>
              <a:gd name="adj" fmla="val 11765"/>
            </a:avLst>
          </a:prstGeom>
          <a:solidFill>
            <a:srgbClr val="0A192F">
              <a:alpha val="40000"/>
            </a:srgbClr>
          </a:solidFill>
          <a:ln/>
        </p:spPr>
      </p:sp>
      <p:sp>
        <p:nvSpPr>
          <p:cNvPr id="17" name="Shape 15"/>
          <p:cNvSpPr/>
          <p:nvPr/>
        </p:nvSpPr>
        <p:spPr>
          <a:xfrm>
            <a:off x="671513" y="3438525"/>
            <a:ext cx="171450" cy="171450"/>
          </a:xfrm>
          <a:custGeom>
            <a:avLst/>
            <a:gdLst/>
            <a:ahLst/>
            <a:cxnLst/>
            <a:rect l="l" t="t" r="r" b="b"/>
            <a:pathLst>
              <a:path w="171450" h="171450">
                <a:moveTo>
                  <a:pt x="167432" y="87667"/>
                </a:moveTo>
                <a:cubicBezTo>
                  <a:pt x="167432" y="135050"/>
                  <a:pt x="134983" y="168771"/>
                  <a:pt x="87064" y="168771"/>
                </a:cubicBezTo>
                <a:cubicBezTo>
                  <a:pt x="41121" y="168771"/>
                  <a:pt x="4018" y="131668"/>
                  <a:pt x="4018" y="85725"/>
                </a:cubicBezTo>
                <a:cubicBezTo>
                  <a:pt x="4018" y="39782"/>
                  <a:pt x="41121" y="2679"/>
                  <a:pt x="87064" y="2679"/>
                </a:cubicBezTo>
                <a:cubicBezTo>
                  <a:pt x="109433" y="2679"/>
                  <a:pt x="128253" y="10883"/>
                  <a:pt x="142752" y="24412"/>
                </a:cubicBezTo>
                <a:lnTo>
                  <a:pt x="120149" y="46144"/>
                </a:lnTo>
                <a:cubicBezTo>
                  <a:pt x="90581" y="17614"/>
                  <a:pt x="35596" y="39045"/>
                  <a:pt x="35596" y="85725"/>
                </a:cubicBezTo>
                <a:cubicBezTo>
                  <a:pt x="35596" y="114691"/>
                  <a:pt x="58735" y="138165"/>
                  <a:pt x="87064" y="138165"/>
                </a:cubicBezTo>
                <a:cubicBezTo>
                  <a:pt x="119948" y="138165"/>
                  <a:pt x="132271" y="114590"/>
                  <a:pt x="134213" y="102368"/>
                </a:cubicBezTo>
                <a:lnTo>
                  <a:pt x="87064" y="102368"/>
                </a:lnTo>
                <a:lnTo>
                  <a:pt x="87064" y="73804"/>
                </a:lnTo>
                <a:lnTo>
                  <a:pt x="166126" y="73804"/>
                </a:lnTo>
                <a:cubicBezTo>
                  <a:pt x="166896" y="78057"/>
                  <a:pt x="167432" y="82142"/>
                  <a:pt x="167432" y="87667"/>
                </a:cubicBezTo>
                <a:close/>
              </a:path>
            </a:pathLst>
          </a:custGeom>
          <a:solidFill>
            <a:srgbClr val="EA4335"/>
          </a:solidFill>
          <a:ln/>
        </p:spPr>
      </p:sp>
      <p:sp>
        <p:nvSpPr>
          <p:cNvPr id="18" name="Text 16"/>
          <p:cNvSpPr/>
          <p:nvPr/>
        </p:nvSpPr>
        <p:spPr>
          <a:xfrm>
            <a:off x="976312" y="3314700"/>
            <a:ext cx="132397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إعلانات بحث جوجل</a:t>
            </a:r>
            <a:endParaRPr xmlns:a="http://schemas.openxmlformats.org/drawingml/2006/main" lang="en-US" sz="1600" dirty="0"/>
          </a:p>
        </p:txBody>
      </p:sp>
      <p:sp>
        <p:nvSpPr>
          <p:cNvPr id="19" name="Text 17"/>
          <p:cNvSpPr/>
          <p:nvPr/>
        </p:nvSpPr>
        <p:spPr>
          <a:xfrm>
            <a:off x="976312" y="3543300"/>
            <a:ext cx="1314450"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عملية اختطاف عالية النية</a:t>
            </a:r>
            <a:endParaRPr xmlns:a="http://schemas.openxmlformats.org/drawingml/2006/main" lang="en-US" sz="1600" dirty="0"/>
          </a:p>
        </p:txBody>
      </p:sp>
      <p:sp>
        <p:nvSpPr>
          <p:cNvPr id="20" name="Shape 18"/>
          <p:cNvSpPr/>
          <p:nvPr/>
        </p:nvSpPr>
        <p:spPr>
          <a:xfrm>
            <a:off x="533400" y="3924300"/>
            <a:ext cx="2438400" cy="647700"/>
          </a:xfrm>
          <a:prstGeom prst="roundRect">
            <a:avLst>
              <a:gd name="adj" fmla="val 11765"/>
            </a:avLst>
          </a:prstGeom>
          <a:solidFill>
            <a:srgbClr val="0A192F">
              <a:alpha val="40000"/>
            </a:srgbClr>
          </a:solidFill>
          <a:ln/>
        </p:spPr>
      </p:sp>
      <p:sp>
        <p:nvSpPr>
          <p:cNvPr id="21" name="Shape 19"/>
          <p:cNvSpPr/>
          <p:nvPr/>
        </p:nvSpPr>
        <p:spPr>
          <a:xfrm>
            <a:off x="650081" y="4162425"/>
            <a:ext cx="214313" cy="171450"/>
          </a:xfrm>
          <a:custGeom>
            <a:avLst/>
            <a:gdLst/>
            <a:ahLst/>
            <a:cxnLst/>
            <a:rect l="l" t="t" r="r" b="b"/>
            <a:pathLst>
              <a:path w="214313" h="171450">
                <a:moveTo>
                  <a:pt x="214313" y="106453"/>
                </a:moveTo>
                <a:cubicBezTo>
                  <a:pt x="214313" y="137026"/>
                  <a:pt x="201119" y="156180"/>
                  <a:pt x="177377" y="156180"/>
                </a:cubicBezTo>
                <a:cubicBezTo>
                  <a:pt x="156415" y="156180"/>
                  <a:pt x="145297" y="144594"/>
                  <a:pt x="124837" y="110438"/>
                </a:cubicBezTo>
                <a:lnTo>
                  <a:pt x="114322" y="92824"/>
                </a:lnTo>
                <a:cubicBezTo>
                  <a:pt x="111543" y="88638"/>
                  <a:pt x="109467" y="84720"/>
                  <a:pt x="107223" y="81104"/>
                </a:cubicBezTo>
                <a:cubicBezTo>
                  <a:pt x="100492" y="92422"/>
                  <a:pt x="91451" y="108898"/>
                  <a:pt x="91451" y="108898"/>
                </a:cubicBezTo>
                <a:cubicBezTo>
                  <a:pt x="69015" y="147943"/>
                  <a:pt x="56424" y="156180"/>
                  <a:pt x="38911" y="156180"/>
                </a:cubicBezTo>
                <a:cubicBezTo>
                  <a:pt x="14533" y="156180"/>
                  <a:pt x="0" y="136993"/>
                  <a:pt x="0" y="107324"/>
                </a:cubicBezTo>
                <a:cubicBezTo>
                  <a:pt x="0" y="59438"/>
                  <a:pt x="26722" y="14198"/>
                  <a:pt x="61581" y="14198"/>
                </a:cubicBezTo>
                <a:cubicBezTo>
                  <a:pt x="78391" y="14198"/>
                  <a:pt x="92992" y="22469"/>
                  <a:pt x="110070" y="44168"/>
                </a:cubicBezTo>
                <a:cubicBezTo>
                  <a:pt x="122493" y="27392"/>
                  <a:pt x="136222" y="14198"/>
                  <a:pt x="153803" y="14198"/>
                </a:cubicBezTo>
                <a:cubicBezTo>
                  <a:pt x="186988" y="14198"/>
                  <a:pt x="214313" y="56291"/>
                  <a:pt x="214313" y="106453"/>
                </a:cubicBezTo>
                <a:close/>
                <a:moveTo>
                  <a:pt x="96240" y="64361"/>
                </a:moveTo>
                <a:cubicBezTo>
                  <a:pt x="81874" y="43566"/>
                  <a:pt x="72498" y="37404"/>
                  <a:pt x="61280" y="37404"/>
                </a:cubicBezTo>
                <a:cubicBezTo>
                  <a:pt x="40552" y="37404"/>
                  <a:pt x="23173" y="72933"/>
                  <a:pt x="23173" y="107726"/>
                </a:cubicBezTo>
                <a:cubicBezTo>
                  <a:pt x="23173" y="123966"/>
                  <a:pt x="29368" y="133075"/>
                  <a:pt x="39782" y="133075"/>
                </a:cubicBezTo>
                <a:cubicBezTo>
                  <a:pt x="49895" y="133075"/>
                  <a:pt x="56190" y="126712"/>
                  <a:pt x="74340" y="98316"/>
                </a:cubicBezTo>
                <a:cubicBezTo>
                  <a:pt x="74340" y="98316"/>
                  <a:pt x="82611" y="85223"/>
                  <a:pt x="96240" y="64361"/>
                </a:cubicBezTo>
                <a:close/>
                <a:moveTo>
                  <a:pt x="177879" y="133075"/>
                </a:moveTo>
                <a:cubicBezTo>
                  <a:pt x="188662" y="133075"/>
                  <a:pt x="193584" y="123866"/>
                  <a:pt x="193584" y="107993"/>
                </a:cubicBezTo>
                <a:cubicBezTo>
                  <a:pt x="193584" y="66403"/>
                  <a:pt x="175401" y="32515"/>
                  <a:pt x="152329" y="32515"/>
                </a:cubicBezTo>
                <a:cubicBezTo>
                  <a:pt x="141212" y="32515"/>
                  <a:pt x="131869" y="41188"/>
                  <a:pt x="120551" y="58635"/>
                </a:cubicBezTo>
                <a:cubicBezTo>
                  <a:pt x="123698" y="63256"/>
                  <a:pt x="126947" y="68346"/>
                  <a:pt x="130362" y="73837"/>
                </a:cubicBezTo>
                <a:lnTo>
                  <a:pt x="142920" y="94733"/>
                </a:lnTo>
                <a:cubicBezTo>
                  <a:pt x="162576" y="126243"/>
                  <a:pt x="167532" y="133075"/>
                  <a:pt x="177879" y="133075"/>
                </a:cubicBezTo>
                <a:close/>
              </a:path>
            </a:pathLst>
          </a:custGeom>
          <a:solidFill>
            <a:srgbClr val="4267B2"/>
          </a:solidFill>
          <a:ln/>
        </p:spPr>
      </p:sp>
      <p:sp>
        <p:nvSpPr>
          <p:cNvPr id="22" name="Text 20"/>
          <p:cNvSpPr/>
          <p:nvPr/>
        </p:nvSpPr>
        <p:spPr>
          <a:xfrm>
            <a:off x="976312" y="4038600"/>
            <a:ext cx="147637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إعلانات ميتا بيرسونا</a:t>
            </a:r>
            <a:endParaRPr xmlns:a="http://schemas.openxmlformats.org/drawingml/2006/main" lang="en-US" sz="1600" dirty="0"/>
          </a:p>
        </p:txBody>
      </p:sp>
      <p:sp>
        <p:nvSpPr>
          <p:cNvPr id="23" name="Text 21"/>
          <p:cNvSpPr/>
          <p:nvPr/>
        </p:nvSpPr>
        <p:spPr>
          <a:xfrm>
            <a:off x="976312" y="4267200"/>
            <a:ext cx="1466850"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الطلب المدفوع بالشخصية</a:t>
            </a:r>
            <a:endParaRPr xmlns:a="http://schemas.openxmlformats.org/drawingml/2006/main" lang="en-US" sz="1600" dirty="0"/>
          </a:p>
        </p:txBody>
      </p:sp>
      <p:sp>
        <p:nvSpPr>
          <p:cNvPr id="24" name="Shape 22"/>
          <p:cNvSpPr/>
          <p:nvPr/>
        </p:nvSpPr>
        <p:spPr>
          <a:xfrm>
            <a:off x="538163" y="4881563"/>
            <a:ext cx="2428875" cy="352425"/>
          </a:xfrm>
          <a:prstGeom prst="roundRect">
            <a:avLst>
              <a:gd name="adj" fmla="val 21622"/>
            </a:avLst>
          </a:prstGeom>
          <a:solidFill>
            <a:srgbClr val="4267B2">
              <a:alpha val="10196"/>
            </a:srgbClr>
          </a:solidFill>
          <a:ln w="12700">
            <a:solidFill>
              <a:srgbClr val="4267B2">
                <a:alpha val="30196"/>
              </a:srgbClr>
            </a:solidFill>
            <a:prstDash val="solid"/>
          </a:ln>
        </p:spPr>
      </p:sp>
      <p:sp>
        <p:nvSpPr>
          <p:cNvPr id="25" name="Text 23"/>
          <p:cNvSpPr/>
          <p:nvPr/>
        </p:nvSpPr>
        <p:spPr>
          <a:xfrm>
            <a:off x="585788" y="4962525"/>
            <a:ext cx="2333625"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b="1" dirty="0">
                <a:solidFill>
                  <a:srgbClr val="4267B2"/>
                </a:solidFill>
                <a:latin typeface="Quattrocento Sans" pitchFamily="34" charset="0"/>
                <a:ea typeface="Quattrocento Sans" pitchFamily="34" charset="-122"/>
                <a:cs typeface="Quattrocento Sans" pitchFamily="34" charset="-120"/>
              </a:rPr>
              <a:t>الهدف: </a:t>
            </a:r>
            <a:pPr xmlns:a="http://schemas.openxmlformats.org/drawingml/2006/main" algn="ctr">
              <a:lnSpc>
                <a:spcPct val="120000"/>
              </a:lnSpc>
              <a:bidi/>
            </a:pPr>
            <a:r xmlns:a="http://schemas.openxmlformats.org/drawingml/2006/main">
              <a:rPr lang="ar" sz="1050" dirty="0">
                <a:solidFill>
                  <a:srgbClr val="E6F1FF"/>
                </a:solidFill>
                <a:latin typeface="Quattrocento Sans" pitchFamily="34" charset="0"/>
                <a:ea typeface="Quattrocento Sans" pitchFamily="34" charset="-122"/>
                <a:cs typeface="Quattrocento Sans" pitchFamily="34" charset="-120"/>
              </a:rPr>
              <a:t>الوصول عبر قنوات متعددة</a:t>
            </a:r>
            <a:endParaRPr xmlns:a="http://schemas.openxmlformats.org/drawingml/2006/main" lang="en-US" sz="1600" dirty="0"/>
          </a:p>
        </p:txBody>
      </p:sp>
      <p:sp>
        <p:nvSpPr>
          <p:cNvPr id="26" name="Shape 24"/>
          <p:cNvSpPr/>
          <p:nvPr/>
        </p:nvSpPr>
        <p:spPr>
          <a:xfrm>
            <a:off x="3276600" y="1733550"/>
            <a:ext cx="2743200" cy="3657600"/>
          </a:xfrm>
          <a:custGeom>
            <a:avLst/>
            <a:gdLst/>
            <a:ahLst/>
            <a:cxnLst/>
            <a:rect l="l" t="t" r="r" b="b"/>
            <a:pathLst>
              <a:path w="2743200" h="3657600">
                <a:moveTo>
                  <a:pt x="38100" y="0"/>
                </a:moveTo>
                <a:lnTo>
                  <a:pt x="2705100" y="0"/>
                </a:lnTo>
                <a:cubicBezTo>
                  <a:pt x="2726128" y="0"/>
                  <a:pt x="2743200" y="17072"/>
                  <a:pt x="2743200" y="38100"/>
                </a:cubicBezTo>
                <a:lnTo>
                  <a:pt x="2743200" y="3543300"/>
                </a:lnTo>
                <a:cubicBezTo>
                  <a:pt x="2743200" y="3606384"/>
                  <a:pt x="2691984" y="3657600"/>
                  <a:pt x="2628900" y="3657600"/>
                </a:cubicBezTo>
                <a:lnTo>
                  <a:pt x="114300" y="3657600"/>
                </a:lnTo>
                <a:cubicBezTo>
                  <a:pt x="51216" y="3657600"/>
                  <a:pt x="0" y="3606384"/>
                  <a:pt x="0" y="35433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27" name="Shape 25"/>
          <p:cNvSpPr/>
          <p:nvPr/>
        </p:nvSpPr>
        <p:spPr>
          <a:xfrm>
            <a:off x="3276600" y="17335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64FFDA"/>
          </a:solidFill>
          <a:ln/>
        </p:spPr>
      </p:sp>
      <p:sp>
        <p:nvSpPr>
          <p:cNvPr id="28" name="Shape 26"/>
          <p:cNvSpPr/>
          <p:nvPr/>
        </p:nvSpPr>
        <p:spPr>
          <a:xfrm>
            <a:off x="3429000" y="1905000"/>
            <a:ext cx="457200" cy="457200"/>
          </a:xfrm>
          <a:prstGeom prst="roundRect">
            <a:avLst>
              <a:gd name="adj" fmla="val 50000"/>
            </a:avLst>
          </a:prstGeom>
          <a:solidFill>
            <a:srgbClr val="64FFDA">
              <a:alpha val="20000"/>
            </a:srgbClr>
          </a:solidFill>
          <a:ln/>
        </p:spPr>
      </p:sp>
      <p:sp>
        <p:nvSpPr>
          <p:cNvPr id="29" name="Text 27"/>
          <p:cNvSpPr/>
          <p:nvPr/>
        </p:nvSpPr>
        <p:spPr>
          <a:xfrm>
            <a:off x="3541440" y="2000250"/>
            <a:ext cx="323850"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64FFDA"/>
                </a:solidFill>
                <a:latin typeface="Liter" pitchFamily="34" charset="0"/>
                <a:ea typeface="Liter" pitchFamily="34" charset="-122"/>
                <a:cs typeface="Liter" pitchFamily="34" charset="-120"/>
              </a:rPr>
              <a:t>02</a:t>
            </a:r>
            <a:endParaRPr xmlns:a="http://schemas.openxmlformats.org/drawingml/2006/main" lang="en-US" sz="1600" dirty="0"/>
          </a:p>
        </p:txBody>
      </p:sp>
      <p:sp>
        <p:nvSpPr>
          <p:cNvPr id="30" name="Text 28"/>
          <p:cNvSpPr/>
          <p:nvPr/>
        </p:nvSpPr>
        <p:spPr>
          <a:xfrm>
            <a:off x="4000500" y="1905000"/>
            <a:ext cx="80962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dirty="0">
                <a:solidFill>
                  <a:srgbClr val="E6F1FF"/>
                </a:solidFill>
                <a:latin typeface="Liter" pitchFamily="34" charset="0"/>
                <a:ea typeface="Liter" pitchFamily="34" charset="-122"/>
                <a:cs typeface="Liter" pitchFamily="34" charset="-120"/>
              </a:rPr>
              <a:t>الفرز</a:t>
            </a:r>
            <a:endParaRPr xmlns:a="http://schemas.openxmlformats.org/drawingml/2006/main" lang="en-US" sz="1600" dirty="0"/>
          </a:p>
        </p:txBody>
      </p:sp>
      <p:sp>
        <p:nvSpPr>
          <p:cNvPr id="31" name="Text 29"/>
          <p:cNvSpPr/>
          <p:nvPr/>
        </p:nvSpPr>
        <p:spPr>
          <a:xfrm>
            <a:off x="4000500" y="2171700"/>
            <a:ext cx="79057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64FFDA"/>
                </a:solidFill>
                <a:latin typeface="Quattrocento Sans" pitchFamily="34" charset="0"/>
                <a:ea typeface="Quattrocento Sans" pitchFamily="34" charset="-122"/>
                <a:cs typeface="Quattrocento Sans" pitchFamily="34" charset="-120"/>
              </a:rPr>
              <a:t>مؤهل</a:t>
            </a:r>
            <a:endParaRPr xmlns:a="http://schemas.openxmlformats.org/drawingml/2006/main" lang="en-US" sz="1600" dirty="0"/>
          </a:p>
        </p:txBody>
      </p:sp>
      <p:sp>
        <p:nvSpPr>
          <p:cNvPr id="32" name="Shape 30"/>
          <p:cNvSpPr/>
          <p:nvPr/>
        </p:nvSpPr>
        <p:spPr>
          <a:xfrm>
            <a:off x="3429000" y="2476500"/>
            <a:ext cx="2438400" cy="647700"/>
          </a:xfrm>
          <a:prstGeom prst="roundRect">
            <a:avLst>
              <a:gd name="adj" fmla="val 11765"/>
            </a:avLst>
          </a:prstGeom>
          <a:solidFill>
            <a:srgbClr val="0A192F">
              <a:alpha val="40000"/>
            </a:srgbClr>
          </a:solidFill>
          <a:ln/>
        </p:spPr>
      </p:sp>
      <p:sp>
        <p:nvSpPr>
          <p:cNvPr id="33" name="Shape 31"/>
          <p:cNvSpPr/>
          <p:nvPr/>
        </p:nvSpPr>
        <p:spPr>
          <a:xfrm>
            <a:off x="3577828" y="2714625"/>
            <a:ext cx="150019" cy="171450"/>
          </a:xfrm>
          <a:custGeom>
            <a:avLst/>
            <a:gdLst/>
            <a:ahLst/>
            <a:cxnLst/>
            <a:rect l="l" t="t" r="r" b="b"/>
            <a:pathLst>
              <a:path w="150019" h="171450">
                <a:moveTo>
                  <a:pt x="127549" y="32515"/>
                </a:moveTo>
                <a:cubicBezTo>
                  <a:pt x="113519" y="18451"/>
                  <a:pt x="94833" y="10716"/>
                  <a:pt x="74976" y="10716"/>
                </a:cubicBezTo>
                <a:cubicBezTo>
                  <a:pt x="33989" y="10716"/>
                  <a:pt x="636" y="44068"/>
                  <a:pt x="636" y="85055"/>
                </a:cubicBezTo>
                <a:cubicBezTo>
                  <a:pt x="636" y="98148"/>
                  <a:pt x="4052" y="110940"/>
                  <a:pt x="10548" y="122225"/>
                </a:cubicBezTo>
                <a:lnTo>
                  <a:pt x="0" y="160734"/>
                </a:lnTo>
                <a:lnTo>
                  <a:pt x="39413" y="150387"/>
                </a:lnTo>
                <a:cubicBezTo>
                  <a:pt x="50263" y="156314"/>
                  <a:pt x="62485" y="159428"/>
                  <a:pt x="74942" y="159428"/>
                </a:cubicBezTo>
                <a:lnTo>
                  <a:pt x="74976" y="159428"/>
                </a:lnTo>
                <a:cubicBezTo>
                  <a:pt x="115930" y="159428"/>
                  <a:pt x="150019" y="126076"/>
                  <a:pt x="150019" y="85089"/>
                </a:cubicBezTo>
                <a:cubicBezTo>
                  <a:pt x="150019" y="65231"/>
                  <a:pt x="141580" y="46579"/>
                  <a:pt x="127549" y="32515"/>
                </a:cubicBezTo>
                <a:close/>
                <a:moveTo>
                  <a:pt x="74976" y="146905"/>
                </a:moveTo>
                <a:cubicBezTo>
                  <a:pt x="63858" y="146905"/>
                  <a:pt x="52975" y="143924"/>
                  <a:pt x="43499" y="138299"/>
                </a:cubicBezTo>
                <a:lnTo>
                  <a:pt x="41255" y="136959"/>
                </a:lnTo>
                <a:lnTo>
                  <a:pt x="17882" y="143087"/>
                </a:lnTo>
                <a:lnTo>
                  <a:pt x="24110" y="120283"/>
                </a:lnTo>
                <a:lnTo>
                  <a:pt x="22637" y="117939"/>
                </a:lnTo>
                <a:cubicBezTo>
                  <a:pt x="16442" y="108094"/>
                  <a:pt x="13194" y="96742"/>
                  <a:pt x="13194" y="85055"/>
                </a:cubicBezTo>
                <a:cubicBezTo>
                  <a:pt x="13194" y="51000"/>
                  <a:pt x="40920" y="23273"/>
                  <a:pt x="75009" y="23273"/>
                </a:cubicBezTo>
                <a:cubicBezTo>
                  <a:pt x="91518" y="23273"/>
                  <a:pt x="107022" y="29702"/>
                  <a:pt x="118676" y="41389"/>
                </a:cubicBezTo>
                <a:cubicBezTo>
                  <a:pt x="130329" y="53076"/>
                  <a:pt x="137495" y="68580"/>
                  <a:pt x="137461" y="85089"/>
                </a:cubicBezTo>
                <a:cubicBezTo>
                  <a:pt x="137461" y="119178"/>
                  <a:pt x="109031" y="146905"/>
                  <a:pt x="74976" y="146905"/>
                </a:cubicBezTo>
                <a:close/>
                <a:moveTo>
                  <a:pt x="108864" y="100626"/>
                </a:moveTo>
                <a:cubicBezTo>
                  <a:pt x="107022" y="99689"/>
                  <a:pt x="97881" y="95202"/>
                  <a:pt x="96173" y="94599"/>
                </a:cubicBezTo>
                <a:cubicBezTo>
                  <a:pt x="94465" y="93963"/>
                  <a:pt x="93226" y="93661"/>
                  <a:pt x="91987" y="95536"/>
                </a:cubicBezTo>
                <a:cubicBezTo>
                  <a:pt x="90748" y="97412"/>
                  <a:pt x="87198" y="101564"/>
                  <a:pt x="86093" y="102837"/>
                </a:cubicBezTo>
                <a:cubicBezTo>
                  <a:pt x="85022" y="104076"/>
                  <a:pt x="83917" y="104243"/>
                  <a:pt x="82075" y="103305"/>
                </a:cubicBezTo>
                <a:cubicBezTo>
                  <a:pt x="71158" y="97847"/>
                  <a:pt x="63992" y="93561"/>
                  <a:pt x="56793" y="81204"/>
                </a:cubicBezTo>
                <a:cubicBezTo>
                  <a:pt x="54884" y="77923"/>
                  <a:pt x="58702" y="78157"/>
                  <a:pt x="62251" y="71058"/>
                </a:cubicBezTo>
                <a:cubicBezTo>
                  <a:pt x="62854" y="69819"/>
                  <a:pt x="62552" y="68747"/>
                  <a:pt x="62084" y="67810"/>
                </a:cubicBezTo>
                <a:cubicBezTo>
                  <a:pt x="61615" y="66872"/>
                  <a:pt x="57898" y="57730"/>
                  <a:pt x="56357" y="54013"/>
                </a:cubicBezTo>
                <a:cubicBezTo>
                  <a:pt x="54851" y="50397"/>
                  <a:pt x="53310" y="50899"/>
                  <a:pt x="52172" y="50832"/>
                </a:cubicBezTo>
                <a:cubicBezTo>
                  <a:pt x="51100" y="50765"/>
                  <a:pt x="49861" y="50765"/>
                  <a:pt x="48622" y="50765"/>
                </a:cubicBezTo>
                <a:cubicBezTo>
                  <a:pt x="47383" y="50765"/>
                  <a:pt x="45374" y="51234"/>
                  <a:pt x="43666" y="53076"/>
                </a:cubicBezTo>
                <a:cubicBezTo>
                  <a:pt x="41958" y="54951"/>
                  <a:pt x="37170" y="59438"/>
                  <a:pt x="37170" y="68580"/>
                </a:cubicBezTo>
                <a:cubicBezTo>
                  <a:pt x="37170" y="77722"/>
                  <a:pt x="43834" y="86562"/>
                  <a:pt x="44738" y="87801"/>
                </a:cubicBezTo>
                <a:cubicBezTo>
                  <a:pt x="45675" y="89040"/>
                  <a:pt x="57831" y="107792"/>
                  <a:pt x="76483" y="115863"/>
                </a:cubicBezTo>
                <a:cubicBezTo>
                  <a:pt x="88270" y="120953"/>
                  <a:pt x="92891" y="121388"/>
                  <a:pt x="98785" y="120517"/>
                </a:cubicBezTo>
                <a:cubicBezTo>
                  <a:pt x="102368" y="119982"/>
                  <a:pt x="109768" y="116030"/>
                  <a:pt x="111309" y="111677"/>
                </a:cubicBezTo>
                <a:cubicBezTo>
                  <a:pt x="112849" y="107324"/>
                  <a:pt x="112849" y="103607"/>
                  <a:pt x="112380" y="102837"/>
                </a:cubicBezTo>
                <a:cubicBezTo>
                  <a:pt x="111945" y="101999"/>
                  <a:pt x="110706" y="101531"/>
                  <a:pt x="108864" y="100626"/>
                </a:cubicBezTo>
                <a:close/>
              </a:path>
            </a:pathLst>
          </a:custGeom>
          <a:solidFill>
            <a:srgbClr val="05DF72"/>
          </a:solidFill>
          <a:ln/>
        </p:spPr>
      </p:sp>
      <p:sp>
        <p:nvSpPr>
          <p:cNvPr id="34" name="Text 32"/>
          <p:cNvSpPr/>
          <p:nvPr/>
        </p:nvSpPr>
        <p:spPr>
          <a:xfrm>
            <a:off x="3871913" y="2590800"/>
            <a:ext cx="15240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روبوت دردشة واتساب المدعوم بالذكاء الاصطناعي</a:t>
            </a:r>
            <a:endParaRPr xmlns:a="http://schemas.openxmlformats.org/drawingml/2006/main" lang="en-US" sz="1600" dirty="0"/>
          </a:p>
        </p:txBody>
      </p:sp>
      <p:sp>
        <p:nvSpPr>
          <p:cNvPr id="35" name="Text 33"/>
          <p:cNvSpPr/>
          <p:nvPr/>
        </p:nvSpPr>
        <p:spPr>
          <a:xfrm>
            <a:off x="3871913" y="2819400"/>
            <a:ext cx="151447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استجابة فورية على مدار الساعة طوال أيام الأسبوع</a:t>
            </a:r>
            <a:endParaRPr xmlns:a="http://schemas.openxmlformats.org/drawingml/2006/main" lang="en-US" sz="1600" dirty="0"/>
          </a:p>
        </p:txBody>
      </p:sp>
      <p:sp>
        <p:nvSpPr>
          <p:cNvPr id="36" name="Shape 34"/>
          <p:cNvSpPr/>
          <p:nvPr/>
        </p:nvSpPr>
        <p:spPr>
          <a:xfrm>
            <a:off x="3429000" y="3200400"/>
            <a:ext cx="2438400" cy="647700"/>
          </a:xfrm>
          <a:prstGeom prst="roundRect">
            <a:avLst>
              <a:gd name="adj" fmla="val 11765"/>
            </a:avLst>
          </a:prstGeom>
          <a:solidFill>
            <a:srgbClr val="0A192F">
              <a:alpha val="40000"/>
            </a:srgbClr>
          </a:solidFill>
          <a:ln/>
        </p:spPr>
      </p:sp>
      <p:sp>
        <p:nvSpPr>
          <p:cNvPr id="37" name="Shape 35"/>
          <p:cNvSpPr/>
          <p:nvPr/>
        </p:nvSpPr>
        <p:spPr>
          <a:xfrm>
            <a:off x="3588544" y="3438525"/>
            <a:ext cx="128588" cy="171450"/>
          </a:xfrm>
          <a:custGeom>
            <a:avLst/>
            <a:gdLst/>
            <a:ahLst/>
            <a:cxnLst/>
            <a:rect l="l" t="t" r="r" b="b"/>
            <a:pathLst>
              <a:path w="128588" h="171450">
                <a:moveTo>
                  <a:pt x="104276" y="10716"/>
                </a:moveTo>
                <a:lnTo>
                  <a:pt x="107156" y="10716"/>
                </a:lnTo>
                <a:cubicBezTo>
                  <a:pt x="118977" y="10716"/>
                  <a:pt x="128588" y="20326"/>
                  <a:pt x="128588" y="32147"/>
                </a:cubicBezTo>
                <a:lnTo>
                  <a:pt x="128588" y="150019"/>
                </a:lnTo>
                <a:cubicBezTo>
                  <a:pt x="128588" y="161839"/>
                  <a:pt x="118977" y="171450"/>
                  <a:pt x="107156" y="171450"/>
                </a:cubicBezTo>
                <a:lnTo>
                  <a:pt x="21431" y="171450"/>
                </a:lnTo>
                <a:cubicBezTo>
                  <a:pt x="9611" y="171450"/>
                  <a:pt x="0" y="161839"/>
                  <a:pt x="0" y="150019"/>
                </a:cubicBezTo>
                <a:lnTo>
                  <a:pt x="0" y="32147"/>
                </a:lnTo>
                <a:cubicBezTo>
                  <a:pt x="0" y="20326"/>
                  <a:pt x="9611" y="10716"/>
                  <a:pt x="21431" y="10716"/>
                </a:cubicBezTo>
                <a:lnTo>
                  <a:pt x="24311" y="10716"/>
                </a:lnTo>
                <a:cubicBezTo>
                  <a:pt x="27995" y="4320"/>
                  <a:pt x="34926" y="0"/>
                  <a:pt x="42863" y="0"/>
                </a:cubicBezTo>
                <a:lnTo>
                  <a:pt x="85725" y="0"/>
                </a:lnTo>
                <a:cubicBezTo>
                  <a:pt x="93661" y="0"/>
                  <a:pt x="100593" y="4320"/>
                  <a:pt x="104276" y="10716"/>
                </a:cubicBezTo>
                <a:close/>
                <a:moveTo>
                  <a:pt x="83046" y="37505"/>
                </a:moveTo>
                <a:cubicBezTo>
                  <a:pt x="87500" y="37505"/>
                  <a:pt x="91083" y="33922"/>
                  <a:pt x="91083" y="29468"/>
                </a:cubicBezTo>
                <a:cubicBezTo>
                  <a:pt x="91083" y="25014"/>
                  <a:pt x="87500" y="21431"/>
                  <a:pt x="83046" y="21431"/>
                </a:cubicBezTo>
                <a:lnTo>
                  <a:pt x="45541" y="21431"/>
                </a:lnTo>
                <a:cubicBezTo>
                  <a:pt x="41088" y="21431"/>
                  <a:pt x="37505" y="25014"/>
                  <a:pt x="37505" y="29468"/>
                </a:cubicBezTo>
                <a:cubicBezTo>
                  <a:pt x="37505" y="33922"/>
                  <a:pt x="41088" y="37505"/>
                  <a:pt x="45541" y="37505"/>
                </a:cubicBezTo>
                <a:lnTo>
                  <a:pt x="83046" y="37505"/>
                </a:lnTo>
                <a:close/>
                <a:moveTo>
                  <a:pt x="42863" y="85725"/>
                </a:moveTo>
                <a:cubicBezTo>
                  <a:pt x="42863" y="79811"/>
                  <a:pt x="38061" y="75009"/>
                  <a:pt x="32147" y="75009"/>
                </a:cubicBezTo>
                <a:cubicBezTo>
                  <a:pt x="26233" y="75009"/>
                  <a:pt x="21431" y="79811"/>
                  <a:pt x="21431" y="85725"/>
                </a:cubicBezTo>
                <a:cubicBezTo>
                  <a:pt x="21431" y="91639"/>
                  <a:pt x="26233" y="96441"/>
                  <a:pt x="32147" y="96441"/>
                </a:cubicBezTo>
                <a:cubicBezTo>
                  <a:pt x="38061" y="96441"/>
                  <a:pt x="42863" y="91639"/>
                  <a:pt x="42863" y="85725"/>
                </a:cubicBezTo>
                <a:close/>
                <a:moveTo>
                  <a:pt x="53578" y="85725"/>
                </a:moveTo>
                <a:cubicBezTo>
                  <a:pt x="53578" y="90179"/>
                  <a:pt x="57161" y="93762"/>
                  <a:pt x="61615" y="93762"/>
                </a:cubicBezTo>
                <a:lnTo>
                  <a:pt x="99120" y="93762"/>
                </a:lnTo>
                <a:cubicBezTo>
                  <a:pt x="103573" y="93762"/>
                  <a:pt x="107156" y="90179"/>
                  <a:pt x="107156" y="85725"/>
                </a:cubicBezTo>
                <a:cubicBezTo>
                  <a:pt x="107156" y="81271"/>
                  <a:pt x="103573" y="77688"/>
                  <a:pt x="99120" y="77688"/>
                </a:cubicBezTo>
                <a:lnTo>
                  <a:pt x="61615" y="77688"/>
                </a:lnTo>
                <a:cubicBezTo>
                  <a:pt x="57161" y="77688"/>
                  <a:pt x="53578" y="81271"/>
                  <a:pt x="53578" y="85725"/>
                </a:cubicBezTo>
                <a:close/>
                <a:moveTo>
                  <a:pt x="53578" y="128588"/>
                </a:moveTo>
                <a:cubicBezTo>
                  <a:pt x="53578" y="133041"/>
                  <a:pt x="57161" y="136624"/>
                  <a:pt x="61615" y="136624"/>
                </a:cubicBezTo>
                <a:lnTo>
                  <a:pt x="99120" y="136624"/>
                </a:lnTo>
                <a:cubicBezTo>
                  <a:pt x="103573" y="136624"/>
                  <a:pt x="107156" y="133041"/>
                  <a:pt x="107156" y="128588"/>
                </a:cubicBezTo>
                <a:cubicBezTo>
                  <a:pt x="107156" y="124134"/>
                  <a:pt x="103573" y="120551"/>
                  <a:pt x="99120" y="120551"/>
                </a:cubicBezTo>
                <a:lnTo>
                  <a:pt x="61615" y="120551"/>
                </a:lnTo>
                <a:cubicBezTo>
                  <a:pt x="57161" y="120551"/>
                  <a:pt x="53578" y="124134"/>
                  <a:pt x="53578" y="128588"/>
                </a:cubicBezTo>
                <a:close/>
                <a:moveTo>
                  <a:pt x="32147" y="139303"/>
                </a:moveTo>
                <a:cubicBezTo>
                  <a:pt x="38061" y="139303"/>
                  <a:pt x="42863" y="134502"/>
                  <a:pt x="42863" y="128588"/>
                </a:cubicBezTo>
                <a:cubicBezTo>
                  <a:pt x="42863" y="122673"/>
                  <a:pt x="38061" y="117872"/>
                  <a:pt x="32147" y="117872"/>
                </a:cubicBezTo>
                <a:cubicBezTo>
                  <a:pt x="26233" y="117872"/>
                  <a:pt x="21431" y="122673"/>
                  <a:pt x="21431" y="128588"/>
                </a:cubicBezTo>
                <a:cubicBezTo>
                  <a:pt x="21431" y="134502"/>
                  <a:pt x="26233" y="139303"/>
                  <a:pt x="32147" y="139303"/>
                </a:cubicBezTo>
                <a:close/>
              </a:path>
            </a:pathLst>
          </a:custGeom>
          <a:solidFill>
            <a:srgbClr val="D4AF37"/>
          </a:solidFill>
          <a:ln/>
        </p:spPr>
      </p:sp>
      <p:sp>
        <p:nvSpPr>
          <p:cNvPr id="38" name="Text 36"/>
          <p:cNvSpPr/>
          <p:nvPr/>
        </p:nvSpPr>
        <p:spPr>
          <a:xfrm>
            <a:off x="3871913" y="3314700"/>
            <a:ext cx="14097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تأهيل الاختبار</a:t>
            </a:r>
            <a:endParaRPr xmlns:a="http://schemas.openxmlformats.org/drawingml/2006/main" lang="en-US" sz="1600" dirty="0"/>
          </a:p>
        </p:txBody>
      </p:sp>
      <p:sp>
        <p:nvSpPr>
          <p:cNvPr id="39" name="Text 37"/>
          <p:cNvSpPr/>
          <p:nvPr/>
        </p:nvSpPr>
        <p:spPr>
          <a:xfrm>
            <a:off x="3871913" y="3543300"/>
            <a:ext cx="140017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تقييم من 3 أسئلة</a:t>
            </a:r>
            <a:endParaRPr xmlns:a="http://schemas.openxmlformats.org/drawingml/2006/main" lang="en-US" sz="1600" dirty="0"/>
          </a:p>
        </p:txBody>
      </p:sp>
      <p:sp>
        <p:nvSpPr>
          <p:cNvPr id="40" name="Shape 38"/>
          <p:cNvSpPr/>
          <p:nvPr/>
        </p:nvSpPr>
        <p:spPr>
          <a:xfrm>
            <a:off x="3429000" y="3924300"/>
            <a:ext cx="2438400" cy="647700"/>
          </a:xfrm>
          <a:prstGeom prst="roundRect">
            <a:avLst>
              <a:gd name="adj" fmla="val 11765"/>
            </a:avLst>
          </a:prstGeom>
          <a:solidFill>
            <a:srgbClr val="0A192F">
              <a:alpha val="40000"/>
            </a:srgbClr>
          </a:solidFill>
          <a:ln/>
        </p:spPr>
      </p:sp>
      <p:sp>
        <p:nvSpPr>
          <p:cNvPr id="41" name="Shape 39"/>
          <p:cNvSpPr/>
          <p:nvPr/>
        </p:nvSpPr>
        <p:spPr>
          <a:xfrm>
            <a:off x="3556397" y="4162425"/>
            <a:ext cx="192881" cy="171450"/>
          </a:xfrm>
          <a:custGeom>
            <a:avLst/>
            <a:gdLst/>
            <a:ahLst/>
            <a:cxnLst/>
            <a:rect l="l" t="t" r="r" b="b"/>
            <a:pathLst>
              <a:path w="192881" h="171450">
                <a:moveTo>
                  <a:pt x="134347" y="13093"/>
                </a:moveTo>
                <a:lnTo>
                  <a:pt x="183974" y="63423"/>
                </a:lnTo>
                <a:cubicBezTo>
                  <a:pt x="193250" y="72833"/>
                  <a:pt x="193250" y="87902"/>
                  <a:pt x="183974" y="97311"/>
                </a:cubicBezTo>
                <a:lnTo>
                  <a:pt x="131601" y="150320"/>
                </a:lnTo>
                <a:cubicBezTo>
                  <a:pt x="128487" y="153468"/>
                  <a:pt x="123397" y="153501"/>
                  <a:pt x="120249" y="150387"/>
                </a:cubicBezTo>
                <a:cubicBezTo>
                  <a:pt x="117102" y="147273"/>
                  <a:pt x="117068" y="142183"/>
                  <a:pt x="120182" y="139035"/>
                </a:cubicBezTo>
                <a:lnTo>
                  <a:pt x="172555" y="85993"/>
                </a:lnTo>
                <a:cubicBezTo>
                  <a:pt x="175636" y="82879"/>
                  <a:pt x="175636" y="77822"/>
                  <a:pt x="172555" y="74708"/>
                </a:cubicBezTo>
                <a:lnTo>
                  <a:pt x="122895" y="24412"/>
                </a:lnTo>
                <a:cubicBezTo>
                  <a:pt x="119781" y="21264"/>
                  <a:pt x="119814" y="16174"/>
                  <a:pt x="122962" y="13060"/>
                </a:cubicBezTo>
                <a:cubicBezTo>
                  <a:pt x="126110" y="9945"/>
                  <a:pt x="131199" y="9979"/>
                  <a:pt x="134314" y="13127"/>
                </a:cubicBezTo>
                <a:close/>
                <a:moveTo>
                  <a:pt x="10749" y="76851"/>
                </a:moveTo>
                <a:lnTo>
                  <a:pt x="10749" y="32147"/>
                </a:lnTo>
                <a:cubicBezTo>
                  <a:pt x="10749" y="20326"/>
                  <a:pt x="20360" y="10716"/>
                  <a:pt x="32180" y="10716"/>
                </a:cubicBezTo>
                <a:lnTo>
                  <a:pt x="76885" y="10716"/>
                </a:lnTo>
                <a:cubicBezTo>
                  <a:pt x="82577" y="10716"/>
                  <a:pt x="88036" y="12959"/>
                  <a:pt x="92054" y="16978"/>
                </a:cubicBezTo>
                <a:lnTo>
                  <a:pt x="140274" y="65198"/>
                </a:lnTo>
                <a:cubicBezTo>
                  <a:pt x="148646" y="73569"/>
                  <a:pt x="148646" y="87131"/>
                  <a:pt x="140274" y="95503"/>
                </a:cubicBezTo>
                <a:lnTo>
                  <a:pt x="95570" y="140207"/>
                </a:lnTo>
                <a:cubicBezTo>
                  <a:pt x="87198" y="148579"/>
                  <a:pt x="73636" y="148579"/>
                  <a:pt x="65265" y="140207"/>
                </a:cubicBezTo>
                <a:lnTo>
                  <a:pt x="17045" y="91987"/>
                </a:lnTo>
                <a:cubicBezTo>
                  <a:pt x="13026" y="87969"/>
                  <a:pt x="10783" y="82510"/>
                  <a:pt x="10783" y="76818"/>
                </a:cubicBezTo>
                <a:close/>
                <a:moveTo>
                  <a:pt x="58969" y="48220"/>
                </a:moveTo>
                <a:cubicBezTo>
                  <a:pt x="58969" y="42306"/>
                  <a:pt x="54168" y="37505"/>
                  <a:pt x="48254" y="37505"/>
                </a:cubicBezTo>
                <a:cubicBezTo>
                  <a:pt x="42340" y="37505"/>
                  <a:pt x="37538" y="42306"/>
                  <a:pt x="37538" y="48220"/>
                </a:cubicBezTo>
                <a:cubicBezTo>
                  <a:pt x="37538" y="54134"/>
                  <a:pt x="42340" y="58936"/>
                  <a:pt x="48254" y="58936"/>
                </a:cubicBezTo>
                <a:cubicBezTo>
                  <a:pt x="54168" y="58936"/>
                  <a:pt x="58969" y="54134"/>
                  <a:pt x="58969" y="48220"/>
                </a:cubicBezTo>
                <a:close/>
              </a:path>
            </a:pathLst>
          </a:custGeom>
          <a:solidFill>
            <a:srgbClr val="64FFDA"/>
          </a:solidFill>
          <a:ln/>
        </p:spPr>
      </p:sp>
      <p:sp>
        <p:nvSpPr>
          <p:cNvPr id="42" name="Text 40"/>
          <p:cNvSpPr/>
          <p:nvPr/>
        </p:nvSpPr>
        <p:spPr>
          <a:xfrm>
            <a:off x="3871913" y="4038600"/>
            <a:ext cx="134302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وضع علامات تلقائية على نظام إدارة علاقات العملاء</a:t>
            </a:r>
            <a:endParaRPr xmlns:a="http://schemas.openxmlformats.org/drawingml/2006/main" lang="en-US" sz="1600" dirty="0"/>
          </a:p>
        </p:txBody>
      </p:sp>
      <p:sp>
        <p:nvSpPr>
          <p:cNvPr id="43" name="Text 41"/>
          <p:cNvSpPr/>
          <p:nvPr/>
        </p:nvSpPr>
        <p:spPr>
          <a:xfrm>
            <a:off x="3871913" y="4267200"/>
            <a:ext cx="1333500"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تسجيل نقاط العملاء المحتملين وتوجيههم</a:t>
            </a:r>
            <a:endParaRPr xmlns:a="http://schemas.openxmlformats.org/drawingml/2006/main" lang="en-US" sz="1600" dirty="0"/>
          </a:p>
        </p:txBody>
      </p:sp>
      <p:sp>
        <p:nvSpPr>
          <p:cNvPr id="44" name="Shape 42"/>
          <p:cNvSpPr/>
          <p:nvPr/>
        </p:nvSpPr>
        <p:spPr>
          <a:xfrm>
            <a:off x="3433763" y="4881563"/>
            <a:ext cx="2428875" cy="352425"/>
          </a:xfrm>
          <a:prstGeom prst="roundRect">
            <a:avLst>
              <a:gd name="adj" fmla="val 21622"/>
            </a:avLst>
          </a:prstGeom>
          <a:solidFill>
            <a:srgbClr val="64FFDA">
              <a:alpha val="10196"/>
            </a:srgbClr>
          </a:solidFill>
          <a:ln w="12700">
            <a:solidFill>
              <a:srgbClr val="64FFDA">
                <a:alpha val="30196"/>
              </a:srgbClr>
            </a:solidFill>
            <a:prstDash val="solid"/>
          </a:ln>
        </p:spPr>
      </p:sp>
      <p:sp>
        <p:nvSpPr>
          <p:cNvPr id="45" name="Text 43"/>
          <p:cNvSpPr/>
          <p:nvPr/>
        </p:nvSpPr>
        <p:spPr>
          <a:xfrm>
            <a:off x="3481388" y="4962525"/>
            <a:ext cx="2333625"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b="1" dirty="0">
                <a:solidFill>
                  <a:srgbClr val="64FFDA"/>
                </a:solidFill>
                <a:latin typeface="Quattrocento Sans" pitchFamily="34" charset="0"/>
                <a:ea typeface="Quattrocento Sans" pitchFamily="34" charset="-122"/>
                <a:cs typeface="Quattrocento Sans" pitchFamily="34" charset="-120"/>
              </a:rPr>
              <a:t>الهدف: </a:t>
            </a:r>
            <a:pPr xmlns:a="http://schemas.openxmlformats.org/drawingml/2006/main" algn="ctr">
              <a:lnSpc>
                <a:spcPct val="120000"/>
              </a:lnSpc>
              <a:bidi/>
            </a:pPr>
            <a:r xmlns:a="http://schemas.openxmlformats.org/drawingml/2006/main">
              <a:rPr lang="ar" sz="1050" dirty="0">
                <a:solidFill>
                  <a:srgbClr val="E6F1FF"/>
                </a:solidFill>
                <a:latin typeface="Quattrocento Sans" pitchFamily="34" charset="0"/>
                <a:ea typeface="Quattrocento Sans" pitchFamily="34" charset="-122"/>
                <a:cs typeface="Quattrocento Sans" pitchFamily="34" charset="-120"/>
              </a:rPr>
              <a:t>انعدام العمل اليدوي</a:t>
            </a:r>
            <a:endParaRPr xmlns:a="http://schemas.openxmlformats.org/drawingml/2006/main" lang="en-US" sz="1600" dirty="0"/>
          </a:p>
        </p:txBody>
      </p:sp>
      <p:sp>
        <p:nvSpPr>
          <p:cNvPr id="46" name="Shape 44"/>
          <p:cNvSpPr/>
          <p:nvPr/>
        </p:nvSpPr>
        <p:spPr>
          <a:xfrm>
            <a:off x="6172200" y="1733550"/>
            <a:ext cx="2743200" cy="3657600"/>
          </a:xfrm>
          <a:custGeom>
            <a:avLst/>
            <a:gdLst/>
            <a:ahLst/>
            <a:cxnLst/>
            <a:rect l="l" t="t" r="r" b="b"/>
            <a:pathLst>
              <a:path w="2743200" h="3657600">
                <a:moveTo>
                  <a:pt x="38100" y="0"/>
                </a:moveTo>
                <a:lnTo>
                  <a:pt x="2705100" y="0"/>
                </a:lnTo>
                <a:cubicBezTo>
                  <a:pt x="2726128" y="0"/>
                  <a:pt x="2743200" y="17072"/>
                  <a:pt x="2743200" y="38100"/>
                </a:cubicBezTo>
                <a:lnTo>
                  <a:pt x="2743200" y="3543300"/>
                </a:lnTo>
                <a:cubicBezTo>
                  <a:pt x="2743200" y="3606384"/>
                  <a:pt x="2691984" y="3657600"/>
                  <a:pt x="2628900" y="3657600"/>
                </a:cubicBezTo>
                <a:lnTo>
                  <a:pt x="114300" y="3657600"/>
                </a:lnTo>
                <a:cubicBezTo>
                  <a:pt x="51216" y="3657600"/>
                  <a:pt x="0" y="3606384"/>
                  <a:pt x="0" y="35433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47" name="Shape 45"/>
          <p:cNvSpPr/>
          <p:nvPr/>
        </p:nvSpPr>
        <p:spPr>
          <a:xfrm>
            <a:off x="6172200" y="17335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D4AF37"/>
          </a:solidFill>
          <a:ln/>
        </p:spPr>
      </p:sp>
      <p:sp>
        <p:nvSpPr>
          <p:cNvPr id="48" name="Shape 46"/>
          <p:cNvSpPr/>
          <p:nvPr/>
        </p:nvSpPr>
        <p:spPr>
          <a:xfrm>
            <a:off x="6324600" y="1905000"/>
            <a:ext cx="457200" cy="457200"/>
          </a:xfrm>
          <a:prstGeom prst="roundRect">
            <a:avLst>
              <a:gd name="adj" fmla="val 50000"/>
            </a:avLst>
          </a:prstGeom>
          <a:solidFill>
            <a:srgbClr val="D4AF37">
              <a:alpha val="20000"/>
            </a:srgbClr>
          </a:solidFill>
          <a:ln/>
        </p:spPr>
      </p:sp>
      <p:sp>
        <p:nvSpPr>
          <p:cNvPr id="49" name="Text 47"/>
          <p:cNvSpPr/>
          <p:nvPr/>
        </p:nvSpPr>
        <p:spPr>
          <a:xfrm>
            <a:off x="6436221" y="2000250"/>
            <a:ext cx="3333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D4AF37"/>
                </a:solidFill>
                <a:latin typeface="Liter" pitchFamily="34" charset="0"/>
                <a:ea typeface="Liter" pitchFamily="34" charset="-122"/>
                <a:cs typeface="Liter" pitchFamily="34" charset="-120"/>
              </a:rPr>
              <a:t>03</a:t>
            </a:r>
            <a:endParaRPr xmlns:a="http://schemas.openxmlformats.org/drawingml/2006/main" lang="en-US" sz="1600" dirty="0"/>
          </a:p>
        </p:txBody>
      </p:sp>
      <p:sp>
        <p:nvSpPr>
          <p:cNvPr id="50" name="Text 48"/>
          <p:cNvSpPr/>
          <p:nvPr/>
        </p:nvSpPr>
        <p:spPr>
          <a:xfrm>
            <a:off x="6896100" y="1905000"/>
            <a:ext cx="94297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dirty="0">
                <a:solidFill>
                  <a:srgbClr val="E6F1FF"/>
                </a:solidFill>
                <a:latin typeface="Liter" pitchFamily="34" charset="0"/>
                <a:ea typeface="Liter" pitchFamily="34" charset="-122"/>
                <a:cs typeface="Liter" pitchFamily="34" charset="-120"/>
              </a:rPr>
              <a:t>تحويل</a:t>
            </a:r>
            <a:endParaRPr xmlns:a="http://schemas.openxmlformats.org/drawingml/2006/main" lang="en-US" sz="1600" dirty="0"/>
          </a:p>
        </p:txBody>
      </p:sp>
      <p:sp>
        <p:nvSpPr>
          <p:cNvPr id="51" name="Text 49"/>
          <p:cNvSpPr/>
          <p:nvPr/>
        </p:nvSpPr>
        <p:spPr>
          <a:xfrm>
            <a:off x="6896100" y="2171700"/>
            <a:ext cx="92392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64FFDA"/>
                </a:solidFill>
                <a:latin typeface="Quattrocento Sans" pitchFamily="34" charset="0"/>
                <a:ea typeface="Quattrocento Sans" pitchFamily="34" charset="-122"/>
                <a:cs typeface="Quattrocento Sans" pitchFamily="34" charset="-120"/>
              </a:rPr>
              <a:t>ربح</a:t>
            </a:r>
            <a:endParaRPr xmlns:a="http://schemas.openxmlformats.org/drawingml/2006/main" lang="en-US" sz="1600" dirty="0"/>
          </a:p>
        </p:txBody>
      </p:sp>
      <p:sp>
        <p:nvSpPr>
          <p:cNvPr id="52" name="Shape 50"/>
          <p:cNvSpPr/>
          <p:nvPr/>
        </p:nvSpPr>
        <p:spPr>
          <a:xfrm>
            <a:off x="6324600" y="2476500"/>
            <a:ext cx="2438400" cy="647700"/>
          </a:xfrm>
          <a:prstGeom prst="roundRect">
            <a:avLst>
              <a:gd name="adj" fmla="val 11765"/>
            </a:avLst>
          </a:prstGeom>
          <a:solidFill>
            <a:srgbClr val="0A192F">
              <a:alpha val="40000"/>
            </a:srgbClr>
          </a:solidFill>
          <a:ln/>
        </p:spPr>
      </p:sp>
      <p:sp>
        <p:nvSpPr>
          <p:cNvPr id="53" name="Shape 51"/>
          <p:cNvSpPr/>
          <p:nvPr/>
        </p:nvSpPr>
        <p:spPr>
          <a:xfrm>
            <a:off x="6451997" y="2714625"/>
            <a:ext cx="192881" cy="171450"/>
          </a:xfrm>
          <a:custGeom>
            <a:avLst/>
            <a:gdLst/>
            <a:ahLst/>
            <a:cxnLst/>
            <a:rect l="l" t="t" r="r" b="b"/>
            <a:pathLst>
              <a:path w="192881" h="171450">
                <a:moveTo>
                  <a:pt x="90045" y="28530"/>
                </a:moveTo>
                <a:lnTo>
                  <a:pt x="51000" y="71929"/>
                </a:lnTo>
                <a:cubicBezTo>
                  <a:pt x="49459" y="73636"/>
                  <a:pt x="49526" y="76282"/>
                  <a:pt x="51167" y="77923"/>
                </a:cubicBezTo>
                <a:cubicBezTo>
                  <a:pt x="61380" y="88136"/>
                  <a:pt x="77956" y="88136"/>
                  <a:pt x="88170" y="77923"/>
                </a:cubicBezTo>
                <a:lnTo>
                  <a:pt x="98818" y="67274"/>
                </a:lnTo>
                <a:cubicBezTo>
                  <a:pt x="100225" y="65868"/>
                  <a:pt x="101999" y="65097"/>
                  <a:pt x="103808" y="64963"/>
                </a:cubicBezTo>
                <a:cubicBezTo>
                  <a:pt x="106085" y="64763"/>
                  <a:pt x="108429" y="65533"/>
                  <a:pt x="110170" y="67274"/>
                </a:cubicBezTo>
                <a:lnTo>
                  <a:pt x="169307" y="125909"/>
                </a:lnTo>
                <a:lnTo>
                  <a:pt x="192881" y="107156"/>
                </a:lnTo>
                <a:lnTo>
                  <a:pt x="192881" y="10716"/>
                </a:lnTo>
                <a:lnTo>
                  <a:pt x="155377" y="32147"/>
                </a:lnTo>
                <a:lnTo>
                  <a:pt x="147407" y="26823"/>
                </a:lnTo>
                <a:cubicBezTo>
                  <a:pt x="142116" y="23306"/>
                  <a:pt x="135921" y="21431"/>
                  <a:pt x="129559" y="21431"/>
                </a:cubicBezTo>
                <a:lnTo>
                  <a:pt x="105984" y="21431"/>
                </a:lnTo>
                <a:cubicBezTo>
                  <a:pt x="105616" y="21431"/>
                  <a:pt x="105214" y="21431"/>
                  <a:pt x="104846" y="21465"/>
                </a:cubicBezTo>
                <a:cubicBezTo>
                  <a:pt x="99187" y="21766"/>
                  <a:pt x="93862" y="24311"/>
                  <a:pt x="90045" y="28530"/>
                </a:cubicBezTo>
                <a:close/>
                <a:moveTo>
                  <a:pt x="39045" y="61180"/>
                </a:moveTo>
                <a:lnTo>
                  <a:pt x="74808" y="21431"/>
                </a:lnTo>
                <a:lnTo>
                  <a:pt x="61548" y="21431"/>
                </a:lnTo>
                <a:cubicBezTo>
                  <a:pt x="53009" y="21431"/>
                  <a:pt x="44838" y="24813"/>
                  <a:pt x="38811" y="30841"/>
                </a:cubicBezTo>
                <a:lnTo>
                  <a:pt x="37505" y="32147"/>
                </a:lnTo>
                <a:lnTo>
                  <a:pt x="0" y="10716"/>
                </a:lnTo>
                <a:lnTo>
                  <a:pt x="0" y="107156"/>
                </a:lnTo>
                <a:lnTo>
                  <a:pt x="52373" y="150789"/>
                </a:lnTo>
                <a:cubicBezTo>
                  <a:pt x="60074" y="157218"/>
                  <a:pt x="69786" y="160734"/>
                  <a:pt x="79798" y="160734"/>
                </a:cubicBezTo>
                <a:lnTo>
                  <a:pt x="85055" y="160734"/>
                </a:lnTo>
                <a:lnTo>
                  <a:pt x="82711" y="158390"/>
                </a:lnTo>
                <a:cubicBezTo>
                  <a:pt x="79564" y="155243"/>
                  <a:pt x="79564" y="150153"/>
                  <a:pt x="82711" y="147038"/>
                </a:cubicBezTo>
                <a:cubicBezTo>
                  <a:pt x="85859" y="143924"/>
                  <a:pt x="90949" y="143891"/>
                  <a:pt x="94063" y="147038"/>
                </a:cubicBezTo>
                <a:lnTo>
                  <a:pt x="107792" y="160768"/>
                </a:lnTo>
                <a:lnTo>
                  <a:pt x="110806" y="160768"/>
                </a:lnTo>
                <a:cubicBezTo>
                  <a:pt x="117202" y="160768"/>
                  <a:pt x="123464" y="159328"/>
                  <a:pt x="129157" y="156649"/>
                </a:cubicBezTo>
                <a:lnTo>
                  <a:pt x="120216" y="147675"/>
                </a:lnTo>
                <a:cubicBezTo>
                  <a:pt x="117068" y="144527"/>
                  <a:pt x="117068" y="139437"/>
                  <a:pt x="120216" y="136323"/>
                </a:cubicBezTo>
                <a:cubicBezTo>
                  <a:pt x="123364" y="133209"/>
                  <a:pt x="128454" y="133175"/>
                  <a:pt x="131568" y="136323"/>
                </a:cubicBezTo>
                <a:lnTo>
                  <a:pt x="142283" y="147038"/>
                </a:lnTo>
                <a:lnTo>
                  <a:pt x="148144" y="141178"/>
                </a:lnTo>
                <a:cubicBezTo>
                  <a:pt x="151124" y="138198"/>
                  <a:pt x="151994" y="133878"/>
                  <a:pt x="150688" y="130094"/>
                </a:cubicBezTo>
                <a:lnTo>
                  <a:pt x="104511" y="84285"/>
                </a:lnTo>
                <a:lnTo>
                  <a:pt x="99521" y="89275"/>
                </a:lnTo>
                <a:cubicBezTo>
                  <a:pt x="83013" y="105783"/>
                  <a:pt x="56291" y="105783"/>
                  <a:pt x="39782" y="89275"/>
                </a:cubicBezTo>
                <a:cubicBezTo>
                  <a:pt x="32080" y="81573"/>
                  <a:pt x="31779" y="69216"/>
                  <a:pt x="39045" y="61146"/>
                </a:cubicBezTo>
                <a:close/>
              </a:path>
            </a:pathLst>
          </a:custGeom>
          <a:solidFill>
            <a:srgbClr val="D4AF37"/>
          </a:solidFill>
          <a:ln/>
        </p:spPr>
      </p:sp>
      <p:sp>
        <p:nvSpPr>
          <p:cNvPr id="54" name="Text 52"/>
          <p:cNvSpPr/>
          <p:nvPr/>
        </p:nvSpPr>
        <p:spPr>
          <a:xfrm>
            <a:off x="6767513" y="2590800"/>
            <a:ext cx="149542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ديسكفري بيلان</a:t>
            </a:r>
            <a:endParaRPr xmlns:a="http://schemas.openxmlformats.org/drawingml/2006/main" lang="en-US" sz="1600" dirty="0"/>
          </a:p>
        </p:txBody>
      </p:sp>
      <p:sp>
        <p:nvSpPr>
          <p:cNvPr id="55" name="Text 53"/>
          <p:cNvSpPr/>
          <p:nvPr/>
        </p:nvSpPr>
        <p:spPr>
          <a:xfrm>
            <a:off x="6767513" y="2819400"/>
            <a:ext cx="1485900"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استشارة مجانية لمدة 15 دقيقة</a:t>
            </a:r>
            <a:endParaRPr xmlns:a="http://schemas.openxmlformats.org/drawingml/2006/main" lang="en-US" sz="1600" dirty="0"/>
          </a:p>
        </p:txBody>
      </p:sp>
      <p:sp>
        <p:nvSpPr>
          <p:cNvPr id="56" name="Shape 54"/>
          <p:cNvSpPr/>
          <p:nvPr/>
        </p:nvSpPr>
        <p:spPr>
          <a:xfrm>
            <a:off x="6324600" y="3200400"/>
            <a:ext cx="2438400" cy="647700"/>
          </a:xfrm>
          <a:prstGeom prst="roundRect">
            <a:avLst>
              <a:gd name="adj" fmla="val 11765"/>
            </a:avLst>
          </a:prstGeom>
          <a:solidFill>
            <a:srgbClr val="0A192F">
              <a:alpha val="40000"/>
            </a:srgbClr>
          </a:solidFill>
          <a:ln/>
        </p:spPr>
      </p:sp>
      <p:sp>
        <p:nvSpPr>
          <p:cNvPr id="57" name="Shape 55"/>
          <p:cNvSpPr/>
          <p:nvPr/>
        </p:nvSpPr>
        <p:spPr>
          <a:xfrm>
            <a:off x="6462713" y="3438525"/>
            <a:ext cx="171450" cy="171450"/>
          </a:xfrm>
          <a:custGeom>
            <a:avLst/>
            <a:gdLst/>
            <a:ahLst/>
            <a:cxnLst/>
            <a:rect l="l" t="t" r="r" b="b"/>
            <a:pathLst>
              <a:path w="171450" h="171450">
                <a:moveTo>
                  <a:pt x="40184" y="18752"/>
                </a:moveTo>
                <a:cubicBezTo>
                  <a:pt x="40184" y="8405"/>
                  <a:pt x="48589" y="0"/>
                  <a:pt x="58936" y="0"/>
                </a:cubicBezTo>
                <a:lnTo>
                  <a:pt x="66973" y="0"/>
                </a:lnTo>
                <a:cubicBezTo>
                  <a:pt x="72900" y="0"/>
                  <a:pt x="77688" y="4789"/>
                  <a:pt x="77688" y="10716"/>
                </a:cubicBezTo>
                <a:lnTo>
                  <a:pt x="77688" y="160734"/>
                </a:lnTo>
                <a:cubicBezTo>
                  <a:pt x="77688" y="166661"/>
                  <a:pt x="72900" y="171450"/>
                  <a:pt x="66973" y="171450"/>
                </a:cubicBezTo>
                <a:lnTo>
                  <a:pt x="56257" y="171450"/>
                </a:lnTo>
                <a:cubicBezTo>
                  <a:pt x="46278" y="171450"/>
                  <a:pt x="37873" y="164619"/>
                  <a:pt x="35496" y="155377"/>
                </a:cubicBezTo>
                <a:cubicBezTo>
                  <a:pt x="35261" y="155377"/>
                  <a:pt x="35060" y="155377"/>
                  <a:pt x="34826" y="155377"/>
                </a:cubicBezTo>
                <a:cubicBezTo>
                  <a:pt x="20025" y="155377"/>
                  <a:pt x="8037" y="143388"/>
                  <a:pt x="8037" y="128588"/>
                </a:cubicBezTo>
                <a:cubicBezTo>
                  <a:pt x="8037" y="122560"/>
                  <a:pt x="10046" y="117001"/>
                  <a:pt x="13395" y="112514"/>
                </a:cubicBezTo>
                <a:cubicBezTo>
                  <a:pt x="6898" y="107625"/>
                  <a:pt x="2679" y="99856"/>
                  <a:pt x="2679" y="91083"/>
                </a:cubicBezTo>
                <a:cubicBezTo>
                  <a:pt x="2679" y="80736"/>
                  <a:pt x="8573" y="71728"/>
                  <a:pt x="17145" y="67274"/>
                </a:cubicBezTo>
                <a:cubicBezTo>
                  <a:pt x="14767" y="63256"/>
                  <a:pt x="13395" y="58568"/>
                  <a:pt x="13395" y="53578"/>
                </a:cubicBezTo>
                <a:cubicBezTo>
                  <a:pt x="13395" y="38777"/>
                  <a:pt x="25383" y="26789"/>
                  <a:pt x="40184" y="26789"/>
                </a:cubicBezTo>
                <a:lnTo>
                  <a:pt x="40184" y="18752"/>
                </a:lnTo>
                <a:close/>
                <a:moveTo>
                  <a:pt x="131266" y="18752"/>
                </a:moveTo>
                <a:lnTo>
                  <a:pt x="131266" y="26789"/>
                </a:lnTo>
                <a:cubicBezTo>
                  <a:pt x="146067" y="26789"/>
                  <a:pt x="158055" y="38777"/>
                  <a:pt x="158055" y="53578"/>
                </a:cubicBezTo>
                <a:cubicBezTo>
                  <a:pt x="158055" y="58601"/>
                  <a:pt x="156683" y="63289"/>
                  <a:pt x="154305" y="67274"/>
                </a:cubicBezTo>
                <a:cubicBezTo>
                  <a:pt x="162911" y="71728"/>
                  <a:pt x="168771" y="80702"/>
                  <a:pt x="168771" y="91083"/>
                </a:cubicBezTo>
                <a:cubicBezTo>
                  <a:pt x="168771" y="99856"/>
                  <a:pt x="164552" y="107625"/>
                  <a:pt x="158055" y="112514"/>
                </a:cubicBezTo>
                <a:cubicBezTo>
                  <a:pt x="161404" y="117001"/>
                  <a:pt x="163413" y="122560"/>
                  <a:pt x="163413" y="128588"/>
                </a:cubicBezTo>
                <a:cubicBezTo>
                  <a:pt x="163413" y="143388"/>
                  <a:pt x="151425" y="155377"/>
                  <a:pt x="136624" y="155377"/>
                </a:cubicBezTo>
                <a:cubicBezTo>
                  <a:pt x="136390" y="155377"/>
                  <a:pt x="136189" y="155377"/>
                  <a:pt x="135954" y="155377"/>
                </a:cubicBezTo>
                <a:cubicBezTo>
                  <a:pt x="133577" y="164619"/>
                  <a:pt x="125172" y="171450"/>
                  <a:pt x="115193" y="171450"/>
                </a:cubicBezTo>
                <a:lnTo>
                  <a:pt x="104477" y="171450"/>
                </a:lnTo>
                <a:cubicBezTo>
                  <a:pt x="98550" y="171450"/>
                  <a:pt x="93762" y="166661"/>
                  <a:pt x="93762" y="160734"/>
                </a:cubicBezTo>
                <a:lnTo>
                  <a:pt x="93762" y="10716"/>
                </a:lnTo>
                <a:cubicBezTo>
                  <a:pt x="93762" y="4789"/>
                  <a:pt x="98550" y="0"/>
                  <a:pt x="104477" y="0"/>
                </a:cubicBezTo>
                <a:lnTo>
                  <a:pt x="112514" y="0"/>
                </a:lnTo>
                <a:cubicBezTo>
                  <a:pt x="122861" y="0"/>
                  <a:pt x="131266" y="8405"/>
                  <a:pt x="131266" y="18752"/>
                </a:cubicBezTo>
                <a:close/>
              </a:path>
            </a:pathLst>
          </a:custGeom>
          <a:solidFill>
            <a:srgbClr val="64FFDA"/>
          </a:solidFill>
          <a:ln/>
        </p:spPr>
      </p:sp>
      <p:sp>
        <p:nvSpPr>
          <p:cNvPr id="58" name="Text 56"/>
          <p:cNvSpPr/>
          <p:nvPr/>
        </p:nvSpPr>
        <p:spPr>
          <a:xfrm>
            <a:off x="6767513" y="3314700"/>
            <a:ext cx="143827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تخطيط الدماغ الكمي (QEEG)</a:t>
            </a:r>
            <a:endParaRPr xmlns:a="http://schemas.openxmlformats.org/drawingml/2006/main" lang="en-US" sz="1600" dirty="0"/>
          </a:p>
        </p:txBody>
      </p:sp>
      <p:sp>
        <p:nvSpPr>
          <p:cNvPr id="59" name="Text 57"/>
          <p:cNvSpPr/>
          <p:nvPr/>
        </p:nvSpPr>
        <p:spPr>
          <a:xfrm>
            <a:off x="6767513" y="3543300"/>
            <a:ext cx="1428750"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b="1" dirty="0">
                <a:solidFill>
                  <a:srgbClr val="64FFDA"/>
                </a:solidFill>
                <a:latin typeface="Quattrocento Sans" pitchFamily="34" charset="0"/>
                <a:ea typeface="Quattrocento Sans" pitchFamily="34" charset="-122"/>
                <a:cs typeface="Quattrocento Sans" pitchFamily="34" charset="-120"/>
              </a:rPr>
              <a:t>350 دولارًا أمريكيًا</a:t>
            </a:r>
            <a:endParaRPr xmlns:a="http://schemas.openxmlformats.org/drawingml/2006/main" lang="en-US" sz="1600" dirty="0"/>
          </a:p>
        </p:txBody>
      </p:sp>
      <p:sp>
        <p:nvSpPr>
          <p:cNvPr id="60" name="Shape 58"/>
          <p:cNvSpPr/>
          <p:nvPr/>
        </p:nvSpPr>
        <p:spPr>
          <a:xfrm>
            <a:off x="6324600" y="3924300"/>
            <a:ext cx="2438400" cy="647700"/>
          </a:xfrm>
          <a:prstGeom prst="roundRect">
            <a:avLst>
              <a:gd name="adj" fmla="val 11765"/>
            </a:avLst>
          </a:prstGeom>
          <a:solidFill>
            <a:srgbClr val="0A192F">
              <a:alpha val="40000"/>
            </a:srgbClr>
          </a:solidFill>
          <a:ln/>
        </p:spPr>
      </p:sp>
      <p:sp>
        <p:nvSpPr>
          <p:cNvPr id="61" name="Shape 59"/>
          <p:cNvSpPr/>
          <p:nvPr/>
        </p:nvSpPr>
        <p:spPr>
          <a:xfrm>
            <a:off x="6473428" y="4162425"/>
            <a:ext cx="150019" cy="171450"/>
          </a:xfrm>
          <a:custGeom>
            <a:avLst/>
            <a:gdLst/>
            <a:ahLst/>
            <a:cxnLst/>
            <a:rect l="l" t="t" r="r" b="b"/>
            <a:pathLst>
              <a:path w="150019" h="171450">
                <a:moveTo>
                  <a:pt x="42863" y="0"/>
                </a:moveTo>
                <a:cubicBezTo>
                  <a:pt x="48790" y="0"/>
                  <a:pt x="53578" y="4789"/>
                  <a:pt x="53578" y="10716"/>
                </a:cubicBezTo>
                <a:lnTo>
                  <a:pt x="53578" y="21431"/>
                </a:lnTo>
                <a:lnTo>
                  <a:pt x="96441" y="21431"/>
                </a:lnTo>
                <a:lnTo>
                  <a:pt x="96441" y="10716"/>
                </a:lnTo>
                <a:cubicBezTo>
                  <a:pt x="96441" y="4789"/>
                  <a:pt x="101229" y="0"/>
                  <a:pt x="107156" y="0"/>
                </a:cubicBezTo>
                <a:cubicBezTo>
                  <a:pt x="113083" y="0"/>
                  <a:pt x="117872" y="4789"/>
                  <a:pt x="117872" y="10716"/>
                </a:cubicBezTo>
                <a:lnTo>
                  <a:pt x="117872" y="21431"/>
                </a:lnTo>
                <a:lnTo>
                  <a:pt x="128588" y="21431"/>
                </a:lnTo>
                <a:cubicBezTo>
                  <a:pt x="140408" y="21431"/>
                  <a:pt x="150019" y="31042"/>
                  <a:pt x="150019" y="42863"/>
                </a:cubicBezTo>
                <a:lnTo>
                  <a:pt x="150019" y="139303"/>
                </a:lnTo>
                <a:cubicBezTo>
                  <a:pt x="150019" y="151124"/>
                  <a:pt x="140408" y="160734"/>
                  <a:pt x="128588" y="160734"/>
                </a:cubicBezTo>
                <a:lnTo>
                  <a:pt x="21431" y="160734"/>
                </a:lnTo>
                <a:cubicBezTo>
                  <a:pt x="9611" y="160734"/>
                  <a:pt x="0" y="151124"/>
                  <a:pt x="0" y="139303"/>
                </a:cubicBezTo>
                <a:lnTo>
                  <a:pt x="0" y="42863"/>
                </a:lnTo>
                <a:cubicBezTo>
                  <a:pt x="0" y="31042"/>
                  <a:pt x="9611" y="21431"/>
                  <a:pt x="21431" y="21431"/>
                </a:cubicBezTo>
                <a:lnTo>
                  <a:pt x="32147" y="21431"/>
                </a:lnTo>
                <a:lnTo>
                  <a:pt x="32147" y="10716"/>
                </a:lnTo>
                <a:cubicBezTo>
                  <a:pt x="32147" y="4789"/>
                  <a:pt x="36935" y="0"/>
                  <a:pt x="42863" y="0"/>
                </a:cubicBezTo>
                <a:close/>
                <a:moveTo>
                  <a:pt x="103272" y="76583"/>
                </a:moveTo>
                <a:cubicBezTo>
                  <a:pt x="105616" y="72833"/>
                  <a:pt x="104477" y="67877"/>
                  <a:pt x="100727" y="65499"/>
                </a:cubicBezTo>
                <a:cubicBezTo>
                  <a:pt x="96976" y="63122"/>
                  <a:pt x="92020" y="64294"/>
                  <a:pt x="89643" y="68044"/>
                </a:cubicBezTo>
                <a:lnTo>
                  <a:pt x="69082" y="100961"/>
                </a:lnTo>
                <a:lnTo>
                  <a:pt x="60041" y="88906"/>
                </a:lnTo>
                <a:cubicBezTo>
                  <a:pt x="57362" y="85357"/>
                  <a:pt x="52339" y="84620"/>
                  <a:pt x="48790" y="87299"/>
                </a:cubicBezTo>
                <a:cubicBezTo>
                  <a:pt x="45240" y="89978"/>
                  <a:pt x="44503" y="95001"/>
                  <a:pt x="47182" y="98550"/>
                </a:cubicBezTo>
                <a:lnTo>
                  <a:pt x="63256" y="119982"/>
                </a:lnTo>
                <a:cubicBezTo>
                  <a:pt x="64830" y="122091"/>
                  <a:pt x="67374" y="123297"/>
                  <a:pt x="70020" y="123196"/>
                </a:cubicBezTo>
                <a:cubicBezTo>
                  <a:pt x="72665" y="123096"/>
                  <a:pt x="75076" y="121689"/>
                  <a:pt x="76483" y="119412"/>
                </a:cubicBezTo>
                <a:lnTo>
                  <a:pt x="103272" y="76550"/>
                </a:lnTo>
                <a:close/>
              </a:path>
            </a:pathLst>
          </a:custGeom>
          <a:solidFill>
            <a:srgbClr val="D4AF37"/>
          </a:solidFill>
          <a:ln/>
        </p:spPr>
      </p:sp>
      <p:sp>
        <p:nvSpPr>
          <p:cNvPr id="62" name="Text 60"/>
          <p:cNvSpPr/>
          <p:nvPr/>
        </p:nvSpPr>
        <p:spPr>
          <a:xfrm>
            <a:off x="6767513" y="4038600"/>
            <a:ext cx="127635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الجلسات القياسية</a:t>
            </a:r>
            <a:endParaRPr xmlns:a="http://schemas.openxmlformats.org/drawingml/2006/main" lang="en-US" sz="1600" dirty="0"/>
          </a:p>
        </p:txBody>
      </p:sp>
      <p:sp>
        <p:nvSpPr>
          <p:cNvPr id="63" name="Text 61"/>
          <p:cNvSpPr/>
          <p:nvPr/>
        </p:nvSpPr>
        <p:spPr>
          <a:xfrm>
            <a:off x="6767513" y="4267200"/>
            <a:ext cx="126682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160 دولارًا للجلسة الواحدة</a:t>
            </a:r>
            <a:endParaRPr xmlns:a="http://schemas.openxmlformats.org/drawingml/2006/main" lang="en-US" sz="1600" dirty="0"/>
          </a:p>
        </p:txBody>
      </p:sp>
      <p:sp>
        <p:nvSpPr>
          <p:cNvPr id="64" name="Shape 62"/>
          <p:cNvSpPr/>
          <p:nvPr/>
        </p:nvSpPr>
        <p:spPr>
          <a:xfrm>
            <a:off x="6329363" y="4881563"/>
            <a:ext cx="2428875" cy="352425"/>
          </a:xfrm>
          <a:prstGeom prst="roundRect">
            <a:avLst>
              <a:gd name="adj" fmla="val 21622"/>
            </a:avLst>
          </a:prstGeom>
          <a:solidFill>
            <a:srgbClr val="D4AF37">
              <a:alpha val="10196"/>
            </a:srgbClr>
          </a:solidFill>
          <a:ln w="12700">
            <a:solidFill>
              <a:srgbClr val="D4AF37">
                <a:alpha val="30196"/>
              </a:srgbClr>
            </a:solidFill>
            <a:prstDash val="solid"/>
          </a:ln>
        </p:spPr>
      </p:sp>
      <p:sp>
        <p:nvSpPr>
          <p:cNvPr id="65" name="Text 63"/>
          <p:cNvSpPr/>
          <p:nvPr/>
        </p:nvSpPr>
        <p:spPr>
          <a:xfrm>
            <a:off x="6376988" y="4962525"/>
            <a:ext cx="2333625"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b="1" dirty="0">
                <a:solidFill>
                  <a:srgbClr val="D4AF37"/>
                </a:solidFill>
                <a:latin typeface="Quattrocento Sans" pitchFamily="34" charset="0"/>
                <a:ea typeface="Quattrocento Sans" pitchFamily="34" charset="-122"/>
                <a:cs typeface="Quattrocento Sans" pitchFamily="34" charset="-120"/>
              </a:rPr>
              <a:t>الهدف: </a:t>
            </a:r>
            <a:pPr xmlns:a="http://schemas.openxmlformats.org/drawingml/2006/main" algn="ctr">
              <a:lnSpc>
                <a:spcPct val="120000"/>
              </a:lnSpc>
              <a:bidi/>
            </a:pPr>
            <a:r xmlns:a="http://schemas.openxmlformats.org/drawingml/2006/main">
              <a:rPr lang="ar" sz="1050" dirty="0">
                <a:solidFill>
                  <a:srgbClr val="E6F1FF"/>
                </a:solidFill>
                <a:latin typeface="Quattrocento Sans" pitchFamily="34" charset="0"/>
                <a:ea typeface="Quattrocento Sans" pitchFamily="34" charset="-122"/>
                <a:cs typeface="Quattrocento Sans" pitchFamily="34" charset="-120"/>
              </a:rPr>
              <a:t>زيادة نسبة القرض إلى القيمة بمقدار 2.18 ضعف</a:t>
            </a:r>
            <a:endParaRPr xmlns:a="http://schemas.openxmlformats.org/drawingml/2006/main" lang="en-US" sz="1600" dirty="0"/>
          </a:p>
        </p:txBody>
      </p:sp>
      <p:sp>
        <p:nvSpPr>
          <p:cNvPr id="66" name="Shape 64"/>
          <p:cNvSpPr/>
          <p:nvPr/>
        </p:nvSpPr>
        <p:spPr>
          <a:xfrm>
            <a:off x="9067800" y="1733550"/>
            <a:ext cx="2743200" cy="3657600"/>
          </a:xfrm>
          <a:custGeom>
            <a:avLst/>
            <a:gdLst/>
            <a:ahLst/>
            <a:cxnLst/>
            <a:rect l="l" t="t" r="r" b="b"/>
            <a:pathLst>
              <a:path w="2743200" h="3657600">
                <a:moveTo>
                  <a:pt x="38100" y="0"/>
                </a:moveTo>
                <a:lnTo>
                  <a:pt x="2705100" y="0"/>
                </a:lnTo>
                <a:cubicBezTo>
                  <a:pt x="2726128" y="0"/>
                  <a:pt x="2743200" y="17072"/>
                  <a:pt x="2743200" y="38100"/>
                </a:cubicBezTo>
                <a:lnTo>
                  <a:pt x="2743200" y="3543300"/>
                </a:lnTo>
                <a:cubicBezTo>
                  <a:pt x="2743200" y="3606384"/>
                  <a:pt x="2691984" y="3657600"/>
                  <a:pt x="2628900" y="3657600"/>
                </a:cubicBezTo>
                <a:lnTo>
                  <a:pt x="114300" y="3657600"/>
                </a:lnTo>
                <a:cubicBezTo>
                  <a:pt x="51216" y="3657600"/>
                  <a:pt x="0" y="3606384"/>
                  <a:pt x="0" y="35433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67" name="Shape 65"/>
          <p:cNvSpPr/>
          <p:nvPr/>
        </p:nvSpPr>
        <p:spPr>
          <a:xfrm>
            <a:off x="9067800" y="17335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05DF72"/>
          </a:solidFill>
          <a:ln/>
        </p:spPr>
      </p:sp>
      <p:sp>
        <p:nvSpPr>
          <p:cNvPr id="68" name="Shape 66"/>
          <p:cNvSpPr/>
          <p:nvPr/>
        </p:nvSpPr>
        <p:spPr>
          <a:xfrm>
            <a:off x="9220200" y="1905000"/>
            <a:ext cx="457200" cy="457200"/>
          </a:xfrm>
          <a:prstGeom prst="roundRect">
            <a:avLst>
              <a:gd name="adj" fmla="val 50000"/>
            </a:avLst>
          </a:prstGeom>
          <a:solidFill>
            <a:srgbClr val="05DF72">
              <a:alpha val="20000"/>
            </a:srgbClr>
          </a:solidFill>
          <a:ln/>
        </p:spPr>
      </p:sp>
      <p:sp>
        <p:nvSpPr>
          <p:cNvPr id="69" name="Text 67"/>
          <p:cNvSpPr/>
          <p:nvPr/>
        </p:nvSpPr>
        <p:spPr>
          <a:xfrm>
            <a:off x="9331896" y="2000250"/>
            <a:ext cx="3333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05DF72"/>
                </a:solidFill>
                <a:latin typeface="Liter" pitchFamily="34" charset="0"/>
                <a:ea typeface="Liter" pitchFamily="34" charset="-122"/>
                <a:cs typeface="Liter" pitchFamily="34" charset="-120"/>
              </a:rPr>
              <a:t>04</a:t>
            </a:r>
            <a:endParaRPr xmlns:a="http://schemas.openxmlformats.org/drawingml/2006/main" lang="en-US" sz="1600" dirty="0"/>
          </a:p>
        </p:txBody>
      </p:sp>
      <p:sp>
        <p:nvSpPr>
          <p:cNvPr id="70" name="Text 68"/>
          <p:cNvSpPr/>
          <p:nvPr/>
        </p:nvSpPr>
        <p:spPr>
          <a:xfrm>
            <a:off x="9791700" y="1905000"/>
            <a:ext cx="105727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dirty="0">
                <a:solidFill>
                  <a:srgbClr val="E6F1FF"/>
                </a:solidFill>
                <a:latin typeface="Liter" pitchFamily="34" charset="0"/>
                <a:ea typeface="Liter" pitchFamily="34" charset="-122"/>
                <a:cs typeface="Liter" pitchFamily="34" charset="-120"/>
              </a:rPr>
              <a:t>حفظ</a:t>
            </a:r>
            <a:endParaRPr xmlns:a="http://schemas.openxmlformats.org/drawingml/2006/main" lang="en-US" sz="1600" dirty="0"/>
          </a:p>
        </p:txBody>
      </p:sp>
      <p:sp>
        <p:nvSpPr>
          <p:cNvPr id="71" name="Text 69"/>
          <p:cNvSpPr/>
          <p:nvPr/>
        </p:nvSpPr>
        <p:spPr>
          <a:xfrm>
            <a:off x="9791700" y="2171700"/>
            <a:ext cx="103822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64FFDA"/>
                </a:solidFill>
                <a:latin typeface="Quattrocento Sans" pitchFamily="34" charset="0"/>
                <a:ea typeface="Quattrocento Sans" pitchFamily="34" charset="-122"/>
                <a:cs typeface="Quattrocento Sans" pitchFamily="34" charset="-120"/>
              </a:rPr>
              <a:t>القيمة طويلة الأجل</a:t>
            </a:r>
            <a:endParaRPr xmlns:a="http://schemas.openxmlformats.org/drawingml/2006/main" lang="en-US" sz="1600" dirty="0"/>
          </a:p>
        </p:txBody>
      </p:sp>
      <p:sp>
        <p:nvSpPr>
          <p:cNvPr id="72" name="Shape 70"/>
          <p:cNvSpPr/>
          <p:nvPr/>
        </p:nvSpPr>
        <p:spPr>
          <a:xfrm>
            <a:off x="9220200" y="2476500"/>
            <a:ext cx="2438400" cy="647700"/>
          </a:xfrm>
          <a:prstGeom prst="roundRect">
            <a:avLst>
              <a:gd name="adj" fmla="val 11765"/>
            </a:avLst>
          </a:prstGeom>
          <a:solidFill>
            <a:srgbClr val="0A192F">
              <a:alpha val="40000"/>
            </a:srgbClr>
          </a:solidFill>
          <a:ln/>
        </p:spPr>
      </p:sp>
      <p:sp>
        <p:nvSpPr>
          <p:cNvPr id="73" name="Shape 71"/>
          <p:cNvSpPr/>
          <p:nvPr/>
        </p:nvSpPr>
        <p:spPr>
          <a:xfrm>
            <a:off x="9358313" y="2714625"/>
            <a:ext cx="171450" cy="171450"/>
          </a:xfrm>
          <a:custGeom>
            <a:avLst/>
            <a:gdLst/>
            <a:ahLst/>
            <a:cxnLst/>
            <a:rect l="l" t="t" r="r" b="b"/>
            <a:pathLst>
              <a:path w="171450" h="171450">
                <a:moveTo>
                  <a:pt x="80702" y="29167"/>
                </a:moveTo>
                <a:lnTo>
                  <a:pt x="85725" y="36098"/>
                </a:lnTo>
                <a:lnTo>
                  <a:pt x="90748" y="29167"/>
                </a:lnTo>
                <a:cubicBezTo>
                  <a:pt x="99120" y="17580"/>
                  <a:pt x="112581" y="10716"/>
                  <a:pt x="126880" y="10716"/>
                </a:cubicBezTo>
                <a:cubicBezTo>
                  <a:pt x="151492" y="10716"/>
                  <a:pt x="171450" y="30673"/>
                  <a:pt x="171450" y="55286"/>
                </a:cubicBezTo>
                <a:lnTo>
                  <a:pt x="171450" y="56157"/>
                </a:lnTo>
                <a:cubicBezTo>
                  <a:pt x="171450" y="93728"/>
                  <a:pt x="124603" y="137361"/>
                  <a:pt x="100158" y="156013"/>
                </a:cubicBezTo>
                <a:cubicBezTo>
                  <a:pt x="96005" y="159161"/>
                  <a:pt x="90915" y="160734"/>
                  <a:pt x="85725" y="160734"/>
                </a:cubicBezTo>
                <a:cubicBezTo>
                  <a:pt x="80535" y="160734"/>
                  <a:pt x="75411" y="159194"/>
                  <a:pt x="71292" y="156013"/>
                </a:cubicBezTo>
                <a:cubicBezTo>
                  <a:pt x="46847" y="137361"/>
                  <a:pt x="0" y="93728"/>
                  <a:pt x="0" y="56157"/>
                </a:cubicBezTo>
                <a:lnTo>
                  <a:pt x="0" y="55286"/>
                </a:lnTo>
                <a:cubicBezTo>
                  <a:pt x="0" y="30673"/>
                  <a:pt x="19958" y="10716"/>
                  <a:pt x="44570" y="10716"/>
                </a:cubicBezTo>
                <a:cubicBezTo>
                  <a:pt x="58869" y="10716"/>
                  <a:pt x="72330" y="17580"/>
                  <a:pt x="80702" y="29167"/>
                </a:cubicBezTo>
                <a:close/>
              </a:path>
            </a:pathLst>
          </a:custGeom>
          <a:solidFill>
            <a:srgbClr val="FF6467"/>
          </a:solidFill>
          <a:ln/>
        </p:spPr>
      </p:sp>
      <p:sp>
        <p:nvSpPr>
          <p:cNvPr id="74" name="Text 72"/>
          <p:cNvSpPr/>
          <p:nvPr/>
        </p:nvSpPr>
        <p:spPr>
          <a:xfrm>
            <a:off x="9663113" y="2590800"/>
            <a:ext cx="139065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رعاية علاقات العملاء</a:t>
            </a:r>
            <a:endParaRPr xmlns:a="http://schemas.openxmlformats.org/drawingml/2006/main" lang="en-US" sz="1600" dirty="0"/>
          </a:p>
        </p:txBody>
      </p:sp>
      <p:sp>
        <p:nvSpPr>
          <p:cNvPr id="75" name="Text 73"/>
          <p:cNvSpPr/>
          <p:nvPr/>
        </p:nvSpPr>
        <p:spPr>
          <a:xfrm>
            <a:off x="9663113" y="2819400"/>
            <a:ext cx="138112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المتابعات الآلية</a:t>
            </a:r>
            <a:endParaRPr xmlns:a="http://schemas.openxmlformats.org/drawingml/2006/main" lang="en-US" sz="1600" dirty="0"/>
          </a:p>
        </p:txBody>
      </p:sp>
      <p:sp>
        <p:nvSpPr>
          <p:cNvPr id="76" name="Shape 74"/>
          <p:cNvSpPr/>
          <p:nvPr/>
        </p:nvSpPr>
        <p:spPr>
          <a:xfrm>
            <a:off x="9220200" y="3200400"/>
            <a:ext cx="2438400" cy="647700"/>
          </a:xfrm>
          <a:prstGeom prst="roundRect">
            <a:avLst>
              <a:gd name="adj" fmla="val 11765"/>
            </a:avLst>
          </a:prstGeom>
          <a:solidFill>
            <a:srgbClr val="0A192F">
              <a:alpha val="40000"/>
            </a:srgbClr>
          </a:solidFill>
          <a:ln/>
        </p:spPr>
      </p:sp>
      <p:sp>
        <p:nvSpPr>
          <p:cNvPr id="77" name="Shape 75"/>
          <p:cNvSpPr/>
          <p:nvPr/>
        </p:nvSpPr>
        <p:spPr>
          <a:xfrm>
            <a:off x="9347597" y="3438525"/>
            <a:ext cx="192881" cy="171450"/>
          </a:xfrm>
          <a:custGeom>
            <a:avLst/>
            <a:gdLst/>
            <a:ahLst/>
            <a:cxnLst/>
            <a:rect l="l" t="t" r="r" b="b"/>
            <a:pathLst>
              <a:path w="192881" h="171450">
                <a:moveTo>
                  <a:pt x="103640" y="-6329"/>
                </a:moveTo>
                <a:cubicBezTo>
                  <a:pt x="102267" y="-9008"/>
                  <a:pt x="99488" y="-10716"/>
                  <a:pt x="96474" y="-10716"/>
                </a:cubicBezTo>
                <a:cubicBezTo>
                  <a:pt x="93460" y="-10716"/>
                  <a:pt x="90681" y="-9008"/>
                  <a:pt x="89308" y="-6329"/>
                </a:cubicBezTo>
                <a:lnTo>
                  <a:pt x="64662" y="41958"/>
                </a:lnTo>
                <a:lnTo>
                  <a:pt x="11117" y="50464"/>
                </a:lnTo>
                <a:cubicBezTo>
                  <a:pt x="8137" y="50933"/>
                  <a:pt x="5659" y="53042"/>
                  <a:pt x="4722" y="55922"/>
                </a:cubicBezTo>
                <a:cubicBezTo>
                  <a:pt x="3784" y="58802"/>
                  <a:pt x="4554" y="61950"/>
                  <a:pt x="6664" y="64093"/>
                </a:cubicBezTo>
                <a:lnTo>
                  <a:pt x="44972" y="102435"/>
                </a:lnTo>
                <a:lnTo>
                  <a:pt x="36534" y="155979"/>
                </a:lnTo>
                <a:cubicBezTo>
                  <a:pt x="36065" y="158960"/>
                  <a:pt x="37304" y="161973"/>
                  <a:pt x="39748" y="163748"/>
                </a:cubicBezTo>
                <a:cubicBezTo>
                  <a:pt x="42193" y="165523"/>
                  <a:pt x="45407" y="165791"/>
                  <a:pt x="48120" y="164418"/>
                </a:cubicBezTo>
                <a:lnTo>
                  <a:pt x="96474" y="139839"/>
                </a:lnTo>
                <a:lnTo>
                  <a:pt x="144795" y="164418"/>
                </a:lnTo>
                <a:cubicBezTo>
                  <a:pt x="147474" y="165791"/>
                  <a:pt x="150722" y="165523"/>
                  <a:pt x="153166" y="163748"/>
                </a:cubicBezTo>
                <a:cubicBezTo>
                  <a:pt x="155611" y="161973"/>
                  <a:pt x="156850" y="158993"/>
                  <a:pt x="156381" y="155979"/>
                </a:cubicBezTo>
                <a:lnTo>
                  <a:pt x="147909" y="102435"/>
                </a:lnTo>
                <a:lnTo>
                  <a:pt x="186217" y="64093"/>
                </a:lnTo>
                <a:cubicBezTo>
                  <a:pt x="188361" y="61950"/>
                  <a:pt x="189097" y="58802"/>
                  <a:pt x="188160" y="55922"/>
                </a:cubicBezTo>
                <a:cubicBezTo>
                  <a:pt x="187222" y="53042"/>
                  <a:pt x="184778" y="50933"/>
                  <a:pt x="181764" y="50464"/>
                </a:cubicBezTo>
                <a:lnTo>
                  <a:pt x="128253" y="41958"/>
                </a:lnTo>
                <a:lnTo>
                  <a:pt x="103640" y="-6329"/>
                </a:lnTo>
                <a:close/>
              </a:path>
            </a:pathLst>
          </a:custGeom>
          <a:solidFill>
            <a:srgbClr val="D4AF37"/>
          </a:solidFill>
          <a:ln/>
        </p:spPr>
      </p:sp>
      <p:sp>
        <p:nvSpPr>
          <p:cNvPr id="78" name="Text 76"/>
          <p:cNvSpPr/>
          <p:nvPr/>
        </p:nvSpPr>
        <p:spPr>
          <a:xfrm>
            <a:off x="9663113" y="3314700"/>
            <a:ext cx="13716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طلبات المراجعة</a:t>
            </a:r>
            <a:endParaRPr xmlns:a="http://schemas.openxmlformats.org/drawingml/2006/main" lang="en-US" sz="1600" dirty="0"/>
          </a:p>
        </p:txBody>
      </p:sp>
      <p:sp>
        <p:nvSpPr>
          <p:cNvPr id="79" name="Text 77"/>
          <p:cNvSpPr/>
          <p:nvPr/>
        </p:nvSpPr>
        <p:spPr>
          <a:xfrm>
            <a:off x="9663113" y="3543300"/>
            <a:ext cx="1362075"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بناء سمعة من فئة 5 نجوم</a:t>
            </a:r>
            <a:endParaRPr xmlns:a="http://schemas.openxmlformats.org/drawingml/2006/main" lang="en-US" sz="1600" dirty="0"/>
          </a:p>
        </p:txBody>
      </p:sp>
      <p:sp>
        <p:nvSpPr>
          <p:cNvPr id="80" name="Shape 78"/>
          <p:cNvSpPr/>
          <p:nvPr/>
        </p:nvSpPr>
        <p:spPr>
          <a:xfrm>
            <a:off x="9220200" y="3924300"/>
            <a:ext cx="2438400" cy="647700"/>
          </a:xfrm>
          <a:prstGeom prst="roundRect">
            <a:avLst>
              <a:gd name="adj" fmla="val 11765"/>
            </a:avLst>
          </a:prstGeom>
          <a:solidFill>
            <a:srgbClr val="0A192F">
              <a:alpha val="40000"/>
            </a:srgbClr>
          </a:solidFill>
          <a:ln/>
        </p:spPr>
      </p:sp>
      <p:sp>
        <p:nvSpPr>
          <p:cNvPr id="81" name="Shape 79"/>
          <p:cNvSpPr/>
          <p:nvPr/>
        </p:nvSpPr>
        <p:spPr>
          <a:xfrm>
            <a:off x="9358313" y="4162425"/>
            <a:ext cx="171450" cy="171450"/>
          </a:xfrm>
          <a:custGeom>
            <a:avLst/>
            <a:gdLst/>
            <a:ahLst/>
            <a:cxnLst/>
            <a:rect l="l" t="t" r="r" b="b"/>
            <a:pathLst>
              <a:path w="171450" h="171450">
                <a:moveTo>
                  <a:pt x="146235" y="25014"/>
                </a:moveTo>
                <a:lnTo>
                  <a:pt x="150019" y="28597"/>
                </a:lnTo>
                <a:lnTo>
                  <a:pt x="150019" y="10716"/>
                </a:lnTo>
                <a:cubicBezTo>
                  <a:pt x="150019" y="4789"/>
                  <a:pt x="154807" y="0"/>
                  <a:pt x="160734" y="0"/>
                </a:cubicBezTo>
                <a:cubicBezTo>
                  <a:pt x="166661" y="0"/>
                  <a:pt x="171450" y="4789"/>
                  <a:pt x="171450" y="10716"/>
                </a:cubicBezTo>
                <a:lnTo>
                  <a:pt x="171450" y="53578"/>
                </a:lnTo>
                <a:cubicBezTo>
                  <a:pt x="171450" y="59505"/>
                  <a:pt x="166661" y="64294"/>
                  <a:pt x="160734" y="64294"/>
                </a:cubicBezTo>
                <a:lnTo>
                  <a:pt x="117872" y="64294"/>
                </a:lnTo>
                <a:cubicBezTo>
                  <a:pt x="111945" y="64294"/>
                  <a:pt x="107156" y="59505"/>
                  <a:pt x="107156" y="53578"/>
                </a:cubicBezTo>
                <a:cubicBezTo>
                  <a:pt x="107156" y="47651"/>
                  <a:pt x="111945" y="42863"/>
                  <a:pt x="117872" y="42863"/>
                </a:cubicBezTo>
                <a:lnTo>
                  <a:pt x="133912" y="42863"/>
                </a:lnTo>
                <a:lnTo>
                  <a:pt x="131367" y="40451"/>
                </a:lnTo>
                <a:cubicBezTo>
                  <a:pt x="131300" y="40385"/>
                  <a:pt x="131233" y="40318"/>
                  <a:pt x="131166" y="40251"/>
                </a:cubicBezTo>
                <a:cubicBezTo>
                  <a:pt x="106051" y="15136"/>
                  <a:pt x="65365" y="15136"/>
                  <a:pt x="40251" y="40251"/>
                </a:cubicBezTo>
                <a:cubicBezTo>
                  <a:pt x="15136" y="65365"/>
                  <a:pt x="15136" y="106051"/>
                  <a:pt x="40251" y="131166"/>
                </a:cubicBezTo>
                <a:cubicBezTo>
                  <a:pt x="65365" y="156281"/>
                  <a:pt x="106051" y="156281"/>
                  <a:pt x="131166" y="131166"/>
                </a:cubicBezTo>
                <a:cubicBezTo>
                  <a:pt x="133912" y="128420"/>
                  <a:pt x="136356" y="125507"/>
                  <a:pt x="138499" y="122426"/>
                </a:cubicBezTo>
                <a:cubicBezTo>
                  <a:pt x="141882" y="117570"/>
                  <a:pt x="148579" y="116398"/>
                  <a:pt x="153434" y="119781"/>
                </a:cubicBezTo>
                <a:cubicBezTo>
                  <a:pt x="158290" y="123163"/>
                  <a:pt x="159462" y="129860"/>
                  <a:pt x="156080" y="134715"/>
                </a:cubicBezTo>
                <a:cubicBezTo>
                  <a:pt x="153233" y="138801"/>
                  <a:pt x="149985" y="142685"/>
                  <a:pt x="146335" y="146335"/>
                </a:cubicBezTo>
                <a:cubicBezTo>
                  <a:pt x="112849" y="179822"/>
                  <a:pt x="58568" y="179822"/>
                  <a:pt x="25115" y="146335"/>
                </a:cubicBezTo>
                <a:cubicBezTo>
                  <a:pt x="-8338" y="112849"/>
                  <a:pt x="-8372" y="58601"/>
                  <a:pt x="25115" y="25115"/>
                </a:cubicBezTo>
                <a:cubicBezTo>
                  <a:pt x="58568" y="-8338"/>
                  <a:pt x="112748" y="-8372"/>
                  <a:pt x="146235" y="25014"/>
                </a:cubicBezTo>
                <a:close/>
              </a:path>
            </a:pathLst>
          </a:custGeom>
          <a:solidFill>
            <a:srgbClr val="64FFDA"/>
          </a:solidFill>
          <a:ln/>
        </p:spPr>
      </p:sp>
      <p:sp>
        <p:nvSpPr>
          <p:cNvPr id="82" name="Text 80"/>
          <p:cNvSpPr/>
          <p:nvPr/>
        </p:nvSpPr>
        <p:spPr>
          <a:xfrm>
            <a:off x="9663113" y="4038600"/>
            <a:ext cx="136207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dirty="0">
                <a:solidFill>
                  <a:srgbClr val="E6F1FF"/>
                </a:solidFill>
                <a:latin typeface="Quattrocento Sans" pitchFamily="34" charset="0"/>
                <a:ea typeface="Quattrocento Sans" pitchFamily="34" charset="-122"/>
                <a:cs typeface="Quattrocento Sans" pitchFamily="34" charset="-120"/>
              </a:rPr>
              <a:t>ضمان استعادة العملاء لمدة 6 أشهر</a:t>
            </a:r>
            <a:endParaRPr xmlns:a="http://schemas.openxmlformats.org/drawingml/2006/main" lang="en-US" sz="1600" dirty="0"/>
          </a:p>
        </p:txBody>
      </p:sp>
      <p:sp>
        <p:nvSpPr>
          <p:cNvPr id="83" name="Text 81"/>
          <p:cNvSpPr/>
          <p:nvPr/>
        </p:nvSpPr>
        <p:spPr>
          <a:xfrm>
            <a:off x="9663113" y="4267200"/>
            <a:ext cx="1352550" cy="1905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حلقة إعادة التنشيط</a:t>
            </a:r>
            <a:endParaRPr xmlns:a="http://schemas.openxmlformats.org/drawingml/2006/main" lang="en-US" sz="1600" dirty="0"/>
          </a:p>
        </p:txBody>
      </p:sp>
      <p:sp>
        <p:nvSpPr>
          <p:cNvPr id="84" name="Shape 82"/>
          <p:cNvSpPr/>
          <p:nvPr/>
        </p:nvSpPr>
        <p:spPr>
          <a:xfrm>
            <a:off x="9224963" y="4881563"/>
            <a:ext cx="2428875" cy="352425"/>
          </a:xfrm>
          <a:prstGeom prst="roundRect">
            <a:avLst>
              <a:gd name="adj" fmla="val 21622"/>
            </a:avLst>
          </a:prstGeom>
          <a:solidFill>
            <a:srgbClr val="05DF72">
              <a:alpha val="10196"/>
            </a:srgbClr>
          </a:solidFill>
          <a:ln w="12700">
            <a:solidFill>
              <a:srgbClr val="05DF72">
                <a:alpha val="30196"/>
              </a:srgbClr>
            </a:solidFill>
            <a:prstDash val="solid"/>
          </a:ln>
        </p:spPr>
      </p:sp>
      <p:sp>
        <p:nvSpPr>
          <p:cNvPr id="85" name="Text 83"/>
          <p:cNvSpPr/>
          <p:nvPr/>
        </p:nvSpPr>
        <p:spPr>
          <a:xfrm>
            <a:off x="9272588" y="4962525"/>
            <a:ext cx="2333625"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b="1" dirty="0">
                <a:solidFill>
                  <a:srgbClr val="05DF72"/>
                </a:solidFill>
                <a:latin typeface="Quattrocento Sans" pitchFamily="34" charset="0"/>
                <a:ea typeface="Quattrocento Sans" pitchFamily="34" charset="-122"/>
                <a:cs typeface="Quattrocento Sans" pitchFamily="34" charset="-120"/>
              </a:rPr>
              <a:t>الهدف: </a:t>
            </a:r>
            <a:pPr xmlns:a="http://schemas.openxmlformats.org/drawingml/2006/main" algn="ctr">
              <a:lnSpc>
                <a:spcPct val="120000"/>
              </a:lnSpc>
              <a:bidi/>
            </a:pPr>
            <a:r xmlns:a="http://schemas.openxmlformats.org/drawingml/2006/main">
              <a:rPr lang="ar" sz="1050" dirty="0">
                <a:solidFill>
                  <a:srgbClr val="E6F1FF"/>
                </a:solidFill>
                <a:latin typeface="Quattrocento Sans" pitchFamily="34" charset="0"/>
                <a:ea typeface="Quattrocento Sans" pitchFamily="34" charset="-122"/>
                <a:cs typeface="Quattrocento Sans" pitchFamily="34" charset="-120"/>
              </a:rPr>
              <a:t>الاحتفاظ بنسبة 80% فأكثر</a:t>
            </a:r>
            <a:endParaRPr xmlns:a="http://schemas.openxmlformats.org/drawingml/2006/main" lang="en-US" sz="1600" dirty="0"/>
          </a:p>
        </p:txBody>
      </p:sp>
      <p:sp>
        <p:nvSpPr>
          <p:cNvPr id="86" name="Shape 84"/>
          <p:cNvSpPr/>
          <p:nvPr/>
        </p:nvSpPr>
        <p:spPr>
          <a:xfrm>
            <a:off x="385763" y="5548313"/>
            <a:ext cx="11420475" cy="923925"/>
          </a:xfrm>
          <a:prstGeom prst="roundRect">
            <a:avLst>
              <a:gd name="adj" fmla="val 12371"/>
            </a:avLst>
          </a:prstGeom>
          <a:gradFill rotWithShape="1" flip="none">
            <a:gsLst>
              <a:gs pos="0">
                <a:srgbClr val="1E3A5F">
                  <a:alpha val="50000"/>
                </a:srgbClr>
              </a:gs>
              <a:gs pos="100000">
                <a:srgbClr val="0A192F">
                  <a:alpha val="30000"/>
                </a:srgbClr>
              </a:gs>
            </a:gsLst>
            <a:lin ang="0" scaled="1"/>
          </a:gradFill>
          <a:ln w="12700">
            <a:solidFill>
              <a:srgbClr val="64FFDA">
                <a:alpha val="40000"/>
              </a:srgbClr>
            </a:solidFill>
            <a:prstDash val="solid"/>
          </a:ln>
        </p:spPr>
      </p:sp>
      <p:sp>
        <p:nvSpPr>
          <p:cNvPr id="87" name="Shape 85"/>
          <p:cNvSpPr/>
          <p:nvPr/>
        </p:nvSpPr>
        <p:spPr>
          <a:xfrm>
            <a:off x="581025" y="5867400"/>
            <a:ext cx="285750" cy="285750"/>
          </a:xfrm>
          <a:custGeom>
            <a:avLst/>
            <a:gdLst/>
            <a:ahLst/>
            <a:cxnLst/>
            <a:rect l="l" t="t" r="r" b="b"/>
            <a:pathLst>
              <a:path w="285750" h="285750">
                <a:moveTo>
                  <a:pt x="142875" y="0"/>
                </a:moveTo>
                <a:cubicBezTo>
                  <a:pt x="145442" y="0"/>
                  <a:pt x="148010" y="558"/>
                  <a:pt x="150354" y="1619"/>
                </a:cubicBezTo>
                <a:lnTo>
                  <a:pt x="255501" y="46211"/>
                </a:lnTo>
                <a:cubicBezTo>
                  <a:pt x="267779" y="51402"/>
                  <a:pt x="276932" y="63512"/>
                  <a:pt x="276876" y="78135"/>
                </a:cubicBezTo>
                <a:cubicBezTo>
                  <a:pt x="276597" y="133499"/>
                  <a:pt x="253826" y="234795"/>
                  <a:pt x="157665" y="280839"/>
                </a:cubicBezTo>
                <a:cubicBezTo>
                  <a:pt x="148344" y="285304"/>
                  <a:pt x="137517" y="285304"/>
                  <a:pt x="128197" y="280839"/>
                </a:cubicBezTo>
                <a:cubicBezTo>
                  <a:pt x="31979" y="234795"/>
                  <a:pt x="9265" y="133499"/>
                  <a:pt x="8985" y="78135"/>
                </a:cubicBezTo>
                <a:cubicBezTo>
                  <a:pt x="8930" y="63512"/>
                  <a:pt x="18083" y="51402"/>
                  <a:pt x="30361" y="46211"/>
                </a:cubicBezTo>
                <a:lnTo>
                  <a:pt x="135452" y="1619"/>
                </a:lnTo>
                <a:cubicBezTo>
                  <a:pt x="137796" y="558"/>
                  <a:pt x="140308" y="0"/>
                  <a:pt x="142875" y="0"/>
                </a:cubicBezTo>
                <a:close/>
                <a:moveTo>
                  <a:pt x="142875" y="37281"/>
                </a:moveTo>
                <a:lnTo>
                  <a:pt x="142875" y="248301"/>
                </a:lnTo>
                <a:cubicBezTo>
                  <a:pt x="219894" y="211020"/>
                  <a:pt x="240599" y="128420"/>
                  <a:pt x="241102" y="78972"/>
                </a:cubicBezTo>
                <a:lnTo>
                  <a:pt x="142875" y="37337"/>
                </a:lnTo>
                <a:lnTo>
                  <a:pt x="142875" y="37337"/>
                </a:lnTo>
                <a:close/>
              </a:path>
            </a:pathLst>
          </a:custGeom>
          <a:solidFill>
            <a:srgbClr val="64FFDA"/>
          </a:solidFill>
          <a:ln/>
        </p:spPr>
      </p:sp>
      <p:sp>
        <p:nvSpPr>
          <p:cNvPr id="88" name="Text 86"/>
          <p:cNvSpPr/>
          <p:nvPr/>
        </p:nvSpPr>
        <p:spPr>
          <a:xfrm>
            <a:off x="1052513" y="5743575"/>
            <a:ext cx="572452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dirty="0">
                <a:solidFill>
                  <a:srgbClr val="E6F1FF"/>
                </a:solidFill>
                <a:latin typeface="Quattrocento Sans" pitchFamily="34" charset="0"/>
                <a:ea typeface="Quattrocento Sans" pitchFamily="34" charset="-122"/>
                <a:cs typeface="Quattrocento Sans" pitchFamily="34" charset="-120"/>
              </a:rPr>
              <a:t>متوافق مع قانون CNDP 09-08</a:t>
            </a:r>
            <a:endParaRPr xmlns:a="http://schemas.openxmlformats.org/drawingml/2006/main" lang="en-US" sz="1600" dirty="0"/>
          </a:p>
        </p:txBody>
      </p:sp>
      <p:sp>
        <p:nvSpPr>
          <p:cNvPr id="89" name="Text 87"/>
          <p:cNvSpPr/>
          <p:nvPr/>
        </p:nvSpPr>
        <p:spPr>
          <a:xfrm>
            <a:off x="1052513" y="6048375"/>
            <a:ext cx="57150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alpha val="80000"/>
                  </a:srgbClr>
                </a:solidFill>
                <a:latin typeface="Quattrocento Sans" pitchFamily="34" charset="0"/>
                <a:ea typeface="Quattrocento Sans" pitchFamily="34" charset="-122"/>
                <a:cs typeface="Quattrocento Sans" pitchFamily="34" charset="-120"/>
              </a:rPr>
              <a:t>جميع البيانات الحساسة المتعلقة بالصحة محمية قانونياً في جميع أنحاء النظام البيئي بأكمله</a:t>
            </a:r>
            <a:endParaRPr xmlns:a="http://schemas.openxmlformats.org/drawingml/2006/main" lang="en-US" sz="1600" dirty="0"/>
          </a:p>
        </p:txBody>
      </p:sp>
      <p:sp>
        <p:nvSpPr>
          <p:cNvPr id="90" name="Shape 88"/>
          <p:cNvSpPr/>
          <p:nvPr/>
        </p:nvSpPr>
        <p:spPr>
          <a:xfrm>
            <a:off x="8741792" y="5705475"/>
            <a:ext cx="1228725" cy="609600"/>
          </a:xfrm>
          <a:prstGeom prst="roundRect">
            <a:avLst>
              <a:gd name="adj" fmla="val 12500"/>
            </a:avLst>
          </a:prstGeom>
          <a:solidFill>
            <a:srgbClr val="0A192F">
              <a:alpha val="40000"/>
            </a:srgbClr>
          </a:solidFill>
          <a:ln/>
        </p:spPr>
      </p:sp>
      <p:sp>
        <p:nvSpPr>
          <p:cNvPr id="91" name="Text 89"/>
          <p:cNvSpPr/>
          <p:nvPr/>
        </p:nvSpPr>
        <p:spPr>
          <a:xfrm>
            <a:off x="8860854" y="5781675"/>
            <a:ext cx="990600"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تشفير البيانات</a:t>
            </a:r>
            <a:endParaRPr xmlns:a="http://schemas.openxmlformats.org/drawingml/2006/main" lang="en-US" sz="1600" dirty="0"/>
          </a:p>
        </p:txBody>
      </p:sp>
      <p:sp>
        <p:nvSpPr>
          <p:cNvPr id="92" name="Text 90"/>
          <p:cNvSpPr/>
          <p:nvPr/>
        </p:nvSpPr>
        <p:spPr>
          <a:xfrm>
            <a:off x="8851329" y="5972175"/>
            <a:ext cx="1009650" cy="266700"/>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350" b="1" dirty="0">
                <a:solidFill>
                  <a:srgbClr val="64FFDA"/>
                </a:solidFill>
                <a:latin typeface="Quattrocento Sans" pitchFamily="34" charset="0"/>
                <a:ea typeface="Quattrocento Sans" pitchFamily="34" charset="-122"/>
                <a:cs typeface="Quattrocento Sans" pitchFamily="34" charset="-120"/>
              </a:rPr>
              <a:t>AES-256</a:t>
            </a:r>
            <a:endParaRPr xmlns:a="http://schemas.openxmlformats.org/drawingml/2006/main" lang="en-US" sz="1600" dirty="0"/>
          </a:p>
        </p:txBody>
      </p:sp>
      <p:sp>
        <p:nvSpPr>
          <p:cNvPr id="93" name="Shape 91"/>
          <p:cNvSpPr/>
          <p:nvPr/>
        </p:nvSpPr>
        <p:spPr>
          <a:xfrm>
            <a:off x="10083850" y="5705475"/>
            <a:ext cx="1562100" cy="609600"/>
          </a:xfrm>
          <a:prstGeom prst="roundRect">
            <a:avLst>
              <a:gd name="adj" fmla="val 12500"/>
            </a:avLst>
          </a:prstGeom>
          <a:solidFill>
            <a:srgbClr val="0A192F">
              <a:alpha val="40000"/>
            </a:srgbClr>
          </a:solidFill>
          <a:ln/>
        </p:spPr>
      </p:sp>
      <p:sp>
        <p:nvSpPr>
          <p:cNvPr id="94" name="Text 92"/>
          <p:cNvSpPr/>
          <p:nvPr/>
        </p:nvSpPr>
        <p:spPr>
          <a:xfrm>
            <a:off x="10202912" y="5781675"/>
            <a:ext cx="1323975" cy="190500"/>
          </a:xfrm>
          <a:prstGeom prst="rect">
            <a:avLst/>
          </a:prstGeom>
          <a:noFill/>
          <a:ln/>
        </p:spPr>
        <p:txBody>
          <a:bodyPr wrap="square" lIns="0" tIns="0" rIns="0" bIns="0" rtlCol="0" anchor="ctr"/>
          <a:lstStyle/>
          <a:p>
            <a:pPr xmlns:a="http://schemas.openxmlformats.org/drawingml/2006/main" algn="ctr">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إدارة الموافقة</a:t>
            </a:r>
            <a:endParaRPr xmlns:a="http://schemas.openxmlformats.org/drawingml/2006/main" lang="en-US" sz="1600" dirty="0"/>
          </a:p>
        </p:txBody>
      </p:sp>
      <p:sp>
        <p:nvSpPr>
          <p:cNvPr id="95" name="Text 93"/>
          <p:cNvSpPr/>
          <p:nvPr/>
        </p:nvSpPr>
        <p:spPr>
          <a:xfrm>
            <a:off x="10193387" y="5972175"/>
            <a:ext cx="1343025" cy="266700"/>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350" b="1" dirty="0">
                <a:solidFill>
                  <a:srgbClr val="64FFDA"/>
                </a:solidFill>
                <a:latin typeface="Quattrocento Sans" pitchFamily="34" charset="0"/>
                <a:ea typeface="Quattrocento Sans" pitchFamily="34" charset="-122"/>
                <a:cs typeface="Quattrocento Sans" pitchFamily="34" charset="-120"/>
              </a:rPr>
              <a:t>اللائحة العامة لحماية البيانات+</a:t>
            </a:r>
            <a:endParaRPr xmlns:a="http://schemas.openxmlformats.org/drawingml/2006/main"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b="1" spc="60" kern="0" dirty="0">
                <a:solidFill>
                  <a:srgbClr val="D4AF37"/>
                </a:solidFill>
                <a:latin typeface="Quattrocento Sans" pitchFamily="34" charset="0"/>
                <a:ea typeface="Quattrocento Sans" pitchFamily="34" charset="-122"/>
                <a:cs typeface="Quattrocento Sans" pitchFamily="34" charset="-120"/>
              </a:rPr>
              <a:t>الأداء المالي</a:t>
            </a:r>
            <a:endParaRPr xmlns:a="http://schemas.openxmlformats.org/drawingml/2006/main"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xmlns:a="http://schemas.openxmlformats.org/drawingml/2006/main">
              <a:lnSpc>
                <a:spcPct val="90000"/>
              </a:lnSpc>
              <a:bidi/>
            </a:pPr>
            <a:r xmlns:a="http://schemas.openxmlformats.org/drawingml/2006/main">
              <a:rPr lang="ar" sz="2700" b="1" dirty="0">
                <a:solidFill>
                  <a:srgbClr val="E6F1FF"/>
                </a:solidFill>
                <a:latin typeface="Liter" pitchFamily="34" charset="0"/>
                <a:ea typeface="Liter" pitchFamily="34" charset="-122"/>
                <a:cs typeface="Liter" pitchFamily="34" charset="-120"/>
              </a:rPr>
              <a:t>الأثر المالي واقتصاديات الوحدة</a:t>
            </a:r>
            <a:endParaRPr xmlns:a="http://schemas.openxmlformats.org/drawingml/2006/main" lang="en-US" sz="1600" dirty="0"/>
          </a:p>
        </p:txBody>
      </p:sp>
      <p:sp>
        <p:nvSpPr>
          <p:cNvPr id="4" name="Text 2"/>
          <p:cNvSpPr/>
          <p:nvPr/>
        </p:nvSpPr>
        <p:spPr>
          <a:xfrm>
            <a:off x="381000" y="1143000"/>
            <a:ext cx="11515725"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dirty="0">
                <a:solidFill>
                  <a:srgbClr val="E6F1FF">
                    <a:alpha val="70000"/>
                  </a:srgbClr>
                </a:solidFill>
                <a:latin typeface="Quattrocento Sans" pitchFamily="34" charset="0"/>
                <a:ea typeface="Quattrocento Sans" pitchFamily="34" charset="-122"/>
                <a:cs typeface="Quattrocento Sans" pitchFamily="34" charset="-120"/>
              </a:rPr>
              <a:t>أربع ركائز استراتيجية لتوسيع هامش الربح والربحية</a:t>
            </a:r>
            <a:endParaRPr xmlns:a="http://schemas.openxmlformats.org/drawingml/2006/main" lang="en-US" sz="1600" dirty="0"/>
          </a:p>
        </p:txBody>
      </p:sp>
      <p:sp>
        <p:nvSpPr>
          <p:cNvPr id="5" name="Shape 3"/>
          <p:cNvSpPr/>
          <p:nvPr/>
        </p:nvSpPr>
        <p:spPr>
          <a:xfrm>
            <a:off x="381000" y="1524000"/>
            <a:ext cx="914400" cy="38100"/>
          </a:xfrm>
          <a:prstGeom prst="roundRect">
            <a:avLst>
              <a:gd name="adj" fmla="val 0"/>
            </a:avLst>
          </a:prstGeom>
          <a:solidFill>
            <a:srgbClr val="D4AF37"/>
          </a:solidFill>
          <a:ln/>
        </p:spPr>
      </p:sp>
      <p:sp>
        <p:nvSpPr>
          <p:cNvPr id="6" name="Shape 4"/>
          <p:cNvSpPr/>
          <p:nvPr/>
        </p:nvSpPr>
        <p:spPr>
          <a:xfrm>
            <a:off x="400050" y="1714500"/>
            <a:ext cx="5600700" cy="1866900"/>
          </a:xfrm>
          <a:custGeom>
            <a:avLst/>
            <a:gdLst/>
            <a:ahLst/>
            <a:cxnLst/>
            <a:rect l="l" t="t" r="r" b="b"/>
            <a:pathLst>
              <a:path w="5600700" h="1866900">
                <a:moveTo>
                  <a:pt x="38100" y="0"/>
                </a:moveTo>
                <a:lnTo>
                  <a:pt x="5486400" y="0"/>
                </a:lnTo>
                <a:cubicBezTo>
                  <a:pt x="5549484" y="0"/>
                  <a:pt x="5600700" y="51216"/>
                  <a:pt x="5600700" y="114300"/>
                </a:cubicBezTo>
                <a:lnTo>
                  <a:pt x="5600700" y="1752600"/>
                </a:lnTo>
                <a:cubicBezTo>
                  <a:pt x="5600700" y="1815684"/>
                  <a:pt x="5549484" y="1866900"/>
                  <a:pt x="5486400" y="1866900"/>
                </a:cubicBezTo>
                <a:lnTo>
                  <a:pt x="38100" y="1866900"/>
                </a:lnTo>
                <a:cubicBezTo>
                  <a:pt x="17072" y="1866900"/>
                  <a:pt x="0" y="1849828"/>
                  <a:pt x="0" y="18288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7" name="Shape 5"/>
          <p:cNvSpPr/>
          <p:nvPr/>
        </p:nvSpPr>
        <p:spPr>
          <a:xfrm>
            <a:off x="400050" y="1714500"/>
            <a:ext cx="38100" cy="1866900"/>
          </a:xfrm>
          <a:custGeom>
            <a:avLst/>
            <a:gdLst/>
            <a:ahLst/>
            <a:cxnLst/>
            <a:rect l="l" t="t" r="r" b="b"/>
            <a:pathLst>
              <a:path w="38100" h="1866900">
                <a:moveTo>
                  <a:pt x="38100" y="0"/>
                </a:moveTo>
                <a:lnTo>
                  <a:pt x="38100" y="0"/>
                </a:lnTo>
                <a:lnTo>
                  <a:pt x="38100" y="1866900"/>
                </a:lnTo>
                <a:lnTo>
                  <a:pt x="38100" y="1866900"/>
                </a:lnTo>
                <a:cubicBezTo>
                  <a:pt x="17072" y="1866900"/>
                  <a:pt x="0" y="1849828"/>
                  <a:pt x="0" y="1828800"/>
                </a:cubicBezTo>
                <a:lnTo>
                  <a:pt x="0" y="38100"/>
                </a:lnTo>
                <a:cubicBezTo>
                  <a:pt x="0" y="17072"/>
                  <a:pt x="17072" y="0"/>
                  <a:pt x="38100" y="0"/>
                </a:cubicBezTo>
                <a:close/>
              </a:path>
            </a:pathLst>
          </a:custGeom>
          <a:solidFill>
            <a:srgbClr val="FF6467"/>
          </a:solidFill>
          <a:ln/>
        </p:spPr>
      </p:sp>
      <p:sp>
        <p:nvSpPr>
          <p:cNvPr id="8" name="Shape 6"/>
          <p:cNvSpPr/>
          <p:nvPr/>
        </p:nvSpPr>
        <p:spPr>
          <a:xfrm>
            <a:off x="623888" y="1924050"/>
            <a:ext cx="257175" cy="228600"/>
          </a:xfrm>
          <a:custGeom>
            <a:avLst/>
            <a:gdLst/>
            <a:ahLst/>
            <a:cxnLst/>
            <a:rect l="l" t="t" r="r" b="b"/>
            <a:pathLst>
              <a:path w="257175" h="228600">
                <a:moveTo>
                  <a:pt x="128588" y="-7144"/>
                </a:moveTo>
                <a:cubicBezTo>
                  <a:pt x="122649" y="-7144"/>
                  <a:pt x="117872" y="-2366"/>
                  <a:pt x="117872" y="3572"/>
                </a:cubicBezTo>
                <a:lnTo>
                  <a:pt x="117872" y="8930"/>
                </a:lnTo>
                <a:lnTo>
                  <a:pt x="117068" y="8930"/>
                </a:lnTo>
                <a:cubicBezTo>
                  <a:pt x="100727" y="8930"/>
                  <a:pt x="87511" y="22190"/>
                  <a:pt x="87511" y="38487"/>
                </a:cubicBezTo>
                <a:cubicBezTo>
                  <a:pt x="87511" y="53400"/>
                  <a:pt x="98628" y="65990"/>
                  <a:pt x="113407" y="67821"/>
                </a:cubicBezTo>
                <a:lnTo>
                  <a:pt x="140643" y="71214"/>
                </a:lnTo>
                <a:cubicBezTo>
                  <a:pt x="142920" y="71482"/>
                  <a:pt x="144661" y="73447"/>
                  <a:pt x="144661" y="75768"/>
                </a:cubicBezTo>
                <a:cubicBezTo>
                  <a:pt x="144661" y="78313"/>
                  <a:pt x="142607" y="80323"/>
                  <a:pt x="140107" y="80323"/>
                </a:cubicBezTo>
                <a:lnTo>
                  <a:pt x="107156" y="80367"/>
                </a:lnTo>
                <a:cubicBezTo>
                  <a:pt x="100236" y="80367"/>
                  <a:pt x="94655" y="85948"/>
                  <a:pt x="94655" y="92869"/>
                </a:cubicBezTo>
                <a:cubicBezTo>
                  <a:pt x="94655" y="99789"/>
                  <a:pt x="100236" y="105370"/>
                  <a:pt x="107156" y="105370"/>
                </a:cubicBezTo>
                <a:lnTo>
                  <a:pt x="117872" y="105370"/>
                </a:lnTo>
                <a:lnTo>
                  <a:pt x="117872" y="110728"/>
                </a:lnTo>
                <a:cubicBezTo>
                  <a:pt x="117872" y="116666"/>
                  <a:pt x="122649" y="121444"/>
                  <a:pt x="128588" y="121444"/>
                </a:cubicBezTo>
                <a:cubicBezTo>
                  <a:pt x="134526" y="121444"/>
                  <a:pt x="139303" y="116666"/>
                  <a:pt x="139303" y="110728"/>
                </a:cubicBezTo>
                <a:lnTo>
                  <a:pt x="139303" y="105370"/>
                </a:lnTo>
                <a:lnTo>
                  <a:pt x="140107" y="105370"/>
                </a:lnTo>
                <a:cubicBezTo>
                  <a:pt x="156448" y="105370"/>
                  <a:pt x="169664" y="92110"/>
                  <a:pt x="169664" y="75813"/>
                </a:cubicBezTo>
                <a:cubicBezTo>
                  <a:pt x="169664" y="60900"/>
                  <a:pt x="158547" y="48310"/>
                  <a:pt x="143768" y="46479"/>
                </a:cubicBezTo>
                <a:lnTo>
                  <a:pt x="116532" y="43086"/>
                </a:lnTo>
                <a:cubicBezTo>
                  <a:pt x="114255" y="42818"/>
                  <a:pt x="112514" y="40853"/>
                  <a:pt x="112514" y="38532"/>
                </a:cubicBezTo>
                <a:cubicBezTo>
                  <a:pt x="112514" y="35987"/>
                  <a:pt x="114568" y="33977"/>
                  <a:pt x="117068" y="33977"/>
                </a:cubicBezTo>
                <a:lnTo>
                  <a:pt x="146447" y="33933"/>
                </a:lnTo>
                <a:cubicBezTo>
                  <a:pt x="153367" y="33933"/>
                  <a:pt x="158948" y="28352"/>
                  <a:pt x="158948" y="21431"/>
                </a:cubicBezTo>
                <a:cubicBezTo>
                  <a:pt x="158948" y="14511"/>
                  <a:pt x="153367" y="8930"/>
                  <a:pt x="146447" y="8930"/>
                </a:cubicBezTo>
                <a:lnTo>
                  <a:pt x="139303" y="8930"/>
                </a:lnTo>
                <a:lnTo>
                  <a:pt x="139303" y="3572"/>
                </a:lnTo>
                <a:cubicBezTo>
                  <a:pt x="139303" y="-2366"/>
                  <a:pt x="134526" y="-7144"/>
                  <a:pt x="128588" y="-7144"/>
                </a:cubicBezTo>
                <a:close/>
                <a:moveTo>
                  <a:pt x="48801" y="152474"/>
                </a:moveTo>
                <a:lnTo>
                  <a:pt x="29781" y="171450"/>
                </a:lnTo>
                <a:lnTo>
                  <a:pt x="14288" y="171450"/>
                </a:lnTo>
                <a:cubicBezTo>
                  <a:pt x="6385" y="171450"/>
                  <a:pt x="0" y="177835"/>
                  <a:pt x="0" y="185738"/>
                </a:cubicBezTo>
                <a:lnTo>
                  <a:pt x="0" y="214313"/>
                </a:lnTo>
                <a:cubicBezTo>
                  <a:pt x="0" y="222215"/>
                  <a:pt x="6385" y="228600"/>
                  <a:pt x="14288" y="228600"/>
                </a:cubicBezTo>
                <a:lnTo>
                  <a:pt x="157386" y="228600"/>
                </a:lnTo>
                <a:cubicBezTo>
                  <a:pt x="170334" y="228600"/>
                  <a:pt x="182969" y="224448"/>
                  <a:pt x="193417" y="216768"/>
                </a:cubicBezTo>
                <a:lnTo>
                  <a:pt x="249942" y="175111"/>
                </a:lnTo>
                <a:cubicBezTo>
                  <a:pt x="257889" y="169262"/>
                  <a:pt x="259586" y="158100"/>
                  <a:pt x="253737" y="150153"/>
                </a:cubicBezTo>
                <a:cubicBezTo>
                  <a:pt x="247888" y="142205"/>
                  <a:pt x="236726" y="140509"/>
                  <a:pt x="228779" y="146358"/>
                </a:cubicBezTo>
                <a:lnTo>
                  <a:pt x="175290" y="185738"/>
                </a:lnTo>
                <a:lnTo>
                  <a:pt x="125016" y="185738"/>
                </a:lnTo>
                <a:cubicBezTo>
                  <a:pt x="119077" y="185738"/>
                  <a:pt x="114300" y="180960"/>
                  <a:pt x="114300" y="175022"/>
                </a:cubicBezTo>
                <a:cubicBezTo>
                  <a:pt x="114300" y="169084"/>
                  <a:pt x="119077" y="164306"/>
                  <a:pt x="125016" y="164306"/>
                </a:cubicBezTo>
                <a:lnTo>
                  <a:pt x="157163" y="164306"/>
                </a:lnTo>
                <a:cubicBezTo>
                  <a:pt x="165065" y="164306"/>
                  <a:pt x="171450" y="157922"/>
                  <a:pt x="171450" y="150019"/>
                </a:cubicBezTo>
                <a:cubicBezTo>
                  <a:pt x="171450" y="142116"/>
                  <a:pt x="165065" y="135731"/>
                  <a:pt x="157163" y="135731"/>
                </a:cubicBezTo>
                <a:lnTo>
                  <a:pt x="89208" y="135731"/>
                </a:lnTo>
                <a:cubicBezTo>
                  <a:pt x="74072" y="135731"/>
                  <a:pt x="59516" y="141759"/>
                  <a:pt x="48801" y="152474"/>
                </a:cubicBezTo>
                <a:close/>
              </a:path>
            </a:pathLst>
          </a:custGeom>
          <a:solidFill>
            <a:srgbClr val="FF6467"/>
          </a:solidFill>
          <a:ln/>
        </p:spPr>
      </p:sp>
      <p:sp>
        <p:nvSpPr>
          <p:cNvPr id="9" name="Text 7"/>
          <p:cNvSpPr/>
          <p:nvPr/>
        </p:nvSpPr>
        <p:spPr>
          <a:xfrm>
            <a:off x="1009650" y="1905000"/>
            <a:ext cx="23145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E6F1FF"/>
                </a:solidFill>
                <a:latin typeface="Liter" pitchFamily="34" charset="0"/>
                <a:ea typeface="Liter" pitchFamily="34" charset="-122"/>
                <a:cs typeface="Liter" pitchFamily="34" charset="-120"/>
              </a:rPr>
              <a:t>القضاء على هدر الإحالات</a:t>
            </a:r>
            <a:endParaRPr xmlns:a="http://schemas.openxmlformats.org/drawingml/2006/main" lang="en-US" sz="1600" dirty="0"/>
          </a:p>
        </p:txBody>
      </p:sp>
      <p:sp>
        <p:nvSpPr>
          <p:cNvPr id="10" name="Text 8"/>
          <p:cNvSpPr/>
          <p:nvPr/>
        </p:nvSpPr>
        <p:spPr>
          <a:xfrm>
            <a:off x="609600" y="2286000"/>
            <a:ext cx="5276850" cy="4572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خفض عمولات الإحالات الخارجية من </a:t>
            </a:r>
            <a:pPr xmlns:a="http://schemas.openxmlformats.org/drawingml/2006/main">
              <a:lnSpc>
                <a:spcPct val="130000"/>
              </a:lnSpc>
              <a:bidi/>
            </a:pPr>
            <a:r xmlns:a="http://schemas.openxmlformats.org/drawingml/2006/main">
              <a:rPr lang="ar" sz="1200" b="1" dirty="0">
                <a:solidFill>
                  <a:srgbClr val="FF6467"/>
                </a:solidFill>
                <a:latin typeface="Quattrocento Sans" pitchFamily="34" charset="0"/>
                <a:ea typeface="Quattrocento Sans" pitchFamily="34" charset="-122"/>
                <a:cs typeface="Quattrocento Sans" pitchFamily="34" charset="-120"/>
              </a:rPr>
              <a:t>30% </a:t>
            </a:r>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إلى </a:t>
            </a:r>
            <a:pPr xmlns:a="http://schemas.openxmlformats.org/drawingml/2006/main">
              <a:lnSpc>
                <a:spcPct val="130000"/>
              </a:lnSpc>
              <a:bidi/>
            </a:pPr>
            <a:r xmlns:a="http://schemas.openxmlformats.org/drawingml/2006/main">
              <a:rPr lang="ar" sz="1200" b="1" dirty="0">
                <a:solidFill>
                  <a:srgbClr val="64FFDA"/>
                </a:solidFill>
                <a:latin typeface="Quattrocento Sans" pitchFamily="34" charset="0"/>
                <a:ea typeface="Quattrocento Sans" pitchFamily="34" charset="-122"/>
                <a:cs typeface="Quattrocento Sans" pitchFamily="34" charset="-120"/>
              </a:rPr>
              <a:t>أقل من 15% </a:t>
            </a:r>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من خلال بناء قناة تسويقية مباشرة للمستهلكين عبر منصات Meta/WhatsApp</a:t>
            </a:r>
            <a:endParaRPr xmlns:a="http://schemas.openxmlformats.org/drawingml/2006/main" lang="en-US" sz="1600" dirty="0"/>
          </a:p>
        </p:txBody>
      </p:sp>
      <p:sp>
        <p:nvSpPr>
          <p:cNvPr id="11" name="Shape 9"/>
          <p:cNvSpPr/>
          <p:nvPr/>
        </p:nvSpPr>
        <p:spPr>
          <a:xfrm>
            <a:off x="609600" y="2857500"/>
            <a:ext cx="5200650" cy="533400"/>
          </a:xfrm>
          <a:prstGeom prst="roundRect">
            <a:avLst>
              <a:gd name="adj" fmla="val 14286"/>
            </a:avLst>
          </a:prstGeom>
          <a:solidFill>
            <a:srgbClr val="0A192F">
              <a:alpha val="40000"/>
            </a:srgbClr>
          </a:solidFill>
          <a:ln/>
        </p:spPr>
      </p:sp>
      <p:sp>
        <p:nvSpPr>
          <p:cNvPr id="12" name="Text 10"/>
          <p:cNvSpPr/>
          <p:nvPr/>
        </p:nvSpPr>
        <p:spPr>
          <a:xfrm>
            <a:off x="723900" y="3009900"/>
            <a:ext cx="217170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الوفورات السنوية (لكل 100 عميل)</a:t>
            </a:r>
            <a:endParaRPr xmlns:a="http://schemas.openxmlformats.org/drawingml/2006/main" lang="en-US" sz="1600" dirty="0"/>
          </a:p>
        </p:txBody>
      </p:sp>
      <p:sp>
        <p:nvSpPr>
          <p:cNvPr id="13" name="Text 11"/>
          <p:cNvSpPr/>
          <p:nvPr/>
        </p:nvSpPr>
        <p:spPr>
          <a:xfrm>
            <a:off x="4582864" y="2971800"/>
            <a:ext cx="1228725" cy="304800"/>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800" b="1" dirty="0">
                <a:solidFill>
                  <a:srgbClr val="64FFDA"/>
                </a:solidFill>
                <a:latin typeface="Liter" pitchFamily="34" charset="0"/>
                <a:ea typeface="Liter" pitchFamily="34" charset="-122"/>
                <a:cs typeface="Liter" pitchFamily="34" charset="-120"/>
              </a:rPr>
              <a:t>450 ألف درهم مغربي</a:t>
            </a:r>
            <a:endParaRPr xmlns:a="http://schemas.openxmlformats.org/drawingml/2006/main" lang="en-US" sz="1600" dirty="0"/>
          </a:p>
        </p:txBody>
      </p:sp>
      <p:sp>
        <p:nvSpPr>
          <p:cNvPr id="14" name="Shape 12"/>
          <p:cNvSpPr/>
          <p:nvPr/>
        </p:nvSpPr>
        <p:spPr>
          <a:xfrm>
            <a:off x="400050" y="3733800"/>
            <a:ext cx="5600700" cy="1866900"/>
          </a:xfrm>
          <a:custGeom>
            <a:avLst/>
            <a:gdLst/>
            <a:ahLst/>
            <a:cxnLst/>
            <a:rect l="l" t="t" r="r" b="b"/>
            <a:pathLst>
              <a:path w="5600700" h="1866900">
                <a:moveTo>
                  <a:pt x="38100" y="0"/>
                </a:moveTo>
                <a:lnTo>
                  <a:pt x="5486400" y="0"/>
                </a:lnTo>
                <a:cubicBezTo>
                  <a:pt x="5549484" y="0"/>
                  <a:pt x="5600700" y="51216"/>
                  <a:pt x="5600700" y="114300"/>
                </a:cubicBezTo>
                <a:lnTo>
                  <a:pt x="5600700" y="1752600"/>
                </a:lnTo>
                <a:cubicBezTo>
                  <a:pt x="5600700" y="1815684"/>
                  <a:pt x="5549484" y="1866900"/>
                  <a:pt x="5486400" y="1866900"/>
                </a:cubicBezTo>
                <a:lnTo>
                  <a:pt x="38100" y="1866900"/>
                </a:lnTo>
                <a:cubicBezTo>
                  <a:pt x="17072" y="1866900"/>
                  <a:pt x="0" y="1849828"/>
                  <a:pt x="0" y="18288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15" name="Shape 13"/>
          <p:cNvSpPr/>
          <p:nvPr/>
        </p:nvSpPr>
        <p:spPr>
          <a:xfrm>
            <a:off x="400050" y="3733800"/>
            <a:ext cx="38100" cy="1866900"/>
          </a:xfrm>
          <a:custGeom>
            <a:avLst/>
            <a:gdLst/>
            <a:ahLst/>
            <a:cxnLst/>
            <a:rect l="l" t="t" r="r" b="b"/>
            <a:pathLst>
              <a:path w="38100" h="1866900">
                <a:moveTo>
                  <a:pt x="38100" y="0"/>
                </a:moveTo>
                <a:lnTo>
                  <a:pt x="38100" y="0"/>
                </a:lnTo>
                <a:lnTo>
                  <a:pt x="38100" y="1866900"/>
                </a:lnTo>
                <a:lnTo>
                  <a:pt x="38100" y="1866900"/>
                </a:lnTo>
                <a:cubicBezTo>
                  <a:pt x="17072" y="1866900"/>
                  <a:pt x="0" y="1849828"/>
                  <a:pt x="0" y="1828800"/>
                </a:cubicBezTo>
                <a:lnTo>
                  <a:pt x="0" y="38100"/>
                </a:lnTo>
                <a:cubicBezTo>
                  <a:pt x="0" y="17072"/>
                  <a:pt x="17072" y="0"/>
                  <a:pt x="38100" y="0"/>
                </a:cubicBezTo>
                <a:close/>
              </a:path>
            </a:pathLst>
          </a:custGeom>
          <a:solidFill>
            <a:srgbClr val="D4AF37"/>
          </a:solidFill>
          <a:ln/>
        </p:spPr>
      </p:sp>
      <p:sp>
        <p:nvSpPr>
          <p:cNvPr id="16" name="Shape 14"/>
          <p:cNvSpPr/>
          <p:nvPr/>
        </p:nvSpPr>
        <p:spPr>
          <a:xfrm>
            <a:off x="638175" y="3943350"/>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D4AF37"/>
          </a:solidFill>
          <a:ln/>
        </p:spPr>
      </p:sp>
      <p:sp>
        <p:nvSpPr>
          <p:cNvPr id="17" name="Text 15"/>
          <p:cNvSpPr/>
          <p:nvPr/>
        </p:nvSpPr>
        <p:spPr>
          <a:xfrm>
            <a:off x="1009650" y="3924300"/>
            <a:ext cx="17049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E6F1FF"/>
                </a:solidFill>
                <a:latin typeface="Liter" pitchFamily="34" charset="0"/>
                <a:ea typeface="Liter" pitchFamily="34" charset="-122"/>
                <a:cs typeface="Liter" pitchFamily="34" charset="-120"/>
              </a:rPr>
              <a:t>استراتيجية الواجهة الأمامية</a:t>
            </a:r>
            <a:endParaRPr xmlns:a="http://schemas.openxmlformats.org/drawingml/2006/main" lang="en-US" sz="1600" dirty="0"/>
          </a:p>
        </p:txBody>
      </p:sp>
      <p:sp>
        <p:nvSpPr>
          <p:cNvPr id="18" name="Text 16"/>
          <p:cNvSpPr/>
          <p:nvPr/>
        </p:nvSpPr>
        <p:spPr>
          <a:xfrm>
            <a:off x="609600" y="4305300"/>
            <a:ext cx="5276850" cy="4572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تحمل خسارة هامشية طفيفة في خطة الاكتشاف الأولية منخفضة التكلفة لتأمين خطة رعاية مربحة للغاية تتكون من 10-20 جلسة، مما يزيد من قيمة العميل على المدى الطويل.</a:t>
            </a:r>
            <a:endParaRPr xmlns:a="http://schemas.openxmlformats.org/drawingml/2006/main" lang="en-US" sz="1600" dirty="0"/>
          </a:p>
        </p:txBody>
      </p:sp>
      <p:sp>
        <p:nvSpPr>
          <p:cNvPr id="19" name="Shape 17"/>
          <p:cNvSpPr/>
          <p:nvPr/>
        </p:nvSpPr>
        <p:spPr>
          <a:xfrm>
            <a:off x="609600" y="4876800"/>
            <a:ext cx="5200650" cy="533400"/>
          </a:xfrm>
          <a:prstGeom prst="roundRect">
            <a:avLst>
              <a:gd name="adj" fmla="val 14286"/>
            </a:avLst>
          </a:prstGeom>
          <a:solidFill>
            <a:srgbClr val="0A192F">
              <a:alpha val="40000"/>
            </a:srgbClr>
          </a:solidFill>
          <a:ln/>
        </p:spPr>
      </p:sp>
      <p:sp>
        <p:nvSpPr>
          <p:cNvPr id="20" name="Text 18"/>
          <p:cNvSpPr/>
          <p:nvPr/>
        </p:nvSpPr>
        <p:spPr>
          <a:xfrm>
            <a:off x="723900" y="5029200"/>
            <a:ext cx="92392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زيادة قيمة القرض إلى القيمة</a:t>
            </a:r>
            <a:endParaRPr xmlns:a="http://schemas.openxmlformats.org/drawingml/2006/main" lang="en-US" sz="1600" dirty="0"/>
          </a:p>
        </p:txBody>
      </p:sp>
      <p:sp>
        <p:nvSpPr>
          <p:cNvPr id="21" name="Text 19"/>
          <p:cNvSpPr/>
          <p:nvPr/>
        </p:nvSpPr>
        <p:spPr>
          <a:xfrm>
            <a:off x="5165303" y="4991100"/>
            <a:ext cx="647700" cy="304800"/>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800" b="1" dirty="0">
                <a:solidFill>
                  <a:srgbClr val="D4AF37"/>
                </a:solidFill>
                <a:latin typeface="Liter" pitchFamily="34" charset="0"/>
                <a:ea typeface="Liter" pitchFamily="34" charset="-122"/>
                <a:cs typeface="Liter" pitchFamily="34" charset="-120"/>
              </a:rPr>
              <a:t>2.18x</a:t>
            </a:r>
            <a:endParaRPr xmlns:a="http://schemas.openxmlformats.org/drawingml/2006/main" lang="en-US" sz="1600" dirty="0"/>
          </a:p>
        </p:txBody>
      </p:sp>
      <p:sp>
        <p:nvSpPr>
          <p:cNvPr id="22" name="Shape 20"/>
          <p:cNvSpPr/>
          <p:nvPr/>
        </p:nvSpPr>
        <p:spPr>
          <a:xfrm>
            <a:off x="6210300" y="1714500"/>
            <a:ext cx="5600700" cy="1866900"/>
          </a:xfrm>
          <a:custGeom>
            <a:avLst/>
            <a:gdLst/>
            <a:ahLst/>
            <a:cxnLst/>
            <a:rect l="l" t="t" r="r" b="b"/>
            <a:pathLst>
              <a:path w="5600700" h="1866900">
                <a:moveTo>
                  <a:pt x="38100" y="0"/>
                </a:moveTo>
                <a:lnTo>
                  <a:pt x="5486400" y="0"/>
                </a:lnTo>
                <a:cubicBezTo>
                  <a:pt x="5549484" y="0"/>
                  <a:pt x="5600700" y="51216"/>
                  <a:pt x="5600700" y="114300"/>
                </a:cubicBezTo>
                <a:lnTo>
                  <a:pt x="5600700" y="1752600"/>
                </a:lnTo>
                <a:cubicBezTo>
                  <a:pt x="5600700" y="1815684"/>
                  <a:pt x="5549484" y="1866900"/>
                  <a:pt x="5486400" y="1866900"/>
                </a:cubicBezTo>
                <a:lnTo>
                  <a:pt x="38100" y="1866900"/>
                </a:lnTo>
                <a:cubicBezTo>
                  <a:pt x="17072" y="1866900"/>
                  <a:pt x="0" y="1849828"/>
                  <a:pt x="0" y="18288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23" name="Shape 21"/>
          <p:cNvSpPr/>
          <p:nvPr/>
        </p:nvSpPr>
        <p:spPr>
          <a:xfrm>
            <a:off x="6210300" y="1714500"/>
            <a:ext cx="38100" cy="1866900"/>
          </a:xfrm>
          <a:custGeom>
            <a:avLst/>
            <a:gdLst/>
            <a:ahLst/>
            <a:cxnLst/>
            <a:rect l="l" t="t" r="r" b="b"/>
            <a:pathLst>
              <a:path w="38100" h="1866900">
                <a:moveTo>
                  <a:pt x="38100" y="0"/>
                </a:moveTo>
                <a:lnTo>
                  <a:pt x="38100" y="0"/>
                </a:lnTo>
                <a:lnTo>
                  <a:pt x="38100" y="1866900"/>
                </a:lnTo>
                <a:lnTo>
                  <a:pt x="38100" y="1866900"/>
                </a:lnTo>
                <a:cubicBezTo>
                  <a:pt x="17072" y="1866900"/>
                  <a:pt x="0" y="1849828"/>
                  <a:pt x="0" y="1828800"/>
                </a:cubicBezTo>
                <a:lnTo>
                  <a:pt x="0" y="38100"/>
                </a:lnTo>
                <a:cubicBezTo>
                  <a:pt x="0" y="17072"/>
                  <a:pt x="17072" y="0"/>
                  <a:pt x="38100" y="0"/>
                </a:cubicBezTo>
                <a:close/>
              </a:path>
            </a:pathLst>
          </a:custGeom>
          <a:solidFill>
            <a:srgbClr val="64FFDA"/>
          </a:solidFill>
          <a:ln/>
        </p:spPr>
      </p:sp>
      <p:sp>
        <p:nvSpPr>
          <p:cNvPr id="24" name="Shape 22"/>
          <p:cNvSpPr/>
          <p:nvPr/>
        </p:nvSpPr>
        <p:spPr>
          <a:xfrm>
            <a:off x="6448425" y="1924050"/>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64FFDA"/>
          </a:solidFill>
          <a:ln/>
        </p:spPr>
      </p:sp>
      <p:sp>
        <p:nvSpPr>
          <p:cNvPr id="25" name="Text 23"/>
          <p:cNvSpPr/>
          <p:nvPr/>
        </p:nvSpPr>
        <p:spPr>
          <a:xfrm>
            <a:off x="6819900" y="1905000"/>
            <a:ext cx="15906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E6F1FF"/>
                </a:solidFill>
                <a:latin typeface="Liter" pitchFamily="34" charset="0"/>
                <a:ea typeface="Liter" pitchFamily="34" charset="-122"/>
                <a:cs typeface="Liter" pitchFamily="34" charset="-120"/>
              </a:rPr>
              <a:t>توسيع الهامش</a:t>
            </a:r>
            <a:endParaRPr xmlns:a="http://schemas.openxmlformats.org/drawingml/2006/main" lang="en-US" sz="1600" dirty="0"/>
          </a:p>
        </p:txBody>
      </p:sp>
      <p:sp>
        <p:nvSpPr>
          <p:cNvPr id="26" name="Text 24"/>
          <p:cNvSpPr/>
          <p:nvPr/>
        </p:nvSpPr>
        <p:spPr>
          <a:xfrm>
            <a:off x="6419850" y="2286000"/>
            <a:ext cx="5276850" cy="4572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تحسين هوامش التشغيل من </a:t>
            </a:r>
            <a:pPr xmlns:a="http://schemas.openxmlformats.org/drawingml/2006/main">
              <a:lnSpc>
                <a:spcPct val="130000"/>
              </a:lnSpc>
              <a:bidi/>
            </a:pPr>
            <a:r xmlns:a="http://schemas.openxmlformats.org/drawingml/2006/main">
              <a:rPr lang="ar" sz="1200" b="1" dirty="0">
                <a:solidFill>
                  <a:srgbClr val="FF6467"/>
                </a:solidFill>
                <a:latin typeface="Quattrocento Sans" pitchFamily="34" charset="0"/>
                <a:ea typeface="Quattrocento Sans" pitchFamily="34" charset="-122"/>
                <a:cs typeface="Quattrocento Sans" pitchFamily="34" charset="-120"/>
              </a:rPr>
              <a:t>15% </a:t>
            </a:r>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كخط أساسي إلى </a:t>
            </a:r>
            <a:pPr xmlns:a="http://schemas.openxmlformats.org/drawingml/2006/main">
              <a:lnSpc>
                <a:spcPct val="130000"/>
              </a:lnSpc>
              <a:bidi/>
            </a:pPr>
            <a:r xmlns:a="http://schemas.openxmlformats.org/drawingml/2006/main">
              <a:rPr lang="ar" sz="1200" b="1" dirty="0">
                <a:solidFill>
                  <a:srgbClr val="64FFDA"/>
                </a:solidFill>
                <a:latin typeface="Quattrocento Sans" pitchFamily="34" charset="0"/>
                <a:ea typeface="Quattrocento Sans" pitchFamily="34" charset="-122"/>
                <a:cs typeface="Quattrocento Sans" pitchFamily="34" charset="-120"/>
              </a:rPr>
              <a:t>25-30% </a:t>
            </a:r>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كهدف من خلال الكفاءة الإدارية للذكاء الاصطناعي</a:t>
            </a:r>
            <a:endParaRPr xmlns:a="http://schemas.openxmlformats.org/drawingml/2006/main" lang="en-US" sz="1600" dirty="0"/>
          </a:p>
        </p:txBody>
      </p:sp>
      <p:sp>
        <p:nvSpPr>
          <p:cNvPr id="27" name="Shape 25"/>
          <p:cNvSpPr/>
          <p:nvPr/>
        </p:nvSpPr>
        <p:spPr>
          <a:xfrm>
            <a:off x="6419850" y="2857500"/>
            <a:ext cx="5200650" cy="533400"/>
          </a:xfrm>
          <a:prstGeom prst="roundRect">
            <a:avLst>
              <a:gd name="adj" fmla="val 14286"/>
            </a:avLst>
          </a:prstGeom>
          <a:solidFill>
            <a:srgbClr val="0A192F">
              <a:alpha val="40000"/>
            </a:srgbClr>
          </a:solidFill>
          <a:ln/>
        </p:spPr>
      </p:sp>
      <p:sp>
        <p:nvSpPr>
          <p:cNvPr id="28" name="Text 26"/>
          <p:cNvSpPr/>
          <p:nvPr/>
        </p:nvSpPr>
        <p:spPr>
          <a:xfrm>
            <a:off x="6534150" y="3009900"/>
            <a:ext cx="146685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تحسين هامش الربح</a:t>
            </a:r>
            <a:endParaRPr xmlns:a="http://schemas.openxmlformats.org/drawingml/2006/main" lang="en-US" sz="1600" dirty="0"/>
          </a:p>
        </p:txBody>
      </p:sp>
      <p:sp>
        <p:nvSpPr>
          <p:cNvPr id="29" name="Text 27"/>
          <p:cNvSpPr/>
          <p:nvPr/>
        </p:nvSpPr>
        <p:spPr>
          <a:xfrm>
            <a:off x="10460534" y="2971800"/>
            <a:ext cx="1162050" cy="304800"/>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800" b="1" dirty="0">
                <a:solidFill>
                  <a:srgbClr val="64FFDA"/>
                </a:solidFill>
                <a:latin typeface="Liter" pitchFamily="34" charset="0"/>
                <a:ea typeface="Liter" pitchFamily="34" charset="-122"/>
                <a:cs typeface="Liter" pitchFamily="34" charset="-120"/>
              </a:rPr>
              <a:t>+10-15 نقطة</a:t>
            </a:r>
            <a:endParaRPr xmlns:a="http://schemas.openxmlformats.org/drawingml/2006/main" lang="en-US" sz="1600" dirty="0"/>
          </a:p>
        </p:txBody>
      </p:sp>
      <p:sp>
        <p:nvSpPr>
          <p:cNvPr id="30" name="Shape 28"/>
          <p:cNvSpPr/>
          <p:nvPr/>
        </p:nvSpPr>
        <p:spPr>
          <a:xfrm>
            <a:off x="6210300" y="3733800"/>
            <a:ext cx="5600700" cy="1866900"/>
          </a:xfrm>
          <a:custGeom>
            <a:avLst/>
            <a:gdLst/>
            <a:ahLst/>
            <a:cxnLst/>
            <a:rect l="l" t="t" r="r" b="b"/>
            <a:pathLst>
              <a:path w="5600700" h="1866900">
                <a:moveTo>
                  <a:pt x="38100" y="0"/>
                </a:moveTo>
                <a:lnTo>
                  <a:pt x="5486400" y="0"/>
                </a:lnTo>
                <a:cubicBezTo>
                  <a:pt x="5549484" y="0"/>
                  <a:pt x="5600700" y="51216"/>
                  <a:pt x="5600700" y="114300"/>
                </a:cubicBezTo>
                <a:lnTo>
                  <a:pt x="5600700" y="1752600"/>
                </a:lnTo>
                <a:cubicBezTo>
                  <a:pt x="5600700" y="1815684"/>
                  <a:pt x="5549484" y="1866900"/>
                  <a:pt x="5486400" y="1866900"/>
                </a:cubicBezTo>
                <a:lnTo>
                  <a:pt x="38100" y="1866900"/>
                </a:lnTo>
                <a:cubicBezTo>
                  <a:pt x="17072" y="1866900"/>
                  <a:pt x="0" y="1849828"/>
                  <a:pt x="0" y="1828800"/>
                </a:cubicBezTo>
                <a:lnTo>
                  <a:pt x="0" y="38100"/>
                </a:lnTo>
                <a:cubicBezTo>
                  <a:pt x="0" y="17072"/>
                  <a:pt x="17072" y="0"/>
                  <a:pt x="38100" y="0"/>
                </a:cubicBezTo>
                <a:close/>
              </a:path>
            </a:pathLst>
          </a:custGeom>
          <a:gradFill rotWithShape="1" flip="none">
            <a:gsLst>
              <a:gs pos="0">
                <a:srgbClr val="1E3A5F">
                  <a:alpha val="50000"/>
                </a:srgbClr>
              </a:gs>
              <a:gs pos="100000">
                <a:srgbClr val="0A192F">
                  <a:alpha val="30000"/>
                </a:srgbClr>
              </a:gs>
            </a:gsLst>
            <a:lin ang="2700000" scaled="1"/>
          </a:gradFill>
          <a:ln/>
        </p:spPr>
      </p:sp>
      <p:sp>
        <p:nvSpPr>
          <p:cNvPr id="31" name="Shape 29"/>
          <p:cNvSpPr/>
          <p:nvPr/>
        </p:nvSpPr>
        <p:spPr>
          <a:xfrm>
            <a:off x="6210300" y="3733800"/>
            <a:ext cx="38100" cy="1866900"/>
          </a:xfrm>
          <a:custGeom>
            <a:avLst/>
            <a:gdLst/>
            <a:ahLst/>
            <a:cxnLst/>
            <a:rect l="l" t="t" r="r" b="b"/>
            <a:pathLst>
              <a:path w="38100" h="1866900">
                <a:moveTo>
                  <a:pt x="38100" y="0"/>
                </a:moveTo>
                <a:lnTo>
                  <a:pt x="38100" y="0"/>
                </a:lnTo>
                <a:lnTo>
                  <a:pt x="38100" y="1866900"/>
                </a:lnTo>
                <a:lnTo>
                  <a:pt x="38100" y="1866900"/>
                </a:lnTo>
                <a:cubicBezTo>
                  <a:pt x="17072" y="1866900"/>
                  <a:pt x="0" y="1849828"/>
                  <a:pt x="0" y="1828800"/>
                </a:cubicBezTo>
                <a:lnTo>
                  <a:pt x="0" y="38100"/>
                </a:lnTo>
                <a:cubicBezTo>
                  <a:pt x="0" y="17072"/>
                  <a:pt x="17072" y="0"/>
                  <a:pt x="38100" y="0"/>
                </a:cubicBezTo>
                <a:close/>
              </a:path>
            </a:pathLst>
          </a:custGeom>
          <a:solidFill>
            <a:srgbClr val="D4AF37"/>
          </a:solidFill>
          <a:ln/>
        </p:spPr>
      </p:sp>
      <p:sp>
        <p:nvSpPr>
          <p:cNvPr id="32" name="Shape 30"/>
          <p:cNvSpPr/>
          <p:nvPr/>
        </p:nvSpPr>
        <p:spPr>
          <a:xfrm>
            <a:off x="6462713" y="3943350"/>
            <a:ext cx="200025" cy="228600"/>
          </a:xfrm>
          <a:custGeom>
            <a:avLst/>
            <a:gdLst/>
            <a:ahLst/>
            <a:cxnLst/>
            <a:rect l="l" t="t" r="r" b="b"/>
            <a:pathLst>
              <a:path w="200025" h="228600">
                <a:moveTo>
                  <a:pt x="151269" y="-4420"/>
                </a:moveTo>
                <a:cubicBezTo>
                  <a:pt x="156582" y="-580"/>
                  <a:pt x="158547" y="6385"/>
                  <a:pt x="156136" y="12457"/>
                </a:cubicBezTo>
                <a:lnTo>
                  <a:pt x="121131" y="100013"/>
                </a:lnTo>
                <a:lnTo>
                  <a:pt x="185738" y="100013"/>
                </a:lnTo>
                <a:cubicBezTo>
                  <a:pt x="191765" y="100013"/>
                  <a:pt x="197123" y="103763"/>
                  <a:pt x="199177" y="109433"/>
                </a:cubicBezTo>
                <a:cubicBezTo>
                  <a:pt x="201231" y="115104"/>
                  <a:pt x="199489" y="121444"/>
                  <a:pt x="194890" y="125284"/>
                </a:cubicBezTo>
                <a:lnTo>
                  <a:pt x="66303" y="232440"/>
                </a:lnTo>
                <a:cubicBezTo>
                  <a:pt x="61258" y="236637"/>
                  <a:pt x="54069" y="236860"/>
                  <a:pt x="48756" y="233020"/>
                </a:cubicBezTo>
                <a:cubicBezTo>
                  <a:pt x="43443" y="229180"/>
                  <a:pt x="41478" y="222215"/>
                  <a:pt x="43889" y="216143"/>
                </a:cubicBezTo>
                <a:lnTo>
                  <a:pt x="78894" y="128588"/>
                </a:lnTo>
                <a:lnTo>
                  <a:pt x="14288" y="128588"/>
                </a:lnTo>
                <a:cubicBezTo>
                  <a:pt x="8260" y="128588"/>
                  <a:pt x="2902" y="124837"/>
                  <a:pt x="848" y="119167"/>
                </a:cubicBezTo>
                <a:cubicBezTo>
                  <a:pt x="-1206" y="113496"/>
                  <a:pt x="536" y="107156"/>
                  <a:pt x="5135" y="103316"/>
                </a:cubicBezTo>
                <a:lnTo>
                  <a:pt x="133722" y="-3840"/>
                </a:lnTo>
                <a:cubicBezTo>
                  <a:pt x="138767" y="-8037"/>
                  <a:pt x="145956" y="-8260"/>
                  <a:pt x="151269" y="-4420"/>
                </a:cubicBezTo>
                <a:close/>
              </a:path>
            </a:pathLst>
          </a:custGeom>
          <a:solidFill>
            <a:srgbClr val="D4AF37"/>
          </a:solidFill>
          <a:ln/>
        </p:spPr>
      </p:sp>
      <p:sp>
        <p:nvSpPr>
          <p:cNvPr id="33" name="Text 31"/>
          <p:cNvSpPr/>
          <p:nvPr/>
        </p:nvSpPr>
        <p:spPr>
          <a:xfrm>
            <a:off x="6819900" y="3924300"/>
            <a:ext cx="1704975" cy="266700"/>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500" b="1" dirty="0">
                <a:solidFill>
                  <a:srgbClr val="E6F1FF"/>
                </a:solidFill>
                <a:latin typeface="Liter" pitchFamily="34" charset="0"/>
                <a:ea typeface="Liter" pitchFamily="34" charset="-122"/>
                <a:cs typeface="Liter" pitchFamily="34" charset="-120"/>
              </a:rPr>
              <a:t>سرعة التعادل</a:t>
            </a:r>
            <a:endParaRPr xmlns:a="http://schemas.openxmlformats.org/drawingml/2006/main" lang="en-US" sz="1600" dirty="0"/>
          </a:p>
        </p:txBody>
      </p:sp>
      <p:sp>
        <p:nvSpPr>
          <p:cNvPr id="34" name="Text 32"/>
          <p:cNvSpPr/>
          <p:nvPr/>
        </p:nvSpPr>
        <p:spPr>
          <a:xfrm>
            <a:off x="6419850" y="4305300"/>
            <a:ext cx="5276850" cy="4572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هدفنا هو </a:t>
            </a:r>
            <a:pPr xmlns:a="http://schemas.openxmlformats.org/drawingml/2006/main">
              <a:lnSpc>
                <a:spcPct val="130000"/>
              </a:lnSpc>
              <a:bidi/>
            </a:pPr>
            <a:r xmlns:a="http://schemas.openxmlformats.org/drawingml/2006/main">
              <a:rPr lang="ar" sz="1200" b="1" dirty="0">
                <a:solidFill>
                  <a:srgbClr val="64FFDA"/>
                </a:solidFill>
                <a:latin typeface="Quattrocento Sans" pitchFamily="34" charset="0"/>
                <a:ea typeface="Quattrocento Sans" pitchFamily="34" charset="-122"/>
                <a:cs typeface="Quattrocento Sans" pitchFamily="34" charset="-120"/>
              </a:rPr>
              <a:t>تحقيق نقطة التعادل خلال شهر واحد </a:t>
            </a:r>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على مستوى الوحدة، وذلك بالاعتماد على هوامش مساهمة عالية وتكاليف اقتناء مُحسّنة.</a:t>
            </a:r>
            <a:endParaRPr xmlns:a="http://schemas.openxmlformats.org/drawingml/2006/main" lang="en-US" sz="1600" dirty="0"/>
          </a:p>
        </p:txBody>
      </p:sp>
      <p:sp>
        <p:nvSpPr>
          <p:cNvPr id="35" name="Shape 33"/>
          <p:cNvSpPr/>
          <p:nvPr/>
        </p:nvSpPr>
        <p:spPr>
          <a:xfrm>
            <a:off x="6419850" y="4876800"/>
            <a:ext cx="5200650" cy="533400"/>
          </a:xfrm>
          <a:prstGeom prst="roundRect">
            <a:avLst>
              <a:gd name="adj" fmla="val 14286"/>
            </a:avLst>
          </a:prstGeom>
          <a:solidFill>
            <a:srgbClr val="0A192F">
              <a:alpha val="40000"/>
            </a:srgbClr>
          </a:solidFill>
          <a:ln/>
        </p:spPr>
      </p:sp>
      <p:sp>
        <p:nvSpPr>
          <p:cNvPr id="36" name="Text 34"/>
          <p:cNvSpPr/>
          <p:nvPr/>
        </p:nvSpPr>
        <p:spPr>
          <a:xfrm>
            <a:off x="6534150" y="5029200"/>
            <a:ext cx="1352550"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solidFill>
                <a:latin typeface="Quattrocento Sans" pitchFamily="34" charset="0"/>
                <a:ea typeface="Quattrocento Sans" pitchFamily="34" charset="-122"/>
                <a:cs typeface="Quattrocento Sans" pitchFamily="34" charset="-120"/>
              </a:rPr>
              <a:t>الوقت اللازم لتحقيق الربحية</a:t>
            </a:r>
            <a:endParaRPr xmlns:a="http://schemas.openxmlformats.org/drawingml/2006/main" lang="en-US" sz="1600" dirty="0"/>
          </a:p>
        </p:txBody>
      </p:sp>
      <p:sp>
        <p:nvSpPr>
          <p:cNvPr id="37" name="Text 35"/>
          <p:cNvSpPr/>
          <p:nvPr/>
        </p:nvSpPr>
        <p:spPr>
          <a:xfrm>
            <a:off x="10672911" y="4991100"/>
            <a:ext cx="942975" cy="304800"/>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800" b="1" dirty="0">
                <a:solidFill>
                  <a:srgbClr val="D4AF37"/>
                </a:solidFill>
                <a:latin typeface="Liter" pitchFamily="34" charset="0"/>
                <a:ea typeface="Liter" pitchFamily="34" charset="-122"/>
                <a:cs typeface="Liter" pitchFamily="34" charset="-120"/>
              </a:rPr>
              <a:t>30 يومًا</a:t>
            </a:r>
            <a:endParaRPr xmlns:a="http://schemas.openxmlformats.org/drawingml/2006/main" lang="en-US" sz="1600" dirty="0"/>
          </a:p>
        </p:txBody>
      </p:sp>
      <p:sp>
        <p:nvSpPr>
          <p:cNvPr id="38" name="Shape 36"/>
          <p:cNvSpPr/>
          <p:nvPr/>
        </p:nvSpPr>
        <p:spPr>
          <a:xfrm>
            <a:off x="385763" y="5757863"/>
            <a:ext cx="11420475" cy="847725"/>
          </a:xfrm>
          <a:prstGeom prst="roundRect">
            <a:avLst>
              <a:gd name="adj" fmla="val 13483"/>
            </a:avLst>
          </a:prstGeom>
          <a:gradFill rotWithShape="1" flip="none">
            <a:gsLst>
              <a:gs pos="0">
                <a:srgbClr val="D4AF37">
                  <a:alpha val="20000"/>
                </a:srgbClr>
              </a:gs>
              <a:gs pos="100000">
                <a:srgbClr val="64FFDA">
                  <a:alpha val="20000"/>
                </a:srgbClr>
              </a:gs>
            </a:gsLst>
            <a:lin ang="0" scaled="1"/>
          </a:gradFill>
          <a:ln w="12700">
            <a:solidFill>
              <a:srgbClr val="D4AF37">
                <a:alpha val="40000"/>
              </a:srgbClr>
            </a:solidFill>
            <a:prstDash val="solid"/>
          </a:ln>
        </p:spPr>
      </p:sp>
      <p:sp>
        <p:nvSpPr>
          <p:cNvPr id="39" name="Shape 37"/>
          <p:cNvSpPr/>
          <p:nvPr/>
        </p:nvSpPr>
        <p:spPr>
          <a:xfrm>
            <a:off x="563166" y="6038850"/>
            <a:ext cx="321469" cy="285750"/>
          </a:xfrm>
          <a:custGeom>
            <a:avLst/>
            <a:gdLst/>
            <a:ahLst/>
            <a:cxnLst/>
            <a:rect l="l" t="t" r="r" b="b"/>
            <a:pathLst>
              <a:path w="321469" h="285750">
                <a:moveTo>
                  <a:pt x="285973" y="133945"/>
                </a:moveTo>
                <a:lnTo>
                  <a:pt x="187747" y="133945"/>
                </a:lnTo>
                <a:cubicBezTo>
                  <a:pt x="177868" y="133945"/>
                  <a:pt x="169887" y="125964"/>
                  <a:pt x="169887" y="116086"/>
                </a:cubicBezTo>
                <a:lnTo>
                  <a:pt x="169887" y="17859"/>
                </a:lnTo>
                <a:cubicBezTo>
                  <a:pt x="169887" y="7981"/>
                  <a:pt x="177924" y="-112"/>
                  <a:pt x="187691" y="1172"/>
                </a:cubicBezTo>
                <a:cubicBezTo>
                  <a:pt x="247408" y="9097"/>
                  <a:pt x="294735" y="56424"/>
                  <a:pt x="302661" y="116142"/>
                </a:cubicBezTo>
                <a:cubicBezTo>
                  <a:pt x="303944" y="125909"/>
                  <a:pt x="295852" y="133945"/>
                  <a:pt x="285973" y="133945"/>
                </a:cubicBezTo>
                <a:close/>
                <a:moveTo>
                  <a:pt x="124234" y="20762"/>
                </a:moveTo>
                <a:cubicBezTo>
                  <a:pt x="134336" y="18641"/>
                  <a:pt x="143098" y="26901"/>
                  <a:pt x="143098" y="37226"/>
                </a:cubicBezTo>
                <a:lnTo>
                  <a:pt x="143098" y="147340"/>
                </a:lnTo>
                <a:cubicBezTo>
                  <a:pt x="143098" y="150465"/>
                  <a:pt x="144214" y="153479"/>
                  <a:pt x="146168" y="155879"/>
                </a:cubicBezTo>
                <a:lnTo>
                  <a:pt x="219894" y="244841"/>
                </a:lnTo>
                <a:cubicBezTo>
                  <a:pt x="226423" y="252710"/>
                  <a:pt x="225028" y="264598"/>
                  <a:pt x="216043" y="269453"/>
                </a:cubicBezTo>
                <a:cubicBezTo>
                  <a:pt x="197011" y="279834"/>
                  <a:pt x="175189" y="285750"/>
                  <a:pt x="152028" y="285750"/>
                </a:cubicBezTo>
                <a:cubicBezTo>
                  <a:pt x="78079" y="285750"/>
                  <a:pt x="18083" y="225754"/>
                  <a:pt x="18083" y="151805"/>
                </a:cubicBezTo>
                <a:cubicBezTo>
                  <a:pt x="18083" y="87344"/>
                  <a:pt x="63568" y="33542"/>
                  <a:pt x="124234" y="20762"/>
                </a:cubicBezTo>
                <a:close/>
                <a:moveTo>
                  <a:pt x="266663" y="160734"/>
                </a:moveTo>
                <a:lnTo>
                  <a:pt x="302382" y="160734"/>
                </a:lnTo>
                <a:cubicBezTo>
                  <a:pt x="312706" y="160734"/>
                  <a:pt x="320966" y="169497"/>
                  <a:pt x="318846" y="179598"/>
                </a:cubicBezTo>
                <a:cubicBezTo>
                  <a:pt x="313153" y="206611"/>
                  <a:pt x="299312" y="230609"/>
                  <a:pt x="280002" y="248915"/>
                </a:cubicBezTo>
                <a:cubicBezTo>
                  <a:pt x="273137" y="255445"/>
                  <a:pt x="262365" y="254050"/>
                  <a:pt x="256338" y="246738"/>
                </a:cubicBezTo>
                <a:lnTo>
                  <a:pt x="209234" y="189979"/>
                </a:lnTo>
                <a:cubicBezTo>
                  <a:pt x="199579" y="178315"/>
                  <a:pt x="207894" y="160734"/>
                  <a:pt x="222963" y="160734"/>
                </a:cubicBezTo>
                <a:lnTo>
                  <a:pt x="266607" y="160734"/>
                </a:lnTo>
                <a:close/>
              </a:path>
            </a:pathLst>
          </a:custGeom>
          <a:solidFill>
            <a:srgbClr val="D4AF37"/>
          </a:solidFill>
          <a:ln/>
        </p:spPr>
      </p:sp>
      <p:sp>
        <p:nvSpPr>
          <p:cNvPr id="40" name="Text 38"/>
          <p:cNvSpPr/>
          <p:nvPr/>
        </p:nvSpPr>
        <p:spPr>
          <a:xfrm>
            <a:off x="1052513" y="5915025"/>
            <a:ext cx="6305550" cy="2667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350" b="1" dirty="0">
                <a:solidFill>
                  <a:srgbClr val="E6F1FF"/>
                </a:solidFill>
                <a:latin typeface="Quattrocento Sans" pitchFamily="34" charset="0"/>
                <a:ea typeface="Quattrocento Sans" pitchFamily="34" charset="-122"/>
                <a:cs typeface="Quattrocento Sans" pitchFamily="34" charset="-120"/>
              </a:rPr>
              <a:t>مسار الوصول إلى 30% من الأرباح قبل الفوائد والضرائب والإهلاك والاستهلاك</a:t>
            </a:r>
            <a:endParaRPr xmlns:a="http://schemas.openxmlformats.org/drawingml/2006/main" lang="en-US" sz="1600" dirty="0"/>
          </a:p>
        </p:txBody>
      </p:sp>
      <p:sp>
        <p:nvSpPr>
          <p:cNvPr id="41" name="Text 39"/>
          <p:cNvSpPr/>
          <p:nvPr/>
        </p:nvSpPr>
        <p:spPr>
          <a:xfrm>
            <a:off x="1052513" y="6219825"/>
            <a:ext cx="6296025" cy="228600"/>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00" dirty="0">
                <a:solidFill>
                  <a:srgbClr val="E6F1FF">
                    <a:alpha val="80000"/>
                  </a:srgbClr>
                </a:solidFill>
                <a:latin typeface="Quattrocento Sans" pitchFamily="34" charset="0"/>
                <a:ea typeface="Quattrocento Sans" pitchFamily="34" charset="-122"/>
                <a:cs typeface="Quattrocento Sans" pitchFamily="34" charset="-120"/>
              </a:rPr>
              <a:t>من خلال تحويل عملية الاستحواذ من الإحالات الخارجية إلى قنوات التسويق الرقمي المملوكة (Hub &amp; Spoke SEO) وقنوات الذكاء الاصطناعي.</a:t>
            </a:r>
            <a:endParaRPr xmlns:a="http://schemas.openxmlformats.org/drawingml/2006/main" lang="en-US" sz="1600" dirty="0"/>
          </a:p>
        </p:txBody>
      </p:sp>
      <p:sp>
        <p:nvSpPr>
          <p:cNvPr id="42" name="Text 40"/>
          <p:cNvSpPr/>
          <p:nvPr/>
        </p:nvSpPr>
        <p:spPr>
          <a:xfrm>
            <a:off x="9964713" y="5915025"/>
            <a:ext cx="1685925" cy="190500"/>
          </a:xfrm>
          <a:prstGeom prst="rect">
            <a:avLst/>
          </a:prstGeom>
          <a:noFill/>
          <a:ln/>
        </p:spPr>
        <p:txBody>
          <a:bodyPr wrap="square" lIns="0" tIns="0" rIns="0" bIns="0" rtlCol="0" anchor="ctr"/>
          <a:lstStyle/>
          <a:p>
            <a:pPr xmlns:a="http://schemas.openxmlformats.org/drawingml/2006/main" algn="r">
              <a:lnSpc>
                <a:spcPct val="120000"/>
              </a:lnSpc>
              <a:bidi/>
            </a:pPr>
            <a:r xmlns:a="http://schemas.openxmlformats.org/drawingml/2006/main">
              <a:rPr lang="ar" sz="1050" dirty="0">
                <a:solidFill>
                  <a:srgbClr val="E6F1FF">
                    <a:alpha val="70000"/>
                  </a:srgbClr>
                </a:solidFill>
                <a:latin typeface="Quattrocento Sans" pitchFamily="34" charset="0"/>
                <a:ea typeface="Quattrocento Sans" pitchFamily="34" charset="-122"/>
                <a:cs typeface="Quattrocento Sans" pitchFamily="34" charset="-120"/>
              </a:rPr>
              <a:t>هدف لمدة 12 شهرًا</a:t>
            </a:r>
            <a:endParaRPr xmlns:a="http://schemas.openxmlformats.org/drawingml/2006/main" lang="en-US" sz="1600" dirty="0"/>
          </a:p>
        </p:txBody>
      </p:sp>
      <p:sp>
        <p:nvSpPr>
          <p:cNvPr id="43" name="Text 41"/>
          <p:cNvSpPr/>
          <p:nvPr/>
        </p:nvSpPr>
        <p:spPr>
          <a:xfrm>
            <a:off x="9888513" y="6105525"/>
            <a:ext cx="1762125" cy="342900"/>
          </a:xfrm>
          <a:prstGeom prst="rect">
            <a:avLst/>
          </a:prstGeom>
          <a:noFill/>
          <a:ln/>
        </p:spPr>
        <p:txBody>
          <a:bodyPr wrap="square" lIns="0" tIns="0" rIns="0" bIns="0" rtlCol="0" anchor="ctr"/>
          <a:lstStyle/>
          <a:p>
            <a:pPr xmlns:a="http://schemas.openxmlformats.org/drawingml/2006/main" algn="r">
              <a:lnSpc>
                <a:spcPct val="100000"/>
              </a:lnSpc>
              <a:bidi/>
            </a:pPr>
            <a:r xmlns:a="http://schemas.openxmlformats.org/drawingml/2006/main">
              <a:rPr lang="ar" sz="2250" b="1" dirty="0">
                <a:solidFill>
                  <a:srgbClr val="D4AF37"/>
                </a:solidFill>
                <a:latin typeface="Liter" pitchFamily="34" charset="0"/>
                <a:ea typeface="Liter" pitchFamily="34" charset="-122"/>
                <a:cs typeface="Liter" pitchFamily="34" charset="-120"/>
              </a:rPr>
              <a:t>30% من الأرباح قبل الفوائد والضرائب والإهلاك والاستهلاك</a:t>
            </a:r>
            <a:endParaRPr xmlns:a="http://schemas.openxmlformats.org/drawingml/2006/main"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92F"/>
        </a:solidFill>
      </p:bgPr>
    </p:bg>
    <p:spTree>
      <p:nvGrpSpPr>
        <p:cNvPr id="1" name=""/>
        <p:cNvGrpSpPr/>
        <p:nvPr/>
      </p:nvGrpSpPr>
      <p:grpSpPr>
        <a:xfrm>
          <a:off x="0" y="0"/>
          <a:ext cx="0" cy="0"/>
          <a:chOff x="0" y="0"/>
          <a:chExt cx="0" cy="0"/>
        </a:xfrm>
      </p:grpSpPr>
      <p:pic>
        <p:nvPicPr>
          <p:cNvPr id="2" name="Image 0" descr="https://kimi-web-img.moonshot.cn/img/www.shutterstock.com/1ad3aab6cc382f0c21e9c9eca3a553adb498f7e5.jpg">    </p:cNvPr>
          <p:cNvPicPr>
            <a:picLocks noChangeAspect="1"/>
          </p:cNvPicPr>
          <p:nvPr/>
        </p:nvPicPr>
        <p:blipFill>
          <a:blip r:embed="rId1">
            <a:alphaModFix amt="20000"/>
          </a:blip>
          <a:stretch>
            <a:fillRect/>
          </a:stretch>
        </p:blipFill>
        <p:spPr>
          <a:xfrm>
            <a:off x="0" y="0"/>
            <a:ext cx="12192000" cy="6859136"/>
          </a:xfrm>
          <a:prstGeom prst="roundRect">
            <a:avLst>
              <a:gd name="adj" fmla="val 0"/>
            </a:avLst>
          </a:prstGeom>
        </p:spPr>
      </p:pic>
      <p:sp>
        <p:nvSpPr>
          <p:cNvPr id="3" name="Shape 0"/>
          <p:cNvSpPr/>
          <p:nvPr/>
        </p:nvSpPr>
        <p:spPr>
          <a:xfrm>
            <a:off x="0" y="0"/>
            <a:ext cx="12192000" cy="6859136"/>
          </a:xfrm>
          <a:prstGeom prst="roundRect">
            <a:avLst>
              <a:gd name="adj" fmla="val 0"/>
            </a:avLst>
          </a:prstGeom>
          <a:gradFill rotWithShape="1" flip="none">
            <a:gsLst>
              <a:gs pos="0">
                <a:srgbClr val="0A192F">
                  <a:alpha val="95000"/>
                </a:srgbClr>
              </a:gs>
              <a:gs pos="50000">
                <a:srgbClr val="0A192F">
                  <a:alpha val="90000"/>
                </a:srgbClr>
              </a:gs>
              <a:gs pos="100000">
                <a:srgbClr val="1E3A5F">
                  <a:alpha val="85000"/>
                </a:srgbClr>
              </a:gs>
            </a:gsLst>
            <a:lin ang="2700000" scaled="1"/>
          </a:gradFill>
          <a:ln/>
        </p:spPr>
      </p:sp>
      <p:sp>
        <p:nvSpPr>
          <p:cNvPr id="4" name="Text 1"/>
          <p:cNvSpPr/>
          <p:nvPr/>
        </p:nvSpPr>
        <p:spPr>
          <a:xfrm>
            <a:off x="363398" y="363398"/>
            <a:ext cx="11537884"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spc="57" kern="0" dirty="0">
                <a:solidFill>
                  <a:srgbClr val="D4AF37"/>
                </a:solidFill>
                <a:latin typeface="Quattrocento Sans" pitchFamily="34" charset="0"/>
                <a:ea typeface="Quattrocento Sans" pitchFamily="34" charset="-122"/>
                <a:cs typeface="Quattrocento Sans" pitchFamily="34" charset="-120"/>
              </a:rPr>
              <a:t>الجدول الزمني للتنفيذ</a:t>
            </a:r>
            <a:endParaRPr xmlns:a="http://schemas.openxmlformats.org/drawingml/2006/main" lang="en-US" sz="1600" dirty="0"/>
          </a:p>
        </p:txBody>
      </p:sp>
      <p:sp>
        <p:nvSpPr>
          <p:cNvPr id="5" name="Text 2"/>
          <p:cNvSpPr/>
          <p:nvPr/>
        </p:nvSpPr>
        <p:spPr>
          <a:xfrm>
            <a:off x="363398" y="654116"/>
            <a:ext cx="11683243" cy="436077"/>
          </a:xfrm>
          <a:prstGeom prst="rect">
            <a:avLst/>
          </a:prstGeom>
          <a:noFill/>
          <a:ln/>
        </p:spPr>
        <p:txBody>
          <a:bodyPr wrap="square" lIns="0" tIns="0" rIns="0" bIns="0" rtlCol="0" anchor="ctr"/>
          <a:lstStyle/>
          <a:p>
            <a:pPr xmlns:a="http://schemas.openxmlformats.org/drawingml/2006/main">
              <a:lnSpc>
                <a:spcPct val="80000"/>
              </a:lnSpc>
              <a:bidi/>
            </a:pPr>
            <a:r xmlns:a="http://schemas.openxmlformats.org/drawingml/2006/main">
              <a:rPr lang="ar" sz="3434" b="1" dirty="0">
                <a:solidFill>
                  <a:srgbClr val="E6F1FF"/>
                </a:solidFill>
                <a:latin typeface="Liter" pitchFamily="34" charset="0"/>
                <a:ea typeface="Liter" pitchFamily="34" charset="-122"/>
                <a:cs typeface="Liter" pitchFamily="34" charset="-120"/>
              </a:rPr>
              <a:t>خارطة طريق النشر لمدة 90 يومًا</a:t>
            </a:r>
            <a:endParaRPr xmlns:a="http://schemas.openxmlformats.org/drawingml/2006/main" lang="en-US" sz="1600" dirty="0"/>
          </a:p>
        </p:txBody>
      </p:sp>
      <p:sp>
        <p:nvSpPr>
          <p:cNvPr id="6" name="Shape 3"/>
          <p:cNvSpPr/>
          <p:nvPr/>
        </p:nvSpPr>
        <p:spPr>
          <a:xfrm>
            <a:off x="363398" y="1199213"/>
            <a:ext cx="1162873" cy="36340"/>
          </a:xfrm>
          <a:prstGeom prst="roundRect">
            <a:avLst>
              <a:gd name="adj" fmla="val 0"/>
            </a:avLst>
          </a:prstGeom>
          <a:solidFill>
            <a:srgbClr val="D4AF37"/>
          </a:solidFill>
          <a:ln/>
        </p:spPr>
      </p:sp>
      <p:sp>
        <p:nvSpPr>
          <p:cNvPr id="7" name="Shape 4"/>
          <p:cNvSpPr/>
          <p:nvPr/>
        </p:nvSpPr>
        <p:spPr>
          <a:xfrm>
            <a:off x="363398" y="1435422"/>
            <a:ext cx="3697574" cy="3961037"/>
          </a:xfrm>
          <a:custGeom>
            <a:avLst/>
            <a:gdLst/>
            <a:ahLst/>
            <a:cxnLst/>
            <a:rect l="l" t="t" r="r" b="b"/>
            <a:pathLst>
              <a:path w="3697574" h="3961037">
                <a:moveTo>
                  <a:pt x="36322" y="0"/>
                </a:moveTo>
                <a:lnTo>
                  <a:pt x="3661283" y="0"/>
                </a:lnTo>
                <a:cubicBezTo>
                  <a:pt x="3681343" y="0"/>
                  <a:pt x="3697605" y="16262"/>
                  <a:pt x="3697605" y="36322"/>
                </a:cubicBezTo>
                <a:lnTo>
                  <a:pt x="3697605" y="3852037"/>
                </a:lnTo>
                <a:cubicBezTo>
                  <a:pt x="3697605" y="3880959"/>
                  <a:pt x="3686107" y="3908694"/>
                  <a:pt x="3665645" y="3929133"/>
                </a:cubicBezTo>
                <a:cubicBezTo>
                  <a:pt x="3645182" y="3949571"/>
                  <a:pt x="3617434" y="3961037"/>
                  <a:pt x="3588512" y="3961003"/>
                </a:cubicBezTo>
                <a:lnTo>
                  <a:pt x="108966" y="3961003"/>
                </a:lnTo>
                <a:cubicBezTo>
                  <a:pt x="48786" y="3961003"/>
                  <a:pt x="0" y="3912217"/>
                  <a:pt x="0" y="3852037"/>
                </a:cubicBezTo>
                <a:lnTo>
                  <a:pt x="0" y="36322"/>
                </a:lnTo>
                <a:cubicBezTo>
                  <a:pt x="0" y="16275"/>
                  <a:pt x="16275" y="0"/>
                  <a:pt x="36322" y="0"/>
                </a:cubicBezTo>
                <a:close/>
              </a:path>
            </a:pathLst>
          </a:custGeom>
          <a:gradFill rotWithShape="1" flip="none">
            <a:gsLst>
              <a:gs pos="0">
                <a:srgbClr val="1E3A5F">
                  <a:alpha val="60000"/>
                </a:srgbClr>
              </a:gs>
              <a:gs pos="100000">
                <a:srgbClr val="0A192F">
                  <a:alpha val="40000"/>
                </a:srgbClr>
              </a:gs>
            </a:gsLst>
            <a:lin ang="2700000" scaled="1"/>
          </a:gradFill>
          <a:ln/>
        </p:spPr>
      </p:sp>
      <p:sp>
        <p:nvSpPr>
          <p:cNvPr id="8" name="Shape 5"/>
          <p:cNvSpPr/>
          <p:nvPr/>
        </p:nvSpPr>
        <p:spPr>
          <a:xfrm>
            <a:off x="363398" y="1435422"/>
            <a:ext cx="3697574" cy="36340"/>
          </a:xfrm>
          <a:custGeom>
            <a:avLst/>
            <a:gdLst/>
            <a:ahLst/>
            <a:cxnLst/>
            <a:rect l="l" t="t" r="r" b="b"/>
            <a:pathLst>
              <a:path w="3697574" h="36340">
                <a:moveTo>
                  <a:pt x="36322" y="0"/>
                </a:moveTo>
                <a:lnTo>
                  <a:pt x="3661283" y="0"/>
                </a:lnTo>
                <a:cubicBezTo>
                  <a:pt x="3681343" y="0"/>
                  <a:pt x="3697605" y="16262"/>
                  <a:pt x="3697605" y="36322"/>
                </a:cubicBezTo>
                <a:lnTo>
                  <a:pt x="3697605" y="36322"/>
                </a:lnTo>
                <a:lnTo>
                  <a:pt x="0" y="36322"/>
                </a:lnTo>
                <a:lnTo>
                  <a:pt x="0" y="36322"/>
                </a:lnTo>
                <a:cubicBezTo>
                  <a:pt x="0" y="16275"/>
                  <a:pt x="16275" y="0"/>
                  <a:pt x="36322" y="0"/>
                </a:cubicBezTo>
                <a:close/>
              </a:path>
            </a:pathLst>
          </a:custGeom>
          <a:solidFill>
            <a:srgbClr val="64FFDA"/>
          </a:solidFill>
          <a:ln/>
        </p:spPr>
      </p:sp>
      <p:sp>
        <p:nvSpPr>
          <p:cNvPr id="9" name="Shape 6"/>
          <p:cNvSpPr/>
          <p:nvPr/>
        </p:nvSpPr>
        <p:spPr>
          <a:xfrm>
            <a:off x="545097" y="1635291"/>
            <a:ext cx="508757" cy="508757"/>
          </a:xfrm>
          <a:prstGeom prst="roundRect">
            <a:avLst>
              <a:gd name="adj" fmla="val 50000"/>
            </a:avLst>
          </a:prstGeom>
          <a:solidFill>
            <a:srgbClr val="64FFDA">
              <a:alpha val="20000"/>
            </a:srgbClr>
          </a:solidFill>
          <a:ln/>
        </p:spPr>
      </p:sp>
      <p:sp>
        <p:nvSpPr>
          <p:cNvPr id="10" name="Text 7"/>
          <p:cNvSpPr/>
          <p:nvPr/>
        </p:nvSpPr>
        <p:spPr>
          <a:xfrm>
            <a:off x="686268" y="1744310"/>
            <a:ext cx="336143" cy="290718"/>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717" b="1" dirty="0">
                <a:solidFill>
                  <a:srgbClr val="64FFDA"/>
                </a:solidFill>
                <a:latin typeface="Liter" pitchFamily="34" charset="0"/>
                <a:ea typeface="Liter" pitchFamily="34" charset="-122"/>
                <a:cs typeface="Liter" pitchFamily="34" charset="-120"/>
              </a:rPr>
              <a:t>01</a:t>
            </a:r>
            <a:endParaRPr xmlns:a="http://schemas.openxmlformats.org/drawingml/2006/main" lang="en-US" sz="1600" dirty="0"/>
          </a:p>
        </p:txBody>
      </p:sp>
      <p:sp>
        <p:nvSpPr>
          <p:cNvPr id="11" name="Text 8"/>
          <p:cNvSpPr/>
          <p:nvPr/>
        </p:nvSpPr>
        <p:spPr>
          <a:xfrm>
            <a:off x="1162873" y="1671630"/>
            <a:ext cx="999344" cy="25437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431" b="1" dirty="0">
                <a:solidFill>
                  <a:srgbClr val="E6F1FF"/>
                </a:solidFill>
                <a:latin typeface="Liter" pitchFamily="34" charset="0"/>
                <a:ea typeface="Liter" pitchFamily="34" charset="-122"/>
                <a:cs typeface="Liter" pitchFamily="34" charset="-120"/>
              </a:rPr>
              <a:t>مؤسسة</a:t>
            </a:r>
            <a:endParaRPr xmlns:a="http://schemas.openxmlformats.org/drawingml/2006/main" lang="en-US" sz="1600" dirty="0"/>
          </a:p>
        </p:txBody>
      </p:sp>
      <p:sp>
        <p:nvSpPr>
          <p:cNvPr id="12" name="Text 9"/>
          <p:cNvSpPr/>
          <p:nvPr/>
        </p:nvSpPr>
        <p:spPr>
          <a:xfrm>
            <a:off x="1162873" y="1926009"/>
            <a:ext cx="972089"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64FFDA"/>
                </a:solidFill>
                <a:latin typeface="Quattrocento Sans" pitchFamily="34" charset="0"/>
                <a:ea typeface="Quattrocento Sans" pitchFamily="34" charset="-122"/>
                <a:cs typeface="Quattrocento Sans" pitchFamily="34" charset="-120"/>
              </a:rPr>
              <a:t>الأيام من 1 إلى 30</a:t>
            </a:r>
            <a:endParaRPr xmlns:a="http://schemas.openxmlformats.org/drawingml/2006/main" lang="en-US" sz="1600" dirty="0"/>
          </a:p>
        </p:txBody>
      </p:sp>
      <p:sp>
        <p:nvSpPr>
          <p:cNvPr id="13" name="Shape 10"/>
          <p:cNvSpPr/>
          <p:nvPr/>
        </p:nvSpPr>
        <p:spPr>
          <a:xfrm>
            <a:off x="545097" y="2289407"/>
            <a:ext cx="3334176" cy="654116"/>
          </a:xfrm>
          <a:prstGeom prst="roundRect">
            <a:avLst>
              <a:gd name="adj" fmla="val 11111"/>
            </a:avLst>
          </a:prstGeom>
          <a:solidFill>
            <a:srgbClr val="0A192F">
              <a:alpha val="40000"/>
            </a:srgbClr>
          </a:solidFill>
          <a:ln/>
        </p:spPr>
      </p:sp>
      <p:sp>
        <p:nvSpPr>
          <p:cNvPr id="14" name="Shape 11"/>
          <p:cNvSpPr/>
          <p:nvPr/>
        </p:nvSpPr>
        <p:spPr>
          <a:xfrm>
            <a:off x="663201" y="2430224"/>
            <a:ext cx="163529" cy="145359"/>
          </a:xfrm>
          <a:custGeom>
            <a:avLst/>
            <a:gdLst/>
            <a:ahLst/>
            <a:cxnLst/>
            <a:rect l="l" t="t" r="r" b="b"/>
            <a:pathLst>
              <a:path w="163529" h="145359">
                <a:moveTo>
                  <a:pt x="102433" y="341"/>
                </a:moveTo>
                <a:cubicBezTo>
                  <a:pt x="97606" y="-1050"/>
                  <a:pt x="92581" y="1760"/>
                  <a:pt x="91190" y="6587"/>
                </a:cubicBezTo>
                <a:lnTo>
                  <a:pt x="54850" y="133776"/>
                </a:lnTo>
                <a:cubicBezTo>
                  <a:pt x="53459" y="138602"/>
                  <a:pt x="56270" y="143627"/>
                  <a:pt x="61096" y="145018"/>
                </a:cubicBezTo>
                <a:cubicBezTo>
                  <a:pt x="65923" y="146410"/>
                  <a:pt x="70948" y="143599"/>
                  <a:pt x="72339" y="138773"/>
                </a:cubicBezTo>
                <a:lnTo>
                  <a:pt x="108679" y="11583"/>
                </a:lnTo>
                <a:cubicBezTo>
                  <a:pt x="110070" y="6757"/>
                  <a:pt x="107259" y="1732"/>
                  <a:pt x="102433" y="341"/>
                </a:cubicBezTo>
                <a:close/>
                <a:moveTo>
                  <a:pt x="120773" y="38980"/>
                </a:moveTo>
                <a:cubicBezTo>
                  <a:pt x="117224" y="42529"/>
                  <a:pt x="117224" y="48292"/>
                  <a:pt x="120773" y="51841"/>
                </a:cubicBezTo>
                <a:lnTo>
                  <a:pt x="141612" y="72680"/>
                </a:lnTo>
                <a:lnTo>
                  <a:pt x="120773" y="93518"/>
                </a:lnTo>
                <a:cubicBezTo>
                  <a:pt x="117224" y="97067"/>
                  <a:pt x="117224" y="102830"/>
                  <a:pt x="120773" y="106379"/>
                </a:cubicBezTo>
                <a:cubicBezTo>
                  <a:pt x="124322" y="109928"/>
                  <a:pt x="130085" y="109928"/>
                  <a:pt x="133634" y="106379"/>
                </a:cubicBezTo>
                <a:lnTo>
                  <a:pt x="160889" y="79124"/>
                </a:lnTo>
                <a:cubicBezTo>
                  <a:pt x="164438" y="75575"/>
                  <a:pt x="164438" y="69812"/>
                  <a:pt x="160889" y="66263"/>
                </a:cubicBezTo>
                <a:lnTo>
                  <a:pt x="133634" y="39008"/>
                </a:lnTo>
                <a:cubicBezTo>
                  <a:pt x="130085" y="35460"/>
                  <a:pt x="124322" y="35460"/>
                  <a:pt x="120773" y="39008"/>
                </a:cubicBezTo>
                <a:close/>
                <a:moveTo>
                  <a:pt x="42784" y="38980"/>
                </a:moveTo>
                <a:cubicBezTo>
                  <a:pt x="39236" y="35431"/>
                  <a:pt x="33472" y="35431"/>
                  <a:pt x="29924" y="38980"/>
                </a:cubicBezTo>
                <a:lnTo>
                  <a:pt x="2669" y="66235"/>
                </a:lnTo>
                <a:cubicBezTo>
                  <a:pt x="-880" y="69784"/>
                  <a:pt x="-880" y="75547"/>
                  <a:pt x="2669" y="79096"/>
                </a:cubicBezTo>
                <a:lnTo>
                  <a:pt x="29924" y="106351"/>
                </a:lnTo>
                <a:cubicBezTo>
                  <a:pt x="33472" y="109899"/>
                  <a:pt x="39236" y="109899"/>
                  <a:pt x="42784" y="106351"/>
                </a:cubicBezTo>
                <a:cubicBezTo>
                  <a:pt x="46333" y="102802"/>
                  <a:pt x="46333" y="97039"/>
                  <a:pt x="42784" y="93490"/>
                </a:cubicBezTo>
                <a:lnTo>
                  <a:pt x="21946" y="72680"/>
                </a:lnTo>
                <a:lnTo>
                  <a:pt x="42756" y="51841"/>
                </a:lnTo>
                <a:cubicBezTo>
                  <a:pt x="46305" y="48292"/>
                  <a:pt x="46305" y="42529"/>
                  <a:pt x="42756" y="38980"/>
                </a:cubicBezTo>
                <a:close/>
              </a:path>
            </a:pathLst>
          </a:custGeom>
          <a:solidFill>
            <a:srgbClr val="64FFDA"/>
          </a:solidFill>
          <a:ln/>
        </p:spPr>
      </p:sp>
      <p:sp>
        <p:nvSpPr>
          <p:cNvPr id="15" name="Text 12"/>
          <p:cNvSpPr/>
          <p:nvPr/>
        </p:nvSpPr>
        <p:spPr>
          <a:xfrm>
            <a:off x="887807" y="2398426"/>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64FFDA"/>
                </a:solidFill>
                <a:latin typeface="Quattrocento Sans" pitchFamily="34" charset="0"/>
                <a:ea typeface="Quattrocento Sans" pitchFamily="34" charset="-122"/>
                <a:cs typeface="Quattrocento Sans" pitchFamily="34" charset="-120"/>
              </a:rPr>
              <a:t>تثبيت وحدات البكسل للتتبع</a:t>
            </a:r>
            <a:endParaRPr xmlns:a="http://schemas.openxmlformats.org/drawingml/2006/main" lang="en-US" sz="1600" dirty="0"/>
          </a:p>
        </p:txBody>
      </p:sp>
      <p:sp>
        <p:nvSpPr>
          <p:cNvPr id="16" name="Text 13"/>
          <p:cNvSpPr/>
          <p:nvPr/>
        </p:nvSpPr>
        <p:spPr>
          <a:xfrm>
            <a:off x="654116" y="2652805"/>
            <a:ext cx="3179732"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Meta Pixel + Google Analytics 4 على جميع صفحات الهبوط</a:t>
            </a:r>
            <a:endParaRPr xmlns:a="http://schemas.openxmlformats.org/drawingml/2006/main" lang="en-US" sz="1600" dirty="0"/>
          </a:p>
        </p:txBody>
      </p:sp>
      <p:sp>
        <p:nvSpPr>
          <p:cNvPr id="17" name="Shape 14"/>
          <p:cNvSpPr/>
          <p:nvPr/>
        </p:nvSpPr>
        <p:spPr>
          <a:xfrm>
            <a:off x="545097" y="3052542"/>
            <a:ext cx="3334176" cy="654116"/>
          </a:xfrm>
          <a:prstGeom prst="roundRect">
            <a:avLst>
              <a:gd name="adj" fmla="val 11111"/>
            </a:avLst>
          </a:prstGeom>
          <a:solidFill>
            <a:srgbClr val="0A192F">
              <a:alpha val="40000"/>
            </a:srgbClr>
          </a:solidFill>
          <a:ln/>
        </p:spPr>
      </p:sp>
      <p:sp>
        <p:nvSpPr>
          <p:cNvPr id="18" name="Shape 15"/>
          <p:cNvSpPr/>
          <p:nvPr/>
        </p:nvSpPr>
        <p:spPr>
          <a:xfrm>
            <a:off x="672286" y="3193359"/>
            <a:ext cx="145359" cy="145359"/>
          </a:xfrm>
          <a:custGeom>
            <a:avLst/>
            <a:gdLst/>
            <a:ahLst/>
            <a:cxnLst/>
            <a:rect l="l" t="t" r="r" b="b"/>
            <a:pathLst>
              <a:path w="145359" h="145359">
                <a:moveTo>
                  <a:pt x="118104" y="59052"/>
                </a:moveTo>
                <a:cubicBezTo>
                  <a:pt x="118104" y="72083"/>
                  <a:pt x="113874" y="84121"/>
                  <a:pt x="106748" y="93887"/>
                </a:cubicBezTo>
                <a:lnTo>
                  <a:pt x="142690" y="129858"/>
                </a:lnTo>
                <a:cubicBezTo>
                  <a:pt x="146239" y="133407"/>
                  <a:pt x="146239" y="139170"/>
                  <a:pt x="142690" y="142719"/>
                </a:cubicBezTo>
                <a:cubicBezTo>
                  <a:pt x="139142" y="146268"/>
                  <a:pt x="133378" y="146268"/>
                  <a:pt x="129830" y="142719"/>
                </a:cubicBezTo>
                <a:lnTo>
                  <a:pt x="93887" y="106748"/>
                </a:lnTo>
                <a:cubicBezTo>
                  <a:pt x="84121" y="113874"/>
                  <a:pt x="72083" y="118104"/>
                  <a:pt x="59052" y="118104"/>
                </a:cubicBezTo>
                <a:cubicBezTo>
                  <a:pt x="26432" y="118104"/>
                  <a:pt x="0" y="91673"/>
                  <a:pt x="0" y="59052"/>
                </a:cubicBezTo>
                <a:cubicBezTo>
                  <a:pt x="0" y="26432"/>
                  <a:pt x="26432" y="0"/>
                  <a:pt x="59052" y="0"/>
                </a:cubicBezTo>
                <a:cubicBezTo>
                  <a:pt x="91673" y="0"/>
                  <a:pt x="118104" y="26432"/>
                  <a:pt x="118104" y="59052"/>
                </a:cubicBezTo>
                <a:close/>
                <a:moveTo>
                  <a:pt x="59052" y="99934"/>
                </a:moveTo>
                <a:cubicBezTo>
                  <a:pt x="81616" y="99934"/>
                  <a:pt x="99934" y="81616"/>
                  <a:pt x="99934" y="59052"/>
                </a:cubicBezTo>
                <a:cubicBezTo>
                  <a:pt x="99934" y="36489"/>
                  <a:pt x="81616" y="18170"/>
                  <a:pt x="59052" y="18170"/>
                </a:cubicBezTo>
                <a:cubicBezTo>
                  <a:pt x="36489" y="18170"/>
                  <a:pt x="18170" y="36489"/>
                  <a:pt x="18170" y="59052"/>
                </a:cubicBezTo>
                <a:cubicBezTo>
                  <a:pt x="18170" y="81616"/>
                  <a:pt x="36489" y="99934"/>
                  <a:pt x="59052" y="99934"/>
                </a:cubicBezTo>
                <a:close/>
              </a:path>
            </a:pathLst>
          </a:custGeom>
          <a:solidFill>
            <a:srgbClr val="64FFDA"/>
          </a:solidFill>
          <a:ln/>
        </p:spPr>
      </p:sp>
      <p:sp>
        <p:nvSpPr>
          <p:cNvPr id="19" name="Text 16"/>
          <p:cNvSpPr/>
          <p:nvPr/>
        </p:nvSpPr>
        <p:spPr>
          <a:xfrm>
            <a:off x="887807" y="3161562"/>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64FFDA"/>
                </a:solidFill>
                <a:latin typeface="Quattrocento Sans" pitchFamily="34" charset="0"/>
                <a:ea typeface="Quattrocento Sans" pitchFamily="34" charset="-122"/>
                <a:cs typeface="Quattrocento Sans" pitchFamily="34" charset="-120"/>
              </a:rPr>
              <a:t>تحسين محركات البحث المحلية</a:t>
            </a:r>
            <a:endParaRPr xmlns:a="http://schemas.openxmlformats.org/drawingml/2006/main" lang="en-US" sz="1600" dirty="0"/>
          </a:p>
        </p:txBody>
      </p:sp>
      <p:sp>
        <p:nvSpPr>
          <p:cNvPr id="20" name="Text 17"/>
          <p:cNvSpPr/>
          <p:nvPr/>
        </p:nvSpPr>
        <p:spPr>
          <a:xfrm>
            <a:off x="654116" y="3415940"/>
            <a:ext cx="3179732"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اتساق اسم وعنوان ورقم الهاتف، وجوجل للأعمال، وصفحات المواقع</a:t>
            </a:r>
            <a:endParaRPr xmlns:a="http://schemas.openxmlformats.org/drawingml/2006/main" lang="en-US" sz="1600" dirty="0"/>
          </a:p>
        </p:txBody>
      </p:sp>
      <p:sp>
        <p:nvSpPr>
          <p:cNvPr id="21" name="Shape 18"/>
          <p:cNvSpPr/>
          <p:nvPr/>
        </p:nvSpPr>
        <p:spPr>
          <a:xfrm>
            <a:off x="545097" y="3815678"/>
            <a:ext cx="3334176" cy="654116"/>
          </a:xfrm>
          <a:prstGeom prst="roundRect">
            <a:avLst>
              <a:gd name="adj" fmla="val 11111"/>
            </a:avLst>
          </a:prstGeom>
          <a:solidFill>
            <a:srgbClr val="0A192F">
              <a:alpha val="40000"/>
            </a:srgbClr>
          </a:solidFill>
          <a:ln/>
        </p:spPr>
      </p:sp>
      <p:sp>
        <p:nvSpPr>
          <p:cNvPr id="22" name="Shape 19"/>
          <p:cNvSpPr/>
          <p:nvPr/>
        </p:nvSpPr>
        <p:spPr>
          <a:xfrm>
            <a:off x="672286" y="3956495"/>
            <a:ext cx="145359" cy="145359"/>
          </a:xfrm>
          <a:custGeom>
            <a:avLst/>
            <a:gdLst/>
            <a:ahLst/>
            <a:cxnLst/>
            <a:rect l="l" t="t" r="r" b="b"/>
            <a:pathLst>
              <a:path w="145359" h="145359">
                <a:moveTo>
                  <a:pt x="123981" y="21208"/>
                </a:moveTo>
                <a:lnTo>
                  <a:pt x="127189" y="24245"/>
                </a:lnTo>
                <a:lnTo>
                  <a:pt x="127189" y="9085"/>
                </a:lnTo>
                <a:cubicBezTo>
                  <a:pt x="127189" y="4060"/>
                  <a:pt x="131249" y="0"/>
                  <a:pt x="136274" y="0"/>
                </a:cubicBezTo>
                <a:cubicBezTo>
                  <a:pt x="141299" y="0"/>
                  <a:pt x="145359" y="4060"/>
                  <a:pt x="145359" y="9085"/>
                </a:cubicBezTo>
                <a:lnTo>
                  <a:pt x="145359" y="45425"/>
                </a:lnTo>
                <a:cubicBezTo>
                  <a:pt x="145359" y="50450"/>
                  <a:pt x="141299" y="54510"/>
                  <a:pt x="136274" y="54510"/>
                </a:cubicBezTo>
                <a:lnTo>
                  <a:pt x="99934" y="54510"/>
                </a:lnTo>
                <a:cubicBezTo>
                  <a:pt x="94909" y="54510"/>
                  <a:pt x="90849" y="50450"/>
                  <a:pt x="90849" y="45425"/>
                </a:cubicBezTo>
                <a:cubicBezTo>
                  <a:pt x="90849" y="40400"/>
                  <a:pt x="94909" y="36340"/>
                  <a:pt x="99934" y="36340"/>
                </a:cubicBezTo>
                <a:lnTo>
                  <a:pt x="113533" y="36340"/>
                </a:lnTo>
                <a:lnTo>
                  <a:pt x="111376" y="34296"/>
                </a:lnTo>
                <a:cubicBezTo>
                  <a:pt x="111319" y="34239"/>
                  <a:pt x="111262" y="34182"/>
                  <a:pt x="111205" y="34125"/>
                </a:cubicBezTo>
                <a:cubicBezTo>
                  <a:pt x="89913" y="12832"/>
                  <a:pt x="55418" y="12832"/>
                  <a:pt x="34125" y="34125"/>
                </a:cubicBezTo>
                <a:cubicBezTo>
                  <a:pt x="12832" y="55418"/>
                  <a:pt x="12832" y="89913"/>
                  <a:pt x="34125" y="111205"/>
                </a:cubicBezTo>
                <a:cubicBezTo>
                  <a:pt x="55418" y="132498"/>
                  <a:pt x="89913" y="132498"/>
                  <a:pt x="111205" y="111205"/>
                </a:cubicBezTo>
                <a:cubicBezTo>
                  <a:pt x="113533" y="108877"/>
                  <a:pt x="115606" y="106407"/>
                  <a:pt x="117423" y="103796"/>
                </a:cubicBezTo>
                <a:cubicBezTo>
                  <a:pt x="120290" y="99679"/>
                  <a:pt x="125968" y="98685"/>
                  <a:pt x="130085" y="101553"/>
                </a:cubicBezTo>
                <a:cubicBezTo>
                  <a:pt x="134202" y="104420"/>
                  <a:pt x="135195" y="110098"/>
                  <a:pt x="132328" y="114215"/>
                </a:cubicBezTo>
                <a:cubicBezTo>
                  <a:pt x="129915" y="117678"/>
                  <a:pt x="127161" y="120972"/>
                  <a:pt x="124066" y="124066"/>
                </a:cubicBezTo>
                <a:cubicBezTo>
                  <a:pt x="95676" y="152457"/>
                  <a:pt x="49655" y="152457"/>
                  <a:pt x="21293" y="124066"/>
                </a:cubicBezTo>
                <a:cubicBezTo>
                  <a:pt x="-7069" y="95676"/>
                  <a:pt x="-7098" y="49683"/>
                  <a:pt x="21293" y="21293"/>
                </a:cubicBezTo>
                <a:cubicBezTo>
                  <a:pt x="49655" y="-7069"/>
                  <a:pt x="95591" y="-7098"/>
                  <a:pt x="123981" y="21208"/>
                </a:cubicBezTo>
                <a:close/>
              </a:path>
            </a:pathLst>
          </a:custGeom>
          <a:solidFill>
            <a:srgbClr val="64FFDA"/>
          </a:solidFill>
          <a:ln/>
        </p:spPr>
      </p:sp>
      <p:sp>
        <p:nvSpPr>
          <p:cNvPr id="23" name="Text 20"/>
          <p:cNvSpPr/>
          <p:nvPr/>
        </p:nvSpPr>
        <p:spPr>
          <a:xfrm>
            <a:off x="887807" y="3924697"/>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64FFDA"/>
                </a:solidFill>
                <a:latin typeface="Quattrocento Sans" pitchFamily="34" charset="0"/>
                <a:ea typeface="Quattrocento Sans" pitchFamily="34" charset="-122"/>
                <a:cs typeface="Quattrocento Sans" pitchFamily="34" charset="-120"/>
              </a:rPr>
              <a:t>إطلاق حملة استعادة العملاء</a:t>
            </a:r>
            <a:endParaRPr xmlns:a="http://schemas.openxmlformats.org/drawingml/2006/main" lang="en-US" sz="1600" dirty="0"/>
          </a:p>
        </p:txBody>
      </p:sp>
      <p:sp>
        <p:nvSpPr>
          <p:cNvPr id="24" name="Text 21"/>
          <p:cNvSpPr/>
          <p:nvPr/>
        </p:nvSpPr>
        <p:spPr>
          <a:xfrm>
            <a:off x="654116" y="4179076"/>
            <a:ext cx="3179732"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إعادة تفعيل نظام إدارة علاقات العملاء (CRM) بدون تكلفة عبر واتساب</a:t>
            </a:r>
            <a:endParaRPr xmlns:a="http://schemas.openxmlformats.org/drawingml/2006/main" lang="en-US" sz="1600" dirty="0"/>
          </a:p>
        </p:txBody>
      </p:sp>
      <p:sp>
        <p:nvSpPr>
          <p:cNvPr id="25" name="Shape 22"/>
          <p:cNvSpPr/>
          <p:nvPr/>
        </p:nvSpPr>
        <p:spPr>
          <a:xfrm>
            <a:off x="549639" y="4765055"/>
            <a:ext cx="3325091" cy="445162"/>
          </a:xfrm>
          <a:prstGeom prst="roundRect">
            <a:avLst>
              <a:gd name="adj" fmla="val 16327"/>
            </a:avLst>
          </a:prstGeom>
          <a:solidFill>
            <a:srgbClr val="64FFDA">
              <a:alpha val="10196"/>
            </a:srgbClr>
          </a:solidFill>
          <a:ln w="12700">
            <a:solidFill>
              <a:srgbClr val="64FFDA">
                <a:alpha val="30196"/>
              </a:srgbClr>
            </a:solidFill>
            <a:prstDash val="solid"/>
          </a:ln>
        </p:spPr>
      </p:sp>
      <p:sp>
        <p:nvSpPr>
          <p:cNvPr id="26" name="Text 23"/>
          <p:cNvSpPr/>
          <p:nvPr/>
        </p:nvSpPr>
        <p:spPr>
          <a:xfrm>
            <a:off x="626861" y="4878617"/>
            <a:ext cx="3170647" cy="218039"/>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145" b="1" dirty="0">
                <a:solidFill>
                  <a:srgbClr val="64FFDA"/>
                </a:solidFill>
                <a:latin typeface="Quattrocento Sans" pitchFamily="34" charset="0"/>
                <a:ea typeface="Quattrocento Sans" pitchFamily="34" charset="-122"/>
                <a:cs typeface="Quattrocento Sans" pitchFamily="34" charset="-120"/>
              </a:rPr>
              <a:t>الإيرادات: </a:t>
            </a:r>
            <a:pPr xmlns:a="http://schemas.openxmlformats.org/drawingml/2006/main" algn="ctr">
              <a:lnSpc>
                <a:spcPct val="130000"/>
              </a:lnSpc>
              <a:bidi/>
            </a:pPr>
            <a:r xmlns:a="http://schemas.openxmlformats.org/drawingml/2006/main">
              <a:rPr lang="ar" sz="1145" dirty="0">
                <a:solidFill>
                  <a:srgbClr val="E6F1FF"/>
                </a:solidFill>
                <a:latin typeface="Quattrocento Sans" pitchFamily="34" charset="0"/>
                <a:ea typeface="Quattrocento Sans" pitchFamily="34" charset="-122"/>
                <a:cs typeface="Quattrocento Sans" pitchFamily="34" charset="-120"/>
              </a:rPr>
              <a:t>50-100 ألف درهم مغربي فورياً</a:t>
            </a:r>
            <a:endParaRPr xmlns:a="http://schemas.openxmlformats.org/drawingml/2006/main" lang="en-US" sz="1600" dirty="0"/>
          </a:p>
        </p:txBody>
      </p:sp>
      <p:sp>
        <p:nvSpPr>
          <p:cNvPr id="27" name="Shape 24"/>
          <p:cNvSpPr/>
          <p:nvPr/>
        </p:nvSpPr>
        <p:spPr>
          <a:xfrm>
            <a:off x="4246361" y="1435422"/>
            <a:ext cx="3697574" cy="3961037"/>
          </a:xfrm>
          <a:custGeom>
            <a:avLst/>
            <a:gdLst/>
            <a:ahLst/>
            <a:cxnLst/>
            <a:rect l="l" t="t" r="r" b="b"/>
            <a:pathLst>
              <a:path w="3697574" h="3961037">
                <a:moveTo>
                  <a:pt x="36322" y="0"/>
                </a:moveTo>
                <a:lnTo>
                  <a:pt x="3661283" y="0"/>
                </a:lnTo>
                <a:cubicBezTo>
                  <a:pt x="3681343" y="0"/>
                  <a:pt x="3697605" y="16262"/>
                  <a:pt x="3697605" y="36322"/>
                </a:cubicBezTo>
                <a:lnTo>
                  <a:pt x="3697605" y="3852037"/>
                </a:lnTo>
                <a:cubicBezTo>
                  <a:pt x="3697605" y="3880959"/>
                  <a:pt x="3686107" y="3908694"/>
                  <a:pt x="3665645" y="3929133"/>
                </a:cubicBezTo>
                <a:cubicBezTo>
                  <a:pt x="3645182" y="3949571"/>
                  <a:pt x="3617434" y="3961037"/>
                  <a:pt x="3588512" y="3961003"/>
                </a:cubicBezTo>
                <a:lnTo>
                  <a:pt x="108966" y="3961003"/>
                </a:lnTo>
                <a:cubicBezTo>
                  <a:pt x="48786" y="3961003"/>
                  <a:pt x="0" y="3912217"/>
                  <a:pt x="0" y="3852037"/>
                </a:cubicBezTo>
                <a:lnTo>
                  <a:pt x="0" y="36322"/>
                </a:lnTo>
                <a:cubicBezTo>
                  <a:pt x="0" y="16275"/>
                  <a:pt x="16275" y="0"/>
                  <a:pt x="36322" y="0"/>
                </a:cubicBezTo>
                <a:close/>
              </a:path>
            </a:pathLst>
          </a:custGeom>
          <a:gradFill rotWithShape="1" flip="none">
            <a:gsLst>
              <a:gs pos="0">
                <a:srgbClr val="1E3A5F">
                  <a:alpha val="60000"/>
                </a:srgbClr>
              </a:gs>
              <a:gs pos="100000">
                <a:srgbClr val="0A192F">
                  <a:alpha val="40000"/>
                </a:srgbClr>
              </a:gs>
            </a:gsLst>
            <a:lin ang="2700000" scaled="1"/>
          </a:gradFill>
          <a:ln/>
        </p:spPr>
      </p:sp>
      <p:sp>
        <p:nvSpPr>
          <p:cNvPr id="28" name="Shape 25"/>
          <p:cNvSpPr/>
          <p:nvPr/>
        </p:nvSpPr>
        <p:spPr>
          <a:xfrm>
            <a:off x="4246361" y="1435422"/>
            <a:ext cx="3697574" cy="36340"/>
          </a:xfrm>
          <a:custGeom>
            <a:avLst/>
            <a:gdLst/>
            <a:ahLst/>
            <a:cxnLst/>
            <a:rect l="l" t="t" r="r" b="b"/>
            <a:pathLst>
              <a:path w="3697574" h="36340">
                <a:moveTo>
                  <a:pt x="36322" y="0"/>
                </a:moveTo>
                <a:lnTo>
                  <a:pt x="3661283" y="0"/>
                </a:lnTo>
                <a:cubicBezTo>
                  <a:pt x="3681343" y="0"/>
                  <a:pt x="3697605" y="16262"/>
                  <a:pt x="3697605" y="36322"/>
                </a:cubicBezTo>
                <a:lnTo>
                  <a:pt x="3697605" y="36322"/>
                </a:lnTo>
                <a:lnTo>
                  <a:pt x="0" y="36322"/>
                </a:lnTo>
                <a:lnTo>
                  <a:pt x="0" y="36322"/>
                </a:lnTo>
                <a:cubicBezTo>
                  <a:pt x="0" y="16275"/>
                  <a:pt x="16275" y="0"/>
                  <a:pt x="36322" y="0"/>
                </a:cubicBezTo>
                <a:close/>
              </a:path>
            </a:pathLst>
          </a:custGeom>
          <a:solidFill>
            <a:srgbClr val="D4AF37"/>
          </a:solidFill>
          <a:ln/>
        </p:spPr>
      </p:sp>
      <p:sp>
        <p:nvSpPr>
          <p:cNvPr id="29" name="Shape 26"/>
          <p:cNvSpPr/>
          <p:nvPr/>
        </p:nvSpPr>
        <p:spPr>
          <a:xfrm>
            <a:off x="4428060" y="1635291"/>
            <a:ext cx="508757" cy="508757"/>
          </a:xfrm>
          <a:prstGeom prst="roundRect">
            <a:avLst>
              <a:gd name="adj" fmla="val 50000"/>
            </a:avLst>
          </a:prstGeom>
          <a:solidFill>
            <a:srgbClr val="D4AF37">
              <a:alpha val="20000"/>
            </a:srgbClr>
          </a:solidFill>
          <a:ln/>
        </p:spPr>
      </p:sp>
      <p:sp>
        <p:nvSpPr>
          <p:cNvPr id="30" name="Text 27"/>
          <p:cNvSpPr/>
          <p:nvPr/>
        </p:nvSpPr>
        <p:spPr>
          <a:xfrm>
            <a:off x="4549501" y="1744310"/>
            <a:ext cx="372483" cy="290718"/>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717" b="1" dirty="0">
                <a:solidFill>
                  <a:srgbClr val="D4AF37"/>
                </a:solidFill>
                <a:latin typeface="Liter" pitchFamily="34" charset="0"/>
                <a:ea typeface="Liter" pitchFamily="34" charset="-122"/>
                <a:cs typeface="Liter" pitchFamily="34" charset="-120"/>
              </a:rPr>
              <a:t>02</a:t>
            </a:r>
            <a:endParaRPr xmlns:a="http://schemas.openxmlformats.org/drawingml/2006/main" lang="en-US" sz="1600" dirty="0"/>
          </a:p>
        </p:txBody>
      </p:sp>
      <p:sp>
        <p:nvSpPr>
          <p:cNvPr id="31" name="Text 28"/>
          <p:cNvSpPr/>
          <p:nvPr/>
        </p:nvSpPr>
        <p:spPr>
          <a:xfrm>
            <a:off x="5045837" y="1671630"/>
            <a:ext cx="1844244" cy="25437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431" b="1" dirty="0">
                <a:solidFill>
                  <a:srgbClr val="E6F1FF"/>
                </a:solidFill>
                <a:latin typeface="Liter" pitchFamily="34" charset="0"/>
                <a:ea typeface="Liter" pitchFamily="34" charset="-122"/>
                <a:cs typeface="Liter" pitchFamily="34" charset="-120"/>
              </a:rPr>
              <a:t>الأتمتة والاختبار</a:t>
            </a:r>
            <a:endParaRPr xmlns:a="http://schemas.openxmlformats.org/drawingml/2006/main" lang="en-US" sz="1600" dirty="0"/>
          </a:p>
        </p:txBody>
      </p:sp>
      <p:sp>
        <p:nvSpPr>
          <p:cNvPr id="32" name="Text 29"/>
          <p:cNvSpPr/>
          <p:nvPr/>
        </p:nvSpPr>
        <p:spPr>
          <a:xfrm>
            <a:off x="5045837" y="1926009"/>
            <a:ext cx="1816990"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64FFDA"/>
                </a:solidFill>
                <a:latin typeface="Quattrocento Sans" pitchFamily="34" charset="0"/>
                <a:ea typeface="Quattrocento Sans" pitchFamily="34" charset="-122"/>
                <a:cs typeface="Quattrocento Sans" pitchFamily="34" charset="-120"/>
              </a:rPr>
              <a:t>الأيام من 30 إلى 60</a:t>
            </a:r>
            <a:endParaRPr xmlns:a="http://schemas.openxmlformats.org/drawingml/2006/main" lang="en-US" sz="1600" dirty="0"/>
          </a:p>
        </p:txBody>
      </p:sp>
      <p:sp>
        <p:nvSpPr>
          <p:cNvPr id="33" name="Shape 30"/>
          <p:cNvSpPr/>
          <p:nvPr/>
        </p:nvSpPr>
        <p:spPr>
          <a:xfrm>
            <a:off x="4428060" y="2289407"/>
            <a:ext cx="3334176" cy="654116"/>
          </a:xfrm>
          <a:prstGeom prst="roundRect">
            <a:avLst>
              <a:gd name="adj" fmla="val 11111"/>
            </a:avLst>
          </a:prstGeom>
          <a:solidFill>
            <a:srgbClr val="0A192F">
              <a:alpha val="40000"/>
            </a:srgbClr>
          </a:solidFill>
          <a:ln/>
        </p:spPr>
      </p:sp>
      <p:sp>
        <p:nvSpPr>
          <p:cNvPr id="34" name="Shape 31"/>
          <p:cNvSpPr/>
          <p:nvPr/>
        </p:nvSpPr>
        <p:spPr>
          <a:xfrm>
            <a:off x="4537080" y="2430224"/>
            <a:ext cx="181699" cy="145359"/>
          </a:xfrm>
          <a:custGeom>
            <a:avLst/>
            <a:gdLst/>
            <a:ahLst/>
            <a:cxnLst/>
            <a:rect l="l" t="t" r="r" b="b"/>
            <a:pathLst>
              <a:path w="181699" h="145359">
                <a:moveTo>
                  <a:pt x="99934" y="0"/>
                </a:moveTo>
                <a:cubicBezTo>
                  <a:pt x="99934" y="-5025"/>
                  <a:pt x="95875" y="-9085"/>
                  <a:pt x="90849" y="-9085"/>
                </a:cubicBezTo>
                <a:cubicBezTo>
                  <a:pt x="85824" y="-9085"/>
                  <a:pt x="81765" y="-5025"/>
                  <a:pt x="81765" y="0"/>
                </a:cubicBezTo>
                <a:lnTo>
                  <a:pt x="81765" y="18170"/>
                </a:lnTo>
                <a:lnTo>
                  <a:pt x="54510" y="18170"/>
                </a:lnTo>
                <a:cubicBezTo>
                  <a:pt x="39463" y="18170"/>
                  <a:pt x="27255" y="30378"/>
                  <a:pt x="27255" y="45425"/>
                </a:cubicBezTo>
                <a:lnTo>
                  <a:pt x="27255" y="109019"/>
                </a:lnTo>
                <a:cubicBezTo>
                  <a:pt x="27255" y="124066"/>
                  <a:pt x="39463" y="136274"/>
                  <a:pt x="54510" y="136274"/>
                </a:cubicBezTo>
                <a:lnTo>
                  <a:pt x="127189" y="136274"/>
                </a:lnTo>
                <a:cubicBezTo>
                  <a:pt x="142236" y="136274"/>
                  <a:pt x="154444" y="124066"/>
                  <a:pt x="154444" y="109019"/>
                </a:cubicBezTo>
                <a:lnTo>
                  <a:pt x="154444" y="45425"/>
                </a:lnTo>
                <a:cubicBezTo>
                  <a:pt x="154444" y="30378"/>
                  <a:pt x="142236" y="18170"/>
                  <a:pt x="127189" y="18170"/>
                </a:cubicBezTo>
                <a:lnTo>
                  <a:pt x="99934" y="18170"/>
                </a:lnTo>
                <a:lnTo>
                  <a:pt x="99934" y="0"/>
                </a:lnTo>
                <a:close/>
                <a:moveTo>
                  <a:pt x="45425" y="104477"/>
                </a:moveTo>
                <a:cubicBezTo>
                  <a:pt x="45425" y="100701"/>
                  <a:pt x="48463" y="97663"/>
                  <a:pt x="52238" y="97663"/>
                </a:cubicBezTo>
                <a:lnTo>
                  <a:pt x="61323" y="97663"/>
                </a:lnTo>
                <a:cubicBezTo>
                  <a:pt x="65099" y="97663"/>
                  <a:pt x="68137" y="100701"/>
                  <a:pt x="68137" y="104477"/>
                </a:cubicBezTo>
                <a:cubicBezTo>
                  <a:pt x="68137" y="108253"/>
                  <a:pt x="65099" y="111291"/>
                  <a:pt x="61323" y="111291"/>
                </a:cubicBezTo>
                <a:lnTo>
                  <a:pt x="52238" y="111291"/>
                </a:lnTo>
                <a:cubicBezTo>
                  <a:pt x="48463" y="111291"/>
                  <a:pt x="45425" y="108253"/>
                  <a:pt x="45425" y="104477"/>
                </a:cubicBezTo>
                <a:close/>
                <a:moveTo>
                  <a:pt x="79493" y="104477"/>
                </a:moveTo>
                <a:cubicBezTo>
                  <a:pt x="79493" y="100701"/>
                  <a:pt x="82531" y="97663"/>
                  <a:pt x="86307" y="97663"/>
                </a:cubicBezTo>
                <a:lnTo>
                  <a:pt x="95392" y="97663"/>
                </a:lnTo>
                <a:cubicBezTo>
                  <a:pt x="99168" y="97663"/>
                  <a:pt x="102206" y="100701"/>
                  <a:pt x="102206" y="104477"/>
                </a:cubicBezTo>
                <a:cubicBezTo>
                  <a:pt x="102206" y="108253"/>
                  <a:pt x="99168" y="111291"/>
                  <a:pt x="95392" y="111291"/>
                </a:cubicBezTo>
                <a:lnTo>
                  <a:pt x="86307" y="111291"/>
                </a:lnTo>
                <a:cubicBezTo>
                  <a:pt x="82531" y="111291"/>
                  <a:pt x="79493" y="108253"/>
                  <a:pt x="79493" y="104477"/>
                </a:cubicBezTo>
                <a:close/>
                <a:moveTo>
                  <a:pt x="113562" y="104477"/>
                </a:moveTo>
                <a:cubicBezTo>
                  <a:pt x="113562" y="100701"/>
                  <a:pt x="116600" y="97663"/>
                  <a:pt x="120376" y="97663"/>
                </a:cubicBezTo>
                <a:lnTo>
                  <a:pt x="129461" y="97663"/>
                </a:lnTo>
                <a:cubicBezTo>
                  <a:pt x="133236" y="97663"/>
                  <a:pt x="136274" y="100701"/>
                  <a:pt x="136274" y="104477"/>
                </a:cubicBezTo>
                <a:cubicBezTo>
                  <a:pt x="136274" y="108253"/>
                  <a:pt x="133236" y="111291"/>
                  <a:pt x="129461" y="111291"/>
                </a:cubicBezTo>
                <a:lnTo>
                  <a:pt x="120376" y="111291"/>
                </a:lnTo>
                <a:cubicBezTo>
                  <a:pt x="116600" y="111291"/>
                  <a:pt x="113562" y="108253"/>
                  <a:pt x="113562" y="104477"/>
                </a:cubicBezTo>
                <a:close/>
                <a:moveTo>
                  <a:pt x="63595" y="49967"/>
                </a:moveTo>
                <a:cubicBezTo>
                  <a:pt x="71116" y="49967"/>
                  <a:pt x="77222" y="56073"/>
                  <a:pt x="77222" y="63595"/>
                </a:cubicBezTo>
                <a:cubicBezTo>
                  <a:pt x="77222" y="71116"/>
                  <a:pt x="71116" y="77222"/>
                  <a:pt x="63595" y="77222"/>
                </a:cubicBezTo>
                <a:cubicBezTo>
                  <a:pt x="56073" y="77222"/>
                  <a:pt x="49967" y="71116"/>
                  <a:pt x="49967" y="63595"/>
                </a:cubicBezTo>
                <a:cubicBezTo>
                  <a:pt x="49967" y="56073"/>
                  <a:pt x="56073" y="49967"/>
                  <a:pt x="63595" y="49967"/>
                </a:cubicBezTo>
                <a:close/>
                <a:moveTo>
                  <a:pt x="104477" y="63595"/>
                </a:moveTo>
                <a:cubicBezTo>
                  <a:pt x="104477" y="56073"/>
                  <a:pt x="110583" y="49967"/>
                  <a:pt x="118104" y="49967"/>
                </a:cubicBezTo>
                <a:cubicBezTo>
                  <a:pt x="125626" y="49967"/>
                  <a:pt x="131732" y="56073"/>
                  <a:pt x="131732" y="63595"/>
                </a:cubicBezTo>
                <a:cubicBezTo>
                  <a:pt x="131732" y="71116"/>
                  <a:pt x="125626" y="77222"/>
                  <a:pt x="118104" y="77222"/>
                </a:cubicBezTo>
                <a:cubicBezTo>
                  <a:pt x="110583" y="77222"/>
                  <a:pt x="104477" y="71116"/>
                  <a:pt x="104477" y="63595"/>
                </a:cubicBezTo>
                <a:close/>
                <a:moveTo>
                  <a:pt x="18170" y="63595"/>
                </a:moveTo>
                <a:cubicBezTo>
                  <a:pt x="18170" y="58570"/>
                  <a:pt x="14110" y="54510"/>
                  <a:pt x="9085" y="54510"/>
                </a:cubicBezTo>
                <a:cubicBezTo>
                  <a:pt x="4060" y="54510"/>
                  <a:pt x="0" y="58570"/>
                  <a:pt x="0" y="63595"/>
                </a:cubicBezTo>
                <a:lnTo>
                  <a:pt x="0" y="90849"/>
                </a:lnTo>
                <a:cubicBezTo>
                  <a:pt x="0" y="95875"/>
                  <a:pt x="4060" y="99934"/>
                  <a:pt x="9085" y="99934"/>
                </a:cubicBezTo>
                <a:cubicBezTo>
                  <a:pt x="14110" y="99934"/>
                  <a:pt x="18170" y="95875"/>
                  <a:pt x="18170" y="90849"/>
                </a:cubicBezTo>
                <a:lnTo>
                  <a:pt x="18170" y="63595"/>
                </a:lnTo>
                <a:close/>
                <a:moveTo>
                  <a:pt x="172614" y="54510"/>
                </a:moveTo>
                <a:cubicBezTo>
                  <a:pt x="167589" y="54510"/>
                  <a:pt x="163529" y="58570"/>
                  <a:pt x="163529" y="63595"/>
                </a:cubicBezTo>
                <a:lnTo>
                  <a:pt x="163529" y="90849"/>
                </a:lnTo>
                <a:cubicBezTo>
                  <a:pt x="163529" y="95875"/>
                  <a:pt x="167589" y="99934"/>
                  <a:pt x="172614" y="99934"/>
                </a:cubicBezTo>
                <a:cubicBezTo>
                  <a:pt x="177639" y="99934"/>
                  <a:pt x="181699" y="95875"/>
                  <a:pt x="181699" y="90849"/>
                </a:cubicBezTo>
                <a:lnTo>
                  <a:pt x="181699" y="63595"/>
                </a:lnTo>
                <a:cubicBezTo>
                  <a:pt x="181699" y="58570"/>
                  <a:pt x="177639" y="54510"/>
                  <a:pt x="172614" y="54510"/>
                </a:cubicBezTo>
                <a:close/>
              </a:path>
            </a:pathLst>
          </a:custGeom>
          <a:solidFill>
            <a:srgbClr val="D4AF37"/>
          </a:solidFill>
          <a:ln/>
        </p:spPr>
      </p:sp>
      <p:sp>
        <p:nvSpPr>
          <p:cNvPr id="35" name="Text 32"/>
          <p:cNvSpPr/>
          <p:nvPr/>
        </p:nvSpPr>
        <p:spPr>
          <a:xfrm>
            <a:off x="4770770" y="2398426"/>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D4AF37"/>
                </a:solidFill>
                <a:latin typeface="Quattrocento Sans" pitchFamily="34" charset="0"/>
                <a:ea typeface="Quattrocento Sans" pitchFamily="34" charset="-122"/>
                <a:cs typeface="Quattrocento Sans" pitchFamily="34" charset="-120"/>
              </a:rPr>
              <a:t>نشر اختبار الذكاء الاصطناعي على واتساب</a:t>
            </a:r>
            <a:endParaRPr xmlns:a="http://schemas.openxmlformats.org/drawingml/2006/main" lang="en-US" sz="1600" dirty="0"/>
          </a:p>
        </p:txBody>
      </p:sp>
      <p:sp>
        <p:nvSpPr>
          <p:cNvPr id="36" name="Text 33"/>
          <p:cNvSpPr/>
          <p:nvPr/>
        </p:nvSpPr>
        <p:spPr>
          <a:xfrm>
            <a:off x="4537080" y="2652805"/>
            <a:ext cx="3179732"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نظام تأهيل آلي متوافق مع معايير CNDP</a:t>
            </a:r>
            <a:endParaRPr xmlns:a="http://schemas.openxmlformats.org/drawingml/2006/main" lang="en-US" sz="1600" dirty="0"/>
          </a:p>
        </p:txBody>
      </p:sp>
      <p:sp>
        <p:nvSpPr>
          <p:cNvPr id="37" name="Shape 34"/>
          <p:cNvSpPr/>
          <p:nvPr/>
        </p:nvSpPr>
        <p:spPr>
          <a:xfrm>
            <a:off x="4428060" y="3052542"/>
            <a:ext cx="3334176" cy="835815"/>
          </a:xfrm>
          <a:prstGeom prst="roundRect">
            <a:avLst>
              <a:gd name="adj" fmla="val 8696"/>
            </a:avLst>
          </a:prstGeom>
          <a:solidFill>
            <a:srgbClr val="0A192F">
              <a:alpha val="40000"/>
            </a:srgbClr>
          </a:solidFill>
          <a:ln/>
        </p:spPr>
      </p:sp>
      <p:sp>
        <p:nvSpPr>
          <p:cNvPr id="38" name="Shape 35"/>
          <p:cNvSpPr/>
          <p:nvPr/>
        </p:nvSpPr>
        <p:spPr>
          <a:xfrm>
            <a:off x="4555250" y="3193359"/>
            <a:ext cx="145359" cy="145359"/>
          </a:xfrm>
          <a:custGeom>
            <a:avLst/>
            <a:gdLst/>
            <a:ahLst/>
            <a:cxnLst/>
            <a:rect l="l" t="t" r="r" b="b"/>
            <a:pathLst>
              <a:path w="145359" h="145359">
                <a:moveTo>
                  <a:pt x="130937" y="5366"/>
                </a:moveTo>
                <a:cubicBezTo>
                  <a:pt x="134202" y="6814"/>
                  <a:pt x="136274" y="10050"/>
                  <a:pt x="136274" y="13627"/>
                </a:cubicBezTo>
                <a:lnTo>
                  <a:pt x="136274" y="131732"/>
                </a:lnTo>
                <a:cubicBezTo>
                  <a:pt x="136274" y="135309"/>
                  <a:pt x="134202" y="138545"/>
                  <a:pt x="130937" y="139993"/>
                </a:cubicBezTo>
                <a:cubicBezTo>
                  <a:pt x="127672" y="141441"/>
                  <a:pt x="123896" y="140902"/>
                  <a:pt x="121199" y="138545"/>
                </a:cubicBezTo>
                <a:lnTo>
                  <a:pt x="107969" y="126991"/>
                </a:lnTo>
                <a:cubicBezTo>
                  <a:pt x="95591" y="116174"/>
                  <a:pt x="79948" y="109871"/>
                  <a:pt x="63566" y="109105"/>
                </a:cubicBezTo>
                <a:lnTo>
                  <a:pt x="63566" y="136274"/>
                </a:lnTo>
                <a:cubicBezTo>
                  <a:pt x="63566" y="141299"/>
                  <a:pt x="59506" y="145359"/>
                  <a:pt x="54481" y="145359"/>
                </a:cubicBezTo>
                <a:lnTo>
                  <a:pt x="45396" y="145359"/>
                </a:lnTo>
                <a:cubicBezTo>
                  <a:pt x="40371" y="145359"/>
                  <a:pt x="36311" y="141299"/>
                  <a:pt x="36311" y="136274"/>
                </a:cubicBezTo>
                <a:lnTo>
                  <a:pt x="36311" y="109019"/>
                </a:lnTo>
                <a:cubicBezTo>
                  <a:pt x="16268" y="109019"/>
                  <a:pt x="0" y="92752"/>
                  <a:pt x="0" y="72680"/>
                </a:cubicBezTo>
                <a:cubicBezTo>
                  <a:pt x="0" y="52608"/>
                  <a:pt x="16268" y="36340"/>
                  <a:pt x="36340" y="36340"/>
                </a:cubicBezTo>
                <a:lnTo>
                  <a:pt x="60330" y="36340"/>
                </a:lnTo>
                <a:cubicBezTo>
                  <a:pt x="77875" y="36283"/>
                  <a:pt x="94796" y="29895"/>
                  <a:pt x="107997" y="18369"/>
                </a:cubicBezTo>
                <a:lnTo>
                  <a:pt x="121227" y="6814"/>
                </a:lnTo>
                <a:cubicBezTo>
                  <a:pt x="123896" y="4457"/>
                  <a:pt x="127729" y="3918"/>
                  <a:pt x="130965" y="5366"/>
                </a:cubicBezTo>
                <a:close/>
                <a:moveTo>
                  <a:pt x="63595" y="90849"/>
                </a:moveTo>
                <a:lnTo>
                  <a:pt x="63595" y="90906"/>
                </a:lnTo>
                <a:cubicBezTo>
                  <a:pt x="83553" y="91673"/>
                  <a:pt x="102717" y="98998"/>
                  <a:pt x="118104" y="111745"/>
                </a:cubicBezTo>
                <a:lnTo>
                  <a:pt x="118104" y="33586"/>
                </a:lnTo>
                <a:cubicBezTo>
                  <a:pt x="102717" y="46333"/>
                  <a:pt x="83553" y="53658"/>
                  <a:pt x="63595" y="54425"/>
                </a:cubicBezTo>
                <a:lnTo>
                  <a:pt x="63595" y="90849"/>
                </a:lnTo>
                <a:close/>
              </a:path>
            </a:pathLst>
          </a:custGeom>
          <a:solidFill>
            <a:srgbClr val="D4AF37"/>
          </a:solidFill>
          <a:ln/>
        </p:spPr>
      </p:sp>
      <p:sp>
        <p:nvSpPr>
          <p:cNvPr id="39" name="Text 36"/>
          <p:cNvSpPr/>
          <p:nvPr/>
        </p:nvSpPr>
        <p:spPr>
          <a:xfrm>
            <a:off x="4770770" y="3161562"/>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D4AF37"/>
                </a:solidFill>
                <a:latin typeface="Quattrocento Sans" pitchFamily="34" charset="0"/>
                <a:ea typeface="Quattrocento Sans" pitchFamily="34" charset="-122"/>
                <a:cs typeface="Quattrocento Sans" pitchFamily="34" charset="-120"/>
              </a:rPr>
              <a:t>إطلاق حملات اختبارية</a:t>
            </a:r>
            <a:endParaRPr xmlns:a="http://schemas.openxmlformats.org/drawingml/2006/main" lang="en-US" sz="1600" dirty="0"/>
          </a:p>
        </p:txBody>
      </p:sp>
      <p:sp>
        <p:nvSpPr>
          <p:cNvPr id="40" name="Text 37"/>
          <p:cNvSpPr/>
          <p:nvPr/>
        </p:nvSpPr>
        <p:spPr>
          <a:xfrm>
            <a:off x="4537080" y="3415940"/>
            <a:ext cx="3179732" cy="36339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أولى حملات ميتا/جوجل في الدار البيضاء ومراكش</a:t>
            </a:r>
            <a:endParaRPr xmlns:a="http://schemas.openxmlformats.org/drawingml/2006/main" lang="en-US" sz="1600" dirty="0"/>
          </a:p>
        </p:txBody>
      </p:sp>
      <p:sp>
        <p:nvSpPr>
          <p:cNvPr id="41" name="Shape 38"/>
          <p:cNvSpPr/>
          <p:nvPr/>
        </p:nvSpPr>
        <p:spPr>
          <a:xfrm>
            <a:off x="4428060" y="3997377"/>
            <a:ext cx="3334176" cy="654116"/>
          </a:xfrm>
          <a:prstGeom prst="roundRect">
            <a:avLst>
              <a:gd name="adj" fmla="val 11111"/>
            </a:avLst>
          </a:prstGeom>
          <a:solidFill>
            <a:srgbClr val="0A192F">
              <a:alpha val="40000"/>
            </a:srgbClr>
          </a:solidFill>
          <a:ln/>
        </p:spPr>
      </p:sp>
      <p:sp>
        <p:nvSpPr>
          <p:cNvPr id="42" name="Shape 39"/>
          <p:cNvSpPr/>
          <p:nvPr/>
        </p:nvSpPr>
        <p:spPr>
          <a:xfrm>
            <a:off x="4555250" y="4138194"/>
            <a:ext cx="145359" cy="145359"/>
          </a:xfrm>
          <a:custGeom>
            <a:avLst/>
            <a:gdLst/>
            <a:ahLst/>
            <a:cxnLst/>
            <a:rect l="l" t="t" r="r" b="b"/>
            <a:pathLst>
              <a:path w="145359" h="145359">
                <a:moveTo>
                  <a:pt x="0" y="119126"/>
                </a:moveTo>
                <a:lnTo>
                  <a:pt x="0" y="31088"/>
                </a:lnTo>
                <a:cubicBezTo>
                  <a:pt x="0" y="24501"/>
                  <a:pt x="6842" y="20129"/>
                  <a:pt x="13145" y="22003"/>
                </a:cubicBezTo>
                <a:cubicBezTo>
                  <a:pt x="38043" y="29441"/>
                  <a:pt x="55645" y="23564"/>
                  <a:pt x="73361" y="17659"/>
                </a:cubicBezTo>
                <a:cubicBezTo>
                  <a:pt x="91673" y="11555"/>
                  <a:pt x="110098" y="5423"/>
                  <a:pt x="136757" y="13940"/>
                </a:cubicBezTo>
                <a:cubicBezTo>
                  <a:pt x="142009" y="15615"/>
                  <a:pt x="145359" y="20697"/>
                  <a:pt x="145359" y="26233"/>
                </a:cubicBezTo>
                <a:lnTo>
                  <a:pt x="145359" y="114272"/>
                </a:lnTo>
                <a:cubicBezTo>
                  <a:pt x="145359" y="120858"/>
                  <a:pt x="138517" y="125230"/>
                  <a:pt x="132243" y="123357"/>
                </a:cubicBezTo>
                <a:cubicBezTo>
                  <a:pt x="107344" y="115918"/>
                  <a:pt x="89714" y="121795"/>
                  <a:pt x="72027" y="127700"/>
                </a:cubicBezTo>
                <a:cubicBezTo>
                  <a:pt x="53715" y="133804"/>
                  <a:pt x="35289" y="139937"/>
                  <a:pt x="8631" y="131419"/>
                </a:cubicBezTo>
                <a:cubicBezTo>
                  <a:pt x="3378" y="129744"/>
                  <a:pt x="28" y="124663"/>
                  <a:pt x="28" y="119126"/>
                </a:cubicBezTo>
                <a:close/>
                <a:moveTo>
                  <a:pt x="95392" y="72680"/>
                </a:moveTo>
                <a:cubicBezTo>
                  <a:pt x="95392" y="57633"/>
                  <a:pt x="85228" y="45425"/>
                  <a:pt x="72680" y="45425"/>
                </a:cubicBezTo>
                <a:cubicBezTo>
                  <a:pt x="60131" y="45425"/>
                  <a:pt x="49967" y="57633"/>
                  <a:pt x="49967" y="72680"/>
                </a:cubicBezTo>
                <a:cubicBezTo>
                  <a:pt x="49967" y="87727"/>
                  <a:pt x="60131" y="99934"/>
                  <a:pt x="72680" y="99934"/>
                </a:cubicBezTo>
                <a:cubicBezTo>
                  <a:pt x="85228" y="99934"/>
                  <a:pt x="95392" y="87727"/>
                  <a:pt x="95392" y="72680"/>
                </a:cubicBezTo>
                <a:close/>
                <a:moveTo>
                  <a:pt x="34069" y="117423"/>
                </a:moveTo>
                <a:cubicBezTo>
                  <a:pt x="35318" y="117423"/>
                  <a:pt x="36311" y="116344"/>
                  <a:pt x="36113" y="115123"/>
                </a:cubicBezTo>
                <a:cubicBezTo>
                  <a:pt x="34807" y="107231"/>
                  <a:pt x="28447" y="101070"/>
                  <a:pt x="20441" y="100076"/>
                </a:cubicBezTo>
                <a:cubicBezTo>
                  <a:pt x="19192" y="99934"/>
                  <a:pt x="18170" y="100956"/>
                  <a:pt x="18170" y="102206"/>
                </a:cubicBezTo>
                <a:lnTo>
                  <a:pt x="18170" y="113533"/>
                </a:lnTo>
                <a:cubicBezTo>
                  <a:pt x="18170" y="114556"/>
                  <a:pt x="18851" y="115464"/>
                  <a:pt x="19873" y="115720"/>
                </a:cubicBezTo>
                <a:cubicBezTo>
                  <a:pt x="24955" y="116912"/>
                  <a:pt x="29611" y="117451"/>
                  <a:pt x="34069" y="117451"/>
                </a:cubicBezTo>
                <a:close/>
                <a:moveTo>
                  <a:pt x="124492" y="102915"/>
                </a:moveTo>
                <a:cubicBezTo>
                  <a:pt x="125912" y="103143"/>
                  <a:pt x="127189" y="102064"/>
                  <a:pt x="127189" y="100644"/>
                </a:cubicBezTo>
                <a:lnTo>
                  <a:pt x="127189" y="88550"/>
                </a:lnTo>
                <a:cubicBezTo>
                  <a:pt x="127189" y="87301"/>
                  <a:pt x="126167" y="86250"/>
                  <a:pt x="124918" y="86421"/>
                </a:cubicBezTo>
                <a:cubicBezTo>
                  <a:pt x="117764" y="87301"/>
                  <a:pt x="111887" y="92354"/>
                  <a:pt x="109814" y="99083"/>
                </a:cubicBezTo>
                <a:cubicBezTo>
                  <a:pt x="109417" y="100417"/>
                  <a:pt x="110467" y="101666"/>
                  <a:pt x="111858" y="101695"/>
                </a:cubicBezTo>
                <a:cubicBezTo>
                  <a:pt x="115890" y="101808"/>
                  <a:pt x="120092" y="102177"/>
                  <a:pt x="124464" y="102915"/>
                </a:cubicBezTo>
                <a:close/>
                <a:moveTo>
                  <a:pt x="127189" y="43154"/>
                </a:moveTo>
                <a:lnTo>
                  <a:pt x="127189" y="31826"/>
                </a:lnTo>
                <a:cubicBezTo>
                  <a:pt x="127189" y="30804"/>
                  <a:pt x="126480" y="29895"/>
                  <a:pt x="125486" y="29640"/>
                </a:cubicBezTo>
                <a:cubicBezTo>
                  <a:pt x="120404" y="28447"/>
                  <a:pt x="115748" y="27908"/>
                  <a:pt x="111291" y="27908"/>
                </a:cubicBezTo>
                <a:cubicBezTo>
                  <a:pt x="110041" y="27908"/>
                  <a:pt x="109048" y="28987"/>
                  <a:pt x="109246" y="30207"/>
                </a:cubicBezTo>
                <a:cubicBezTo>
                  <a:pt x="110552" y="38100"/>
                  <a:pt x="116912" y="44261"/>
                  <a:pt x="124918" y="45254"/>
                </a:cubicBezTo>
                <a:cubicBezTo>
                  <a:pt x="126167" y="45396"/>
                  <a:pt x="127189" y="44374"/>
                  <a:pt x="127189" y="43125"/>
                </a:cubicBezTo>
                <a:close/>
                <a:moveTo>
                  <a:pt x="35545" y="46248"/>
                </a:moveTo>
                <a:cubicBezTo>
                  <a:pt x="35942" y="44914"/>
                  <a:pt x="34892" y="43665"/>
                  <a:pt x="33501" y="43636"/>
                </a:cubicBezTo>
                <a:cubicBezTo>
                  <a:pt x="29469" y="43523"/>
                  <a:pt x="25268" y="43154"/>
                  <a:pt x="20895" y="42415"/>
                </a:cubicBezTo>
                <a:cubicBezTo>
                  <a:pt x="19476" y="42188"/>
                  <a:pt x="18198" y="43267"/>
                  <a:pt x="18198" y="44687"/>
                </a:cubicBezTo>
                <a:lnTo>
                  <a:pt x="18170" y="56781"/>
                </a:lnTo>
                <a:cubicBezTo>
                  <a:pt x="18170" y="58030"/>
                  <a:pt x="19192" y="59081"/>
                  <a:pt x="20441" y="58910"/>
                </a:cubicBezTo>
                <a:cubicBezTo>
                  <a:pt x="27596" y="58030"/>
                  <a:pt x="33472" y="52977"/>
                  <a:pt x="35545" y="46248"/>
                </a:cubicBezTo>
                <a:close/>
              </a:path>
            </a:pathLst>
          </a:custGeom>
          <a:solidFill>
            <a:srgbClr val="D4AF37"/>
          </a:solidFill>
          <a:ln/>
        </p:spPr>
      </p:sp>
      <p:sp>
        <p:nvSpPr>
          <p:cNvPr id="43" name="Text 40"/>
          <p:cNvSpPr/>
          <p:nvPr/>
        </p:nvSpPr>
        <p:spPr>
          <a:xfrm>
            <a:off x="4770770" y="4106396"/>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D4AF37"/>
                </a:solidFill>
                <a:latin typeface="Quattrocento Sans" pitchFamily="34" charset="0"/>
                <a:ea typeface="Quattrocento Sans" pitchFamily="34" charset="-122"/>
                <a:cs typeface="Quattrocento Sans" pitchFamily="34" charset="-120"/>
              </a:rPr>
              <a:t>تخصيص ميزانية الاختبار</a:t>
            </a:r>
            <a:endParaRPr xmlns:a="http://schemas.openxmlformats.org/drawingml/2006/main" lang="en-US" sz="1600" dirty="0"/>
          </a:p>
        </p:txBody>
      </p:sp>
      <p:sp>
        <p:nvSpPr>
          <p:cNvPr id="44" name="Text 41"/>
          <p:cNvSpPr/>
          <p:nvPr/>
        </p:nvSpPr>
        <p:spPr>
          <a:xfrm>
            <a:off x="4537080" y="4360775"/>
            <a:ext cx="3179732"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5000-8000 درهم مغربي لكل مدينة للاختبار الأولي</a:t>
            </a:r>
            <a:endParaRPr xmlns:a="http://schemas.openxmlformats.org/drawingml/2006/main" lang="en-US" sz="1600" dirty="0"/>
          </a:p>
        </p:txBody>
      </p:sp>
      <p:sp>
        <p:nvSpPr>
          <p:cNvPr id="45" name="Shape 42"/>
          <p:cNvSpPr/>
          <p:nvPr/>
        </p:nvSpPr>
        <p:spPr>
          <a:xfrm>
            <a:off x="4432603" y="4765055"/>
            <a:ext cx="3325091" cy="445162"/>
          </a:xfrm>
          <a:prstGeom prst="roundRect">
            <a:avLst>
              <a:gd name="adj" fmla="val 16327"/>
            </a:avLst>
          </a:prstGeom>
          <a:solidFill>
            <a:srgbClr val="D4AF37">
              <a:alpha val="10196"/>
            </a:srgbClr>
          </a:solidFill>
          <a:ln w="12700">
            <a:solidFill>
              <a:srgbClr val="D4AF37">
                <a:alpha val="30196"/>
              </a:srgbClr>
            </a:solidFill>
            <a:prstDash val="solid"/>
          </a:ln>
        </p:spPr>
      </p:sp>
      <p:sp>
        <p:nvSpPr>
          <p:cNvPr id="46" name="Text 43"/>
          <p:cNvSpPr/>
          <p:nvPr/>
        </p:nvSpPr>
        <p:spPr>
          <a:xfrm>
            <a:off x="4509825" y="4878617"/>
            <a:ext cx="3170647" cy="218039"/>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145" b="1" dirty="0">
                <a:solidFill>
                  <a:srgbClr val="D4AF37"/>
                </a:solidFill>
                <a:latin typeface="Quattrocento Sans" pitchFamily="34" charset="0"/>
                <a:ea typeface="Quattrocento Sans" pitchFamily="34" charset="-122"/>
                <a:cs typeface="Quattrocento Sans" pitchFamily="34" charset="-120"/>
              </a:rPr>
              <a:t>تكلفة الاكتساب المستهدفة: </a:t>
            </a:r>
            <a:pPr xmlns:a="http://schemas.openxmlformats.org/drawingml/2006/main" algn="ctr">
              <a:lnSpc>
                <a:spcPct val="130000"/>
              </a:lnSpc>
              <a:bidi/>
            </a:pPr>
            <a:r xmlns:a="http://schemas.openxmlformats.org/drawingml/2006/main">
              <a:rPr lang="ar" sz="1145" dirty="0">
                <a:solidFill>
                  <a:srgbClr val="E6F1FF"/>
                </a:solidFill>
                <a:latin typeface="Quattrocento Sans" pitchFamily="34" charset="0"/>
                <a:ea typeface="Quattrocento Sans" pitchFamily="34" charset="-122"/>
                <a:cs typeface="Quattrocento Sans" pitchFamily="34" charset="-120"/>
              </a:rPr>
              <a:t>أقل من 80 مليون درهم إماراتي</a:t>
            </a:r>
            <a:endParaRPr xmlns:a="http://schemas.openxmlformats.org/drawingml/2006/main" lang="en-US" sz="1600" dirty="0"/>
          </a:p>
        </p:txBody>
      </p:sp>
      <p:sp>
        <p:nvSpPr>
          <p:cNvPr id="47" name="Shape 44"/>
          <p:cNvSpPr/>
          <p:nvPr/>
        </p:nvSpPr>
        <p:spPr>
          <a:xfrm>
            <a:off x="8129325" y="1435422"/>
            <a:ext cx="3697574" cy="3961037"/>
          </a:xfrm>
          <a:custGeom>
            <a:avLst/>
            <a:gdLst/>
            <a:ahLst/>
            <a:cxnLst/>
            <a:rect l="l" t="t" r="r" b="b"/>
            <a:pathLst>
              <a:path w="3697574" h="3961037">
                <a:moveTo>
                  <a:pt x="36322" y="0"/>
                </a:moveTo>
                <a:lnTo>
                  <a:pt x="3661283" y="0"/>
                </a:lnTo>
                <a:cubicBezTo>
                  <a:pt x="3681343" y="0"/>
                  <a:pt x="3697605" y="16262"/>
                  <a:pt x="3697605" y="36322"/>
                </a:cubicBezTo>
                <a:lnTo>
                  <a:pt x="3697605" y="3852037"/>
                </a:lnTo>
                <a:cubicBezTo>
                  <a:pt x="3697605" y="3880959"/>
                  <a:pt x="3686107" y="3908694"/>
                  <a:pt x="3665645" y="3929133"/>
                </a:cubicBezTo>
                <a:cubicBezTo>
                  <a:pt x="3645182" y="3949571"/>
                  <a:pt x="3617434" y="3961037"/>
                  <a:pt x="3588512" y="3961003"/>
                </a:cubicBezTo>
                <a:lnTo>
                  <a:pt x="108966" y="3961003"/>
                </a:lnTo>
                <a:cubicBezTo>
                  <a:pt x="48786" y="3961003"/>
                  <a:pt x="0" y="3912217"/>
                  <a:pt x="0" y="3852037"/>
                </a:cubicBezTo>
                <a:lnTo>
                  <a:pt x="0" y="36322"/>
                </a:lnTo>
                <a:cubicBezTo>
                  <a:pt x="0" y="16275"/>
                  <a:pt x="16275" y="0"/>
                  <a:pt x="36322" y="0"/>
                </a:cubicBezTo>
                <a:close/>
              </a:path>
            </a:pathLst>
          </a:custGeom>
          <a:gradFill rotWithShape="1" flip="none">
            <a:gsLst>
              <a:gs pos="0">
                <a:srgbClr val="1E3A5F">
                  <a:alpha val="60000"/>
                </a:srgbClr>
              </a:gs>
              <a:gs pos="100000">
                <a:srgbClr val="0A192F">
                  <a:alpha val="40000"/>
                </a:srgbClr>
              </a:gs>
            </a:gsLst>
            <a:lin ang="2700000" scaled="1"/>
          </a:gradFill>
          <a:ln/>
        </p:spPr>
      </p:sp>
      <p:sp>
        <p:nvSpPr>
          <p:cNvPr id="48" name="Shape 45"/>
          <p:cNvSpPr/>
          <p:nvPr/>
        </p:nvSpPr>
        <p:spPr>
          <a:xfrm>
            <a:off x="8129325" y="1435422"/>
            <a:ext cx="3697574" cy="36340"/>
          </a:xfrm>
          <a:custGeom>
            <a:avLst/>
            <a:gdLst/>
            <a:ahLst/>
            <a:cxnLst/>
            <a:rect l="l" t="t" r="r" b="b"/>
            <a:pathLst>
              <a:path w="3697574" h="36340">
                <a:moveTo>
                  <a:pt x="36322" y="0"/>
                </a:moveTo>
                <a:lnTo>
                  <a:pt x="3661283" y="0"/>
                </a:lnTo>
                <a:cubicBezTo>
                  <a:pt x="3681343" y="0"/>
                  <a:pt x="3697605" y="16262"/>
                  <a:pt x="3697605" y="36322"/>
                </a:cubicBezTo>
                <a:lnTo>
                  <a:pt x="3697605" y="36322"/>
                </a:lnTo>
                <a:lnTo>
                  <a:pt x="0" y="36322"/>
                </a:lnTo>
                <a:lnTo>
                  <a:pt x="0" y="36322"/>
                </a:lnTo>
                <a:cubicBezTo>
                  <a:pt x="0" y="16275"/>
                  <a:pt x="16275" y="0"/>
                  <a:pt x="36322" y="0"/>
                </a:cubicBezTo>
                <a:close/>
              </a:path>
            </a:pathLst>
          </a:custGeom>
          <a:solidFill>
            <a:srgbClr val="05DF72"/>
          </a:solidFill>
          <a:ln/>
        </p:spPr>
      </p:sp>
      <p:sp>
        <p:nvSpPr>
          <p:cNvPr id="49" name="Shape 46"/>
          <p:cNvSpPr/>
          <p:nvPr/>
        </p:nvSpPr>
        <p:spPr>
          <a:xfrm>
            <a:off x="8311024" y="1635291"/>
            <a:ext cx="508757" cy="508757"/>
          </a:xfrm>
          <a:prstGeom prst="roundRect">
            <a:avLst>
              <a:gd name="adj" fmla="val 50000"/>
            </a:avLst>
          </a:prstGeom>
          <a:solidFill>
            <a:srgbClr val="05DF72">
              <a:alpha val="20000"/>
            </a:srgbClr>
          </a:solidFill>
          <a:ln/>
        </p:spPr>
      </p:sp>
      <p:sp>
        <p:nvSpPr>
          <p:cNvPr id="50" name="Text 47"/>
          <p:cNvSpPr/>
          <p:nvPr/>
        </p:nvSpPr>
        <p:spPr>
          <a:xfrm>
            <a:off x="8431470" y="1744310"/>
            <a:ext cx="372483" cy="290718"/>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717" b="1" dirty="0">
                <a:solidFill>
                  <a:srgbClr val="05DF72"/>
                </a:solidFill>
                <a:latin typeface="Liter" pitchFamily="34" charset="0"/>
                <a:ea typeface="Liter" pitchFamily="34" charset="-122"/>
                <a:cs typeface="Liter" pitchFamily="34" charset="-120"/>
              </a:rPr>
              <a:t>03</a:t>
            </a:r>
            <a:endParaRPr xmlns:a="http://schemas.openxmlformats.org/drawingml/2006/main" lang="en-US" sz="1600" dirty="0"/>
          </a:p>
        </p:txBody>
      </p:sp>
      <p:sp>
        <p:nvSpPr>
          <p:cNvPr id="51" name="Text 48"/>
          <p:cNvSpPr/>
          <p:nvPr/>
        </p:nvSpPr>
        <p:spPr>
          <a:xfrm>
            <a:off x="8928800" y="1671630"/>
            <a:ext cx="1571696" cy="25437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431" b="1" dirty="0">
                <a:solidFill>
                  <a:srgbClr val="E6F1FF"/>
                </a:solidFill>
                <a:latin typeface="Liter" pitchFamily="34" charset="0"/>
                <a:ea typeface="Liter" pitchFamily="34" charset="-122"/>
                <a:cs typeface="Liter" pitchFamily="34" charset="-120"/>
              </a:rPr>
              <a:t>التوسع والنمو</a:t>
            </a:r>
            <a:endParaRPr xmlns:a="http://schemas.openxmlformats.org/drawingml/2006/main" lang="en-US" sz="1600" dirty="0"/>
          </a:p>
        </p:txBody>
      </p:sp>
      <p:sp>
        <p:nvSpPr>
          <p:cNvPr id="52" name="Text 49"/>
          <p:cNvSpPr/>
          <p:nvPr/>
        </p:nvSpPr>
        <p:spPr>
          <a:xfrm>
            <a:off x="8928800" y="1926009"/>
            <a:ext cx="1544441"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64FFDA"/>
                </a:solidFill>
                <a:latin typeface="Quattrocento Sans" pitchFamily="34" charset="0"/>
                <a:ea typeface="Quattrocento Sans" pitchFamily="34" charset="-122"/>
                <a:cs typeface="Quattrocento Sans" pitchFamily="34" charset="-120"/>
              </a:rPr>
              <a:t>الأيام 60-90</a:t>
            </a:r>
            <a:endParaRPr xmlns:a="http://schemas.openxmlformats.org/drawingml/2006/main" lang="en-US" sz="1600" dirty="0"/>
          </a:p>
        </p:txBody>
      </p:sp>
      <p:sp>
        <p:nvSpPr>
          <p:cNvPr id="53" name="Shape 50"/>
          <p:cNvSpPr/>
          <p:nvPr/>
        </p:nvSpPr>
        <p:spPr>
          <a:xfrm>
            <a:off x="8311024" y="2289407"/>
            <a:ext cx="3334176" cy="654116"/>
          </a:xfrm>
          <a:prstGeom prst="roundRect">
            <a:avLst>
              <a:gd name="adj" fmla="val 11111"/>
            </a:avLst>
          </a:prstGeom>
          <a:solidFill>
            <a:srgbClr val="0A192F">
              <a:alpha val="40000"/>
            </a:srgbClr>
          </a:solidFill>
          <a:ln/>
        </p:spPr>
      </p:sp>
      <p:sp>
        <p:nvSpPr>
          <p:cNvPr id="54" name="Shape 51"/>
          <p:cNvSpPr/>
          <p:nvPr/>
        </p:nvSpPr>
        <p:spPr>
          <a:xfrm>
            <a:off x="8438213" y="2430224"/>
            <a:ext cx="145359" cy="145359"/>
          </a:xfrm>
          <a:custGeom>
            <a:avLst/>
            <a:gdLst/>
            <a:ahLst/>
            <a:cxnLst/>
            <a:rect l="l" t="t" r="r" b="b"/>
            <a:pathLst>
              <a:path w="145359" h="145359">
                <a:moveTo>
                  <a:pt x="18170" y="18170"/>
                </a:moveTo>
                <a:cubicBezTo>
                  <a:pt x="18170" y="13145"/>
                  <a:pt x="14110" y="9085"/>
                  <a:pt x="9085" y="9085"/>
                </a:cubicBezTo>
                <a:cubicBezTo>
                  <a:pt x="4060" y="9085"/>
                  <a:pt x="0" y="13145"/>
                  <a:pt x="0" y="18170"/>
                </a:cubicBezTo>
                <a:lnTo>
                  <a:pt x="0" y="113562"/>
                </a:lnTo>
                <a:cubicBezTo>
                  <a:pt x="0" y="126110"/>
                  <a:pt x="10164" y="136274"/>
                  <a:pt x="22712" y="136274"/>
                </a:cubicBezTo>
                <a:lnTo>
                  <a:pt x="136274" y="136274"/>
                </a:lnTo>
                <a:cubicBezTo>
                  <a:pt x="141299" y="136274"/>
                  <a:pt x="145359" y="132214"/>
                  <a:pt x="145359" y="127189"/>
                </a:cubicBezTo>
                <a:cubicBezTo>
                  <a:pt x="145359" y="122164"/>
                  <a:pt x="141299" y="118104"/>
                  <a:pt x="136274" y="118104"/>
                </a:cubicBezTo>
                <a:lnTo>
                  <a:pt x="22712" y="118104"/>
                </a:lnTo>
                <a:cubicBezTo>
                  <a:pt x="20214" y="118104"/>
                  <a:pt x="18170" y="116060"/>
                  <a:pt x="18170" y="113562"/>
                </a:cubicBezTo>
                <a:lnTo>
                  <a:pt x="18170" y="18170"/>
                </a:lnTo>
                <a:close/>
                <a:moveTo>
                  <a:pt x="133606" y="42756"/>
                </a:moveTo>
                <a:cubicBezTo>
                  <a:pt x="137154" y="39207"/>
                  <a:pt x="137154" y="33444"/>
                  <a:pt x="133606" y="29895"/>
                </a:cubicBezTo>
                <a:cubicBezTo>
                  <a:pt x="130057" y="26346"/>
                  <a:pt x="124293" y="26346"/>
                  <a:pt x="120745" y="29895"/>
                </a:cubicBezTo>
                <a:lnTo>
                  <a:pt x="90849" y="59819"/>
                </a:lnTo>
                <a:lnTo>
                  <a:pt x="74553" y="43551"/>
                </a:lnTo>
                <a:cubicBezTo>
                  <a:pt x="71005" y="40002"/>
                  <a:pt x="65241" y="40002"/>
                  <a:pt x="61692" y="43551"/>
                </a:cubicBezTo>
                <a:lnTo>
                  <a:pt x="34438" y="70806"/>
                </a:lnTo>
                <a:cubicBezTo>
                  <a:pt x="30889" y="74355"/>
                  <a:pt x="30889" y="80118"/>
                  <a:pt x="34438" y="83667"/>
                </a:cubicBezTo>
                <a:cubicBezTo>
                  <a:pt x="37986" y="87215"/>
                  <a:pt x="43750" y="87215"/>
                  <a:pt x="47299" y="83667"/>
                </a:cubicBezTo>
                <a:lnTo>
                  <a:pt x="68137" y="62828"/>
                </a:lnTo>
                <a:lnTo>
                  <a:pt x="84433" y="79124"/>
                </a:lnTo>
                <a:cubicBezTo>
                  <a:pt x="87982" y="82673"/>
                  <a:pt x="93745" y="82673"/>
                  <a:pt x="97294" y="79124"/>
                </a:cubicBezTo>
                <a:lnTo>
                  <a:pt x="133634" y="42784"/>
                </a:lnTo>
                <a:close/>
              </a:path>
            </a:pathLst>
          </a:custGeom>
          <a:solidFill>
            <a:srgbClr val="05DF72"/>
          </a:solidFill>
          <a:ln/>
        </p:spPr>
      </p:sp>
      <p:sp>
        <p:nvSpPr>
          <p:cNvPr id="55" name="Text 52"/>
          <p:cNvSpPr/>
          <p:nvPr/>
        </p:nvSpPr>
        <p:spPr>
          <a:xfrm>
            <a:off x="8653734" y="2398426"/>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05DF72"/>
                </a:solidFill>
                <a:latin typeface="Quattrocento Sans" pitchFamily="34" charset="0"/>
                <a:ea typeface="Quattrocento Sans" pitchFamily="34" charset="-122"/>
                <a:cs typeface="Quattrocento Sans" pitchFamily="34" charset="-120"/>
              </a:rPr>
              <a:t>التحسين بناءً على البيانات</a:t>
            </a:r>
            <a:endParaRPr xmlns:a="http://schemas.openxmlformats.org/drawingml/2006/main" lang="en-US" sz="1600" dirty="0"/>
          </a:p>
        </p:txBody>
      </p:sp>
      <p:sp>
        <p:nvSpPr>
          <p:cNvPr id="56" name="Text 53"/>
          <p:cNvSpPr/>
          <p:nvPr/>
        </p:nvSpPr>
        <p:spPr>
          <a:xfrm>
            <a:off x="8420043" y="2652805"/>
            <a:ext cx="3179732"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تحسين تكلفة النقرة، والمحتوى الإبداعي، واستهداف الجمهور</a:t>
            </a:r>
            <a:endParaRPr xmlns:a="http://schemas.openxmlformats.org/drawingml/2006/main" lang="en-US" sz="1600" dirty="0"/>
          </a:p>
        </p:txBody>
      </p:sp>
      <p:sp>
        <p:nvSpPr>
          <p:cNvPr id="57" name="Shape 54"/>
          <p:cNvSpPr/>
          <p:nvPr/>
        </p:nvSpPr>
        <p:spPr>
          <a:xfrm>
            <a:off x="8311024" y="3052542"/>
            <a:ext cx="3334176" cy="835815"/>
          </a:xfrm>
          <a:prstGeom prst="roundRect">
            <a:avLst>
              <a:gd name="adj" fmla="val 8696"/>
            </a:avLst>
          </a:prstGeom>
          <a:solidFill>
            <a:srgbClr val="0A192F">
              <a:alpha val="40000"/>
            </a:srgbClr>
          </a:solidFill>
          <a:ln/>
        </p:spPr>
      </p:sp>
      <p:sp>
        <p:nvSpPr>
          <p:cNvPr id="58" name="Shape 55"/>
          <p:cNvSpPr/>
          <p:nvPr/>
        </p:nvSpPr>
        <p:spPr>
          <a:xfrm>
            <a:off x="8438213" y="3193359"/>
            <a:ext cx="145359" cy="145359"/>
          </a:xfrm>
          <a:custGeom>
            <a:avLst/>
            <a:gdLst/>
            <a:ahLst/>
            <a:cxnLst/>
            <a:rect l="l" t="t" r="r" b="b"/>
            <a:pathLst>
              <a:path w="145359" h="145359">
                <a:moveTo>
                  <a:pt x="56781" y="13627"/>
                </a:moveTo>
                <a:lnTo>
                  <a:pt x="88578" y="13627"/>
                </a:lnTo>
                <a:cubicBezTo>
                  <a:pt x="89827" y="13627"/>
                  <a:pt x="90849" y="14649"/>
                  <a:pt x="90849" y="15899"/>
                </a:cubicBezTo>
                <a:lnTo>
                  <a:pt x="90849" y="27255"/>
                </a:lnTo>
                <a:lnTo>
                  <a:pt x="54510" y="27255"/>
                </a:lnTo>
                <a:lnTo>
                  <a:pt x="54510" y="15899"/>
                </a:lnTo>
                <a:cubicBezTo>
                  <a:pt x="54510" y="14649"/>
                  <a:pt x="55532" y="13627"/>
                  <a:pt x="56781" y="13627"/>
                </a:cubicBezTo>
                <a:close/>
                <a:moveTo>
                  <a:pt x="40882" y="15899"/>
                </a:moveTo>
                <a:lnTo>
                  <a:pt x="40882" y="27255"/>
                </a:lnTo>
                <a:lnTo>
                  <a:pt x="18170" y="27255"/>
                </a:lnTo>
                <a:cubicBezTo>
                  <a:pt x="8148" y="27255"/>
                  <a:pt x="0" y="35403"/>
                  <a:pt x="0" y="45425"/>
                </a:cubicBezTo>
                <a:lnTo>
                  <a:pt x="0" y="72680"/>
                </a:lnTo>
                <a:lnTo>
                  <a:pt x="145359" y="72680"/>
                </a:lnTo>
                <a:lnTo>
                  <a:pt x="145359" y="45425"/>
                </a:lnTo>
                <a:cubicBezTo>
                  <a:pt x="145359" y="35403"/>
                  <a:pt x="137211" y="27255"/>
                  <a:pt x="127189" y="27255"/>
                </a:cubicBezTo>
                <a:lnTo>
                  <a:pt x="104477" y="27255"/>
                </a:lnTo>
                <a:lnTo>
                  <a:pt x="104477" y="15899"/>
                </a:lnTo>
                <a:cubicBezTo>
                  <a:pt x="104477" y="7126"/>
                  <a:pt x="97351" y="0"/>
                  <a:pt x="88578" y="0"/>
                </a:cubicBezTo>
                <a:lnTo>
                  <a:pt x="56781" y="0"/>
                </a:lnTo>
                <a:cubicBezTo>
                  <a:pt x="48008" y="0"/>
                  <a:pt x="40882" y="7126"/>
                  <a:pt x="40882" y="15899"/>
                </a:cubicBezTo>
                <a:close/>
                <a:moveTo>
                  <a:pt x="145359" y="86307"/>
                </a:moveTo>
                <a:lnTo>
                  <a:pt x="90849" y="86307"/>
                </a:lnTo>
                <a:lnTo>
                  <a:pt x="90849" y="90849"/>
                </a:lnTo>
                <a:cubicBezTo>
                  <a:pt x="90849" y="95875"/>
                  <a:pt x="86790" y="99934"/>
                  <a:pt x="81765" y="99934"/>
                </a:cubicBezTo>
                <a:lnTo>
                  <a:pt x="63595" y="99934"/>
                </a:lnTo>
                <a:cubicBezTo>
                  <a:pt x="58570" y="99934"/>
                  <a:pt x="54510" y="95875"/>
                  <a:pt x="54510" y="90849"/>
                </a:cubicBezTo>
                <a:lnTo>
                  <a:pt x="54510" y="86307"/>
                </a:lnTo>
                <a:lnTo>
                  <a:pt x="0" y="86307"/>
                </a:lnTo>
                <a:lnTo>
                  <a:pt x="0" y="118104"/>
                </a:lnTo>
                <a:cubicBezTo>
                  <a:pt x="0" y="128126"/>
                  <a:pt x="8148" y="136274"/>
                  <a:pt x="18170" y="136274"/>
                </a:cubicBezTo>
                <a:lnTo>
                  <a:pt x="127189" y="136274"/>
                </a:lnTo>
                <a:cubicBezTo>
                  <a:pt x="137211" y="136274"/>
                  <a:pt x="145359" y="128126"/>
                  <a:pt x="145359" y="118104"/>
                </a:cubicBezTo>
                <a:lnTo>
                  <a:pt x="145359" y="86307"/>
                </a:lnTo>
                <a:close/>
              </a:path>
            </a:pathLst>
          </a:custGeom>
          <a:solidFill>
            <a:srgbClr val="05DF72"/>
          </a:solidFill>
          <a:ln/>
        </p:spPr>
      </p:sp>
      <p:sp>
        <p:nvSpPr>
          <p:cNvPr id="59" name="Text 56"/>
          <p:cNvSpPr/>
          <p:nvPr/>
        </p:nvSpPr>
        <p:spPr>
          <a:xfrm>
            <a:off x="8653734" y="3161562"/>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05DF72"/>
                </a:solidFill>
                <a:latin typeface="Quattrocento Sans" pitchFamily="34" charset="0"/>
                <a:ea typeface="Quattrocento Sans" pitchFamily="34" charset="-122"/>
                <a:cs typeface="Quattrocento Sans" pitchFamily="34" charset="-120"/>
              </a:rPr>
              <a:t>طرح باقات B2B</a:t>
            </a:r>
            <a:endParaRPr xmlns:a="http://schemas.openxmlformats.org/drawingml/2006/main" lang="en-US" sz="1600" dirty="0"/>
          </a:p>
        </p:txBody>
      </p:sp>
      <p:sp>
        <p:nvSpPr>
          <p:cNvPr id="60" name="Text 57"/>
          <p:cNvSpPr/>
          <p:nvPr/>
        </p:nvSpPr>
        <p:spPr>
          <a:xfrm>
            <a:off x="8420043" y="3415940"/>
            <a:ext cx="3179732" cy="363398"/>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عقود احتفاظ تنفيذية عالية القيمة للشركات لتحسين الأداء</a:t>
            </a:r>
            <a:endParaRPr xmlns:a="http://schemas.openxmlformats.org/drawingml/2006/main" lang="en-US" sz="1600" dirty="0"/>
          </a:p>
        </p:txBody>
      </p:sp>
      <p:sp>
        <p:nvSpPr>
          <p:cNvPr id="61" name="Shape 58"/>
          <p:cNvSpPr/>
          <p:nvPr/>
        </p:nvSpPr>
        <p:spPr>
          <a:xfrm>
            <a:off x="8311024" y="3997377"/>
            <a:ext cx="3334176" cy="654116"/>
          </a:xfrm>
          <a:prstGeom prst="roundRect">
            <a:avLst>
              <a:gd name="adj" fmla="val 11111"/>
            </a:avLst>
          </a:prstGeom>
          <a:solidFill>
            <a:srgbClr val="0A192F">
              <a:alpha val="40000"/>
            </a:srgbClr>
          </a:solidFill>
          <a:ln/>
        </p:spPr>
      </p:sp>
      <p:sp>
        <p:nvSpPr>
          <p:cNvPr id="62" name="Shape 59"/>
          <p:cNvSpPr/>
          <p:nvPr/>
        </p:nvSpPr>
        <p:spPr>
          <a:xfrm>
            <a:off x="8447298" y="4138194"/>
            <a:ext cx="127189" cy="145359"/>
          </a:xfrm>
          <a:custGeom>
            <a:avLst/>
            <a:gdLst/>
            <a:ahLst/>
            <a:cxnLst/>
            <a:rect l="l" t="t" r="r" b="b"/>
            <a:pathLst>
              <a:path w="127189" h="145359">
                <a:moveTo>
                  <a:pt x="47696" y="9085"/>
                </a:moveTo>
                <a:lnTo>
                  <a:pt x="6814" y="9085"/>
                </a:lnTo>
                <a:cubicBezTo>
                  <a:pt x="3038" y="9085"/>
                  <a:pt x="0" y="12123"/>
                  <a:pt x="0" y="15899"/>
                </a:cubicBezTo>
                <a:lnTo>
                  <a:pt x="0" y="56781"/>
                </a:lnTo>
                <a:cubicBezTo>
                  <a:pt x="0" y="59535"/>
                  <a:pt x="1647" y="62033"/>
                  <a:pt x="4202" y="63084"/>
                </a:cubicBezTo>
                <a:cubicBezTo>
                  <a:pt x="6757" y="64134"/>
                  <a:pt x="9681" y="63538"/>
                  <a:pt x="11640" y="61607"/>
                </a:cubicBezTo>
                <a:lnTo>
                  <a:pt x="22996" y="50251"/>
                </a:lnTo>
                <a:lnTo>
                  <a:pt x="45425" y="72680"/>
                </a:lnTo>
                <a:lnTo>
                  <a:pt x="22996" y="95108"/>
                </a:lnTo>
                <a:lnTo>
                  <a:pt x="11640" y="83752"/>
                </a:lnTo>
                <a:cubicBezTo>
                  <a:pt x="9681" y="81793"/>
                  <a:pt x="6757" y="81225"/>
                  <a:pt x="4202" y="82276"/>
                </a:cubicBezTo>
                <a:cubicBezTo>
                  <a:pt x="1647" y="83326"/>
                  <a:pt x="0" y="85824"/>
                  <a:pt x="0" y="88578"/>
                </a:cubicBezTo>
                <a:lnTo>
                  <a:pt x="0" y="129461"/>
                </a:lnTo>
                <a:cubicBezTo>
                  <a:pt x="0" y="133236"/>
                  <a:pt x="3038" y="136274"/>
                  <a:pt x="6814" y="136274"/>
                </a:cubicBezTo>
                <a:lnTo>
                  <a:pt x="47696" y="136274"/>
                </a:lnTo>
                <a:cubicBezTo>
                  <a:pt x="50450" y="136274"/>
                  <a:pt x="52948" y="134628"/>
                  <a:pt x="53999" y="132072"/>
                </a:cubicBezTo>
                <a:cubicBezTo>
                  <a:pt x="55049" y="129517"/>
                  <a:pt x="54481" y="126593"/>
                  <a:pt x="52522" y="124634"/>
                </a:cubicBezTo>
                <a:lnTo>
                  <a:pt x="41166" y="113278"/>
                </a:lnTo>
                <a:lnTo>
                  <a:pt x="63595" y="90849"/>
                </a:lnTo>
                <a:lnTo>
                  <a:pt x="86023" y="113278"/>
                </a:lnTo>
                <a:lnTo>
                  <a:pt x="74667" y="124634"/>
                </a:lnTo>
                <a:cubicBezTo>
                  <a:pt x="72708" y="126593"/>
                  <a:pt x="72140" y="129517"/>
                  <a:pt x="73191" y="132072"/>
                </a:cubicBezTo>
                <a:cubicBezTo>
                  <a:pt x="74241" y="134628"/>
                  <a:pt x="76739" y="136274"/>
                  <a:pt x="79493" y="136274"/>
                </a:cubicBezTo>
                <a:lnTo>
                  <a:pt x="120376" y="136274"/>
                </a:lnTo>
                <a:cubicBezTo>
                  <a:pt x="124151" y="136274"/>
                  <a:pt x="127189" y="133236"/>
                  <a:pt x="127189" y="129461"/>
                </a:cubicBezTo>
                <a:lnTo>
                  <a:pt x="127189" y="88578"/>
                </a:lnTo>
                <a:cubicBezTo>
                  <a:pt x="127189" y="85824"/>
                  <a:pt x="125543" y="83326"/>
                  <a:pt x="122987" y="82276"/>
                </a:cubicBezTo>
                <a:cubicBezTo>
                  <a:pt x="120432" y="81225"/>
                  <a:pt x="117508" y="81793"/>
                  <a:pt x="115549" y="83752"/>
                </a:cubicBezTo>
                <a:lnTo>
                  <a:pt x="104193" y="95108"/>
                </a:lnTo>
                <a:lnTo>
                  <a:pt x="81765" y="72680"/>
                </a:lnTo>
                <a:lnTo>
                  <a:pt x="104193" y="50251"/>
                </a:lnTo>
                <a:lnTo>
                  <a:pt x="115549" y="61607"/>
                </a:lnTo>
                <a:cubicBezTo>
                  <a:pt x="117508" y="63566"/>
                  <a:pt x="120432" y="64134"/>
                  <a:pt x="122987" y="63084"/>
                </a:cubicBezTo>
                <a:cubicBezTo>
                  <a:pt x="125543" y="62033"/>
                  <a:pt x="127189" y="59535"/>
                  <a:pt x="127189" y="56781"/>
                </a:cubicBezTo>
                <a:lnTo>
                  <a:pt x="127189" y="15899"/>
                </a:lnTo>
                <a:cubicBezTo>
                  <a:pt x="127189" y="12123"/>
                  <a:pt x="124151" y="9085"/>
                  <a:pt x="120376" y="9085"/>
                </a:cubicBezTo>
                <a:lnTo>
                  <a:pt x="79493" y="9085"/>
                </a:lnTo>
                <a:cubicBezTo>
                  <a:pt x="76739" y="9085"/>
                  <a:pt x="74241" y="10732"/>
                  <a:pt x="73191" y="13287"/>
                </a:cubicBezTo>
                <a:cubicBezTo>
                  <a:pt x="72140" y="15842"/>
                  <a:pt x="72736" y="18766"/>
                  <a:pt x="74667" y="20725"/>
                </a:cubicBezTo>
                <a:lnTo>
                  <a:pt x="86023" y="32081"/>
                </a:lnTo>
                <a:lnTo>
                  <a:pt x="63595" y="54510"/>
                </a:lnTo>
                <a:lnTo>
                  <a:pt x="41166" y="32081"/>
                </a:lnTo>
                <a:lnTo>
                  <a:pt x="52522" y="20725"/>
                </a:lnTo>
                <a:cubicBezTo>
                  <a:pt x="54481" y="18766"/>
                  <a:pt x="55049" y="15842"/>
                  <a:pt x="53999" y="13287"/>
                </a:cubicBezTo>
                <a:cubicBezTo>
                  <a:pt x="52948" y="10732"/>
                  <a:pt x="50450" y="9085"/>
                  <a:pt x="47696" y="9085"/>
                </a:cubicBezTo>
                <a:close/>
              </a:path>
            </a:pathLst>
          </a:custGeom>
          <a:solidFill>
            <a:srgbClr val="05DF72"/>
          </a:solidFill>
          <a:ln/>
        </p:spPr>
      </p:sp>
      <p:sp>
        <p:nvSpPr>
          <p:cNvPr id="63" name="Text 60"/>
          <p:cNvSpPr/>
          <p:nvPr/>
        </p:nvSpPr>
        <p:spPr>
          <a:xfrm>
            <a:off x="8653734" y="4106396"/>
            <a:ext cx="2955126" cy="218039"/>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145" b="1" dirty="0">
                <a:solidFill>
                  <a:srgbClr val="05DF72"/>
                </a:solidFill>
                <a:latin typeface="Quattrocento Sans" pitchFamily="34" charset="0"/>
                <a:ea typeface="Quattrocento Sans" pitchFamily="34" charset="-122"/>
                <a:cs typeface="Quattrocento Sans" pitchFamily="34" charset="-120"/>
              </a:rPr>
              <a:t>التوسع إلى أسواق جديدة</a:t>
            </a:r>
            <a:endParaRPr xmlns:a="http://schemas.openxmlformats.org/drawingml/2006/main" lang="en-US" sz="1600" dirty="0"/>
          </a:p>
        </p:txBody>
      </p:sp>
      <p:sp>
        <p:nvSpPr>
          <p:cNvPr id="64" name="Text 61"/>
          <p:cNvSpPr/>
          <p:nvPr/>
        </p:nvSpPr>
        <p:spPr>
          <a:xfrm>
            <a:off x="8420043" y="4360775"/>
            <a:ext cx="3179732" cy="181699"/>
          </a:xfrm>
          <a:prstGeom prst="rect">
            <a:avLst/>
          </a:prstGeom>
          <a:noFill/>
          <a:ln/>
        </p:spPr>
        <p:txBody>
          <a:bodyPr wrap="square" lIns="0" tIns="0" rIns="0" bIns="0" rtlCol="0" anchor="ctr"/>
          <a:lstStyle/>
          <a:p>
            <a:pPr xmlns:a="http://schemas.openxmlformats.org/drawingml/2006/main">
              <a:lnSpc>
                <a:spcPct val="120000"/>
              </a:lnSpc>
              <a:bidi/>
            </a:pPr>
            <a:r xmlns:a="http://schemas.openxmlformats.org/drawingml/2006/main">
              <a:rPr lang="ar" sz="1001" dirty="0">
                <a:solidFill>
                  <a:srgbClr val="E6F1FF">
                    <a:alpha val="70000"/>
                  </a:srgbClr>
                </a:solidFill>
                <a:latin typeface="Quattrocento Sans" pitchFamily="34" charset="0"/>
                <a:ea typeface="Quattrocento Sans" pitchFamily="34" charset="-122"/>
                <a:cs typeface="Quattrocento Sans" pitchFamily="34" charset="-120"/>
              </a:rPr>
              <a:t>قم بتوسيع نطاق مسارات المبيعات الناجحة لتشمل طنجة والقنيطرة</a:t>
            </a:r>
            <a:endParaRPr xmlns:a="http://schemas.openxmlformats.org/drawingml/2006/main" lang="en-US" sz="1600" dirty="0"/>
          </a:p>
        </p:txBody>
      </p:sp>
      <p:sp>
        <p:nvSpPr>
          <p:cNvPr id="65" name="Shape 62"/>
          <p:cNvSpPr/>
          <p:nvPr/>
        </p:nvSpPr>
        <p:spPr>
          <a:xfrm>
            <a:off x="8315566" y="4765055"/>
            <a:ext cx="3325091" cy="445162"/>
          </a:xfrm>
          <a:prstGeom prst="roundRect">
            <a:avLst>
              <a:gd name="adj" fmla="val 16327"/>
            </a:avLst>
          </a:prstGeom>
          <a:solidFill>
            <a:srgbClr val="05DF72">
              <a:alpha val="10196"/>
            </a:srgbClr>
          </a:solidFill>
          <a:ln w="12700">
            <a:solidFill>
              <a:srgbClr val="05DF72">
                <a:alpha val="30196"/>
              </a:srgbClr>
            </a:solidFill>
            <a:prstDash val="solid"/>
          </a:ln>
        </p:spPr>
      </p:sp>
      <p:sp>
        <p:nvSpPr>
          <p:cNvPr id="66" name="Text 63"/>
          <p:cNvSpPr/>
          <p:nvPr/>
        </p:nvSpPr>
        <p:spPr>
          <a:xfrm>
            <a:off x="8392788" y="4878617"/>
            <a:ext cx="3170647" cy="218039"/>
          </a:xfrm>
          <a:prstGeom prst="rect">
            <a:avLst/>
          </a:prstGeom>
          <a:noFill/>
          <a:ln/>
        </p:spPr>
        <p:txBody>
          <a:bodyPr wrap="square" lIns="0" tIns="0" rIns="0" bIns="0" rtlCol="0" anchor="ctr"/>
          <a:lstStyle/>
          <a:p>
            <a:pPr xmlns:a="http://schemas.openxmlformats.org/drawingml/2006/main" algn="ctr">
              <a:lnSpc>
                <a:spcPct val="130000"/>
              </a:lnSpc>
              <a:bidi/>
            </a:pPr>
            <a:r xmlns:a="http://schemas.openxmlformats.org/drawingml/2006/main">
              <a:rPr lang="ar" sz="1145" b="1" dirty="0">
                <a:solidFill>
                  <a:srgbClr val="05DF72"/>
                </a:solidFill>
                <a:latin typeface="Quattrocento Sans" pitchFamily="34" charset="0"/>
                <a:ea typeface="Quattrocento Sans" pitchFamily="34" charset="-122"/>
                <a:cs typeface="Quattrocento Sans" pitchFamily="34" charset="-120"/>
              </a:rPr>
              <a:t>الهدف: </a:t>
            </a:r>
            <a:pPr xmlns:a="http://schemas.openxmlformats.org/drawingml/2006/main" algn="ctr">
              <a:lnSpc>
                <a:spcPct val="130000"/>
              </a:lnSpc>
              <a:bidi/>
            </a:pPr>
            <a:r xmlns:a="http://schemas.openxmlformats.org/drawingml/2006/main">
              <a:rPr lang="ar" sz="1145" dirty="0">
                <a:solidFill>
                  <a:srgbClr val="E6F1FF"/>
                </a:solidFill>
                <a:latin typeface="Quattrocento Sans" pitchFamily="34" charset="0"/>
                <a:ea typeface="Quattrocento Sans" pitchFamily="34" charset="-122"/>
                <a:cs typeface="Quattrocento Sans" pitchFamily="34" charset="-120"/>
              </a:rPr>
              <a:t>هامش ربح قبل الفوائد والضرائب والإهلاك والاستهلاك بنسبة 30%</a:t>
            </a:r>
            <a:endParaRPr xmlns:a="http://schemas.openxmlformats.org/drawingml/2006/main" lang="en-US" sz="1600" dirty="0"/>
          </a:p>
        </p:txBody>
      </p:sp>
      <p:sp>
        <p:nvSpPr>
          <p:cNvPr id="67" name="Shape 64"/>
          <p:cNvSpPr/>
          <p:nvPr/>
        </p:nvSpPr>
        <p:spPr>
          <a:xfrm>
            <a:off x="372483" y="5587243"/>
            <a:ext cx="11447034" cy="1262808"/>
          </a:xfrm>
          <a:prstGeom prst="roundRect">
            <a:avLst>
              <a:gd name="adj" fmla="val 8633"/>
            </a:avLst>
          </a:prstGeom>
          <a:gradFill rotWithShape="1" flip="none">
            <a:gsLst>
              <a:gs pos="0">
                <a:srgbClr val="D4AF37">
                  <a:alpha val="30000"/>
                </a:srgbClr>
              </a:gs>
              <a:gs pos="100000">
                <a:srgbClr val="64FFDA">
                  <a:alpha val="30000"/>
                </a:srgbClr>
              </a:gs>
            </a:gsLst>
            <a:lin ang="0" scaled="1"/>
          </a:gradFill>
          <a:ln w="25400">
            <a:solidFill>
              <a:srgbClr val="D4AF37"/>
            </a:solidFill>
            <a:prstDash val="solid"/>
          </a:ln>
        </p:spPr>
      </p:sp>
      <p:sp>
        <p:nvSpPr>
          <p:cNvPr id="68" name="Shape 65"/>
          <p:cNvSpPr/>
          <p:nvPr/>
        </p:nvSpPr>
        <p:spPr>
          <a:xfrm>
            <a:off x="545097" y="6052846"/>
            <a:ext cx="327058" cy="327058"/>
          </a:xfrm>
          <a:custGeom>
            <a:avLst/>
            <a:gdLst/>
            <a:ahLst/>
            <a:cxnLst/>
            <a:rect l="l" t="t" r="r" b="b"/>
            <a:pathLst>
              <a:path w="327058" h="327058">
                <a:moveTo>
                  <a:pt x="92177" y="0"/>
                </a:moveTo>
                <a:lnTo>
                  <a:pt x="235265" y="0"/>
                </a:lnTo>
                <a:cubicBezTo>
                  <a:pt x="252192" y="0"/>
                  <a:pt x="265990" y="13926"/>
                  <a:pt x="265351" y="30789"/>
                </a:cubicBezTo>
                <a:cubicBezTo>
                  <a:pt x="265224" y="34175"/>
                  <a:pt x="265096" y="37561"/>
                  <a:pt x="264904" y="40882"/>
                </a:cubicBezTo>
                <a:lnTo>
                  <a:pt x="296588" y="40882"/>
                </a:lnTo>
                <a:cubicBezTo>
                  <a:pt x="313260" y="40882"/>
                  <a:pt x="327952" y="54680"/>
                  <a:pt x="326675" y="72694"/>
                </a:cubicBezTo>
                <a:cubicBezTo>
                  <a:pt x="321884" y="138936"/>
                  <a:pt x="288028" y="175347"/>
                  <a:pt x="251298" y="194382"/>
                </a:cubicBezTo>
                <a:cubicBezTo>
                  <a:pt x="241205" y="199620"/>
                  <a:pt x="230921" y="203517"/>
                  <a:pt x="221148" y="206392"/>
                </a:cubicBezTo>
                <a:cubicBezTo>
                  <a:pt x="208244" y="224661"/>
                  <a:pt x="194830" y="234306"/>
                  <a:pt x="184162" y="239481"/>
                </a:cubicBezTo>
                <a:lnTo>
                  <a:pt x="184162" y="286176"/>
                </a:lnTo>
                <a:lnTo>
                  <a:pt x="225044" y="286176"/>
                </a:lnTo>
                <a:cubicBezTo>
                  <a:pt x="236351" y="286176"/>
                  <a:pt x="245485" y="295310"/>
                  <a:pt x="245485" y="306617"/>
                </a:cubicBezTo>
                <a:cubicBezTo>
                  <a:pt x="245485" y="317923"/>
                  <a:pt x="236351" y="327058"/>
                  <a:pt x="225044" y="327058"/>
                </a:cubicBezTo>
                <a:lnTo>
                  <a:pt x="102397" y="327058"/>
                </a:lnTo>
                <a:cubicBezTo>
                  <a:pt x="91091" y="327058"/>
                  <a:pt x="81956" y="317923"/>
                  <a:pt x="81956" y="306617"/>
                </a:cubicBezTo>
                <a:cubicBezTo>
                  <a:pt x="81956" y="295310"/>
                  <a:pt x="91091" y="286176"/>
                  <a:pt x="102397" y="286176"/>
                </a:cubicBezTo>
                <a:lnTo>
                  <a:pt x="143280" y="286176"/>
                </a:lnTo>
                <a:lnTo>
                  <a:pt x="143280" y="239481"/>
                </a:lnTo>
                <a:cubicBezTo>
                  <a:pt x="133059" y="234562"/>
                  <a:pt x="120347" y="225427"/>
                  <a:pt x="107955" y="208627"/>
                </a:cubicBezTo>
                <a:cubicBezTo>
                  <a:pt x="96201" y="205561"/>
                  <a:pt x="83425" y="200898"/>
                  <a:pt x="70969" y="193871"/>
                </a:cubicBezTo>
                <a:cubicBezTo>
                  <a:pt x="36411" y="174516"/>
                  <a:pt x="5238" y="138042"/>
                  <a:pt x="767" y="72566"/>
                </a:cubicBezTo>
                <a:cubicBezTo>
                  <a:pt x="-447" y="54616"/>
                  <a:pt x="14181" y="40818"/>
                  <a:pt x="30853" y="40818"/>
                </a:cubicBezTo>
                <a:lnTo>
                  <a:pt x="62537" y="40818"/>
                </a:lnTo>
                <a:cubicBezTo>
                  <a:pt x="62345" y="37497"/>
                  <a:pt x="62218" y="34175"/>
                  <a:pt x="62090" y="30726"/>
                </a:cubicBezTo>
                <a:cubicBezTo>
                  <a:pt x="61451" y="13798"/>
                  <a:pt x="75249" y="-64"/>
                  <a:pt x="92177" y="-64"/>
                </a:cubicBezTo>
                <a:close/>
                <a:moveTo>
                  <a:pt x="64837" y="71544"/>
                </a:moveTo>
                <a:lnTo>
                  <a:pt x="31364" y="71544"/>
                </a:lnTo>
                <a:cubicBezTo>
                  <a:pt x="35325" y="125649"/>
                  <a:pt x="60174" y="152734"/>
                  <a:pt x="85789" y="167106"/>
                </a:cubicBezTo>
                <a:cubicBezTo>
                  <a:pt x="76590" y="143280"/>
                  <a:pt x="68989" y="112171"/>
                  <a:pt x="64837" y="71544"/>
                </a:cubicBezTo>
                <a:close/>
                <a:moveTo>
                  <a:pt x="242738" y="164040"/>
                </a:moveTo>
                <a:cubicBezTo>
                  <a:pt x="268609" y="148837"/>
                  <a:pt x="291989" y="121816"/>
                  <a:pt x="295949" y="71544"/>
                </a:cubicBezTo>
                <a:lnTo>
                  <a:pt x="262541" y="71544"/>
                </a:lnTo>
                <a:cubicBezTo>
                  <a:pt x="258580" y="110446"/>
                  <a:pt x="251426" y="140661"/>
                  <a:pt x="242738" y="164040"/>
                </a:cubicBezTo>
                <a:close/>
              </a:path>
            </a:pathLst>
          </a:custGeom>
          <a:solidFill>
            <a:srgbClr val="D4AF37"/>
          </a:solidFill>
          <a:ln/>
        </p:spPr>
      </p:sp>
      <p:sp>
        <p:nvSpPr>
          <p:cNvPr id="69" name="Text 66"/>
          <p:cNvSpPr/>
          <p:nvPr/>
        </p:nvSpPr>
        <p:spPr>
          <a:xfrm>
            <a:off x="1033200" y="5778027"/>
            <a:ext cx="8612531" cy="290718"/>
          </a:xfrm>
          <a:prstGeom prst="rect">
            <a:avLst/>
          </a:prstGeom>
          <a:noFill/>
          <a:ln/>
        </p:spPr>
        <p:txBody>
          <a:bodyPr wrap="square" lIns="0" tIns="0" rIns="0" bIns="0" rtlCol="0" anchor="ctr"/>
          <a:lstStyle/>
          <a:p>
            <a:pPr xmlns:a="http://schemas.openxmlformats.org/drawingml/2006/main">
              <a:lnSpc>
                <a:spcPct val="110000"/>
              </a:lnSpc>
              <a:bidi/>
            </a:pPr>
            <a:r xmlns:a="http://schemas.openxmlformats.org/drawingml/2006/main">
              <a:rPr lang="ar" sz="1717" b="1" dirty="0">
                <a:solidFill>
                  <a:srgbClr val="E6F1FF"/>
                </a:solidFill>
                <a:latin typeface="Liter" pitchFamily="34" charset="0"/>
                <a:ea typeface="Liter" pitchFamily="34" charset="-122"/>
                <a:cs typeface="Liter" pitchFamily="34" charset="-120"/>
              </a:rPr>
              <a:t>محرك النمو متعدد الزوايا</a:t>
            </a:r>
            <a:endParaRPr xmlns:a="http://schemas.openxmlformats.org/drawingml/2006/main" lang="en-US" sz="1600" dirty="0"/>
          </a:p>
        </p:txBody>
      </p:sp>
      <p:sp>
        <p:nvSpPr>
          <p:cNvPr id="70" name="Text 67"/>
          <p:cNvSpPr/>
          <p:nvPr/>
        </p:nvSpPr>
        <p:spPr>
          <a:xfrm>
            <a:off x="1033200" y="6141425"/>
            <a:ext cx="8585276" cy="517842"/>
          </a:xfrm>
          <a:prstGeom prst="rect">
            <a:avLst/>
          </a:prstGeom>
          <a:noFill/>
          <a:ln/>
        </p:spPr>
        <p:txBody>
          <a:bodyPr wrap="square" lIns="0" tIns="0" rIns="0" bIns="0" rtlCol="0" anchor="ctr"/>
          <a:lstStyle/>
          <a:p>
            <a:pPr xmlns:a="http://schemas.openxmlformats.org/drawingml/2006/main">
              <a:lnSpc>
                <a:spcPct val="130000"/>
              </a:lnSpc>
              <a:bidi/>
            </a:pPr>
            <a:r xmlns:a="http://schemas.openxmlformats.org/drawingml/2006/main">
              <a:rPr lang="ar" sz="1288" dirty="0">
                <a:solidFill>
                  <a:srgbClr val="E6F1FF">
                    <a:alpha val="90000"/>
                  </a:srgbClr>
                </a:solidFill>
                <a:latin typeface="Quattrocento Sans" pitchFamily="34" charset="0"/>
                <a:ea typeface="Quattrocento Sans" pitchFamily="34" charset="-122"/>
                <a:cs typeface="Quattrocento Sans" pitchFamily="34" charset="-120"/>
              </a:rPr>
              <a:t>من خلال تحويل عملية اكتساب العملاء من الإحالات الخارجية (بتكلفة 30%) إلى قنوات التسويق الرقمي الخاصة بك (بتكلفة 15%)، ستحسن هوامش الربح الصافية على الفور بأكثر من </a:t>
            </a:r>
            <a:pPr xmlns:a="http://schemas.openxmlformats.org/drawingml/2006/main">
              <a:lnSpc>
                <a:spcPct val="130000"/>
              </a:lnSpc>
              <a:bidi/>
            </a:pPr>
            <a:r xmlns:a="http://schemas.openxmlformats.org/drawingml/2006/main">
              <a:rPr lang="ar" sz="1431" b="1" dirty="0">
                <a:solidFill>
                  <a:srgbClr val="64FFDA"/>
                </a:solidFill>
                <a:latin typeface="Quattrocento Sans" pitchFamily="34" charset="0"/>
                <a:ea typeface="Quattrocento Sans" pitchFamily="34" charset="-122"/>
                <a:cs typeface="Quattrocento Sans" pitchFamily="34" charset="-120"/>
              </a:rPr>
              <a:t>10 نقاط</a:t>
            </a:r>
            <a:endParaRPr xmlns:a="http://schemas.openxmlformats.org/drawingml/2006/main" lang="en-US" sz="1600" dirty="0"/>
          </a:p>
        </p:txBody>
      </p:sp>
      <p:sp>
        <p:nvSpPr>
          <p:cNvPr id="71" name="Text 68"/>
          <p:cNvSpPr/>
          <p:nvPr/>
        </p:nvSpPr>
        <p:spPr>
          <a:xfrm>
            <a:off x="9679231" y="5834808"/>
            <a:ext cx="1953264" cy="218039"/>
          </a:xfrm>
          <a:prstGeom prst="rect">
            <a:avLst/>
          </a:prstGeom>
          <a:noFill/>
          <a:ln/>
        </p:spPr>
        <p:txBody>
          <a:bodyPr wrap="square" lIns="0" tIns="0" rIns="0" bIns="0" rtlCol="0" anchor="ctr"/>
          <a:lstStyle/>
          <a:p>
            <a:pPr xmlns:a="http://schemas.openxmlformats.org/drawingml/2006/main" algn="r">
              <a:lnSpc>
                <a:spcPct val="130000"/>
              </a:lnSpc>
              <a:bidi/>
            </a:pPr>
            <a:r xmlns:a="http://schemas.openxmlformats.org/drawingml/2006/main">
              <a:rPr lang="ar" sz="1145" dirty="0">
                <a:solidFill>
                  <a:srgbClr val="E6F1FF">
                    <a:alpha val="70000"/>
                  </a:srgbClr>
                </a:solidFill>
                <a:latin typeface="Quattrocento Sans" pitchFamily="34" charset="0"/>
                <a:ea typeface="Quattrocento Sans" pitchFamily="34" charset="-122"/>
                <a:cs typeface="Quattrocento Sans" pitchFamily="34" charset="-120"/>
              </a:rPr>
              <a:t>الأسواق المستهدفة</a:t>
            </a:r>
            <a:endParaRPr xmlns:a="http://schemas.openxmlformats.org/drawingml/2006/main" lang="en-US" sz="1600" dirty="0"/>
          </a:p>
        </p:txBody>
      </p:sp>
      <p:sp>
        <p:nvSpPr>
          <p:cNvPr id="72" name="Text 69"/>
          <p:cNvSpPr/>
          <p:nvPr/>
        </p:nvSpPr>
        <p:spPr>
          <a:xfrm>
            <a:off x="9661061" y="6089186"/>
            <a:ext cx="1971434" cy="254379"/>
          </a:xfrm>
          <a:prstGeom prst="rect">
            <a:avLst/>
          </a:prstGeom>
          <a:noFill/>
          <a:ln/>
        </p:spPr>
        <p:txBody>
          <a:bodyPr wrap="square" lIns="0" tIns="0" rIns="0" bIns="0" rtlCol="0" anchor="ctr"/>
          <a:lstStyle/>
          <a:p>
            <a:pPr xmlns:a="http://schemas.openxmlformats.org/drawingml/2006/main" algn="r">
              <a:lnSpc>
                <a:spcPct val="120000"/>
              </a:lnSpc>
              <a:bidi/>
            </a:pPr>
            <a:r xmlns:a="http://schemas.openxmlformats.org/drawingml/2006/main">
              <a:rPr lang="ar" sz="1431" b="1" dirty="0">
                <a:solidFill>
                  <a:srgbClr val="D4AF37"/>
                </a:solidFill>
                <a:latin typeface="Quattrocento Sans" pitchFamily="34" charset="0"/>
                <a:ea typeface="Quattrocento Sans" pitchFamily="34" charset="-122"/>
                <a:cs typeface="Quattrocento Sans" pitchFamily="34" charset="-120"/>
              </a:rPr>
              <a:t>الدار البيضاء • مراكش</a:t>
            </a:r>
            <a:endParaRPr xmlns:a="http://schemas.openxmlformats.org/drawingml/2006/main" lang="en-US" sz="1600" dirty="0"/>
          </a:p>
        </p:txBody>
      </p:sp>
      <p:sp>
        <p:nvSpPr>
          <p:cNvPr id="73" name="Text 70"/>
          <p:cNvSpPr/>
          <p:nvPr/>
        </p:nvSpPr>
        <p:spPr>
          <a:xfrm>
            <a:off x="9661061" y="6343565"/>
            <a:ext cx="1971434" cy="254379"/>
          </a:xfrm>
          <a:prstGeom prst="rect">
            <a:avLst/>
          </a:prstGeom>
          <a:noFill/>
          <a:ln/>
        </p:spPr>
        <p:txBody>
          <a:bodyPr wrap="square" lIns="0" tIns="0" rIns="0" bIns="0" rtlCol="0" anchor="ctr"/>
          <a:lstStyle/>
          <a:p>
            <a:pPr xmlns:a="http://schemas.openxmlformats.org/drawingml/2006/main" algn="r">
              <a:lnSpc>
                <a:spcPct val="120000"/>
              </a:lnSpc>
              <a:bidi/>
            </a:pPr>
            <a:r xmlns:a="http://schemas.openxmlformats.org/drawingml/2006/main">
              <a:rPr lang="ar" sz="1431" b="1" dirty="0">
                <a:solidFill>
                  <a:srgbClr val="64FFDA"/>
                </a:solidFill>
                <a:latin typeface="Quattrocento Sans" pitchFamily="34" charset="0"/>
                <a:ea typeface="Quattrocento Sans" pitchFamily="34" charset="-122"/>
                <a:cs typeface="Quattrocento Sans" pitchFamily="34" charset="-120"/>
              </a:rPr>
              <a:t>طنجة • القنيطرة</a:t>
            </a:r>
            <a:endParaRPr xmlns:a="http://schemas.openxmlformats.org/drawingml/2006/main"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Multi-Angle Growth Engine</dc:title>
  <dc:subject>The Multi-Angle Growth Engine</dc:subject>
  <dc:creator>Kimi</dc:creator>
  <cp:lastModifiedBy>Kimi</cp:lastModifiedBy>
  <cp:revision>1</cp:revision>
  <dcterms:created xsi:type="dcterms:W3CDTF">2026-04-20T15:51:41Z</dcterms:created>
  <dcterms:modified xsi:type="dcterms:W3CDTF">2026-04-20T15:51:41Z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{"Label":"The Multi-Angle Growth Engine","ContentProducer":"001191110108MACG2KBH8F10000","ProduceID":"19dab8f7-8f62-83dd-8000-0000a78121c4","ReservedCode1":"","ContentPropagator":"001191110108MACG2KBH8F20000","PropagateID":"19dab8f7-8f62-83dd-8000-0000a78121c4","ReservedCode2":""}</vt:lpwstr>
  </property>
</Properties>
</file>