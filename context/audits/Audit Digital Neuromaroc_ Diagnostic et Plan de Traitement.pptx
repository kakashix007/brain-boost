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Liter" charset="-122" pitchFamily="34"/>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2"/>
        </a:solidFill>
      </p:bgPr>
    </p:bg>
    <p:spTree>
      <p:nvGrpSpPr>
        <p:cNvPr id="1" name=""/>
        <p:cNvGrpSpPr/>
        <p:nvPr/>
      </p:nvGrpSpPr>
      <p:grpSpPr>
        <a:xfrm>
          <a:off x="0" y="0"/>
          <a:ext cx="0" cy="0"/>
          <a:chOff x="0" y="0"/>
          <a:chExt cx="0" cy="0"/>
        </a:xfrm>
      </p:grpSpPr>
      <p:pic>
        <p:nvPicPr>
          <p:cNvPr id="2" name="Image 0" descr="https://kimi-web-img.moonshot.cn/img/thumbs.dreamstime.com/88f69ad81c736a2d22baa6a9ffe3ab96321ee266.jpg">    </p:cNvPr>
          <p:cNvPicPr>
            <a:picLocks noChangeAspect="1"/>
          </p:cNvPicPr>
          <p:nvPr/>
        </p:nvPicPr>
        <p:blipFill>
          <a:blip r:embed="rId1">
            <a:alphaModFix amt="30000"/>
          </a:blip>
          <a:srcRect l="0" r="0" t="2830" b="283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3A52">
                  <a:alpha val="95000"/>
                </a:srgbClr>
              </a:gs>
              <a:gs pos="50000">
                <a:srgbClr val="1A3A52">
                  <a:alpha val="90000"/>
                </a:srgbClr>
              </a:gs>
              <a:gs pos="100000">
                <a:srgbClr val="1A3A52">
                  <a:alpha val="85000"/>
                </a:srgbClr>
              </a:gs>
            </a:gsLst>
            <a:lin ang="2700000" scaled="1"/>
          </a:gradFill>
          <a:ln/>
        </p:spPr>
      </p:sp>
      <p:sp>
        <p:nvSpPr>
          <p:cNvPr id="4" name="Shape 1"/>
          <p:cNvSpPr/>
          <p:nvPr/>
        </p:nvSpPr>
        <p:spPr>
          <a:xfrm>
            <a:off x="4973836" y="600075"/>
            <a:ext cx="2247900" cy="504825"/>
          </a:xfrm>
          <a:custGeom>
            <a:avLst/>
            <a:gdLst/>
            <a:ahLst/>
            <a:cxnLst/>
            <a:rect l="l" t="t" r="r" b="b"/>
            <a:pathLst>
              <a:path w="2247900" h="504825">
                <a:moveTo>
                  <a:pt x="252413" y="0"/>
                </a:moveTo>
                <a:lnTo>
                  <a:pt x="1995487" y="0"/>
                </a:lnTo>
                <a:cubicBezTo>
                  <a:pt x="2134798" y="0"/>
                  <a:pt x="2247900" y="113102"/>
                  <a:pt x="2247900" y="252413"/>
                </a:cubicBezTo>
                <a:lnTo>
                  <a:pt x="2247900" y="252413"/>
                </a:lnTo>
                <a:cubicBezTo>
                  <a:pt x="2247900" y="391723"/>
                  <a:pt x="2134798" y="504825"/>
                  <a:pt x="1995487" y="504825"/>
                </a:cubicBezTo>
                <a:lnTo>
                  <a:pt x="252413" y="504825"/>
                </a:lnTo>
                <a:cubicBezTo>
                  <a:pt x="113102" y="504825"/>
                  <a:pt x="0" y="391723"/>
                  <a:pt x="0" y="252413"/>
                </a:cubicBezTo>
                <a:lnTo>
                  <a:pt x="0" y="252413"/>
                </a:lnTo>
                <a:cubicBezTo>
                  <a:pt x="0" y="113102"/>
                  <a:pt x="113102" y="0"/>
                  <a:pt x="252412" y="0"/>
                </a:cubicBezTo>
                <a:close/>
              </a:path>
            </a:pathLst>
          </a:custGeom>
          <a:solidFill>
            <a:srgbClr val="C5A065">
              <a:alpha val="20000"/>
            </a:srgbClr>
          </a:solidFill>
          <a:ln w="12700">
            <a:solidFill>
              <a:srgbClr val="C5A065">
                <a:alpha val="40000"/>
              </a:srgbClr>
            </a:solidFill>
            <a:prstDash val="solid"/>
          </a:ln>
        </p:spPr>
      </p:sp>
      <p:sp>
        <p:nvSpPr>
          <p:cNvPr id="5" name="Text 2"/>
          <p:cNvSpPr/>
          <p:nvPr/>
        </p:nvSpPr>
        <p:spPr>
          <a:xfrm>
            <a:off x="5164336" y="728663"/>
            <a:ext cx="1863328" cy="242888"/>
          </a:xfrm>
          <a:prstGeom prst="rect">
            <a:avLst/>
          </a:prstGeom>
          <a:noFill/>
          <a:ln/>
        </p:spPr>
        <p:txBody>
          <a:bodyPr wrap="square" lIns="0" tIns="0" rIns="0" bIns="0" rtlCol="0" anchor="ctr"/>
          <a:lstStyle/>
          <a:p>
            <a:pPr algn="ctr">
              <a:lnSpc>
                <a:spcPct val="130000"/>
              </a:lnSpc>
            </a:pPr>
            <a:r>
              <a:rPr lang="en-US" sz="1350" b="1" spc="68" kern="0" dirty="0">
                <a:solidFill>
                  <a:srgbClr val="C5A065"/>
                </a:solidFill>
                <a:latin typeface="Liter" pitchFamily="34" charset="0"/>
                <a:ea typeface="Liter" pitchFamily="34" charset="-122"/>
                <a:cs typeface="Liter" pitchFamily="34" charset="-120"/>
              </a:rPr>
              <a:t>AUDIT DIGITAL 2026</a:t>
            </a:r>
            <a:endParaRPr lang="en-US" sz="1600" dirty="0"/>
          </a:p>
        </p:txBody>
      </p:sp>
      <p:sp>
        <p:nvSpPr>
          <p:cNvPr id="6" name="Text 3"/>
          <p:cNvSpPr/>
          <p:nvPr/>
        </p:nvSpPr>
        <p:spPr>
          <a:xfrm>
            <a:off x="4037558" y="1643063"/>
            <a:ext cx="4114800" cy="1714500"/>
          </a:xfrm>
          <a:prstGeom prst="rect">
            <a:avLst/>
          </a:prstGeom>
          <a:noFill/>
          <a:ln/>
        </p:spPr>
        <p:txBody>
          <a:bodyPr wrap="square" lIns="0" tIns="0" rIns="0" bIns="0" rtlCol="0" anchor="ctr"/>
          <a:lstStyle/>
          <a:p>
            <a:pPr algn="ctr">
              <a:lnSpc>
                <a:spcPct val="100000"/>
              </a:lnSpc>
            </a:pPr>
            <a:r>
              <a:rPr lang="en-US" sz="5400" b="1" dirty="0">
                <a:solidFill>
                  <a:srgbClr val="F8F9FA"/>
                </a:solidFill>
                <a:latin typeface="Liter" pitchFamily="34" charset="0"/>
                <a:ea typeface="Liter" pitchFamily="34" charset="-122"/>
                <a:cs typeface="Liter" pitchFamily="34" charset="-120"/>
              </a:rPr>
              <a:t>Audit Digital</a:t>
            </a:r>
            <a:endParaRPr lang="en-US" sz="1600" dirty="0"/>
          </a:p>
          <a:p>
            <a:pPr algn="ctr">
              <a:lnSpc>
                <a:spcPct val="100000"/>
              </a:lnSpc>
            </a:pPr>
            <a:r>
              <a:rPr lang="en-US" sz="5400" b="1" dirty="0">
                <a:solidFill>
                  <a:srgbClr val="F8F9FA"/>
                </a:solidFill>
                <a:latin typeface="Liter" pitchFamily="34" charset="0"/>
                <a:ea typeface="Liter" pitchFamily="34" charset="-122"/>
                <a:cs typeface="Liter" pitchFamily="34" charset="-120"/>
              </a:rPr>
              <a:t>Neuromaroc</a:t>
            </a:r>
            <a:endParaRPr lang="en-US" sz="1600" dirty="0"/>
          </a:p>
        </p:txBody>
      </p:sp>
      <p:sp>
        <p:nvSpPr>
          <p:cNvPr id="7" name="Shape 4"/>
          <p:cNvSpPr/>
          <p:nvPr/>
        </p:nvSpPr>
        <p:spPr>
          <a:xfrm>
            <a:off x="5486400" y="35861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C5A065"/>
          </a:solidFill>
          <a:ln/>
        </p:spPr>
      </p:sp>
      <p:sp>
        <p:nvSpPr>
          <p:cNvPr id="8" name="Text 5"/>
          <p:cNvSpPr/>
          <p:nvPr/>
        </p:nvSpPr>
        <p:spPr>
          <a:xfrm>
            <a:off x="3565847" y="3929063"/>
            <a:ext cx="5057775" cy="381000"/>
          </a:xfrm>
          <a:prstGeom prst="rect">
            <a:avLst/>
          </a:prstGeom>
          <a:noFill/>
          <a:ln/>
        </p:spPr>
        <p:txBody>
          <a:bodyPr wrap="square" lIns="0" tIns="0" rIns="0" bIns="0" rtlCol="0" anchor="ctr"/>
          <a:lstStyle/>
          <a:p>
            <a:pPr algn="ctr">
              <a:lnSpc>
                <a:spcPct val="90000"/>
              </a:lnSpc>
            </a:pPr>
            <a:r>
              <a:rPr lang="en-US" sz="2700" b="1" dirty="0">
                <a:solidFill>
                  <a:srgbClr val="C5A065"/>
                </a:solidFill>
                <a:latin typeface="Liter" pitchFamily="34" charset="0"/>
                <a:ea typeface="Liter" pitchFamily="34" charset="-122"/>
                <a:cs typeface="Liter" pitchFamily="34" charset="-120"/>
              </a:rPr>
              <a:t>Diagnostic et Plan de Traitement</a:t>
            </a:r>
            <a:endParaRPr lang="en-US" sz="1600" dirty="0"/>
          </a:p>
        </p:txBody>
      </p:sp>
      <p:sp>
        <p:nvSpPr>
          <p:cNvPr id="9" name="Text 6"/>
          <p:cNvSpPr/>
          <p:nvPr/>
        </p:nvSpPr>
        <p:spPr>
          <a:xfrm>
            <a:off x="3545458" y="4767263"/>
            <a:ext cx="5105400" cy="619125"/>
          </a:xfrm>
          <a:prstGeom prst="rect">
            <a:avLst/>
          </a:prstGeom>
          <a:noFill/>
          <a:ln/>
        </p:spPr>
        <p:txBody>
          <a:bodyPr wrap="square" lIns="0" tIns="0" rIns="0" bIns="0" rtlCol="0" anchor="ctr"/>
          <a:lstStyle/>
          <a:p>
            <a:pPr algn="ctr">
              <a:lnSpc>
                <a:spcPct val="140000"/>
              </a:lnSpc>
            </a:pPr>
            <a:r>
              <a:rPr lang="en-US" sz="1500" dirty="0">
                <a:solidFill>
                  <a:srgbClr val="F8F9FA">
                    <a:alpha val="80000"/>
                  </a:srgbClr>
                </a:solidFill>
                <a:latin typeface="Liter" pitchFamily="34" charset="0"/>
                <a:ea typeface="Liter" pitchFamily="34" charset="-122"/>
                <a:cs typeface="Liter" pitchFamily="34" charset="-120"/>
              </a:rPr>
              <a:t>Optimisation de l'écosystème d'acquisition et transition vers</a:t>
            </a:r>
            <a:endParaRPr lang="en-US" sz="1600" dirty="0"/>
          </a:p>
          <a:p>
            <a:pPr algn="ctr">
              <a:lnSpc>
                <a:spcPct val="140000"/>
              </a:lnSpc>
            </a:pPr>
            <a:r>
              <a:rPr lang="en-US" sz="1500" dirty="0">
                <a:solidFill>
                  <a:srgbClr val="F8F9FA">
                    <a:alpha val="80000"/>
                  </a:srgbClr>
                </a:solidFill>
                <a:latin typeface="Liter" pitchFamily="34" charset="0"/>
                <a:ea typeface="Liter" pitchFamily="34" charset="-122"/>
                <a:cs typeface="Liter" pitchFamily="34" charset="-120"/>
              </a:rPr>
              <a:t>les services à haute valeur ajoutée</a:t>
            </a:r>
            <a:endParaRPr lang="en-US" sz="1600" dirty="0"/>
          </a:p>
        </p:txBody>
      </p:sp>
      <p:sp>
        <p:nvSpPr>
          <p:cNvPr id="10" name="Shape 7"/>
          <p:cNvSpPr/>
          <p:nvPr/>
        </p:nvSpPr>
        <p:spPr>
          <a:xfrm>
            <a:off x="4304928" y="6034088"/>
            <a:ext cx="166688" cy="190500"/>
          </a:xfrm>
          <a:custGeom>
            <a:avLst/>
            <a:gdLst/>
            <a:ahLst/>
            <a:cxnLst/>
            <a:rect l="l" t="t" r="r" b="b"/>
            <a:pathLst>
              <a:path w="166688" h="190500">
                <a:moveTo>
                  <a:pt x="83344" y="2977"/>
                </a:moveTo>
                <a:cubicBezTo>
                  <a:pt x="58702" y="2977"/>
                  <a:pt x="38695" y="22983"/>
                  <a:pt x="38695" y="47625"/>
                </a:cubicBezTo>
                <a:cubicBezTo>
                  <a:pt x="38695" y="72267"/>
                  <a:pt x="58702" y="92273"/>
                  <a:pt x="83344" y="92273"/>
                </a:cubicBezTo>
                <a:cubicBezTo>
                  <a:pt x="107986" y="92273"/>
                  <a:pt x="127992" y="72267"/>
                  <a:pt x="127992" y="47625"/>
                </a:cubicBezTo>
                <a:cubicBezTo>
                  <a:pt x="127992" y="22983"/>
                  <a:pt x="107986" y="2977"/>
                  <a:pt x="83344" y="2977"/>
                </a:cubicBezTo>
                <a:close/>
                <a:moveTo>
                  <a:pt x="105668" y="119360"/>
                </a:moveTo>
                <a:cubicBezTo>
                  <a:pt x="103659" y="119174"/>
                  <a:pt x="101575" y="119063"/>
                  <a:pt x="99492" y="119063"/>
                </a:cubicBezTo>
                <a:lnTo>
                  <a:pt x="67159" y="119063"/>
                </a:lnTo>
                <a:cubicBezTo>
                  <a:pt x="65075" y="119063"/>
                  <a:pt x="63029" y="119174"/>
                  <a:pt x="60982" y="119360"/>
                </a:cubicBezTo>
                <a:lnTo>
                  <a:pt x="60982" y="144475"/>
                </a:lnTo>
                <a:cubicBezTo>
                  <a:pt x="67121" y="147303"/>
                  <a:pt x="71400" y="153516"/>
                  <a:pt x="71400" y="160697"/>
                </a:cubicBezTo>
                <a:cubicBezTo>
                  <a:pt x="71400" y="170557"/>
                  <a:pt x="63401" y="178557"/>
                  <a:pt x="53541" y="178557"/>
                </a:cubicBezTo>
                <a:cubicBezTo>
                  <a:pt x="43681" y="178557"/>
                  <a:pt x="35682" y="170557"/>
                  <a:pt x="35682" y="160697"/>
                </a:cubicBezTo>
                <a:cubicBezTo>
                  <a:pt x="35682" y="153479"/>
                  <a:pt x="39960" y="147265"/>
                  <a:pt x="46100" y="144475"/>
                </a:cubicBezTo>
                <a:lnTo>
                  <a:pt x="46100" y="122746"/>
                </a:lnTo>
                <a:cubicBezTo>
                  <a:pt x="22696" y="131341"/>
                  <a:pt x="5953" y="153888"/>
                  <a:pt x="5953" y="180305"/>
                </a:cubicBezTo>
                <a:cubicBezTo>
                  <a:pt x="5953" y="185924"/>
                  <a:pt x="10530" y="190500"/>
                  <a:pt x="16148" y="190500"/>
                </a:cubicBezTo>
                <a:lnTo>
                  <a:pt x="150502" y="190500"/>
                </a:lnTo>
                <a:cubicBezTo>
                  <a:pt x="156121" y="190500"/>
                  <a:pt x="160697" y="185924"/>
                  <a:pt x="160697" y="180305"/>
                </a:cubicBezTo>
                <a:cubicBezTo>
                  <a:pt x="160697" y="153888"/>
                  <a:pt x="143954" y="131378"/>
                  <a:pt x="120514" y="122783"/>
                </a:cubicBezTo>
                <a:lnTo>
                  <a:pt x="120514" y="136699"/>
                </a:lnTo>
                <a:cubicBezTo>
                  <a:pt x="129183" y="139750"/>
                  <a:pt x="135396" y="148047"/>
                  <a:pt x="135396" y="157758"/>
                </a:cubicBezTo>
                <a:lnTo>
                  <a:pt x="135396" y="169664"/>
                </a:lnTo>
                <a:cubicBezTo>
                  <a:pt x="135396" y="173757"/>
                  <a:pt x="132048" y="177105"/>
                  <a:pt x="127955" y="177105"/>
                </a:cubicBezTo>
                <a:cubicBezTo>
                  <a:pt x="123862" y="177105"/>
                  <a:pt x="120514" y="173757"/>
                  <a:pt x="120514" y="169664"/>
                </a:cubicBezTo>
                <a:lnTo>
                  <a:pt x="120514" y="157758"/>
                </a:lnTo>
                <a:cubicBezTo>
                  <a:pt x="120514" y="153665"/>
                  <a:pt x="117165" y="150316"/>
                  <a:pt x="113072" y="150316"/>
                </a:cubicBezTo>
                <a:cubicBezTo>
                  <a:pt x="108979" y="150316"/>
                  <a:pt x="105631" y="153665"/>
                  <a:pt x="105631" y="157758"/>
                </a:cubicBezTo>
                <a:lnTo>
                  <a:pt x="105631" y="169664"/>
                </a:lnTo>
                <a:cubicBezTo>
                  <a:pt x="105631" y="173757"/>
                  <a:pt x="102282" y="177105"/>
                  <a:pt x="98189" y="177105"/>
                </a:cubicBezTo>
                <a:cubicBezTo>
                  <a:pt x="94097" y="177105"/>
                  <a:pt x="90748" y="173757"/>
                  <a:pt x="90748" y="169664"/>
                </a:cubicBezTo>
                <a:lnTo>
                  <a:pt x="90748" y="157758"/>
                </a:lnTo>
                <a:cubicBezTo>
                  <a:pt x="90748" y="148047"/>
                  <a:pt x="96962" y="139787"/>
                  <a:pt x="105631" y="136699"/>
                </a:cubicBezTo>
                <a:lnTo>
                  <a:pt x="105631" y="119360"/>
                </a:lnTo>
                <a:close/>
              </a:path>
            </a:pathLst>
          </a:custGeom>
          <a:solidFill>
            <a:srgbClr val="C5A065"/>
          </a:solidFill>
          <a:ln/>
        </p:spPr>
      </p:sp>
      <p:sp>
        <p:nvSpPr>
          <p:cNvPr id="11" name="Text 8"/>
          <p:cNvSpPr/>
          <p:nvPr/>
        </p:nvSpPr>
        <p:spPr>
          <a:xfrm>
            <a:off x="4578772" y="5995988"/>
            <a:ext cx="1790700" cy="266700"/>
          </a:xfrm>
          <a:prstGeom prst="rect">
            <a:avLst/>
          </a:prstGeom>
          <a:noFill/>
          <a:ln/>
        </p:spPr>
        <p:txBody>
          <a:bodyPr wrap="square" lIns="0" tIns="0" rIns="0" bIns="0" rtlCol="0" anchor="ctr"/>
          <a:lstStyle/>
          <a:p>
            <a:pPr algn="ctr">
              <a:lnSpc>
                <a:spcPct val="130000"/>
              </a:lnSpc>
            </a:pPr>
            <a:r>
              <a:rPr lang="en-US" sz="1350" dirty="0">
                <a:solidFill>
                  <a:srgbClr val="F8F9FA">
                    <a:alpha val="70000"/>
                  </a:srgbClr>
                </a:solidFill>
                <a:latin typeface="Liter" pitchFamily="34" charset="0"/>
                <a:ea typeface="Liter" pitchFamily="34" charset="-122"/>
                <a:cs typeface="Liter" pitchFamily="34" charset="-120"/>
              </a:rPr>
              <a:t>Présenté au Dr. Chadia</a:t>
            </a:r>
            <a:endParaRPr lang="en-US" sz="1600" dirty="0"/>
          </a:p>
        </p:txBody>
      </p:sp>
      <p:sp>
        <p:nvSpPr>
          <p:cNvPr id="12" name="Shape 9"/>
          <p:cNvSpPr/>
          <p:nvPr/>
        </p:nvSpPr>
        <p:spPr>
          <a:xfrm>
            <a:off x="6819156" y="6034088"/>
            <a:ext cx="166688" cy="190500"/>
          </a:xfrm>
          <a:custGeom>
            <a:avLst/>
            <a:gdLst/>
            <a:ahLst/>
            <a:cxn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C5A065"/>
          </a:solidFill>
          <a:ln/>
        </p:spPr>
      </p:sp>
      <p:sp>
        <p:nvSpPr>
          <p:cNvPr id="13" name="Text 10"/>
          <p:cNvSpPr/>
          <p:nvPr/>
        </p:nvSpPr>
        <p:spPr>
          <a:xfrm>
            <a:off x="7093000" y="5995988"/>
            <a:ext cx="876300" cy="266700"/>
          </a:xfrm>
          <a:prstGeom prst="rect">
            <a:avLst/>
          </a:prstGeom>
          <a:noFill/>
          <a:ln/>
        </p:spPr>
        <p:txBody>
          <a:bodyPr wrap="square" lIns="0" tIns="0" rIns="0" bIns="0" rtlCol="0" anchor="ctr"/>
          <a:lstStyle/>
          <a:p>
            <a:pPr algn="ctr">
              <a:lnSpc>
                <a:spcPct val="130000"/>
              </a:lnSpc>
            </a:pPr>
            <a:r>
              <a:rPr lang="en-US" sz="1350" dirty="0">
                <a:solidFill>
                  <a:srgbClr val="F8F9FA">
                    <a:alpha val="70000"/>
                  </a:srgbClr>
                </a:solidFill>
                <a:latin typeface="Liter" pitchFamily="34" charset="0"/>
                <a:ea typeface="Liter" pitchFamily="34" charset="-122"/>
                <a:cs typeface="Liter" pitchFamily="34" charset="-120"/>
              </a:rPr>
              <a:t>Avril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C5A065"/>
                </a:solidFill>
                <a:latin typeface="Liter" pitchFamily="34" charset="0"/>
                <a:ea typeface="Liter" pitchFamily="34" charset="-122"/>
                <a:cs typeface="Liter" pitchFamily="34" charset="-120"/>
              </a:rPr>
              <a:t>RÉSUMÉ EXÉCUTIF</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A3A52"/>
                </a:solidFill>
                <a:latin typeface="Liter" pitchFamily="34" charset="0"/>
                <a:ea typeface="Liter" pitchFamily="34" charset="-122"/>
                <a:cs typeface="Liter" pitchFamily="34" charset="-120"/>
              </a:rPr>
              <a:t>Bilan de Santé Digital</a:t>
            </a:r>
            <a:endParaRPr lang="en-US" sz="1600" dirty="0"/>
          </a:p>
        </p:txBody>
      </p:sp>
      <p:sp>
        <p:nvSpPr>
          <p:cNvPr id="4" name="Text 2"/>
          <p:cNvSpPr/>
          <p:nvPr/>
        </p:nvSpPr>
        <p:spPr>
          <a:xfrm>
            <a:off x="381000" y="1181100"/>
            <a:ext cx="11525250" cy="266700"/>
          </a:xfrm>
          <a:prstGeom prst="rect">
            <a:avLst/>
          </a:prstGeom>
          <a:noFill/>
          <a:ln/>
        </p:spPr>
        <p:txBody>
          <a:bodyPr wrap="square" lIns="0" tIns="0" rIns="0" bIns="0" rtlCol="0" anchor="ctr"/>
          <a:lstStyle/>
          <a:p>
            <a:pPr>
              <a:lnSpc>
                <a:spcPct val="120000"/>
              </a:lnSpc>
            </a:pPr>
            <a:r>
              <a:rPr lang="en-US" sz="1500" dirty="0">
                <a:solidFill>
                  <a:srgbClr val="6C757D"/>
                </a:solidFill>
                <a:latin typeface="Liter" pitchFamily="34" charset="0"/>
                <a:ea typeface="Liter" pitchFamily="34" charset="-122"/>
                <a:cs typeface="Liter" pitchFamily="34" charset="-120"/>
              </a:rPr>
              <a:t>Trois piliers du diagnostic digital</a:t>
            </a:r>
            <a:endParaRPr lang="en-US" sz="1600" dirty="0"/>
          </a:p>
        </p:txBody>
      </p:sp>
      <p:sp>
        <p:nvSpPr>
          <p:cNvPr id="5" name="Shape 3"/>
          <p:cNvSpPr/>
          <p:nvPr/>
        </p:nvSpPr>
        <p:spPr>
          <a:xfrm>
            <a:off x="381000" y="1695450"/>
            <a:ext cx="3657600" cy="4095750"/>
          </a:xfrm>
          <a:custGeom>
            <a:avLst/>
            <a:gdLst/>
            <a:ahLst/>
            <a:cxnLst/>
            <a:rect l="l" t="t" r="r" b="b"/>
            <a:pathLst>
              <a:path w="3657600" h="4095750">
                <a:moveTo>
                  <a:pt x="38100" y="0"/>
                </a:moveTo>
                <a:lnTo>
                  <a:pt x="3619500" y="0"/>
                </a:lnTo>
                <a:cubicBezTo>
                  <a:pt x="3640528" y="0"/>
                  <a:pt x="3657600" y="17072"/>
                  <a:pt x="3657600" y="38100"/>
                </a:cubicBezTo>
                <a:lnTo>
                  <a:pt x="3657600" y="3981450"/>
                </a:lnTo>
                <a:cubicBezTo>
                  <a:pt x="3657600" y="4044534"/>
                  <a:pt x="3606384" y="4095750"/>
                  <a:pt x="3543300" y="4095750"/>
                </a:cubicBezTo>
                <a:lnTo>
                  <a:pt x="114300" y="4095750"/>
                </a:lnTo>
                <a:cubicBezTo>
                  <a:pt x="51216" y="4095750"/>
                  <a:pt x="0" y="4044534"/>
                  <a:pt x="0" y="398145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6" name="Shape 4"/>
          <p:cNvSpPr/>
          <p:nvPr/>
        </p:nvSpPr>
        <p:spPr>
          <a:xfrm>
            <a:off x="381000" y="1695450"/>
            <a:ext cx="3657600" cy="38100"/>
          </a:xfrm>
          <a:custGeom>
            <a:avLst/>
            <a:gdLst/>
            <a:ahLst/>
            <a:cxnLst/>
            <a:rect l="l" t="t" r="r" b="b"/>
            <a:pathLst>
              <a:path w="3657600" h="38100">
                <a:moveTo>
                  <a:pt x="38100" y="0"/>
                </a:moveTo>
                <a:lnTo>
                  <a:pt x="3619500" y="0"/>
                </a:lnTo>
                <a:cubicBezTo>
                  <a:pt x="3640528" y="0"/>
                  <a:pt x="3657600" y="17072"/>
                  <a:pt x="3657600" y="38100"/>
                </a:cubicBezTo>
                <a:lnTo>
                  <a:pt x="3657600" y="38100"/>
                </a:lnTo>
                <a:lnTo>
                  <a:pt x="0" y="38100"/>
                </a:lnTo>
                <a:lnTo>
                  <a:pt x="0" y="38100"/>
                </a:lnTo>
                <a:cubicBezTo>
                  <a:pt x="0" y="17072"/>
                  <a:pt x="17072" y="0"/>
                  <a:pt x="38100" y="0"/>
                </a:cubicBezTo>
                <a:close/>
              </a:path>
            </a:pathLst>
          </a:custGeom>
          <a:solidFill>
            <a:srgbClr val="1A3A52"/>
          </a:solidFill>
          <a:ln/>
        </p:spPr>
      </p:sp>
      <p:sp>
        <p:nvSpPr>
          <p:cNvPr id="7" name="Shape 5"/>
          <p:cNvSpPr/>
          <p:nvPr/>
        </p:nvSpPr>
        <p:spPr>
          <a:xfrm>
            <a:off x="609600" y="19431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1A3A52"/>
          </a:solidFill>
          <a:ln/>
        </p:spPr>
      </p:sp>
      <p:sp>
        <p:nvSpPr>
          <p:cNvPr id="8" name="Shape 6"/>
          <p:cNvSpPr/>
          <p:nvPr/>
        </p:nvSpPr>
        <p:spPr>
          <a:xfrm>
            <a:off x="800100" y="2133600"/>
            <a:ext cx="228600" cy="228600"/>
          </a:xfrm>
          <a:custGeom>
            <a:avLst/>
            <a:gdLst/>
            <a:ahLst/>
            <a:cxnLst/>
            <a:rect l="l" t="t" r="r" b="b"/>
            <a:pathLst>
              <a:path w="228600" h="228600">
                <a:moveTo>
                  <a:pt x="114300" y="48176"/>
                </a:moveTo>
                <a:lnTo>
                  <a:pt x="107603" y="38889"/>
                </a:lnTo>
                <a:cubicBezTo>
                  <a:pt x="96441" y="23440"/>
                  <a:pt x="78537" y="14288"/>
                  <a:pt x="59427" y="14288"/>
                </a:cubicBezTo>
                <a:cubicBezTo>
                  <a:pt x="26610" y="14288"/>
                  <a:pt x="0" y="40898"/>
                  <a:pt x="0" y="73715"/>
                </a:cubicBezTo>
                <a:lnTo>
                  <a:pt x="0" y="74875"/>
                </a:lnTo>
                <a:cubicBezTo>
                  <a:pt x="0" y="85412"/>
                  <a:pt x="2768" y="96307"/>
                  <a:pt x="7412" y="107156"/>
                </a:cubicBezTo>
                <a:lnTo>
                  <a:pt x="54739" y="107156"/>
                </a:lnTo>
                <a:cubicBezTo>
                  <a:pt x="56168" y="107156"/>
                  <a:pt x="57463" y="106308"/>
                  <a:pt x="58043" y="104968"/>
                </a:cubicBezTo>
                <a:lnTo>
                  <a:pt x="72241" y="70902"/>
                </a:lnTo>
                <a:cubicBezTo>
                  <a:pt x="73893" y="66973"/>
                  <a:pt x="77733" y="64383"/>
                  <a:pt x="81975" y="64294"/>
                </a:cubicBezTo>
                <a:cubicBezTo>
                  <a:pt x="86216" y="64204"/>
                  <a:pt x="90145" y="66705"/>
                  <a:pt x="91886" y="70589"/>
                </a:cubicBezTo>
                <a:lnTo>
                  <a:pt x="114791" y="121444"/>
                </a:lnTo>
                <a:lnTo>
                  <a:pt x="133276" y="84475"/>
                </a:lnTo>
                <a:cubicBezTo>
                  <a:pt x="135106" y="80858"/>
                  <a:pt x="138812" y="78537"/>
                  <a:pt x="142875" y="78537"/>
                </a:cubicBezTo>
                <a:cubicBezTo>
                  <a:pt x="146938" y="78537"/>
                  <a:pt x="150644" y="80814"/>
                  <a:pt x="152474" y="84475"/>
                </a:cubicBezTo>
                <a:lnTo>
                  <a:pt x="162833" y="105147"/>
                </a:lnTo>
                <a:cubicBezTo>
                  <a:pt x="163458" y="106353"/>
                  <a:pt x="164663" y="107112"/>
                  <a:pt x="166048" y="107112"/>
                </a:cubicBezTo>
                <a:lnTo>
                  <a:pt x="221233" y="107112"/>
                </a:lnTo>
                <a:cubicBezTo>
                  <a:pt x="225921" y="96262"/>
                  <a:pt x="228645" y="85368"/>
                  <a:pt x="228645" y="74831"/>
                </a:cubicBezTo>
                <a:lnTo>
                  <a:pt x="228645" y="73670"/>
                </a:lnTo>
                <a:cubicBezTo>
                  <a:pt x="228600" y="40898"/>
                  <a:pt x="201990" y="14288"/>
                  <a:pt x="169173" y="14288"/>
                </a:cubicBezTo>
                <a:cubicBezTo>
                  <a:pt x="150108" y="14288"/>
                  <a:pt x="132159" y="23440"/>
                  <a:pt x="120997" y="38889"/>
                </a:cubicBezTo>
                <a:lnTo>
                  <a:pt x="114300" y="48131"/>
                </a:lnTo>
                <a:close/>
                <a:moveTo>
                  <a:pt x="209669" y="128588"/>
                </a:moveTo>
                <a:lnTo>
                  <a:pt x="166003" y="128588"/>
                </a:lnTo>
                <a:cubicBezTo>
                  <a:pt x="156537" y="128588"/>
                  <a:pt x="147876" y="123230"/>
                  <a:pt x="143634" y="114746"/>
                </a:cubicBezTo>
                <a:lnTo>
                  <a:pt x="142875" y="113228"/>
                </a:lnTo>
                <a:lnTo>
                  <a:pt x="123899" y="151224"/>
                </a:lnTo>
                <a:cubicBezTo>
                  <a:pt x="122069" y="154930"/>
                  <a:pt x="118229" y="157252"/>
                  <a:pt x="114077" y="157163"/>
                </a:cubicBezTo>
                <a:cubicBezTo>
                  <a:pt x="109924" y="157073"/>
                  <a:pt x="106219" y="154618"/>
                  <a:pt x="104522" y="150867"/>
                </a:cubicBezTo>
                <a:lnTo>
                  <a:pt x="82510" y="101977"/>
                </a:lnTo>
                <a:lnTo>
                  <a:pt x="77822" y="113228"/>
                </a:lnTo>
                <a:cubicBezTo>
                  <a:pt x="73938" y="122560"/>
                  <a:pt x="64830" y="128632"/>
                  <a:pt x="54739" y="128632"/>
                </a:cubicBezTo>
                <a:lnTo>
                  <a:pt x="18931" y="128632"/>
                </a:lnTo>
                <a:cubicBezTo>
                  <a:pt x="40005" y="161583"/>
                  <a:pt x="73849" y="191899"/>
                  <a:pt x="95012" y="208062"/>
                </a:cubicBezTo>
                <a:cubicBezTo>
                  <a:pt x="100548" y="212259"/>
                  <a:pt x="107335" y="214357"/>
                  <a:pt x="114255" y="214357"/>
                </a:cubicBezTo>
                <a:cubicBezTo>
                  <a:pt x="121176" y="214357"/>
                  <a:pt x="128007" y="212303"/>
                  <a:pt x="133499" y="208062"/>
                </a:cubicBezTo>
                <a:cubicBezTo>
                  <a:pt x="154751" y="191854"/>
                  <a:pt x="188595" y="161538"/>
                  <a:pt x="209669" y="128588"/>
                </a:cubicBezTo>
                <a:close/>
              </a:path>
            </a:pathLst>
          </a:custGeom>
          <a:solidFill>
            <a:srgbClr val="F8F9FA"/>
          </a:solidFill>
          <a:ln/>
        </p:spPr>
      </p:sp>
      <p:sp>
        <p:nvSpPr>
          <p:cNvPr id="9" name="Text 7"/>
          <p:cNvSpPr/>
          <p:nvPr/>
        </p:nvSpPr>
        <p:spPr>
          <a:xfrm>
            <a:off x="1371600" y="1981200"/>
            <a:ext cx="2409825" cy="304800"/>
          </a:xfrm>
          <a:prstGeom prst="rect">
            <a:avLst/>
          </a:prstGeom>
          <a:noFill/>
          <a:ln/>
        </p:spPr>
        <p:txBody>
          <a:bodyPr wrap="square" lIns="0" tIns="0" rIns="0" bIns="0" rtlCol="0" anchor="ctr"/>
          <a:lstStyle/>
          <a:p>
            <a:pPr>
              <a:lnSpc>
                <a:spcPct val="110000"/>
              </a:lnSpc>
            </a:pPr>
            <a:r>
              <a:rPr lang="en-US" sz="1800" b="1" dirty="0">
                <a:solidFill>
                  <a:srgbClr val="1A3A52"/>
                </a:solidFill>
                <a:latin typeface="Liter" pitchFamily="34" charset="0"/>
                <a:ea typeface="Liter" pitchFamily="34" charset="-122"/>
                <a:cs typeface="Liter" pitchFamily="34" charset="-120"/>
              </a:rPr>
              <a:t>Les Constantes Vitales</a:t>
            </a:r>
            <a:endParaRPr lang="en-US" sz="1600" dirty="0"/>
          </a:p>
        </p:txBody>
      </p:sp>
      <p:sp>
        <p:nvSpPr>
          <p:cNvPr id="10" name="Text 8"/>
          <p:cNvSpPr/>
          <p:nvPr/>
        </p:nvSpPr>
        <p:spPr>
          <a:xfrm>
            <a:off x="1371600" y="2286000"/>
            <a:ext cx="2371725" cy="228600"/>
          </a:xfrm>
          <a:prstGeom prst="rect">
            <a:avLst/>
          </a:prstGeom>
          <a:noFill/>
          <a:ln/>
        </p:spPr>
        <p:txBody>
          <a:bodyPr wrap="square" lIns="0" tIns="0" rIns="0" bIns="0" rtlCol="0" anchor="ctr"/>
          <a:lstStyle/>
          <a:p>
            <a:pPr>
              <a:lnSpc>
                <a:spcPct val="130000"/>
              </a:lnSpc>
            </a:pPr>
            <a:r>
              <a:rPr lang="en-US" sz="1200" b="1" dirty="0">
                <a:solidFill>
                  <a:srgbClr val="C5A065"/>
                </a:solidFill>
                <a:latin typeface="Liter" pitchFamily="34" charset="0"/>
                <a:ea typeface="Liter" pitchFamily="34" charset="-122"/>
                <a:cs typeface="Liter" pitchFamily="34" charset="-120"/>
              </a:rPr>
              <a:t>Situation Actuelle</a:t>
            </a:r>
            <a:endParaRPr lang="en-US" sz="1600" dirty="0"/>
          </a:p>
        </p:txBody>
      </p:sp>
      <p:sp>
        <p:nvSpPr>
          <p:cNvPr id="11" name="Text 9"/>
          <p:cNvSpPr/>
          <p:nvPr/>
        </p:nvSpPr>
        <p:spPr>
          <a:xfrm>
            <a:off x="609600" y="2705100"/>
            <a:ext cx="3276600" cy="1866900"/>
          </a:xfrm>
          <a:prstGeom prst="rect">
            <a:avLst/>
          </a:prstGeom>
          <a:noFill/>
          <a:ln/>
        </p:spPr>
        <p:txBody>
          <a:bodyPr wrap="square" lIns="0" tIns="0" rIns="0" bIns="0" rtlCol="0" anchor="ctr"/>
          <a:lstStyle/>
          <a:p>
            <a:pPr>
              <a:lnSpc>
                <a:spcPct val="140000"/>
              </a:lnSpc>
            </a:pPr>
            <a:r>
              <a:rPr lang="en-US" sz="1200" b="1" dirty="0">
                <a:solidFill>
                  <a:srgbClr val="212529"/>
                </a:solidFill>
                <a:latin typeface="Liter" pitchFamily="34" charset="0"/>
                <a:ea typeface="Liter" pitchFamily="34" charset="-122"/>
                <a:cs typeface="Liter" pitchFamily="34" charset="-120"/>
              </a:rPr>
              <a:t>Une fondation numérique solide.</a:t>
            </a:r>
            <a:pPr>
              <a:lnSpc>
                <a:spcPct val="140000"/>
              </a:lnSpc>
            </a:pPr>
            <a:r>
              <a:rPr lang="en-US" sz="1200" dirty="0">
                <a:solidFill>
                  <a:srgbClr val="212529"/>
                </a:solidFill>
                <a:latin typeface="Liter" pitchFamily="34" charset="0"/>
                <a:ea typeface="Liter" pitchFamily="34" charset="-122"/>
                <a:cs typeface="Liter" pitchFamily="34" charset="-120"/>
              </a:rPr>
              <a:t> Le site web présente d'excellentes bases techniques avec un score SEO global de 80/100 et une forte autorité locale établie.</a:t>
            </a:r>
            <a:endParaRPr lang="en-US" sz="1600" dirty="0"/>
          </a:p>
        </p:txBody>
      </p:sp>
      <p:sp>
        <p:nvSpPr>
          <p:cNvPr id="12" name="Shape 10"/>
          <p:cNvSpPr/>
          <p:nvPr/>
        </p:nvSpPr>
        <p:spPr>
          <a:xfrm>
            <a:off x="628650" y="47625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C950"/>
          </a:solidFill>
          <a:ln/>
        </p:spPr>
      </p:sp>
      <p:sp>
        <p:nvSpPr>
          <p:cNvPr id="13" name="Text 11"/>
          <p:cNvSpPr/>
          <p:nvPr/>
        </p:nvSpPr>
        <p:spPr>
          <a:xfrm>
            <a:off x="876300" y="4724400"/>
            <a:ext cx="2019300"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Structure technique optimale</a:t>
            </a:r>
            <a:endParaRPr lang="en-US" sz="1600" dirty="0"/>
          </a:p>
        </p:txBody>
      </p:sp>
      <p:sp>
        <p:nvSpPr>
          <p:cNvPr id="14" name="Shape 12"/>
          <p:cNvSpPr/>
          <p:nvPr/>
        </p:nvSpPr>
        <p:spPr>
          <a:xfrm>
            <a:off x="628650" y="50673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C950"/>
          </a:solidFill>
          <a:ln/>
        </p:spPr>
      </p:sp>
      <p:sp>
        <p:nvSpPr>
          <p:cNvPr id="15" name="Text 13"/>
          <p:cNvSpPr/>
          <p:nvPr/>
        </p:nvSpPr>
        <p:spPr>
          <a:xfrm>
            <a:off x="876300" y="5029200"/>
            <a:ext cx="2343150"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Bonne compréhension par Google</a:t>
            </a:r>
            <a:endParaRPr lang="en-US" sz="1600" dirty="0"/>
          </a:p>
        </p:txBody>
      </p:sp>
      <p:sp>
        <p:nvSpPr>
          <p:cNvPr id="16" name="Shape 14"/>
          <p:cNvSpPr/>
          <p:nvPr/>
        </p:nvSpPr>
        <p:spPr>
          <a:xfrm>
            <a:off x="628650" y="53721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0C950"/>
          </a:solidFill>
          <a:ln/>
        </p:spPr>
      </p:sp>
      <p:sp>
        <p:nvSpPr>
          <p:cNvPr id="17" name="Text 15"/>
          <p:cNvSpPr/>
          <p:nvPr/>
        </p:nvSpPr>
        <p:spPr>
          <a:xfrm>
            <a:off x="876300" y="5334000"/>
            <a:ext cx="1762125"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Autorité locale confirmée</a:t>
            </a:r>
            <a:endParaRPr lang="en-US" sz="1600" dirty="0"/>
          </a:p>
        </p:txBody>
      </p:sp>
      <p:sp>
        <p:nvSpPr>
          <p:cNvPr id="18" name="Shape 16"/>
          <p:cNvSpPr/>
          <p:nvPr/>
        </p:nvSpPr>
        <p:spPr>
          <a:xfrm>
            <a:off x="4267200" y="1695450"/>
            <a:ext cx="3657600" cy="4095750"/>
          </a:xfrm>
          <a:custGeom>
            <a:avLst/>
            <a:gdLst/>
            <a:ahLst/>
            <a:cxnLst/>
            <a:rect l="l" t="t" r="r" b="b"/>
            <a:pathLst>
              <a:path w="3657600" h="4095750">
                <a:moveTo>
                  <a:pt x="38100" y="0"/>
                </a:moveTo>
                <a:lnTo>
                  <a:pt x="3619500" y="0"/>
                </a:lnTo>
                <a:cubicBezTo>
                  <a:pt x="3640528" y="0"/>
                  <a:pt x="3657600" y="17072"/>
                  <a:pt x="3657600" y="38100"/>
                </a:cubicBezTo>
                <a:lnTo>
                  <a:pt x="3657600" y="3981450"/>
                </a:lnTo>
                <a:cubicBezTo>
                  <a:pt x="3657600" y="4044534"/>
                  <a:pt x="3606384" y="4095750"/>
                  <a:pt x="3543300" y="4095750"/>
                </a:cubicBezTo>
                <a:lnTo>
                  <a:pt x="114300" y="4095750"/>
                </a:lnTo>
                <a:cubicBezTo>
                  <a:pt x="51216" y="4095750"/>
                  <a:pt x="0" y="4044534"/>
                  <a:pt x="0" y="398145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19" name="Shape 17"/>
          <p:cNvSpPr/>
          <p:nvPr/>
        </p:nvSpPr>
        <p:spPr>
          <a:xfrm>
            <a:off x="4267200" y="1695450"/>
            <a:ext cx="3657600" cy="38100"/>
          </a:xfrm>
          <a:custGeom>
            <a:avLst/>
            <a:gdLst/>
            <a:ahLst/>
            <a:cxnLst/>
            <a:rect l="l" t="t" r="r" b="b"/>
            <a:pathLst>
              <a:path w="3657600" h="38100">
                <a:moveTo>
                  <a:pt x="38100" y="0"/>
                </a:moveTo>
                <a:lnTo>
                  <a:pt x="3619500" y="0"/>
                </a:lnTo>
                <a:cubicBezTo>
                  <a:pt x="3640528" y="0"/>
                  <a:pt x="3657600" y="17072"/>
                  <a:pt x="3657600" y="38100"/>
                </a:cubicBezTo>
                <a:lnTo>
                  <a:pt x="3657600" y="38100"/>
                </a:lnTo>
                <a:lnTo>
                  <a:pt x="0" y="38100"/>
                </a:lnTo>
                <a:lnTo>
                  <a:pt x="0" y="38100"/>
                </a:lnTo>
                <a:cubicBezTo>
                  <a:pt x="0" y="17072"/>
                  <a:pt x="17072" y="0"/>
                  <a:pt x="38100" y="0"/>
                </a:cubicBezTo>
                <a:close/>
              </a:path>
            </a:pathLst>
          </a:custGeom>
          <a:solidFill>
            <a:srgbClr val="C5A065"/>
          </a:solidFill>
          <a:ln/>
        </p:spPr>
      </p:sp>
      <p:sp>
        <p:nvSpPr>
          <p:cNvPr id="20" name="Shape 18"/>
          <p:cNvSpPr/>
          <p:nvPr/>
        </p:nvSpPr>
        <p:spPr>
          <a:xfrm>
            <a:off x="4495800" y="20574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5A065"/>
          </a:solidFill>
          <a:ln/>
        </p:spPr>
      </p:sp>
      <p:sp>
        <p:nvSpPr>
          <p:cNvPr id="21" name="Shape 19"/>
          <p:cNvSpPr/>
          <p:nvPr/>
        </p:nvSpPr>
        <p:spPr>
          <a:xfrm>
            <a:off x="4686300" y="2247900"/>
            <a:ext cx="228600" cy="228600"/>
          </a:xfrm>
          <a:custGeom>
            <a:avLst/>
            <a:gdLst/>
            <a:ahLst/>
            <a:cxnLst/>
            <a:rect l="l" t="t" r="r" b="b"/>
            <a:pathLst>
              <a:path w="228600" h="228600">
                <a:moveTo>
                  <a:pt x="114300" y="0"/>
                </a:moveTo>
                <a:cubicBezTo>
                  <a:pt x="120863" y="0"/>
                  <a:pt x="126891" y="3617"/>
                  <a:pt x="130016" y="9376"/>
                </a:cubicBezTo>
                <a:lnTo>
                  <a:pt x="226457" y="187970"/>
                </a:lnTo>
                <a:cubicBezTo>
                  <a:pt x="229448" y="193506"/>
                  <a:pt x="229314" y="200204"/>
                  <a:pt x="226100" y="205606"/>
                </a:cubicBezTo>
                <a:cubicBezTo>
                  <a:pt x="222885" y="211009"/>
                  <a:pt x="217036" y="214313"/>
                  <a:pt x="210741" y="214313"/>
                </a:cubicBezTo>
                <a:lnTo>
                  <a:pt x="17859" y="214313"/>
                </a:lnTo>
                <a:cubicBezTo>
                  <a:pt x="11564" y="214313"/>
                  <a:pt x="5760" y="211009"/>
                  <a:pt x="2500" y="205606"/>
                </a:cubicBezTo>
                <a:cubicBezTo>
                  <a:pt x="-759" y="200204"/>
                  <a:pt x="-848" y="193506"/>
                  <a:pt x="2143" y="187970"/>
                </a:cubicBezTo>
                <a:lnTo>
                  <a:pt x="98584" y="9376"/>
                </a:lnTo>
                <a:cubicBezTo>
                  <a:pt x="101709" y="3617"/>
                  <a:pt x="107737" y="0"/>
                  <a:pt x="114300" y="0"/>
                </a:cubicBezTo>
                <a:close/>
                <a:moveTo>
                  <a:pt x="114300" y="75009"/>
                </a:moveTo>
                <a:cubicBezTo>
                  <a:pt x="108362" y="75009"/>
                  <a:pt x="103584" y="79787"/>
                  <a:pt x="103584" y="85725"/>
                </a:cubicBezTo>
                <a:lnTo>
                  <a:pt x="103584" y="135731"/>
                </a:lnTo>
                <a:cubicBezTo>
                  <a:pt x="103584" y="141669"/>
                  <a:pt x="108362" y="146447"/>
                  <a:pt x="114300" y="146447"/>
                </a:cubicBezTo>
                <a:cubicBezTo>
                  <a:pt x="120238" y="146447"/>
                  <a:pt x="125016" y="141669"/>
                  <a:pt x="125016" y="135731"/>
                </a:cubicBezTo>
                <a:lnTo>
                  <a:pt x="125016" y="85725"/>
                </a:lnTo>
                <a:cubicBezTo>
                  <a:pt x="125016" y="79787"/>
                  <a:pt x="120238" y="75009"/>
                  <a:pt x="114300" y="75009"/>
                </a:cubicBezTo>
                <a:close/>
                <a:moveTo>
                  <a:pt x="126221" y="171450"/>
                </a:moveTo>
                <a:cubicBezTo>
                  <a:pt x="126492" y="167025"/>
                  <a:pt x="124286" y="162815"/>
                  <a:pt x="120492" y="160521"/>
                </a:cubicBezTo>
                <a:cubicBezTo>
                  <a:pt x="116699" y="158226"/>
                  <a:pt x="111946" y="158226"/>
                  <a:pt x="108152" y="160521"/>
                </a:cubicBezTo>
                <a:cubicBezTo>
                  <a:pt x="104359" y="162815"/>
                  <a:pt x="102152" y="167025"/>
                  <a:pt x="102424" y="171450"/>
                </a:cubicBezTo>
                <a:cubicBezTo>
                  <a:pt x="102152" y="175875"/>
                  <a:pt x="104359" y="180085"/>
                  <a:pt x="108152" y="182379"/>
                </a:cubicBezTo>
                <a:cubicBezTo>
                  <a:pt x="111946" y="184674"/>
                  <a:pt x="116699" y="184674"/>
                  <a:pt x="120492" y="182379"/>
                </a:cubicBezTo>
                <a:cubicBezTo>
                  <a:pt x="124286" y="180085"/>
                  <a:pt x="126492" y="175875"/>
                  <a:pt x="126221" y="171450"/>
                </a:cubicBezTo>
                <a:close/>
              </a:path>
            </a:pathLst>
          </a:custGeom>
          <a:solidFill>
            <a:srgbClr val="FFFFFF"/>
          </a:solidFill>
          <a:ln/>
        </p:spPr>
      </p:sp>
      <p:sp>
        <p:nvSpPr>
          <p:cNvPr id="22" name="Text 20"/>
          <p:cNvSpPr/>
          <p:nvPr/>
        </p:nvSpPr>
        <p:spPr>
          <a:xfrm>
            <a:off x="5257800" y="1943100"/>
            <a:ext cx="2552700" cy="609600"/>
          </a:xfrm>
          <a:prstGeom prst="rect">
            <a:avLst/>
          </a:prstGeom>
          <a:noFill/>
          <a:ln/>
        </p:spPr>
        <p:txBody>
          <a:bodyPr wrap="square" lIns="0" tIns="0" rIns="0" bIns="0" rtlCol="0" anchor="ctr"/>
          <a:lstStyle/>
          <a:p>
            <a:pPr>
              <a:lnSpc>
                <a:spcPct val="110000"/>
              </a:lnSpc>
            </a:pPr>
            <a:r>
              <a:rPr lang="en-US" sz="1800" b="1" dirty="0">
                <a:solidFill>
                  <a:srgbClr val="1A3A52"/>
                </a:solidFill>
                <a:latin typeface="Liter" pitchFamily="34" charset="0"/>
                <a:ea typeface="Liter" pitchFamily="34" charset="-122"/>
                <a:cs typeface="Liter" pitchFamily="34" charset="-120"/>
              </a:rPr>
              <a:t>Les Pathologies Invisibles</a:t>
            </a:r>
            <a:endParaRPr lang="en-US" sz="1600" dirty="0"/>
          </a:p>
        </p:txBody>
      </p:sp>
      <p:sp>
        <p:nvSpPr>
          <p:cNvPr id="23" name="Text 21"/>
          <p:cNvSpPr/>
          <p:nvPr/>
        </p:nvSpPr>
        <p:spPr>
          <a:xfrm>
            <a:off x="5257800" y="2552700"/>
            <a:ext cx="2514600" cy="228600"/>
          </a:xfrm>
          <a:prstGeom prst="rect">
            <a:avLst/>
          </a:prstGeom>
          <a:noFill/>
          <a:ln/>
        </p:spPr>
        <p:txBody>
          <a:bodyPr wrap="square" lIns="0" tIns="0" rIns="0" bIns="0" rtlCol="0" anchor="ctr"/>
          <a:lstStyle/>
          <a:p>
            <a:pPr>
              <a:lnSpc>
                <a:spcPct val="130000"/>
              </a:lnSpc>
            </a:pPr>
            <a:r>
              <a:rPr lang="en-US" sz="1200" b="1" dirty="0">
                <a:solidFill>
                  <a:srgbClr val="C5A065"/>
                </a:solidFill>
                <a:latin typeface="Liter" pitchFamily="34" charset="0"/>
                <a:ea typeface="Liter" pitchFamily="34" charset="-122"/>
                <a:cs typeface="Liter" pitchFamily="34" charset="-120"/>
              </a:rPr>
              <a:t>Complications</a:t>
            </a:r>
            <a:endParaRPr lang="en-US" sz="1600" dirty="0"/>
          </a:p>
        </p:txBody>
      </p:sp>
      <p:sp>
        <p:nvSpPr>
          <p:cNvPr id="24" name="Text 22"/>
          <p:cNvSpPr/>
          <p:nvPr/>
        </p:nvSpPr>
        <p:spPr>
          <a:xfrm>
            <a:off x="4495800" y="2933700"/>
            <a:ext cx="3276600" cy="1638300"/>
          </a:xfrm>
          <a:prstGeom prst="rect">
            <a:avLst/>
          </a:prstGeom>
          <a:noFill/>
          <a:ln/>
        </p:spPr>
        <p:txBody>
          <a:bodyPr wrap="square" lIns="0" tIns="0" rIns="0" bIns="0" rtlCol="0" anchor="ctr"/>
          <a:lstStyle/>
          <a:p>
            <a:pPr>
              <a:lnSpc>
                <a:spcPct val="140000"/>
              </a:lnSpc>
            </a:pPr>
            <a:r>
              <a:rPr lang="en-US" sz="1200" b="1" dirty="0">
                <a:solidFill>
                  <a:srgbClr val="212529"/>
                </a:solidFill>
                <a:latin typeface="Liter" pitchFamily="34" charset="0"/>
                <a:ea typeface="Liter" pitchFamily="34" charset="-122"/>
                <a:cs typeface="Liter" pitchFamily="34" charset="-120"/>
              </a:rPr>
              <a:t>Des fuites techniques silencieuses.</a:t>
            </a:r>
            <a:pPr>
              <a:lnSpc>
                <a:spcPct val="140000"/>
              </a:lnSpc>
            </a:pPr>
            <a:r>
              <a:rPr lang="en-US" sz="1200" dirty="0">
                <a:solidFill>
                  <a:srgbClr val="212529"/>
                </a:solidFill>
                <a:latin typeface="Liter" pitchFamily="34" charset="0"/>
                <a:ea typeface="Liter" pitchFamily="34" charset="-122"/>
                <a:cs typeface="Liter" pitchFamily="34" charset="-120"/>
              </a:rPr>
              <a:t> Lenteurs (LCP 3.13s), failles de sécurité DNS (SPF manquant), et angles morts SEO freinent silencieusement l'acquisition de nouveaux patients.</a:t>
            </a:r>
            <a:endParaRPr lang="en-US" sz="1600" dirty="0"/>
          </a:p>
        </p:txBody>
      </p:sp>
      <p:sp>
        <p:nvSpPr>
          <p:cNvPr id="25" name="Shape 23"/>
          <p:cNvSpPr/>
          <p:nvPr/>
        </p:nvSpPr>
        <p:spPr>
          <a:xfrm>
            <a:off x="4514850" y="47625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FB2C36"/>
          </a:solidFill>
          <a:ln/>
        </p:spPr>
      </p:sp>
      <p:sp>
        <p:nvSpPr>
          <p:cNvPr id="26" name="Text 24"/>
          <p:cNvSpPr/>
          <p:nvPr/>
        </p:nvSpPr>
        <p:spPr>
          <a:xfrm>
            <a:off x="4762500" y="4724400"/>
            <a:ext cx="2124075"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Temps de chargement critique</a:t>
            </a:r>
            <a:endParaRPr lang="en-US" sz="1600" dirty="0"/>
          </a:p>
        </p:txBody>
      </p:sp>
      <p:sp>
        <p:nvSpPr>
          <p:cNvPr id="27" name="Shape 25"/>
          <p:cNvSpPr/>
          <p:nvPr/>
        </p:nvSpPr>
        <p:spPr>
          <a:xfrm>
            <a:off x="4514850" y="50673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FB2C36"/>
          </a:solidFill>
          <a:ln/>
        </p:spPr>
      </p:sp>
      <p:sp>
        <p:nvSpPr>
          <p:cNvPr id="28" name="Text 26"/>
          <p:cNvSpPr/>
          <p:nvPr/>
        </p:nvSpPr>
        <p:spPr>
          <a:xfrm>
            <a:off x="4762500" y="5029200"/>
            <a:ext cx="1743075"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Vulnérabilité email/spam</a:t>
            </a:r>
            <a:endParaRPr lang="en-US" sz="1600" dirty="0"/>
          </a:p>
        </p:txBody>
      </p:sp>
      <p:sp>
        <p:nvSpPr>
          <p:cNvPr id="29" name="Shape 27"/>
          <p:cNvSpPr/>
          <p:nvPr/>
        </p:nvSpPr>
        <p:spPr>
          <a:xfrm>
            <a:off x="4514850" y="53721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FB2C36"/>
          </a:solidFill>
          <a:ln/>
        </p:spPr>
      </p:sp>
      <p:sp>
        <p:nvSpPr>
          <p:cNvPr id="30" name="Text 28"/>
          <p:cNvSpPr/>
          <p:nvPr/>
        </p:nvSpPr>
        <p:spPr>
          <a:xfrm>
            <a:off x="4762500" y="5334000"/>
            <a:ext cx="2028825"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Positions SEO faibles régions</a:t>
            </a:r>
            <a:endParaRPr lang="en-US" sz="1600" dirty="0"/>
          </a:p>
        </p:txBody>
      </p:sp>
      <p:sp>
        <p:nvSpPr>
          <p:cNvPr id="31" name="Shape 29"/>
          <p:cNvSpPr/>
          <p:nvPr/>
        </p:nvSpPr>
        <p:spPr>
          <a:xfrm>
            <a:off x="8153400" y="1695450"/>
            <a:ext cx="3657600" cy="4095750"/>
          </a:xfrm>
          <a:custGeom>
            <a:avLst/>
            <a:gdLst/>
            <a:ahLst/>
            <a:cxnLst/>
            <a:rect l="l" t="t" r="r" b="b"/>
            <a:pathLst>
              <a:path w="3657600" h="4095750">
                <a:moveTo>
                  <a:pt x="38100" y="0"/>
                </a:moveTo>
                <a:lnTo>
                  <a:pt x="3619500" y="0"/>
                </a:lnTo>
                <a:cubicBezTo>
                  <a:pt x="3640528" y="0"/>
                  <a:pt x="3657600" y="17072"/>
                  <a:pt x="3657600" y="38100"/>
                </a:cubicBezTo>
                <a:lnTo>
                  <a:pt x="3657600" y="3981450"/>
                </a:lnTo>
                <a:cubicBezTo>
                  <a:pt x="3657600" y="4044534"/>
                  <a:pt x="3606384" y="4095750"/>
                  <a:pt x="3543300" y="4095750"/>
                </a:cubicBezTo>
                <a:lnTo>
                  <a:pt x="114300" y="4095750"/>
                </a:lnTo>
                <a:cubicBezTo>
                  <a:pt x="51216" y="4095750"/>
                  <a:pt x="0" y="4044534"/>
                  <a:pt x="0" y="398145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32" name="Shape 30"/>
          <p:cNvSpPr/>
          <p:nvPr/>
        </p:nvSpPr>
        <p:spPr>
          <a:xfrm>
            <a:off x="8153400" y="1695450"/>
            <a:ext cx="3657600" cy="38100"/>
          </a:xfrm>
          <a:custGeom>
            <a:avLst/>
            <a:gdLst/>
            <a:ahLst/>
            <a:cxnLst/>
            <a:rect l="l" t="t" r="r" b="b"/>
            <a:pathLst>
              <a:path w="3657600" h="38100">
                <a:moveTo>
                  <a:pt x="38100" y="0"/>
                </a:moveTo>
                <a:lnTo>
                  <a:pt x="3619500" y="0"/>
                </a:lnTo>
                <a:cubicBezTo>
                  <a:pt x="3640528" y="0"/>
                  <a:pt x="3657600" y="17072"/>
                  <a:pt x="3657600" y="38100"/>
                </a:cubicBezTo>
                <a:lnTo>
                  <a:pt x="3657600" y="38100"/>
                </a:lnTo>
                <a:lnTo>
                  <a:pt x="0" y="38100"/>
                </a:lnTo>
                <a:lnTo>
                  <a:pt x="0" y="38100"/>
                </a:lnTo>
                <a:cubicBezTo>
                  <a:pt x="0" y="17072"/>
                  <a:pt x="17072" y="0"/>
                  <a:pt x="38100" y="0"/>
                </a:cubicBezTo>
                <a:close/>
              </a:path>
            </a:pathLst>
          </a:custGeom>
          <a:solidFill>
            <a:srgbClr val="00A63E"/>
          </a:solidFill>
          <a:ln/>
        </p:spPr>
      </p:sp>
      <p:sp>
        <p:nvSpPr>
          <p:cNvPr id="33" name="Shape 31"/>
          <p:cNvSpPr/>
          <p:nvPr/>
        </p:nvSpPr>
        <p:spPr>
          <a:xfrm>
            <a:off x="8382000" y="20574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00A63E"/>
          </a:solidFill>
          <a:ln/>
        </p:spPr>
      </p:sp>
      <p:sp>
        <p:nvSpPr>
          <p:cNvPr id="34" name="Shape 32"/>
          <p:cNvSpPr/>
          <p:nvPr/>
        </p:nvSpPr>
        <p:spPr>
          <a:xfrm>
            <a:off x="8601075" y="2247900"/>
            <a:ext cx="171450" cy="228600"/>
          </a:xfrm>
          <a:custGeom>
            <a:avLst/>
            <a:gdLst/>
            <a:ahLst/>
            <a:cxnLst/>
            <a:rect l="l" t="t" r="r" b="b"/>
            <a:pathLst>
              <a:path w="171450" h="228600">
                <a:moveTo>
                  <a:pt x="139035" y="14288"/>
                </a:moveTo>
                <a:lnTo>
                  <a:pt x="142875" y="14288"/>
                </a:lnTo>
                <a:cubicBezTo>
                  <a:pt x="158636" y="14288"/>
                  <a:pt x="171450" y="27102"/>
                  <a:pt x="171450" y="42863"/>
                </a:cubicBezTo>
                <a:lnTo>
                  <a:pt x="171450" y="200025"/>
                </a:lnTo>
                <a:cubicBezTo>
                  <a:pt x="171450" y="215786"/>
                  <a:pt x="158636" y="228600"/>
                  <a:pt x="142875" y="228600"/>
                </a:cubicBezTo>
                <a:lnTo>
                  <a:pt x="28575" y="228600"/>
                </a:lnTo>
                <a:cubicBezTo>
                  <a:pt x="12814" y="228600"/>
                  <a:pt x="0" y="215786"/>
                  <a:pt x="0" y="200025"/>
                </a:cubicBezTo>
                <a:lnTo>
                  <a:pt x="0" y="42863"/>
                </a:lnTo>
                <a:cubicBezTo>
                  <a:pt x="0" y="27102"/>
                  <a:pt x="12814" y="14288"/>
                  <a:pt x="28575" y="14288"/>
                </a:cubicBezTo>
                <a:lnTo>
                  <a:pt x="32415" y="14288"/>
                </a:lnTo>
                <a:cubicBezTo>
                  <a:pt x="37326" y="5760"/>
                  <a:pt x="46568" y="0"/>
                  <a:pt x="57150" y="0"/>
                </a:cubicBezTo>
                <a:lnTo>
                  <a:pt x="114300" y="0"/>
                </a:lnTo>
                <a:cubicBezTo>
                  <a:pt x="124882" y="0"/>
                  <a:pt x="134124" y="5760"/>
                  <a:pt x="139035" y="14288"/>
                </a:cubicBezTo>
                <a:close/>
                <a:moveTo>
                  <a:pt x="110728" y="50006"/>
                </a:moveTo>
                <a:cubicBezTo>
                  <a:pt x="116666" y="50006"/>
                  <a:pt x="121444" y="45229"/>
                  <a:pt x="121444" y="39291"/>
                </a:cubicBezTo>
                <a:cubicBezTo>
                  <a:pt x="121444" y="33352"/>
                  <a:pt x="116666" y="28575"/>
                  <a:pt x="110728" y="28575"/>
                </a:cubicBezTo>
                <a:lnTo>
                  <a:pt x="60722" y="28575"/>
                </a:lnTo>
                <a:cubicBezTo>
                  <a:pt x="54784" y="28575"/>
                  <a:pt x="50006" y="33352"/>
                  <a:pt x="50006" y="39291"/>
                </a:cubicBezTo>
                <a:cubicBezTo>
                  <a:pt x="50006" y="45229"/>
                  <a:pt x="54784" y="50006"/>
                  <a:pt x="60722" y="50006"/>
                </a:cubicBezTo>
                <a:lnTo>
                  <a:pt x="110728" y="50006"/>
                </a:lnTo>
                <a:close/>
                <a:moveTo>
                  <a:pt x="123408" y="116398"/>
                </a:moveTo>
                <a:cubicBezTo>
                  <a:pt x="126534" y="111398"/>
                  <a:pt x="125016" y="104790"/>
                  <a:pt x="120015" y="101620"/>
                </a:cubicBezTo>
                <a:cubicBezTo>
                  <a:pt x="115014" y="98450"/>
                  <a:pt x="108406" y="100013"/>
                  <a:pt x="105236" y="105013"/>
                </a:cubicBezTo>
                <a:lnTo>
                  <a:pt x="77822" y="148903"/>
                </a:lnTo>
                <a:lnTo>
                  <a:pt x="65767" y="132829"/>
                </a:lnTo>
                <a:cubicBezTo>
                  <a:pt x="62195" y="128096"/>
                  <a:pt x="55498" y="127114"/>
                  <a:pt x="50765" y="130686"/>
                </a:cubicBezTo>
                <a:cubicBezTo>
                  <a:pt x="46033" y="134258"/>
                  <a:pt x="45050" y="140955"/>
                  <a:pt x="48622" y="145688"/>
                </a:cubicBezTo>
                <a:lnTo>
                  <a:pt x="70053" y="174263"/>
                </a:lnTo>
                <a:cubicBezTo>
                  <a:pt x="72152" y="177076"/>
                  <a:pt x="75545" y="178683"/>
                  <a:pt x="79072" y="178549"/>
                </a:cubicBezTo>
                <a:cubicBezTo>
                  <a:pt x="82600" y="178415"/>
                  <a:pt x="85814" y="176540"/>
                  <a:pt x="87690" y="173504"/>
                </a:cubicBezTo>
                <a:lnTo>
                  <a:pt x="123408" y="116354"/>
                </a:lnTo>
                <a:close/>
              </a:path>
            </a:pathLst>
          </a:custGeom>
          <a:solidFill>
            <a:srgbClr val="FFFFFF"/>
          </a:solidFill>
          <a:ln/>
        </p:spPr>
      </p:sp>
      <p:sp>
        <p:nvSpPr>
          <p:cNvPr id="35" name="Text 33"/>
          <p:cNvSpPr/>
          <p:nvPr/>
        </p:nvSpPr>
        <p:spPr>
          <a:xfrm>
            <a:off x="9144000" y="1943100"/>
            <a:ext cx="2552700" cy="609600"/>
          </a:xfrm>
          <a:prstGeom prst="rect">
            <a:avLst/>
          </a:prstGeom>
          <a:noFill/>
          <a:ln/>
        </p:spPr>
        <p:txBody>
          <a:bodyPr wrap="square" lIns="0" tIns="0" rIns="0" bIns="0" rtlCol="0" anchor="ctr"/>
          <a:lstStyle/>
          <a:p>
            <a:pPr>
              <a:lnSpc>
                <a:spcPct val="110000"/>
              </a:lnSpc>
            </a:pPr>
            <a:r>
              <a:rPr lang="en-US" sz="1800" b="1" dirty="0">
                <a:solidFill>
                  <a:srgbClr val="1A3A52"/>
                </a:solidFill>
                <a:latin typeface="Liter" pitchFamily="34" charset="0"/>
                <a:ea typeface="Liter" pitchFamily="34" charset="-122"/>
                <a:cs typeface="Liter" pitchFamily="34" charset="-120"/>
              </a:rPr>
              <a:t>Le Protocole de Traitement</a:t>
            </a:r>
            <a:endParaRPr lang="en-US" sz="1600" dirty="0"/>
          </a:p>
        </p:txBody>
      </p:sp>
      <p:sp>
        <p:nvSpPr>
          <p:cNvPr id="36" name="Text 34"/>
          <p:cNvSpPr/>
          <p:nvPr/>
        </p:nvSpPr>
        <p:spPr>
          <a:xfrm>
            <a:off x="9144000" y="2552700"/>
            <a:ext cx="2514600" cy="228600"/>
          </a:xfrm>
          <a:prstGeom prst="rect">
            <a:avLst/>
          </a:prstGeom>
          <a:noFill/>
          <a:ln/>
        </p:spPr>
        <p:txBody>
          <a:bodyPr wrap="square" lIns="0" tIns="0" rIns="0" bIns="0" rtlCol="0" anchor="ctr"/>
          <a:lstStyle/>
          <a:p>
            <a:pPr>
              <a:lnSpc>
                <a:spcPct val="130000"/>
              </a:lnSpc>
            </a:pPr>
            <a:r>
              <a:rPr lang="en-US" sz="1200" b="1" dirty="0">
                <a:solidFill>
                  <a:srgbClr val="C5A065"/>
                </a:solidFill>
                <a:latin typeface="Liter" pitchFamily="34" charset="0"/>
                <a:ea typeface="Liter" pitchFamily="34" charset="-122"/>
                <a:cs typeface="Liter" pitchFamily="34" charset="-120"/>
              </a:rPr>
              <a:t>Résolution</a:t>
            </a:r>
            <a:endParaRPr lang="en-US" sz="1600" dirty="0"/>
          </a:p>
        </p:txBody>
      </p:sp>
      <p:sp>
        <p:nvSpPr>
          <p:cNvPr id="37" name="Text 35"/>
          <p:cNvSpPr/>
          <p:nvPr/>
        </p:nvSpPr>
        <p:spPr>
          <a:xfrm>
            <a:off x="8382000" y="2933700"/>
            <a:ext cx="3276600" cy="1638300"/>
          </a:xfrm>
          <a:prstGeom prst="rect">
            <a:avLst/>
          </a:prstGeom>
          <a:noFill/>
          <a:ln/>
        </p:spPr>
        <p:txBody>
          <a:bodyPr wrap="square" lIns="0" tIns="0" rIns="0" bIns="0" rtlCol="0" anchor="ctr"/>
          <a:lstStyle/>
          <a:p>
            <a:pPr>
              <a:lnSpc>
                <a:spcPct val="140000"/>
              </a:lnSpc>
            </a:pPr>
            <a:r>
              <a:rPr lang="en-US" sz="1200" b="1" dirty="0">
                <a:solidFill>
                  <a:srgbClr val="212529"/>
                </a:solidFill>
                <a:latin typeface="Liter" pitchFamily="34" charset="0"/>
                <a:ea typeface="Liter" pitchFamily="34" charset="-122"/>
                <a:cs typeface="Liter" pitchFamily="34" charset="-120"/>
              </a:rPr>
              <a:t>Un plan d'action ciblé.</a:t>
            </a:r>
            <a:pPr>
              <a:lnSpc>
                <a:spcPct val="140000"/>
              </a:lnSpc>
            </a:pPr>
            <a:r>
              <a:rPr lang="en-US" sz="1200" dirty="0">
                <a:solidFill>
                  <a:srgbClr val="212529"/>
                </a:solidFill>
                <a:latin typeface="Liter" pitchFamily="34" charset="0"/>
                <a:ea typeface="Liter" pitchFamily="34" charset="-122"/>
                <a:cs typeface="Liter" pitchFamily="34" charset="-120"/>
              </a:rPr>
              <a:t> Colmater les fuites techniques et réorienter le budget publicitaire vers le service de diagnostic à forte marge (qEEG Brain Mapping à 300$).</a:t>
            </a:r>
            <a:endParaRPr lang="en-US" sz="1600" dirty="0"/>
          </a:p>
        </p:txBody>
      </p:sp>
      <p:sp>
        <p:nvSpPr>
          <p:cNvPr id="38" name="Shape 36"/>
          <p:cNvSpPr/>
          <p:nvPr/>
        </p:nvSpPr>
        <p:spPr>
          <a:xfrm>
            <a:off x="8401050" y="4762500"/>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5A065"/>
          </a:solidFill>
          <a:ln/>
        </p:spPr>
      </p:sp>
      <p:sp>
        <p:nvSpPr>
          <p:cNvPr id="39" name="Text 37"/>
          <p:cNvSpPr/>
          <p:nvPr/>
        </p:nvSpPr>
        <p:spPr>
          <a:xfrm>
            <a:off x="8648700" y="4724400"/>
            <a:ext cx="2076450"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Correction infrastructure DNS</a:t>
            </a:r>
            <a:endParaRPr lang="en-US" sz="1600" dirty="0"/>
          </a:p>
        </p:txBody>
      </p:sp>
      <p:sp>
        <p:nvSpPr>
          <p:cNvPr id="40" name="Shape 38"/>
          <p:cNvSpPr/>
          <p:nvPr/>
        </p:nvSpPr>
        <p:spPr>
          <a:xfrm>
            <a:off x="8401050" y="5067300"/>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5A065"/>
          </a:solidFill>
          <a:ln/>
        </p:spPr>
      </p:sp>
      <p:sp>
        <p:nvSpPr>
          <p:cNvPr id="41" name="Text 39"/>
          <p:cNvSpPr/>
          <p:nvPr/>
        </p:nvSpPr>
        <p:spPr>
          <a:xfrm>
            <a:off x="8648700" y="5029200"/>
            <a:ext cx="2105025"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Optimisation performance site</a:t>
            </a:r>
            <a:endParaRPr lang="en-US" sz="1600" dirty="0"/>
          </a:p>
        </p:txBody>
      </p:sp>
      <p:sp>
        <p:nvSpPr>
          <p:cNvPr id="42" name="Shape 40"/>
          <p:cNvSpPr/>
          <p:nvPr/>
        </p:nvSpPr>
        <p:spPr>
          <a:xfrm>
            <a:off x="8401050" y="5372100"/>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5A065"/>
          </a:solidFill>
          <a:ln/>
        </p:spPr>
      </p:sp>
      <p:sp>
        <p:nvSpPr>
          <p:cNvPr id="43" name="Text 41"/>
          <p:cNvSpPr/>
          <p:nvPr/>
        </p:nvSpPr>
        <p:spPr>
          <a:xfrm>
            <a:off x="8648700" y="5334000"/>
            <a:ext cx="1657350" cy="228600"/>
          </a:xfrm>
          <a:prstGeom prst="rect">
            <a:avLst/>
          </a:prstGeom>
          <a:noFill/>
          <a:ln/>
        </p:spPr>
        <p:txBody>
          <a:bodyPr wrap="square" lIns="0" tIns="0" rIns="0" bIns="0" rtlCol="0" anchor="ctr"/>
          <a:lstStyle/>
          <a:p>
            <a:pPr>
              <a:lnSpc>
                <a:spcPct val="130000"/>
              </a:lnSpc>
            </a:pPr>
            <a:r>
              <a:rPr lang="en-US" sz="1200" dirty="0">
                <a:solidFill>
                  <a:srgbClr val="212529"/>
                </a:solidFill>
                <a:latin typeface="Liter" pitchFamily="34" charset="0"/>
                <a:ea typeface="Liter" pitchFamily="34" charset="-122"/>
                <a:cs typeface="Liter" pitchFamily="34" charset="-120"/>
              </a:rPr>
              <a:t>Focus acquisition qEEG</a:t>
            </a:r>
            <a:endParaRPr lang="en-US" sz="1600" dirty="0"/>
          </a:p>
        </p:txBody>
      </p:sp>
      <p:sp>
        <p:nvSpPr>
          <p:cNvPr id="44" name="Shape 42"/>
          <p:cNvSpPr/>
          <p:nvPr/>
        </p:nvSpPr>
        <p:spPr>
          <a:xfrm>
            <a:off x="381000" y="5943600"/>
            <a:ext cx="11430000" cy="533400"/>
          </a:xfrm>
          <a:custGeom>
            <a:avLst/>
            <a:gdLst/>
            <a:ahLst/>
            <a:cxnLst/>
            <a:rect l="l" t="t" r="r" b="b"/>
            <a:pathLst>
              <a:path w="11430000" h="533400">
                <a:moveTo>
                  <a:pt x="76202" y="0"/>
                </a:moveTo>
                <a:lnTo>
                  <a:pt x="11353798" y="0"/>
                </a:lnTo>
                <a:cubicBezTo>
                  <a:pt x="11395883" y="0"/>
                  <a:pt x="11430000" y="34117"/>
                  <a:pt x="11430000" y="76202"/>
                </a:cubicBezTo>
                <a:lnTo>
                  <a:pt x="11430000" y="457198"/>
                </a:lnTo>
                <a:cubicBezTo>
                  <a:pt x="11430000" y="499283"/>
                  <a:pt x="11395883" y="533400"/>
                  <a:pt x="11353798" y="533400"/>
                </a:cubicBezTo>
                <a:lnTo>
                  <a:pt x="76202" y="533400"/>
                </a:lnTo>
                <a:cubicBezTo>
                  <a:pt x="34117" y="533400"/>
                  <a:pt x="0" y="499283"/>
                  <a:pt x="0" y="457198"/>
                </a:cubicBezTo>
                <a:lnTo>
                  <a:pt x="0" y="76202"/>
                </a:lnTo>
                <a:cubicBezTo>
                  <a:pt x="0" y="34145"/>
                  <a:pt x="34145" y="0"/>
                  <a:pt x="76202" y="0"/>
                </a:cubicBezTo>
                <a:close/>
              </a:path>
            </a:pathLst>
          </a:custGeom>
          <a:solidFill>
            <a:srgbClr val="1A3A52">
              <a:alpha val="5098"/>
            </a:srgbClr>
          </a:solidFill>
          <a:ln/>
        </p:spPr>
      </p:sp>
      <p:sp>
        <p:nvSpPr>
          <p:cNvPr id="45" name="Shape 43"/>
          <p:cNvSpPr/>
          <p:nvPr/>
        </p:nvSpPr>
        <p:spPr>
          <a:xfrm>
            <a:off x="590550" y="6096000"/>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C5A065"/>
          </a:solidFill>
          <a:ln/>
        </p:spPr>
      </p:sp>
      <p:sp>
        <p:nvSpPr>
          <p:cNvPr id="46" name="Text 44"/>
          <p:cNvSpPr/>
          <p:nvPr/>
        </p:nvSpPr>
        <p:spPr>
          <a:xfrm>
            <a:off x="971550" y="6096000"/>
            <a:ext cx="5372100" cy="228600"/>
          </a:xfrm>
          <a:prstGeom prst="rect">
            <a:avLst/>
          </a:prstGeom>
          <a:noFill/>
          <a:ln/>
        </p:spPr>
        <p:txBody>
          <a:bodyPr wrap="square" lIns="0" tIns="0" rIns="0" bIns="0" rtlCol="0" anchor="ctr"/>
          <a:lstStyle/>
          <a:p>
            <a:pPr>
              <a:lnSpc>
                <a:spcPct val="130000"/>
              </a:lnSpc>
            </a:pPr>
            <a:r>
              <a:rPr lang="en-US" sz="1200" b="1" dirty="0">
                <a:solidFill>
                  <a:srgbClr val="212529"/>
                </a:solidFill>
                <a:latin typeface="Liter" pitchFamily="34" charset="0"/>
                <a:ea typeface="Liter" pitchFamily="34" charset="-122"/>
                <a:cs typeface="Liter" pitchFamily="34" charset="-120"/>
              </a:rPr>
              <a:t>Insight clé:</a:t>
            </a:r>
            <a:pPr>
              <a:lnSpc>
                <a:spcPct val="130000"/>
              </a:lnSpc>
            </a:pPr>
            <a:r>
              <a:rPr lang="en-US" sz="1200" dirty="0">
                <a:solidFill>
                  <a:srgbClr val="212529"/>
                </a:solidFill>
                <a:latin typeface="Liter" pitchFamily="34" charset="0"/>
                <a:ea typeface="Liter" pitchFamily="34" charset="-122"/>
                <a:cs typeface="Liter" pitchFamily="34" charset="-120"/>
              </a:rPr>
              <a:t> 77% des patients recherchent en ligne avant de prendre rendez-vous</a:t>
            </a:r>
            <a:endParaRPr lang="en-US" sz="1600" dirty="0"/>
          </a:p>
        </p:txBody>
      </p:sp>
      <p:sp>
        <p:nvSpPr>
          <p:cNvPr id="47" name="Text 45"/>
          <p:cNvSpPr/>
          <p:nvPr/>
        </p:nvSpPr>
        <p:spPr>
          <a:xfrm>
            <a:off x="8748043" y="6115050"/>
            <a:ext cx="2914650" cy="190500"/>
          </a:xfrm>
          <a:prstGeom prst="rect">
            <a:avLst/>
          </a:prstGeom>
          <a:noFill/>
          <a:ln/>
        </p:spPr>
        <p:txBody>
          <a:bodyPr wrap="square" lIns="0" tIns="0" rIns="0" bIns="0" rtlCol="0" anchor="ctr"/>
          <a:lstStyle/>
          <a:p>
            <a:pPr algn="r">
              <a:lnSpc>
                <a:spcPct val="120000"/>
              </a:lnSpc>
            </a:pPr>
            <a:r>
              <a:rPr lang="en-US" sz="1050" dirty="0">
                <a:solidFill>
                  <a:srgbClr val="6C757D"/>
                </a:solidFill>
                <a:latin typeface="Liter" pitchFamily="34" charset="0"/>
                <a:ea typeface="Liter" pitchFamily="34" charset="-122"/>
                <a:cs typeface="Liter" pitchFamily="34" charset="-120"/>
              </a:rPr>
              <a:t>Source: Healthcare Marketing Benchmarks 2025</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A52"/>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C5A065"/>
                </a:solidFill>
                <a:latin typeface="Liter" pitchFamily="34" charset="0"/>
                <a:ea typeface="Liter" pitchFamily="34" charset="-122"/>
                <a:cs typeface="Liter" pitchFamily="34" charset="-120"/>
              </a:rPr>
              <a:t>PHASE 1: DIAGNOSTIC</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F8F9FA"/>
                </a:solidFill>
                <a:latin typeface="Liter" pitchFamily="34" charset="0"/>
                <a:ea typeface="Liter" pitchFamily="34" charset="-122"/>
                <a:cs typeface="Liter" pitchFamily="34" charset="-120"/>
              </a:rPr>
              <a:t>Les Constantes Vitales du Système</a:t>
            </a:r>
            <a:endParaRPr lang="en-US" sz="1600" dirty="0"/>
          </a:p>
        </p:txBody>
      </p:sp>
      <p:sp>
        <p:nvSpPr>
          <p:cNvPr id="4" name="Text 2"/>
          <p:cNvSpPr/>
          <p:nvPr/>
        </p:nvSpPr>
        <p:spPr>
          <a:xfrm>
            <a:off x="381000" y="1104900"/>
            <a:ext cx="11515725" cy="266700"/>
          </a:xfrm>
          <a:prstGeom prst="rect">
            <a:avLst/>
          </a:prstGeom>
          <a:noFill/>
          <a:ln/>
        </p:spPr>
        <p:txBody>
          <a:bodyPr wrap="square" lIns="0" tIns="0" rIns="0" bIns="0" rtlCol="0" anchor="ctr"/>
          <a:lstStyle/>
          <a:p>
            <a:pPr>
              <a:lnSpc>
                <a:spcPct val="130000"/>
              </a:lnSpc>
            </a:pPr>
            <a:r>
              <a:rPr lang="en-US" sz="1350" dirty="0">
                <a:solidFill>
                  <a:srgbClr val="F8F9FA">
                    <a:alpha val="70000"/>
                  </a:srgbClr>
                </a:solidFill>
                <a:latin typeface="Liter" pitchFamily="34" charset="0"/>
                <a:ea typeface="Liter" pitchFamily="34" charset="-122"/>
                <a:cs typeface="Liter" pitchFamily="34" charset="-120"/>
              </a:rPr>
              <a:t>Une base saine qui ne demande qu'à être optimisée</a:t>
            </a:r>
            <a:endParaRPr lang="en-US" sz="1600" dirty="0"/>
          </a:p>
        </p:txBody>
      </p:sp>
      <p:sp>
        <p:nvSpPr>
          <p:cNvPr id="5" name="Shape 3"/>
          <p:cNvSpPr/>
          <p:nvPr/>
        </p:nvSpPr>
        <p:spPr>
          <a:xfrm>
            <a:off x="385763" y="1528763"/>
            <a:ext cx="3314700" cy="2543175"/>
          </a:xfrm>
          <a:custGeom>
            <a:avLst/>
            <a:gdLst/>
            <a:ahLst/>
            <a:cxnLst/>
            <a:rect l="l" t="t" r="r" b="b"/>
            <a:pathLst>
              <a:path w="3314700" h="2543175">
                <a:moveTo>
                  <a:pt x="114290" y="0"/>
                </a:moveTo>
                <a:lnTo>
                  <a:pt x="3200410" y="0"/>
                </a:lnTo>
                <a:cubicBezTo>
                  <a:pt x="3263530" y="0"/>
                  <a:pt x="3314700" y="51170"/>
                  <a:pt x="3314700" y="114290"/>
                </a:cubicBezTo>
                <a:lnTo>
                  <a:pt x="3314700" y="2428885"/>
                </a:lnTo>
                <a:cubicBezTo>
                  <a:pt x="3314700" y="2492005"/>
                  <a:pt x="3263530" y="2543175"/>
                  <a:pt x="3200410" y="2543175"/>
                </a:cubicBezTo>
                <a:lnTo>
                  <a:pt x="114290" y="2543175"/>
                </a:lnTo>
                <a:cubicBezTo>
                  <a:pt x="51170" y="2543175"/>
                  <a:pt x="0" y="2492005"/>
                  <a:pt x="0" y="2428885"/>
                </a:cubicBezTo>
                <a:lnTo>
                  <a:pt x="0" y="114290"/>
                </a:lnTo>
                <a:cubicBezTo>
                  <a:pt x="0" y="51212"/>
                  <a:pt x="51212" y="0"/>
                  <a:pt x="114290" y="0"/>
                </a:cubicBezTo>
                <a:close/>
              </a:path>
            </a:pathLst>
          </a:custGeom>
          <a:solidFill>
            <a:srgbClr val="FFFFFF">
              <a:alpha val="10196"/>
            </a:srgbClr>
          </a:solidFill>
          <a:ln w="12700">
            <a:solidFill>
              <a:srgbClr val="FFFFFF">
                <a:alpha val="20000"/>
              </a:srgbClr>
            </a:solidFill>
            <a:prstDash val="solid"/>
          </a:ln>
        </p:spPr>
      </p:sp>
      <p:sp>
        <p:nvSpPr>
          <p:cNvPr id="6" name="Text 4"/>
          <p:cNvSpPr/>
          <p:nvPr/>
        </p:nvSpPr>
        <p:spPr>
          <a:xfrm>
            <a:off x="581025" y="1857375"/>
            <a:ext cx="157162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Score SEO Global</a:t>
            </a:r>
            <a:endParaRPr lang="en-US" sz="1600" dirty="0"/>
          </a:p>
        </p:txBody>
      </p:sp>
      <p:sp>
        <p:nvSpPr>
          <p:cNvPr id="7" name="Shape 5"/>
          <p:cNvSpPr/>
          <p:nvPr/>
        </p:nvSpPr>
        <p:spPr>
          <a:xfrm>
            <a:off x="2988915" y="1743075"/>
            <a:ext cx="495300" cy="495300"/>
          </a:xfrm>
          <a:custGeom>
            <a:avLst/>
            <a:gdLst/>
            <a:ahLst/>
            <a:cxnLst/>
            <a:rect l="l" t="t" r="r" b="b"/>
            <a:pathLst>
              <a:path w="495300" h="495300">
                <a:moveTo>
                  <a:pt x="247650" y="0"/>
                </a:moveTo>
                <a:lnTo>
                  <a:pt x="247650" y="0"/>
                </a:lnTo>
                <a:cubicBezTo>
                  <a:pt x="384332" y="0"/>
                  <a:pt x="495300" y="110968"/>
                  <a:pt x="495300" y="247650"/>
                </a:cubicBezTo>
                <a:lnTo>
                  <a:pt x="495300" y="247650"/>
                </a:lnTo>
                <a:cubicBezTo>
                  <a:pt x="495300" y="384332"/>
                  <a:pt x="384332" y="495300"/>
                  <a:pt x="247650" y="495300"/>
                </a:cubicBezTo>
                <a:lnTo>
                  <a:pt x="247650" y="495300"/>
                </a:lnTo>
                <a:cubicBezTo>
                  <a:pt x="110968" y="495300"/>
                  <a:pt x="0" y="384332"/>
                  <a:pt x="0" y="247650"/>
                </a:cubicBezTo>
                <a:lnTo>
                  <a:pt x="0" y="247650"/>
                </a:lnTo>
                <a:cubicBezTo>
                  <a:pt x="0" y="110968"/>
                  <a:pt x="110968" y="0"/>
                  <a:pt x="247650" y="0"/>
                </a:cubicBezTo>
                <a:close/>
              </a:path>
            </a:pathLst>
          </a:custGeom>
          <a:solidFill>
            <a:srgbClr val="00C950">
              <a:alpha val="20000"/>
            </a:srgbClr>
          </a:solidFill>
          <a:ln w="50800">
            <a:solidFill>
              <a:srgbClr val="00C950"/>
            </a:solidFill>
            <a:prstDash val="solid"/>
          </a:ln>
        </p:spPr>
      </p:sp>
      <p:sp>
        <p:nvSpPr>
          <p:cNvPr id="8" name="Text 6"/>
          <p:cNvSpPr/>
          <p:nvPr/>
        </p:nvSpPr>
        <p:spPr>
          <a:xfrm>
            <a:off x="3093393" y="1838325"/>
            <a:ext cx="400050" cy="304800"/>
          </a:xfrm>
          <a:prstGeom prst="rect">
            <a:avLst/>
          </a:prstGeom>
          <a:noFill/>
          <a:ln/>
        </p:spPr>
        <p:txBody>
          <a:bodyPr wrap="square" lIns="0" tIns="0" rIns="0" bIns="0" rtlCol="0" anchor="ctr"/>
          <a:lstStyle/>
          <a:p>
            <a:pPr>
              <a:lnSpc>
                <a:spcPct val="110000"/>
              </a:lnSpc>
            </a:pPr>
            <a:r>
              <a:rPr lang="en-US" sz="1800" b="1" dirty="0">
                <a:solidFill>
                  <a:srgbClr val="05DF72"/>
                </a:solidFill>
                <a:latin typeface="Liter" pitchFamily="34" charset="0"/>
                <a:ea typeface="Liter" pitchFamily="34" charset="-122"/>
                <a:cs typeface="Liter" pitchFamily="34" charset="-120"/>
              </a:rPr>
              <a:t>80</a:t>
            </a:r>
            <a:endParaRPr lang="en-US" sz="1600" dirty="0"/>
          </a:p>
        </p:txBody>
      </p:sp>
      <p:sp>
        <p:nvSpPr>
          <p:cNvPr id="9" name="Shape 7"/>
          <p:cNvSpPr/>
          <p:nvPr/>
        </p:nvSpPr>
        <p:spPr>
          <a:xfrm>
            <a:off x="581025" y="2371725"/>
            <a:ext cx="2924175" cy="114300"/>
          </a:xfrm>
          <a:custGeom>
            <a:avLst/>
            <a:gdLst/>
            <a:ahLst/>
            <a:cxnLst/>
            <a:rect l="l" t="t" r="r" b="b"/>
            <a:pathLst>
              <a:path w="2924175" h="114300">
                <a:moveTo>
                  <a:pt x="57150" y="0"/>
                </a:moveTo>
                <a:lnTo>
                  <a:pt x="2867025" y="0"/>
                </a:lnTo>
                <a:cubicBezTo>
                  <a:pt x="2898567" y="0"/>
                  <a:pt x="2924175" y="25608"/>
                  <a:pt x="2924175" y="57150"/>
                </a:cubicBezTo>
                <a:lnTo>
                  <a:pt x="2924175" y="57150"/>
                </a:lnTo>
                <a:cubicBezTo>
                  <a:pt x="2924175" y="88692"/>
                  <a:pt x="2898567" y="114300"/>
                  <a:pt x="2867025" y="114300"/>
                </a:cubicBezTo>
                <a:lnTo>
                  <a:pt x="57150" y="114300"/>
                </a:lnTo>
                <a:cubicBezTo>
                  <a:pt x="25608" y="114300"/>
                  <a:pt x="0" y="88692"/>
                  <a:pt x="0" y="57150"/>
                </a:cubicBezTo>
                <a:lnTo>
                  <a:pt x="0" y="57150"/>
                </a:lnTo>
                <a:cubicBezTo>
                  <a:pt x="0" y="25608"/>
                  <a:pt x="25608" y="0"/>
                  <a:pt x="57150" y="0"/>
                </a:cubicBezTo>
                <a:close/>
              </a:path>
            </a:pathLst>
          </a:custGeom>
          <a:solidFill>
            <a:srgbClr val="FFFFFF">
              <a:alpha val="20000"/>
            </a:srgbClr>
          </a:solidFill>
          <a:ln/>
        </p:spPr>
      </p:sp>
      <p:sp>
        <p:nvSpPr>
          <p:cNvPr id="10" name="Shape 8"/>
          <p:cNvSpPr/>
          <p:nvPr/>
        </p:nvSpPr>
        <p:spPr>
          <a:xfrm>
            <a:off x="581025" y="2371725"/>
            <a:ext cx="2333625" cy="114300"/>
          </a:xfrm>
          <a:custGeom>
            <a:avLst/>
            <a:gdLst/>
            <a:ahLst/>
            <a:cxnLst/>
            <a:rect l="l" t="t" r="r" b="b"/>
            <a:pathLst>
              <a:path w="2333625" h="114300">
                <a:moveTo>
                  <a:pt x="57150" y="0"/>
                </a:moveTo>
                <a:lnTo>
                  <a:pt x="2276475" y="0"/>
                </a:lnTo>
                <a:cubicBezTo>
                  <a:pt x="2308017" y="0"/>
                  <a:pt x="2333625" y="25608"/>
                  <a:pt x="2333625" y="57150"/>
                </a:cubicBezTo>
                <a:lnTo>
                  <a:pt x="2333625" y="57150"/>
                </a:lnTo>
                <a:cubicBezTo>
                  <a:pt x="2333625" y="88692"/>
                  <a:pt x="2308017" y="114300"/>
                  <a:pt x="2276475" y="114300"/>
                </a:cubicBezTo>
                <a:lnTo>
                  <a:pt x="57150" y="114300"/>
                </a:lnTo>
                <a:cubicBezTo>
                  <a:pt x="25608" y="114300"/>
                  <a:pt x="0" y="88692"/>
                  <a:pt x="0" y="57150"/>
                </a:cubicBezTo>
                <a:lnTo>
                  <a:pt x="0" y="57150"/>
                </a:lnTo>
                <a:cubicBezTo>
                  <a:pt x="0" y="25608"/>
                  <a:pt x="25608" y="0"/>
                  <a:pt x="57150" y="0"/>
                </a:cubicBezTo>
                <a:close/>
              </a:path>
            </a:pathLst>
          </a:custGeom>
          <a:solidFill>
            <a:srgbClr val="00C950"/>
          </a:solidFill>
          <a:ln/>
        </p:spPr>
      </p:sp>
      <p:sp>
        <p:nvSpPr>
          <p:cNvPr id="11" name="Text 9"/>
          <p:cNvSpPr/>
          <p:nvPr/>
        </p:nvSpPr>
        <p:spPr>
          <a:xfrm>
            <a:off x="581025" y="2600325"/>
            <a:ext cx="3000375" cy="228600"/>
          </a:xfrm>
          <a:prstGeom prst="rect">
            <a:avLst/>
          </a:prstGeom>
          <a:noFill/>
          <a:ln/>
        </p:spPr>
        <p:txBody>
          <a:bodyPr wrap="square" lIns="0" tIns="0" rIns="0" bIns="0" rtlCol="0" anchor="ctr"/>
          <a:lstStyle/>
          <a:p>
            <a:pPr>
              <a:lnSpc>
                <a:spcPct val="130000"/>
              </a:lnSpc>
            </a:pPr>
            <a:r>
              <a:rPr lang="en-US" sz="1200" b="1" dirty="0">
                <a:solidFill>
                  <a:srgbClr val="F8F9FA">
                    <a:alpha val="80000"/>
                  </a:srgbClr>
                </a:solidFill>
                <a:latin typeface="Liter" pitchFamily="34" charset="0"/>
                <a:ea typeface="Liter" pitchFamily="34" charset="-122"/>
                <a:cs typeface="Liter" pitchFamily="34" charset="-120"/>
              </a:rPr>
              <a:t>80/100</a:t>
            </a:r>
            <a:pPr>
              <a:lnSpc>
                <a:spcPct val="130000"/>
              </a:lnSpc>
            </a:pPr>
            <a:r>
              <a:rPr lang="en-US" sz="1200" dirty="0">
                <a:solidFill>
                  <a:srgbClr val="F8F9FA">
                    <a:alpha val="80000"/>
                  </a:srgbClr>
                </a:solidFill>
                <a:latin typeface="Liter" pitchFamily="34" charset="0"/>
                <a:ea typeface="Liter" pitchFamily="34" charset="-122"/>
                <a:cs typeface="Liter" pitchFamily="34" charset="-120"/>
              </a:rPr>
              <a:t> - Excellente structure</a:t>
            </a:r>
            <a:endParaRPr lang="en-US" sz="1600" dirty="0"/>
          </a:p>
        </p:txBody>
      </p:sp>
      <p:sp>
        <p:nvSpPr>
          <p:cNvPr id="12" name="Text 10"/>
          <p:cNvSpPr/>
          <p:nvPr/>
        </p:nvSpPr>
        <p:spPr>
          <a:xfrm>
            <a:off x="581025" y="2905125"/>
            <a:ext cx="2990850" cy="438150"/>
          </a:xfrm>
          <a:prstGeom prst="rect">
            <a:avLst/>
          </a:prstGeom>
          <a:noFill/>
          <a:ln/>
        </p:spPr>
        <p:txBody>
          <a:bodyPr wrap="square" lIns="0" tIns="0" rIns="0" bIns="0" rtlCol="0" anchor="ctr"/>
          <a:lstStyle/>
          <a:p>
            <a:pPr>
              <a:lnSpc>
                <a:spcPct val="140000"/>
              </a:lnSpc>
            </a:pPr>
            <a:r>
              <a:rPr lang="en-US" sz="1050" dirty="0">
                <a:solidFill>
                  <a:srgbClr val="F8F9FA">
                    <a:alpha val="60000"/>
                  </a:srgbClr>
                </a:solidFill>
                <a:latin typeface="Liter" pitchFamily="34" charset="0"/>
                <a:ea typeface="Liter" pitchFamily="34" charset="-122"/>
                <a:cs typeface="Liter" pitchFamily="34" charset="-120"/>
              </a:rPr>
              <a:t>Le site est bien compris par Google avec une architecture technique solide.</a:t>
            </a:r>
            <a:endParaRPr lang="en-US" sz="1600" dirty="0"/>
          </a:p>
        </p:txBody>
      </p:sp>
      <p:sp>
        <p:nvSpPr>
          <p:cNvPr id="13" name="Shape 11"/>
          <p:cNvSpPr/>
          <p:nvPr/>
        </p:nvSpPr>
        <p:spPr>
          <a:xfrm>
            <a:off x="600075" y="348138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05DF72"/>
          </a:solidFill>
          <a:ln/>
        </p:spPr>
      </p:sp>
      <p:sp>
        <p:nvSpPr>
          <p:cNvPr id="14" name="Text 12"/>
          <p:cNvSpPr/>
          <p:nvPr/>
        </p:nvSpPr>
        <p:spPr>
          <a:xfrm>
            <a:off x="823913" y="3452813"/>
            <a:ext cx="1685925" cy="190500"/>
          </a:xfrm>
          <a:prstGeom prst="rect">
            <a:avLst/>
          </a:prstGeom>
          <a:noFill/>
          <a:ln/>
        </p:spPr>
        <p:txBody>
          <a:bodyPr wrap="square" lIns="0" tIns="0" rIns="0" bIns="0" rtlCol="0" anchor="ctr"/>
          <a:lstStyle/>
          <a:p>
            <a:pPr>
              <a:lnSpc>
                <a:spcPct val="120000"/>
              </a:lnSpc>
            </a:pPr>
            <a:r>
              <a:rPr lang="en-US" sz="1050" dirty="0">
                <a:solidFill>
                  <a:srgbClr val="05DF72"/>
                </a:solidFill>
                <a:latin typeface="Liter" pitchFamily="34" charset="0"/>
                <a:ea typeface="Liter" pitchFamily="34" charset="-122"/>
                <a:cs typeface="Liter" pitchFamily="34" charset="-120"/>
              </a:rPr>
              <a:t>Benchmark industrie: 65-75</a:t>
            </a:r>
            <a:endParaRPr lang="en-US" sz="1600" dirty="0"/>
          </a:p>
        </p:txBody>
      </p:sp>
      <p:sp>
        <p:nvSpPr>
          <p:cNvPr id="15" name="Shape 13"/>
          <p:cNvSpPr/>
          <p:nvPr/>
        </p:nvSpPr>
        <p:spPr>
          <a:xfrm>
            <a:off x="3860453" y="1528763"/>
            <a:ext cx="3314700" cy="2543175"/>
          </a:xfrm>
          <a:custGeom>
            <a:avLst/>
            <a:gdLst/>
            <a:ahLst/>
            <a:cxnLst/>
            <a:rect l="l" t="t" r="r" b="b"/>
            <a:pathLst>
              <a:path w="3314700" h="2543175">
                <a:moveTo>
                  <a:pt x="114290" y="0"/>
                </a:moveTo>
                <a:lnTo>
                  <a:pt x="3200410" y="0"/>
                </a:lnTo>
                <a:cubicBezTo>
                  <a:pt x="3263530" y="0"/>
                  <a:pt x="3314700" y="51170"/>
                  <a:pt x="3314700" y="114290"/>
                </a:cubicBezTo>
                <a:lnTo>
                  <a:pt x="3314700" y="2428885"/>
                </a:lnTo>
                <a:cubicBezTo>
                  <a:pt x="3314700" y="2492005"/>
                  <a:pt x="3263530" y="2543175"/>
                  <a:pt x="3200410" y="2543175"/>
                </a:cubicBezTo>
                <a:lnTo>
                  <a:pt x="114290" y="2543175"/>
                </a:lnTo>
                <a:cubicBezTo>
                  <a:pt x="51170" y="2543175"/>
                  <a:pt x="0" y="2492005"/>
                  <a:pt x="0" y="2428885"/>
                </a:cubicBezTo>
                <a:lnTo>
                  <a:pt x="0" y="114290"/>
                </a:lnTo>
                <a:cubicBezTo>
                  <a:pt x="0" y="51212"/>
                  <a:pt x="51212" y="0"/>
                  <a:pt x="114290" y="0"/>
                </a:cubicBezTo>
                <a:close/>
              </a:path>
            </a:pathLst>
          </a:custGeom>
          <a:solidFill>
            <a:srgbClr val="FFFFFF">
              <a:alpha val="10196"/>
            </a:srgbClr>
          </a:solidFill>
          <a:ln w="12700">
            <a:solidFill>
              <a:srgbClr val="FFFFFF">
                <a:alpha val="20000"/>
              </a:srgbClr>
            </a:solidFill>
            <a:prstDash val="solid"/>
          </a:ln>
        </p:spPr>
      </p:sp>
      <p:sp>
        <p:nvSpPr>
          <p:cNvPr id="16" name="Text 14"/>
          <p:cNvSpPr/>
          <p:nvPr/>
        </p:nvSpPr>
        <p:spPr>
          <a:xfrm>
            <a:off x="4055715" y="1857375"/>
            <a:ext cx="216217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Performance Lighthouse</a:t>
            </a:r>
            <a:endParaRPr lang="en-US" sz="1600" dirty="0"/>
          </a:p>
        </p:txBody>
      </p:sp>
      <p:sp>
        <p:nvSpPr>
          <p:cNvPr id="17" name="Shape 15"/>
          <p:cNvSpPr/>
          <p:nvPr/>
        </p:nvSpPr>
        <p:spPr>
          <a:xfrm>
            <a:off x="6463605" y="1743075"/>
            <a:ext cx="495300" cy="495300"/>
          </a:xfrm>
          <a:custGeom>
            <a:avLst/>
            <a:gdLst/>
            <a:ahLst/>
            <a:cxnLst/>
            <a:rect l="l" t="t" r="r" b="b"/>
            <a:pathLst>
              <a:path w="495300" h="495300">
                <a:moveTo>
                  <a:pt x="247650" y="0"/>
                </a:moveTo>
                <a:lnTo>
                  <a:pt x="247650" y="0"/>
                </a:lnTo>
                <a:cubicBezTo>
                  <a:pt x="384332" y="0"/>
                  <a:pt x="495300" y="110968"/>
                  <a:pt x="495300" y="247650"/>
                </a:cubicBezTo>
                <a:lnTo>
                  <a:pt x="495300" y="247650"/>
                </a:lnTo>
                <a:cubicBezTo>
                  <a:pt x="495300" y="384332"/>
                  <a:pt x="384332" y="495300"/>
                  <a:pt x="247650" y="495300"/>
                </a:cubicBezTo>
                <a:lnTo>
                  <a:pt x="247650" y="495300"/>
                </a:lnTo>
                <a:cubicBezTo>
                  <a:pt x="110968" y="495300"/>
                  <a:pt x="0" y="384332"/>
                  <a:pt x="0" y="247650"/>
                </a:cubicBezTo>
                <a:lnTo>
                  <a:pt x="0" y="247650"/>
                </a:lnTo>
                <a:cubicBezTo>
                  <a:pt x="0" y="110968"/>
                  <a:pt x="110968" y="0"/>
                  <a:pt x="247650" y="0"/>
                </a:cubicBezTo>
                <a:close/>
              </a:path>
            </a:pathLst>
          </a:custGeom>
          <a:solidFill>
            <a:srgbClr val="C5A065">
              <a:alpha val="20000"/>
            </a:srgbClr>
          </a:solidFill>
          <a:ln w="50800">
            <a:solidFill>
              <a:srgbClr val="C5A065"/>
            </a:solidFill>
            <a:prstDash val="solid"/>
          </a:ln>
        </p:spPr>
      </p:sp>
      <p:sp>
        <p:nvSpPr>
          <p:cNvPr id="18" name="Text 16"/>
          <p:cNvSpPr/>
          <p:nvPr/>
        </p:nvSpPr>
        <p:spPr>
          <a:xfrm>
            <a:off x="6586314" y="1838325"/>
            <a:ext cx="361950" cy="304800"/>
          </a:xfrm>
          <a:prstGeom prst="rect">
            <a:avLst/>
          </a:prstGeom>
          <a:noFill/>
          <a:ln/>
        </p:spPr>
        <p:txBody>
          <a:bodyPr wrap="square" lIns="0" tIns="0" rIns="0" bIns="0" rtlCol="0" anchor="ctr"/>
          <a:lstStyle/>
          <a:p>
            <a:pPr>
              <a:lnSpc>
                <a:spcPct val="110000"/>
              </a:lnSpc>
            </a:pPr>
            <a:r>
              <a:rPr lang="en-US" sz="1800" b="1" dirty="0">
                <a:solidFill>
                  <a:srgbClr val="C5A065"/>
                </a:solidFill>
                <a:latin typeface="Liter" pitchFamily="34" charset="0"/>
                <a:ea typeface="Liter" pitchFamily="34" charset="-122"/>
                <a:cs typeface="Liter" pitchFamily="34" charset="-120"/>
              </a:rPr>
              <a:t>72</a:t>
            </a:r>
            <a:endParaRPr lang="en-US" sz="1600" dirty="0"/>
          </a:p>
        </p:txBody>
      </p:sp>
      <p:sp>
        <p:nvSpPr>
          <p:cNvPr id="19" name="Shape 17"/>
          <p:cNvSpPr/>
          <p:nvPr/>
        </p:nvSpPr>
        <p:spPr>
          <a:xfrm>
            <a:off x="4055715" y="2371725"/>
            <a:ext cx="2924175" cy="114300"/>
          </a:xfrm>
          <a:custGeom>
            <a:avLst/>
            <a:gdLst/>
            <a:ahLst/>
            <a:cxnLst/>
            <a:rect l="l" t="t" r="r" b="b"/>
            <a:pathLst>
              <a:path w="2924175" h="114300">
                <a:moveTo>
                  <a:pt x="57150" y="0"/>
                </a:moveTo>
                <a:lnTo>
                  <a:pt x="2867025" y="0"/>
                </a:lnTo>
                <a:cubicBezTo>
                  <a:pt x="2898567" y="0"/>
                  <a:pt x="2924175" y="25608"/>
                  <a:pt x="2924175" y="57150"/>
                </a:cubicBezTo>
                <a:lnTo>
                  <a:pt x="2924175" y="57150"/>
                </a:lnTo>
                <a:cubicBezTo>
                  <a:pt x="2924175" y="88692"/>
                  <a:pt x="2898567" y="114300"/>
                  <a:pt x="2867025" y="114300"/>
                </a:cubicBezTo>
                <a:lnTo>
                  <a:pt x="57150" y="114300"/>
                </a:lnTo>
                <a:cubicBezTo>
                  <a:pt x="25608" y="114300"/>
                  <a:pt x="0" y="88692"/>
                  <a:pt x="0" y="57150"/>
                </a:cubicBezTo>
                <a:lnTo>
                  <a:pt x="0" y="57150"/>
                </a:lnTo>
                <a:cubicBezTo>
                  <a:pt x="0" y="25608"/>
                  <a:pt x="25608" y="0"/>
                  <a:pt x="57150" y="0"/>
                </a:cubicBezTo>
                <a:close/>
              </a:path>
            </a:pathLst>
          </a:custGeom>
          <a:solidFill>
            <a:srgbClr val="FFFFFF">
              <a:alpha val="20000"/>
            </a:srgbClr>
          </a:solidFill>
          <a:ln/>
        </p:spPr>
      </p:sp>
      <p:sp>
        <p:nvSpPr>
          <p:cNvPr id="20" name="Shape 18"/>
          <p:cNvSpPr/>
          <p:nvPr/>
        </p:nvSpPr>
        <p:spPr>
          <a:xfrm>
            <a:off x="4055715" y="2371725"/>
            <a:ext cx="2105025" cy="114300"/>
          </a:xfrm>
          <a:custGeom>
            <a:avLst/>
            <a:gdLst/>
            <a:ahLst/>
            <a:cxnLst/>
            <a:rect l="l" t="t" r="r" b="b"/>
            <a:pathLst>
              <a:path w="2105025" h="114300">
                <a:moveTo>
                  <a:pt x="57150" y="0"/>
                </a:moveTo>
                <a:lnTo>
                  <a:pt x="2047875" y="0"/>
                </a:lnTo>
                <a:cubicBezTo>
                  <a:pt x="2079417" y="0"/>
                  <a:pt x="2105025" y="25608"/>
                  <a:pt x="2105025" y="57150"/>
                </a:cubicBezTo>
                <a:lnTo>
                  <a:pt x="2105025" y="57150"/>
                </a:lnTo>
                <a:cubicBezTo>
                  <a:pt x="2105025" y="88692"/>
                  <a:pt x="2079417" y="114300"/>
                  <a:pt x="2047875" y="114300"/>
                </a:cubicBezTo>
                <a:lnTo>
                  <a:pt x="57150" y="114300"/>
                </a:lnTo>
                <a:cubicBezTo>
                  <a:pt x="25608" y="114300"/>
                  <a:pt x="0" y="88692"/>
                  <a:pt x="0" y="57150"/>
                </a:cubicBezTo>
                <a:lnTo>
                  <a:pt x="0" y="57150"/>
                </a:lnTo>
                <a:cubicBezTo>
                  <a:pt x="0" y="25608"/>
                  <a:pt x="25608" y="0"/>
                  <a:pt x="57150" y="0"/>
                </a:cubicBezTo>
                <a:close/>
              </a:path>
            </a:pathLst>
          </a:custGeom>
          <a:solidFill>
            <a:srgbClr val="C5A065"/>
          </a:solidFill>
          <a:ln/>
        </p:spPr>
      </p:sp>
      <p:sp>
        <p:nvSpPr>
          <p:cNvPr id="21" name="Text 19"/>
          <p:cNvSpPr/>
          <p:nvPr/>
        </p:nvSpPr>
        <p:spPr>
          <a:xfrm>
            <a:off x="4055715" y="2600325"/>
            <a:ext cx="3000375" cy="228600"/>
          </a:xfrm>
          <a:prstGeom prst="rect">
            <a:avLst/>
          </a:prstGeom>
          <a:noFill/>
          <a:ln/>
        </p:spPr>
        <p:txBody>
          <a:bodyPr wrap="square" lIns="0" tIns="0" rIns="0" bIns="0" rtlCol="0" anchor="ctr"/>
          <a:lstStyle/>
          <a:p>
            <a:pPr>
              <a:lnSpc>
                <a:spcPct val="130000"/>
              </a:lnSpc>
            </a:pPr>
            <a:r>
              <a:rPr lang="en-US" sz="1200" b="1" dirty="0">
                <a:solidFill>
                  <a:srgbClr val="F8F9FA">
                    <a:alpha val="80000"/>
                  </a:srgbClr>
                </a:solidFill>
                <a:latin typeface="Liter" pitchFamily="34" charset="0"/>
                <a:ea typeface="Liter" pitchFamily="34" charset="-122"/>
                <a:cs typeface="Liter" pitchFamily="34" charset="-120"/>
              </a:rPr>
              <a:t>72/100</a:t>
            </a:r>
            <a:pPr>
              <a:lnSpc>
                <a:spcPct val="130000"/>
              </a:lnSpc>
            </a:pPr>
            <a:r>
              <a:rPr lang="en-US" sz="1200" dirty="0">
                <a:solidFill>
                  <a:srgbClr val="F8F9FA">
                    <a:alpha val="80000"/>
                  </a:srgbClr>
                </a:solidFill>
                <a:latin typeface="Liter" pitchFamily="34" charset="0"/>
                <a:ea typeface="Liter" pitchFamily="34" charset="-122"/>
                <a:cs typeface="Liter" pitchFamily="34" charset="-120"/>
              </a:rPr>
              <a:t> - Nécessite optimisation</a:t>
            </a:r>
            <a:endParaRPr lang="en-US" sz="1600" dirty="0"/>
          </a:p>
        </p:txBody>
      </p:sp>
      <p:sp>
        <p:nvSpPr>
          <p:cNvPr id="22" name="Text 20"/>
          <p:cNvSpPr/>
          <p:nvPr/>
        </p:nvSpPr>
        <p:spPr>
          <a:xfrm>
            <a:off x="4055715" y="2905125"/>
            <a:ext cx="2990850" cy="438150"/>
          </a:xfrm>
          <a:prstGeom prst="rect">
            <a:avLst/>
          </a:prstGeom>
          <a:noFill/>
          <a:ln/>
        </p:spPr>
        <p:txBody>
          <a:bodyPr wrap="square" lIns="0" tIns="0" rIns="0" bIns="0" rtlCol="0" anchor="ctr"/>
          <a:lstStyle/>
          <a:p>
            <a:pPr>
              <a:lnSpc>
                <a:spcPct val="140000"/>
              </a:lnSpc>
            </a:pPr>
            <a:r>
              <a:rPr lang="en-US" sz="1050" dirty="0">
                <a:solidFill>
                  <a:srgbClr val="F8F9FA">
                    <a:alpha val="60000"/>
                  </a:srgbClr>
                </a:solidFill>
                <a:latin typeface="Liter" pitchFamily="34" charset="0"/>
                <a:ea typeface="Liter" pitchFamily="34" charset="-122"/>
                <a:cs typeface="Liter" pitchFamily="34" charset="-120"/>
              </a:rPr>
              <a:t>Temps de chargement légèrement ralenti, créant friction pour utilisateurs mobiles.</a:t>
            </a:r>
            <a:endParaRPr lang="en-US" sz="1600" dirty="0"/>
          </a:p>
        </p:txBody>
      </p:sp>
      <p:sp>
        <p:nvSpPr>
          <p:cNvPr id="23" name="Shape 21"/>
          <p:cNvSpPr/>
          <p:nvPr/>
        </p:nvSpPr>
        <p:spPr>
          <a:xfrm>
            <a:off x="4074765" y="348138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6675" y="35421"/>
                </a:moveTo>
                <a:cubicBezTo>
                  <a:pt x="70139" y="35421"/>
                  <a:pt x="72926" y="38208"/>
                  <a:pt x="72926" y="41672"/>
                </a:cubicBezTo>
                <a:lnTo>
                  <a:pt x="72926" y="70842"/>
                </a:lnTo>
                <a:cubicBezTo>
                  <a:pt x="72926" y="74306"/>
                  <a:pt x="70139" y="77093"/>
                  <a:pt x="66675" y="77093"/>
                </a:cubicBezTo>
                <a:cubicBezTo>
                  <a:pt x="63211" y="77093"/>
                  <a:pt x="60424" y="74306"/>
                  <a:pt x="60424" y="70842"/>
                </a:cubicBezTo>
                <a:lnTo>
                  <a:pt x="60424" y="41672"/>
                </a:lnTo>
                <a:cubicBezTo>
                  <a:pt x="60424" y="38208"/>
                  <a:pt x="63211" y="35421"/>
                  <a:pt x="66675" y="35421"/>
                </a:cubicBezTo>
                <a:close/>
                <a:moveTo>
                  <a:pt x="59721" y="91678"/>
                </a:moveTo>
                <a:cubicBezTo>
                  <a:pt x="59563" y="89097"/>
                  <a:pt x="60850" y="86641"/>
                  <a:pt x="63063" y="85303"/>
                </a:cubicBezTo>
                <a:cubicBezTo>
                  <a:pt x="65276" y="83964"/>
                  <a:pt x="68048" y="83964"/>
                  <a:pt x="70261" y="85303"/>
                </a:cubicBezTo>
                <a:cubicBezTo>
                  <a:pt x="72474" y="86641"/>
                  <a:pt x="73761" y="89097"/>
                  <a:pt x="73603" y="91678"/>
                </a:cubicBezTo>
                <a:cubicBezTo>
                  <a:pt x="73761" y="94259"/>
                  <a:pt x="72474" y="96715"/>
                  <a:pt x="70261" y="98054"/>
                </a:cubicBezTo>
                <a:cubicBezTo>
                  <a:pt x="68048" y="99392"/>
                  <a:pt x="65276" y="99392"/>
                  <a:pt x="63063" y="98054"/>
                </a:cubicBezTo>
                <a:cubicBezTo>
                  <a:pt x="60850" y="96715"/>
                  <a:pt x="59563" y="94259"/>
                  <a:pt x="59721" y="91678"/>
                </a:cubicBezTo>
                <a:close/>
              </a:path>
            </a:pathLst>
          </a:custGeom>
          <a:solidFill>
            <a:srgbClr val="C5A065"/>
          </a:solidFill>
          <a:ln/>
        </p:spPr>
      </p:sp>
      <p:sp>
        <p:nvSpPr>
          <p:cNvPr id="24" name="Text 22"/>
          <p:cNvSpPr/>
          <p:nvPr/>
        </p:nvSpPr>
        <p:spPr>
          <a:xfrm>
            <a:off x="4298603" y="3452813"/>
            <a:ext cx="1828800" cy="190500"/>
          </a:xfrm>
          <a:prstGeom prst="rect">
            <a:avLst/>
          </a:prstGeom>
          <a:noFill/>
          <a:ln/>
        </p:spPr>
        <p:txBody>
          <a:bodyPr wrap="square" lIns="0" tIns="0" rIns="0" bIns="0" rtlCol="0" anchor="ctr"/>
          <a:lstStyle/>
          <a:p>
            <a:pPr>
              <a:lnSpc>
                <a:spcPct val="120000"/>
              </a:lnSpc>
            </a:pPr>
            <a:r>
              <a:rPr lang="en-US" sz="1050" dirty="0">
                <a:solidFill>
                  <a:srgbClr val="C5A065"/>
                </a:solidFill>
                <a:latin typeface="Liter" pitchFamily="34" charset="0"/>
                <a:ea typeface="Liter" pitchFamily="34" charset="-122"/>
                <a:cs typeface="Liter" pitchFamily="34" charset="-120"/>
              </a:rPr>
              <a:t>Target: 90+ (Core Web Vitals)</a:t>
            </a:r>
            <a:endParaRPr lang="en-US" sz="1600" dirty="0"/>
          </a:p>
        </p:txBody>
      </p:sp>
      <p:sp>
        <p:nvSpPr>
          <p:cNvPr id="25" name="Shape 23"/>
          <p:cNvSpPr/>
          <p:nvPr/>
        </p:nvSpPr>
        <p:spPr>
          <a:xfrm>
            <a:off x="385763" y="4233863"/>
            <a:ext cx="3314700" cy="2238375"/>
          </a:xfrm>
          <a:custGeom>
            <a:avLst/>
            <a:gdLst/>
            <a:ahLst/>
            <a:cxnLst/>
            <a:rect l="l" t="t" r="r" b="b"/>
            <a:pathLst>
              <a:path w="3314700" h="2238375">
                <a:moveTo>
                  <a:pt x="114291" y="0"/>
                </a:moveTo>
                <a:lnTo>
                  <a:pt x="3200409" y="0"/>
                </a:lnTo>
                <a:cubicBezTo>
                  <a:pt x="3263530" y="0"/>
                  <a:pt x="3314700" y="51170"/>
                  <a:pt x="3314700" y="114291"/>
                </a:cubicBezTo>
                <a:lnTo>
                  <a:pt x="3314700" y="2124084"/>
                </a:lnTo>
                <a:cubicBezTo>
                  <a:pt x="3314700" y="2187205"/>
                  <a:pt x="3263530" y="2238375"/>
                  <a:pt x="3200409" y="2238375"/>
                </a:cubicBezTo>
                <a:lnTo>
                  <a:pt x="114291" y="2238375"/>
                </a:lnTo>
                <a:cubicBezTo>
                  <a:pt x="51170" y="2238375"/>
                  <a:pt x="0" y="2187205"/>
                  <a:pt x="0" y="2124084"/>
                </a:cubicBezTo>
                <a:lnTo>
                  <a:pt x="0" y="114291"/>
                </a:lnTo>
                <a:cubicBezTo>
                  <a:pt x="0" y="51212"/>
                  <a:pt x="51212" y="0"/>
                  <a:pt x="114291" y="0"/>
                </a:cubicBezTo>
                <a:close/>
              </a:path>
            </a:pathLst>
          </a:custGeom>
          <a:solidFill>
            <a:srgbClr val="FFFFFF">
              <a:alpha val="10196"/>
            </a:srgbClr>
          </a:solidFill>
          <a:ln w="12700">
            <a:solidFill>
              <a:srgbClr val="FFFFFF">
                <a:alpha val="20000"/>
              </a:srgbClr>
            </a:solidFill>
            <a:prstDash val="solid"/>
          </a:ln>
        </p:spPr>
      </p:sp>
      <p:sp>
        <p:nvSpPr>
          <p:cNvPr id="26" name="Text 24"/>
          <p:cNvSpPr/>
          <p:nvPr/>
        </p:nvSpPr>
        <p:spPr>
          <a:xfrm>
            <a:off x="581025" y="4562475"/>
            <a:ext cx="117157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Accessibilité</a:t>
            </a:r>
            <a:endParaRPr lang="en-US" sz="1600" dirty="0"/>
          </a:p>
        </p:txBody>
      </p:sp>
      <p:sp>
        <p:nvSpPr>
          <p:cNvPr id="27" name="Shape 25"/>
          <p:cNvSpPr/>
          <p:nvPr/>
        </p:nvSpPr>
        <p:spPr>
          <a:xfrm>
            <a:off x="2988915" y="4448175"/>
            <a:ext cx="495300" cy="495300"/>
          </a:xfrm>
          <a:custGeom>
            <a:avLst/>
            <a:gdLst/>
            <a:ahLst/>
            <a:cxnLst/>
            <a:rect l="l" t="t" r="r" b="b"/>
            <a:pathLst>
              <a:path w="495300" h="495300">
                <a:moveTo>
                  <a:pt x="247650" y="0"/>
                </a:moveTo>
                <a:lnTo>
                  <a:pt x="247650" y="0"/>
                </a:lnTo>
                <a:cubicBezTo>
                  <a:pt x="384332" y="0"/>
                  <a:pt x="495300" y="110968"/>
                  <a:pt x="495300" y="247650"/>
                </a:cubicBezTo>
                <a:lnTo>
                  <a:pt x="495300" y="247650"/>
                </a:lnTo>
                <a:cubicBezTo>
                  <a:pt x="495300" y="384332"/>
                  <a:pt x="384332" y="495300"/>
                  <a:pt x="247650" y="495300"/>
                </a:cubicBezTo>
                <a:lnTo>
                  <a:pt x="247650" y="495300"/>
                </a:lnTo>
                <a:cubicBezTo>
                  <a:pt x="110968" y="495300"/>
                  <a:pt x="0" y="384332"/>
                  <a:pt x="0" y="247650"/>
                </a:cubicBezTo>
                <a:lnTo>
                  <a:pt x="0" y="247650"/>
                </a:lnTo>
                <a:cubicBezTo>
                  <a:pt x="0" y="110968"/>
                  <a:pt x="110968" y="0"/>
                  <a:pt x="247650" y="0"/>
                </a:cubicBezTo>
                <a:close/>
              </a:path>
            </a:pathLst>
          </a:custGeom>
          <a:solidFill>
            <a:srgbClr val="00C950">
              <a:alpha val="20000"/>
            </a:srgbClr>
          </a:solidFill>
          <a:ln w="50800">
            <a:solidFill>
              <a:srgbClr val="00C950"/>
            </a:solidFill>
            <a:prstDash val="solid"/>
          </a:ln>
        </p:spPr>
      </p:sp>
      <p:sp>
        <p:nvSpPr>
          <p:cNvPr id="28" name="Text 26"/>
          <p:cNvSpPr/>
          <p:nvPr/>
        </p:nvSpPr>
        <p:spPr>
          <a:xfrm>
            <a:off x="3100834" y="4543425"/>
            <a:ext cx="381000" cy="304800"/>
          </a:xfrm>
          <a:prstGeom prst="rect">
            <a:avLst/>
          </a:prstGeom>
          <a:noFill/>
          <a:ln/>
        </p:spPr>
        <p:txBody>
          <a:bodyPr wrap="square" lIns="0" tIns="0" rIns="0" bIns="0" rtlCol="0" anchor="ctr"/>
          <a:lstStyle/>
          <a:p>
            <a:pPr>
              <a:lnSpc>
                <a:spcPct val="110000"/>
              </a:lnSpc>
            </a:pPr>
            <a:r>
              <a:rPr lang="en-US" sz="1800" b="1" dirty="0">
                <a:solidFill>
                  <a:srgbClr val="05DF72"/>
                </a:solidFill>
                <a:latin typeface="Liter" pitchFamily="34" charset="0"/>
                <a:ea typeface="Liter" pitchFamily="34" charset="-122"/>
                <a:cs typeface="Liter" pitchFamily="34" charset="-120"/>
              </a:rPr>
              <a:t>94</a:t>
            </a:r>
            <a:endParaRPr lang="en-US" sz="1600" dirty="0"/>
          </a:p>
        </p:txBody>
      </p:sp>
      <p:sp>
        <p:nvSpPr>
          <p:cNvPr id="29" name="Shape 27"/>
          <p:cNvSpPr/>
          <p:nvPr/>
        </p:nvSpPr>
        <p:spPr>
          <a:xfrm>
            <a:off x="581025" y="5076825"/>
            <a:ext cx="2924175" cy="114300"/>
          </a:xfrm>
          <a:custGeom>
            <a:avLst/>
            <a:gdLst/>
            <a:ahLst/>
            <a:cxnLst/>
            <a:rect l="l" t="t" r="r" b="b"/>
            <a:pathLst>
              <a:path w="2924175" h="114300">
                <a:moveTo>
                  <a:pt x="57150" y="0"/>
                </a:moveTo>
                <a:lnTo>
                  <a:pt x="2867025" y="0"/>
                </a:lnTo>
                <a:cubicBezTo>
                  <a:pt x="2898567" y="0"/>
                  <a:pt x="2924175" y="25608"/>
                  <a:pt x="2924175" y="57150"/>
                </a:cubicBezTo>
                <a:lnTo>
                  <a:pt x="2924175" y="57150"/>
                </a:lnTo>
                <a:cubicBezTo>
                  <a:pt x="2924175" y="88692"/>
                  <a:pt x="2898567" y="114300"/>
                  <a:pt x="2867025" y="114300"/>
                </a:cubicBezTo>
                <a:lnTo>
                  <a:pt x="57150" y="114300"/>
                </a:lnTo>
                <a:cubicBezTo>
                  <a:pt x="25608" y="114300"/>
                  <a:pt x="0" y="88692"/>
                  <a:pt x="0" y="57150"/>
                </a:cubicBezTo>
                <a:lnTo>
                  <a:pt x="0" y="57150"/>
                </a:lnTo>
                <a:cubicBezTo>
                  <a:pt x="0" y="25608"/>
                  <a:pt x="25608" y="0"/>
                  <a:pt x="57150" y="0"/>
                </a:cubicBezTo>
                <a:close/>
              </a:path>
            </a:pathLst>
          </a:custGeom>
          <a:solidFill>
            <a:srgbClr val="FFFFFF">
              <a:alpha val="20000"/>
            </a:srgbClr>
          </a:solidFill>
          <a:ln/>
        </p:spPr>
      </p:sp>
      <p:sp>
        <p:nvSpPr>
          <p:cNvPr id="30" name="Shape 28"/>
          <p:cNvSpPr/>
          <p:nvPr/>
        </p:nvSpPr>
        <p:spPr>
          <a:xfrm>
            <a:off x="581025" y="5076825"/>
            <a:ext cx="2743200" cy="114300"/>
          </a:xfrm>
          <a:custGeom>
            <a:avLst/>
            <a:gdLst/>
            <a:ahLst/>
            <a:cxnLst/>
            <a:rect l="l" t="t" r="r" b="b"/>
            <a:pathLst>
              <a:path w="2743200" h="114300">
                <a:moveTo>
                  <a:pt x="57150" y="0"/>
                </a:moveTo>
                <a:lnTo>
                  <a:pt x="2686050" y="0"/>
                </a:lnTo>
                <a:cubicBezTo>
                  <a:pt x="2717592" y="0"/>
                  <a:pt x="2743200" y="25608"/>
                  <a:pt x="2743200" y="57150"/>
                </a:cubicBezTo>
                <a:lnTo>
                  <a:pt x="2743200" y="57150"/>
                </a:lnTo>
                <a:cubicBezTo>
                  <a:pt x="2743200" y="88692"/>
                  <a:pt x="2717592" y="114300"/>
                  <a:pt x="2686050" y="114300"/>
                </a:cubicBezTo>
                <a:lnTo>
                  <a:pt x="57150" y="114300"/>
                </a:lnTo>
                <a:cubicBezTo>
                  <a:pt x="25608" y="114300"/>
                  <a:pt x="0" y="88692"/>
                  <a:pt x="0" y="57150"/>
                </a:cubicBezTo>
                <a:lnTo>
                  <a:pt x="0" y="57150"/>
                </a:lnTo>
                <a:cubicBezTo>
                  <a:pt x="0" y="25608"/>
                  <a:pt x="25608" y="0"/>
                  <a:pt x="57150" y="0"/>
                </a:cubicBezTo>
                <a:close/>
              </a:path>
            </a:pathLst>
          </a:custGeom>
          <a:solidFill>
            <a:srgbClr val="00C950"/>
          </a:solidFill>
          <a:ln/>
        </p:spPr>
      </p:sp>
      <p:sp>
        <p:nvSpPr>
          <p:cNvPr id="31" name="Text 29"/>
          <p:cNvSpPr/>
          <p:nvPr/>
        </p:nvSpPr>
        <p:spPr>
          <a:xfrm>
            <a:off x="581025" y="5305425"/>
            <a:ext cx="3000375" cy="228600"/>
          </a:xfrm>
          <a:prstGeom prst="rect">
            <a:avLst/>
          </a:prstGeom>
          <a:noFill/>
          <a:ln/>
        </p:spPr>
        <p:txBody>
          <a:bodyPr wrap="square" lIns="0" tIns="0" rIns="0" bIns="0" rtlCol="0" anchor="ctr"/>
          <a:lstStyle/>
          <a:p>
            <a:pPr>
              <a:lnSpc>
                <a:spcPct val="130000"/>
              </a:lnSpc>
            </a:pPr>
            <a:r>
              <a:rPr lang="en-US" sz="1200" b="1" dirty="0">
                <a:solidFill>
                  <a:srgbClr val="F8F9FA">
                    <a:alpha val="80000"/>
                  </a:srgbClr>
                </a:solidFill>
                <a:latin typeface="Liter" pitchFamily="34" charset="0"/>
                <a:ea typeface="Liter" pitchFamily="34" charset="-122"/>
                <a:cs typeface="Liter" pitchFamily="34" charset="-120"/>
              </a:rPr>
              <a:t>94/100</a:t>
            </a:r>
            <a:pPr>
              <a:lnSpc>
                <a:spcPct val="130000"/>
              </a:lnSpc>
            </a:pPr>
            <a:r>
              <a:rPr lang="en-US" sz="1200" dirty="0">
                <a:solidFill>
                  <a:srgbClr val="F8F9FA">
                    <a:alpha val="80000"/>
                  </a:srgbClr>
                </a:solidFill>
                <a:latin typeface="Liter" pitchFamily="34" charset="0"/>
                <a:ea typeface="Liter" pitchFamily="34" charset="-122"/>
                <a:cs typeface="Liter" pitchFamily="34" charset="-120"/>
              </a:rPr>
              <a:t> - Excellent</a:t>
            </a:r>
            <a:endParaRPr lang="en-US" sz="1600" dirty="0"/>
          </a:p>
        </p:txBody>
      </p:sp>
      <p:sp>
        <p:nvSpPr>
          <p:cNvPr id="32" name="Text 30"/>
          <p:cNvSpPr/>
          <p:nvPr/>
        </p:nvSpPr>
        <p:spPr>
          <a:xfrm>
            <a:off x="581025" y="5610225"/>
            <a:ext cx="2990850" cy="438150"/>
          </a:xfrm>
          <a:prstGeom prst="rect">
            <a:avLst/>
          </a:prstGeom>
          <a:noFill/>
          <a:ln/>
        </p:spPr>
        <p:txBody>
          <a:bodyPr wrap="square" lIns="0" tIns="0" rIns="0" bIns="0" rtlCol="0" anchor="ctr"/>
          <a:lstStyle/>
          <a:p>
            <a:pPr>
              <a:lnSpc>
                <a:spcPct val="140000"/>
              </a:lnSpc>
            </a:pPr>
            <a:r>
              <a:rPr lang="en-US" sz="1050" dirty="0">
                <a:solidFill>
                  <a:srgbClr val="F8F9FA">
                    <a:alpha val="60000"/>
                  </a:srgbClr>
                </a:solidFill>
                <a:latin typeface="Liter" pitchFamily="34" charset="0"/>
                <a:ea typeface="Liter" pitchFamily="34" charset="-122"/>
                <a:cs typeface="Liter" pitchFamily="34" charset="-120"/>
              </a:rPr>
              <a:t>Standards d'accessibilité web respectés pour tous les utilisateurs.</a:t>
            </a:r>
            <a:endParaRPr lang="en-US" sz="1600" dirty="0"/>
          </a:p>
        </p:txBody>
      </p:sp>
      <p:sp>
        <p:nvSpPr>
          <p:cNvPr id="33" name="Shape 31"/>
          <p:cNvSpPr/>
          <p:nvPr/>
        </p:nvSpPr>
        <p:spPr>
          <a:xfrm>
            <a:off x="3860453" y="4233863"/>
            <a:ext cx="3314700" cy="2238375"/>
          </a:xfrm>
          <a:custGeom>
            <a:avLst/>
            <a:gdLst/>
            <a:ahLst/>
            <a:cxnLst/>
            <a:rect l="l" t="t" r="r" b="b"/>
            <a:pathLst>
              <a:path w="3314700" h="2238375">
                <a:moveTo>
                  <a:pt x="114291" y="0"/>
                </a:moveTo>
                <a:lnTo>
                  <a:pt x="3200409" y="0"/>
                </a:lnTo>
                <a:cubicBezTo>
                  <a:pt x="3263530" y="0"/>
                  <a:pt x="3314700" y="51170"/>
                  <a:pt x="3314700" y="114291"/>
                </a:cubicBezTo>
                <a:lnTo>
                  <a:pt x="3314700" y="2124084"/>
                </a:lnTo>
                <a:cubicBezTo>
                  <a:pt x="3314700" y="2187205"/>
                  <a:pt x="3263530" y="2238375"/>
                  <a:pt x="3200409" y="2238375"/>
                </a:cubicBezTo>
                <a:lnTo>
                  <a:pt x="114291" y="2238375"/>
                </a:lnTo>
                <a:cubicBezTo>
                  <a:pt x="51170" y="2238375"/>
                  <a:pt x="0" y="2187205"/>
                  <a:pt x="0" y="2124084"/>
                </a:cubicBezTo>
                <a:lnTo>
                  <a:pt x="0" y="114291"/>
                </a:lnTo>
                <a:cubicBezTo>
                  <a:pt x="0" y="51212"/>
                  <a:pt x="51212" y="0"/>
                  <a:pt x="114291" y="0"/>
                </a:cubicBezTo>
                <a:close/>
              </a:path>
            </a:pathLst>
          </a:custGeom>
          <a:solidFill>
            <a:srgbClr val="FFFFFF">
              <a:alpha val="10196"/>
            </a:srgbClr>
          </a:solidFill>
          <a:ln w="12700">
            <a:solidFill>
              <a:srgbClr val="FFFFFF">
                <a:alpha val="20000"/>
              </a:srgbClr>
            </a:solidFill>
            <a:prstDash val="solid"/>
          </a:ln>
        </p:spPr>
      </p:sp>
      <p:sp>
        <p:nvSpPr>
          <p:cNvPr id="34" name="Text 32"/>
          <p:cNvSpPr/>
          <p:nvPr/>
        </p:nvSpPr>
        <p:spPr>
          <a:xfrm>
            <a:off x="4055715" y="4562475"/>
            <a:ext cx="1562100"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Bonnes Pratiques</a:t>
            </a:r>
            <a:endParaRPr lang="en-US" sz="1600" dirty="0"/>
          </a:p>
        </p:txBody>
      </p:sp>
      <p:sp>
        <p:nvSpPr>
          <p:cNvPr id="35" name="Shape 33"/>
          <p:cNvSpPr/>
          <p:nvPr/>
        </p:nvSpPr>
        <p:spPr>
          <a:xfrm>
            <a:off x="6463605" y="4448175"/>
            <a:ext cx="495300" cy="495300"/>
          </a:xfrm>
          <a:custGeom>
            <a:avLst/>
            <a:gdLst/>
            <a:ahLst/>
            <a:cxnLst/>
            <a:rect l="l" t="t" r="r" b="b"/>
            <a:pathLst>
              <a:path w="495300" h="495300">
                <a:moveTo>
                  <a:pt x="247650" y="0"/>
                </a:moveTo>
                <a:lnTo>
                  <a:pt x="247650" y="0"/>
                </a:lnTo>
                <a:cubicBezTo>
                  <a:pt x="384332" y="0"/>
                  <a:pt x="495300" y="110968"/>
                  <a:pt x="495300" y="247650"/>
                </a:cubicBezTo>
                <a:lnTo>
                  <a:pt x="495300" y="247650"/>
                </a:lnTo>
                <a:cubicBezTo>
                  <a:pt x="495300" y="384332"/>
                  <a:pt x="384332" y="495300"/>
                  <a:pt x="247650" y="495300"/>
                </a:cubicBezTo>
                <a:lnTo>
                  <a:pt x="247650" y="495300"/>
                </a:lnTo>
                <a:cubicBezTo>
                  <a:pt x="110968" y="495300"/>
                  <a:pt x="0" y="384332"/>
                  <a:pt x="0" y="247650"/>
                </a:cubicBezTo>
                <a:lnTo>
                  <a:pt x="0" y="247650"/>
                </a:lnTo>
                <a:cubicBezTo>
                  <a:pt x="0" y="110968"/>
                  <a:pt x="110968" y="0"/>
                  <a:pt x="247650" y="0"/>
                </a:cubicBezTo>
                <a:close/>
              </a:path>
            </a:pathLst>
          </a:custGeom>
          <a:solidFill>
            <a:srgbClr val="00C950">
              <a:alpha val="20000"/>
            </a:srgbClr>
          </a:solidFill>
          <a:ln w="50800">
            <a:solidFill>
              <a:srgbClr val="00C950"/>
            </a:solidFill>
            <a:prstDash val="solid"/>
          </a:ln>
        </p:spPr>
      </p:sp>
      <p:sp>
        <p:nvSpPr>
          <p:cNvPr id="36" name="Text 34"/>
          <p:cNvSpPr/>
          <p:nvPr/>
        </p:nvSpPr>
        <p:spPr>
          <a:xfrm>
            <a:off x="6570836" y="4543425"/>
            <a:ext cx="390525" cy="304800"/>
          </a:xfrm>
          <a:prstGeom prst="rect">
            <a:avLst/>
          </a:prstGeom>
          <a:noFill/>
          <a:ln/>
        </p:spPr>
        <p:txBody>
          <a:bodyPr wrap="square" lIns="0" tIns="0" rIns="0" bIns="0" rtlCol="0" anchor="ctr"/>
          <a:lstStyle/>
          <a:p>
            <a:pPr>
              <a:lnSpc>
                <a:spcPct val="110000"/>
              </a:lnSpc>
            </a:pPr>
            <a:r>
              <a:rPr lang="en-US" sz="1800" b="1" dirty="0">
                <a:solidFill>
                  <a:srgbClr val="05DF72"/>
                </a:solidFill>
                <a:latin typeface="Liter" pitchFamily="34" charset="0"/>
                <a:ea typeface="Liter" pitchFamily="34" charset="-122"/>
                <a:cs typeface="Liter" pitchFamily="34" charset="-120"/>
              </a:rPr>
              <a:t>88</a:t>
            </a:r>
            <a:endParaRPr lang="en-US" sz="1600" dirty="0"/>
          </a:p>
        </p:txBody>
      </p:sp>
      <p:sp>
        <p:nvSpPr>
          <p:cNvPr id="37" name="Shape 35"/>
          <p:cNvSpPr/>
          <p:nvPr/>
        </p:nvSpPr>
        <p:spPr>
          <a:xfrm>
            <a:off x="4055715" y="5076825"/>
            <a:ext cx="2924175" cy="114300"/>
          </a:xfrm>
          <a:custGeom>
            <a:avLst/>
            <a:gdLst/>
            <a:ahLst/>
            <a:cxnLst/>
            <a:rect l="l" t="t" r="r" b="b"/>
            <a:pathLst>
              <a:path w="2924175" h="114300">
                <a:moveTo>
                  <a:pt x="57150" y="0"/>
                </a:moveTo>
                <a:lnTo>
                  <a:pt x="2867025" y="0"/>
                </a:lnTo>
                <a:cubicBezTo>
                  <a:pt x="2898567" y="0"/>
                  <a:pt x="2924175" y="25608"/>
                  <a:pt x="2924175" y="57150"/>
                </a:cubicBezTo>
                <a:lnTo>
                  <a:pt x="2924175" y="57150"/>
                </a:lnTo>
                <a:cubicBezTo>
                  <a:pt x="2924175" y="88692"/>
                  <a:pt x="2898567" y="114300"/>
                  <a:pt x="2867025" y="114300"/>
                </a:cubicBezTo>
                <a:lnTo>
                  <a:pt x="57150" y="114300"/>
                </a:lnTo>
                <a:cubicBezTo>
                  <a:pt x="25608" y="114300"/>
                  <a:pt x="0" y="88692"/>
                  <a:pt x="0" y="57150"/>
                </a:cubicBezTo>
                <a:lnTo>
                  <a:pt x="0" y="57150"/>
                </a:lnTo>
                <a:cubicBezTo>
                  <a:pt x="0" y="25608"/>
                  <a:pt x="25608" y="0"/>
                  <a:pt x="57150" y="0"/>
                </a:cubicBezTo>
                <a:close/>
              </a:path>
            </a:pathLst>
          </a:custGeom>
          <a:solidFill>
            <a:srgbClr val="FFFFFF">
              <a:alpha val="20000"/>
            </a:srgbClr>
          </a:solidFill>
          <a:ln/>
        </p:spPr>
      </p:sp>
      <p:sp>
        <p:nvSpPr>
          <p:cNvPr id="38" name="Shape 36"/>
          <p:cNvSpPr/>
          <p:nvPr/>
        </p:nvSpPr>
        <p:spPr>
          <a:xfrm>
            <a:off x="4055715" y="5076825"/>
            <a:ext cx="2571750" cy="114300"/>
          </a:xfrm>
          <a:custGeom>
            <a:avLst/>
            <a:gdLst/>
            <a:ahLst/>
            <a:cxnLst/>
            <a:rect l="l" t="t" r="r" b="b"/>
            <a:pathLst>
              <a:path w="2571750" h="114300">
                <a:moveTo>
                  <a:pt x="57150" y="0"/>
                </a:moveTo>
                <a:lnTo>
                  <a:pt x="2514600" y="0"/>
                </a:lnTo>
                <a:cubicBezTo>
                  <a:pt x="2546142" y="0"/>
                  <a:pt x="2571750" y="25608"/>
                  <a:pt x="2571750" y="57150"/>
                </a:cubicBezTo>
                <a:lnTo>
                  <a:pt x="2571750" y="57150"/>
                </a:lnTo>
                <a:cubicBezTo>
                  <a:pt x="2571750" y="88692"/>
                  <a:pt x="2546142" y="114300"/>
                  <a:pt x="2514600" y="114300"/>
                </a:cubicBezTo>
                <a:lnTo>
                  <a:pt x="57150" y="114300"/>
                </a:lnTo>
                <a:cubicBezTo>
                  <a:pt x="25608" y="114300"/>
                  <a:pt x="0" y="88692"/>
                  <a:pt x="0" y="57150"/>
                </a:cubicBezTo>
                <a:lnTo>
                  <a:pt x="0" y="57150"/>
                </a:lnTo>
                <a:cubicBezTo>
                  <a:pt x="0" y="25608"/>
                  <a:pt x="25608" y="0"/>
                  <a:pt x="57150" y="0"/>
                </a:cubicBezTo>
                <a:close/>
              </a:path>
            </a:pathLst>
          </a:custGeom>
          <a:solidFill>
            <a:srgbClr val="00C950"/>
          </a:solidFill>
          <a:ln/>
        </p:spPr>
      </p:sp>
      <p:sp>
        <p:nvSpPr>
          <p:cNvPr id="39" name="Text 37"/>
          <p:cNvSpPr/>
          <p:nvPr/>
        </p:nvSpPr>
        <p:spPr>
          <a:xfrm>
            <a:off x="4055715" y="5305425"/>
            <a:ext cx="3000375" cy="228600"/>
          </a:xfrm>
          <a:prstGeom prst="rect">
            <a:avLst/>
          </a:prstGeom>
          <a:noFill/>
          <a:ln/>
        </p:spPr>
        <p:txBody>
          <a:bodyPr wrap="square" lIns="0" tIns="0" rIns="0" bIns="0" rtlCol="0" anchor="ctr"/>
          <a:lstStyle/>
          <a:p>
            <a:pPr>
              <a:lnSpc>
                <a:spcPct val="130000"/>
              </a:lnSpc>
            </a:pPr>
            <a:r>
              <a:rPr lang="en-US" sz="1200" b="1" dirty="0">
                <a:solidFill>
                  <a:srgbClr val="F8F9FA">
                    <a:alpha val="80000"/>
                  </a:srgbClr>
                </a:solidFill>
                <a:latin typeface="Liter" pitchFamily="34" charset="0"/>
                <a:ea typeface="Liter" pitchFamily="34" charset="-122"/>
                <a:cs typeface="Liter" pitchFamily="34" charset="-120"/>
              </a:rPr>
              <a:t>88/100</a:t>
            </a:r>
            <a:pPr>
              <a:lnSpc>
                <a:spcPct val="130000"/>
              </a:lnSpc>
            </a:pPr>
            <a:r>
              <a:rPr lang="en-US" sz="1200" dirty="0">
                <a:solidFill>
                  <a:srgbClr val="F8F9FA">
                    <a:alpha val="80000"/>
                  </a:srgbClr>
                </a:solidFill>
                <a:latin typeface="Liter" pitchFamily="34" charset="0"/>
                <a:ea typeface="Liter" pitchFamily="34" charset="-122"/>
                <a:cs typeface="Liter" pitchFamily="34" charset="-120"/>
              </a:rPr>
              <a:t> - Très bon</a:t>
            </a:r>
            <a:endParaRPr lang="en-US" sz="1600" dirty="0"/>
          </a:p>
        </p:txBody>
      </p:sp>
      <p:sp>
        <p:nvSpPr>
          <p:cNvPr id="40" name="Text 38"/>
          <p:cNvSpPr/>
          <p:nvPr/>
        </p:nvSpPr>
        <p:spPr>
          <a:xfrm>
            <a:off x="4055715" y="5610225"/>
            <a:ext cx="2990850" cy="438150"/>
          </a:xfrm>
          <a:prstGeom prst="rect">
            <a:avLst/>
          </a:prstGeom>
          <a:noFill/>
          <a:ln/>
        </p:spPr>
        <p:txBody>
          <a:bodyPr wrap="square" lIns="0" tIns="0" rIns="0" bIns="0" rtlCol="0" anchor="ctr"/>
          <a:lstStyle/>
          <a:p>
            <a:pPr>
              <a:lnSpc>
                <a:spcPct val="140000"/>
              </a:lnSpc>
            </a:pPr>
            <a:r>
              <a:rPr lang="en-US" sz="1050" dirty="0">
                <a:solidFill>
                  <a:srgbClr val="F8F9FA">
                    <a:alpha val="60000"/>
                  </a:srgbClr>
                </a:solidFill>
                <a:latin typeface="Liter" pitchFamily="34" charset="0"/>
                <a:ea typeface="Liter" pitchFamily="34" charset="-122"/>
                <a:cs typeface="Liter" pitchFamily="34" charset="-120"/>
              </a:rPr>
              <a:t>L'expérience utilisateur globale respecte les standards du web moderne.</a:t>
            </a:r>
            <a:endParaRPr lang="en-US" sz="1600" dirty="0"/>
          </a:p>
        </p:txBody>
      </p:sp>
      <p:sp>
        <p:nvSpPr>
          <p:cNvPr id="41" name="Shape 39"/>
          <p:cNvSpPr/>
          <p:nvPr/>
        </p:nvSpPr>
        <p:spPr>
          <a:xfrm>
            <a:off x="7335143" y="1528763"/>
            <a:ext cx="4467225" cy="3019425"/>
          </a:xfrm>
          <a:custGeom>
            <a:avLst/>
            <a:gdLst/>
            <a:ahLst/>
            <a:cxnLst/>
            <a:rect l="l" t="t" r="r" b="b"/>
            <a:pathLst>
              <a:path w="4467225" h="3019425">
                <a:moveTo>
                  <a:pt x="114285" y="0"/>
                </a:moveTo>
                <a:lnTo>
                  <a:pt x="4352940" y="0"/>
                </a:lnTo>
                <a:cubicBezTo>
                  <a:pt x="4416058" y="0"/>
                  <a:pt x="4467225" y="51167"/>
                  <a:pt x="4467225" y="114285"/>
                </a:cubicBezTo>
                <a:lnTo>
                  <a:pt x="4467225" y="2905140"/>
                </a:lnTo>
                <a:cubicBezTo>
                  <a:pt x="4467225" y="2968258"/>
                  <a:pt x="4416058" y="3019425"/>
                  <a:pt x="4352940" y="3019425"/>
                </a:cubicBezTo>
                <a:lnTo>
                  <a:pt x="114285" y="3019425"/>
                </a:lnTo>
                <a:cubicBezTo>
                  <a:pt x="51167" y="3019425"/>
                  <a:pt x="0" y="2968258"/>
                  <a:pt x="0" y="2905140"/>
                </a:cubicBezTo>
                <a:lnTo>
                  <a:pt x="0" y="114285"/>
                </a:lnTo>
                <a:cubicBezTo>
                  <a:pt x="0" y="51167"/>
                  <a:pt x="51167" y="0"/>
                  <a:pt x="114285" y="0"/>
                </a:cubicBezTo>
                <a:close/>
              </a:path>
            </a:pathLst>
          </a:custGeom>
          <a:solidFill>
            <a:srgbClr val="C5A065">
              <a:alpha val="20000"/>
            </a:srgbClr>
          </a:solidFill>
          <a:ln w="12700">
            <a:solidFill>
              <a:srgbClr val="C5A065">
                <a:alpha val="40000"/>
              </a:srgbClr>
            </a:solidFill>
            <a:prstDash val="solid"/>
          </a:ln>
        </p:spPr>
      </p:sp>
      <p:sp>
        <p:nvSpPr>
          <p:cNvPr id="42" name="Shape 40"/>
          <p:cNvSpPr/>
          <p:nvPr/>
        </p:nvSpPr>
        <p:spPr>
          <a:xfrm>
            <a:off x="7554218" y="1762125"/>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8" y="53764"/>
                  <a:pt x="134987" y="51569"/>
                </a:cubicBezTo>
                <a:cubicBezTo>
                  <a:pt x="130597" y="49374"/>
                  <a:pt x="125202" y="51160"/>
                  <a:pt x="123006" y="55550"/>
                </a:cubicBezTo>
                <a:lnTo>
                  <a:pt x="97148" y="107231"/>
                </a:lnTo>
                <a:cubicBezTo>
                  <a:pt x="96515" y="107193"/>
                  <a:pt x="95883" y="107156"/>
                  <a:pt x="95250" y="107156"/>
                </a:cubicBezTo>
                <a:cubicBezTo>
                  <a:pt x="82116" y="107156"/>
                  <a:pt x="71438" y="117835"/>
                  <a:pt x="71438" y="130969"/>
                </a:cubicBezTo>
                <a:cubicBezTo>
                  <a:pt x="71438" y="144103"/>
                  <a:pt x="82116" y="154781"/>
                  <a:pt x="95250" y="154781"/>
                </a:cubicBezTo>
                <a:close/>
                <a:moveTo>
                  <a:pt x="65484" y="53578"/>
                </a:moveTo>
                <a:cubicBezTo>
                  <a:pt x="65484" y="47007"/>
                  <a:pt x="60149" y="41672"/>
                  <a:pt x="53578" y="41672"/>
                </a:cubicBezTo>
                <a:cubicBezTo>
                  <a:pt x="47007" y="41672"/>
                  <a:pt x="41672" y="47007"/>
                  <a:pt x="41672" y="53578"/>
                </a:cubicBezTo>
                <a:cubicBezTo>
                  <a:pt x="41672" y="60149"/>
                  <a:pt x="47007" y="65484"/>
                  <a:pt x="53578" y="65484"/>
                </a:cubicBezTo>
                <a:cubicBezTo>
                  <a:pt x="60149" y="65484"/>
                  <a:pt x="65484" y="60149"/>
                  <a:pt x="65484" y="53578"/>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C5A065"/>
          </a:solidFill>
          <a:ln/>
        </p:spPr>
      </p:sp>
      <p:sp>
        <p:nvSpPr>
          <p:cNvPr id="43" name="Text 41"/>
          <p:cNvSpPr/>
          <p:nvPr/>
        </p:nvSpPr>
        <p:spPr>
          <a:xfrm>
            <a:off x="7768530" y="1724025"/>
            <a:ext cx="393382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Core Web Vitals</a:t>
            </a:r>
            <a:endParaRPr lang="en-US" sz="1600" dirty="0"/>
          </a:p>
        </p:txBody>
      </p:sp>
      <p:sp>
        <p:nvSpPr>
          <p:cNvPr id="44" name="Text 42"/>
          <p:cNvSpPr/>
          <p:nvPr/>
        </p:nvSpPr>
        <p:spPr>
          <a:xfrm>
            <a:off x="7530405" y="2162175"/>
            <a:ext cx="21336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Liter" pitchFamily="34" charset="0"/>
                <a:ea typeface="Liter" pitchFamily="34" charset="-122"/>
                <a:cs typeface="Liter" pitchFamily="34" charset="-120"/>
              </a:rPr>
              <a:t>LCP (Largest Contentful Paint)</a:t>
            </a:r>
            <a:endParaRPr lang="en-US" sz="1600" dirty="0"/>
          </a:p>
        </p:txBody>
      </p:sp>
      <p:sp>
        <p:nvSpPr>
          <p:cNvPr id="45" name="Text 43"/>
          <p:cNvSpPr/>
          <p:nvPr/>
        </p:nvSpPr>
        <p:spPr>
          <a:xfrm>
            <a:off x="11216506" y="2143125"/>
            <a:ext cx="476250" cy="266700"/>
          </a:xfrm>
          <a:prstGeom prst="rect">
            <a:avLst/>
          </a:prstGeom>
          <a:noFill/>
          <a:ln/>
        </p:spPr>
        <p:txBody>
          <a:bodyPr wrap="square" lIns="0" tIns="0" rIns="0" bIns="0" rtlCol="0" anchor="ctr"/>
          <a:lstStyle/>
          <a:p>
            <a:pPr>
              <a:lnSpc>
                <a:spcPct val="130000"/>
              </a:lnSpc>
            </a:pPr>
            <a:r>
              <a:rPr lang="en-US" sz="1350" b="1" dirty="0">
                <a:solidFill>
                  <a:srgbClr val="FF6467"/>
                </a:solidFill>
                <a:latin typeface="Liter" pitchFamily="34" charset="0"/>
                <a:ea typeface="Liter" pitchFamily="34" charset="-122"/>
                <a:cs typeface="Liter" pitchFamily="34" charset="-120"/>
              </a:rPr>
              <a:t>3.13s</a:t>
            </a:r>
            <a:endParaRPr lang="en-US" sz="1600" dirty="0"/>
          </a:p>
        </p:txBody>
      </p:sp>
      <p:sp>
        <p:nvSpPr>
          <p:cNvPr id="46" name="Shape 44"/>
          <p:cNvSpPr/>
          <p:nvPr/>
        </p:nvSpPr>
        <p:spPr>
          <a:xfrm>
            <a:off x="7530405" y="2486025"/>
            <a:ext cx="4076700" cy="76200"/>
          </a:xfrm>
          <a:custGeom>
            <a:avLst/>
            <a:gdLst/>
            <a:ahLst/>
            <a:cxnLst/>
            <a:rect l="l" t="t" r="r" b="b"/>
            <a:pathLst>
              <a:path w="4076700" h="76200">
                <a:moveTo>
                  <a:pt x="38100" y="0"/>
                </a:moveTo>
                <a:lnTo>
                  <a:pt x="4038600" y="0"/>
                </a:lnTo>
                <a:cubicBezTo>
                  <a:pt x="4059628" y="0"/>
                  <a:pt x="4076700" y="17072"/>
                  <a:pt x="4076700" y="38100"/>
                </a:cubicBezTo>
                <a:lnTo>
                  <a:pt x="4076700" y="38100"/>
                </a:lnTo>
                <a:cubicBezTo>
                  <a:pt x="4076700" y="59128"/>
                  <a:pt x="4059628" y="76200"/>
                  <a:pt x="4038600" y="76200"/>
                </a:cubicBezTo>
                <a:lnTo>
                  <a:pt x="38100" y="76200"/>
                </a:lnTo>
                <a:cubicBezTo>
                  <a:pt x="17072" y="76200"/>
                  <a:pt x="0" y="59128"/>
                  <a:pt x="0" y="38100"/>
                </a:cubicBezTo>
                <a:lnTo>
                  <a:pt x="0" y="38100"/>
                </a:lnTo>
                <a:cubicBezTo>
                  <a:pt x="0" y="17072"/>
                  <a:pt x="17072" y="0"/>
                  <a:pt x="38100" y="0"/>
                </a:cubicBezTo>
                <a:close/>
              </a:path>
            </a:pathLst>
          </a:custGeom>
          <a:solidFill>
            <a:srgbClr val="FFFFFF">
              <a:alpha val="20000"/>
            </a:srgbClr>
          </a:solidFill>
          <a:ln/>
        </p:spPr>
      </p:sp>
      <p:sp>
        <p:nvSpPr>
          <p:cNvPr id="47" name="Shape 45"/>
          <p:cNvSpPr/>
          <p:nvPr/>
        </p:nvSpPr>
        <p:spPr>
          <a:xfrm>
            <a:off x="7530405" y="2486025"/>
            <a:ext cx="4076700" cy="76200"/>
          </a:xfrm>
          <a:custGeom>
            <a:avLst/>
            <a:gdLst/>
            <a:ahLst/>
            <a:cxnLst/>
            <a:rect l="l" t="t" r="r" b="b"/>
            <a:pathLst>
              <a:path w="4076700" h="76200">
                <a:moveTo>
                  <a:pt x="38100" y="0"/>
                </a:moveTo>
                <a:lnTo>
                  <a:pt x="4038600" y="0"/>
                </a:lnTo>
                <a:cubicBezTo>
                  <a:pt x="4059628" y="0"/>
                  <a:pt x="4076700" y="17072"/>
                  <a:pt x="4076700" y="38100"/>
                </a:cubicBezTo>
                <a:lnTo>
                  <a:pt x="4076700" y="38100"/>
                </a:lnTo>
                <a:cubicBezTo>
                  <a:pt x="4076700" y="59128"/>
                  <a:pt x="4059628" y="76200"/>
                  <a:pt x="4038600" y="76200"/>
                </a:cubicBezTo>
                <a:lnTo>
                  <a:pt x="38100" y="76200"/>
                </a:lnTo>
                <a:cubicBezTo>
                  <a:pt x="17072" y="76200"/>
                  <a:pt x="0" y="59128"/>
                  <a:pt x="0" y="38100"/>
                </a:cubicBezTo>
                <a:lnTo>
                  <a:pt x="0" y="38100"/>
                </a:lnTo>
                <a:cubicBezTo>
                  <a:pt x="0" y="17072"/>
                  <a:pt x="17072" y="0"/>
                  <a:pt x="38100" y="0"/>
                </a:cubicBezTo>
                <a:close/>
              </a:path>
            </a:pathLst>
          </a:custGeom>
          <a:solidFill>
            <a:srgbClr val="FB2C36"/>
          </a:solidFill>
          <a:ln/>
        </p:spPr>
      </p:sp>
      <p:sp>
        <p:nvSpPr>
          <p:cNvPr id="48" name="Text 46"/>
          <p:cNvSpPr/>
          <p:nvPr/>
        </p:nvSpPr>
        <p:spPr>
          <a:xfrm>
            <a:off x="7530405" y="2600325"/>
            <a:ext cx="4143375" cy="190500"/>
          </a:xfrm>
          <a:prstGeom prst="rect">
            <a:avLst/>
          </a:prstGeom>
          <a:noFill/>
          <a:ln/>
        </p:spPr>
        <p:txBody>
          <a:bodyPr wrap="square" lIns="0" tIns="0" rIns="0" bIns="0" rtlCol="0" anchor="ctr"/>
          <a:lstStyle/>
          <a:p>
            <a:pPr>
              <a:lnSpc>
                <a:spcPct val="120000"/>
              </a:lnSpc>
            </a:pPr>
            <a:r>
              <a:rPr lang="en-US" sz="1050" dirty="0">
                <a:solidFill>
                  <a:srgbClr val="F8F9FA">
                    <a:alpha val="60000"/>
                  </a:srgbClr>
                </a:solidFill>
                <a:latin typeface="Liter" pitchFamily="34" charset="0"/>
                <a:ea typeface="Liter" pitchFamily="34" charset="-122"/>
                <a:cs typeface="Liter" pitchFamily="34" charset="-120"/>
              </a:rPr>
              <a:t>Target: &lt;2.5s | Actuel: CRITIQUE</a:t>
            </a:r>
            <a:endParaRPr lang="en-US" sz="1600" dirty="0"/>
          </a:p>
        </p:txBody>
      </p:sp>
      <p:sp>
        <p:nvSpPr>
          <p:cNvPr id="49" name="Shape 47"/>
          <p:cNvSpPr/>
          <p:nvPr/>
        </p:nvSpPr>
        <p:spPr>
          <a:xfrm>
            <a:off x="7530405" y="2947988"/>
            <a:ext cx="4076700" cy="9525"/>
          </a:xfrm>
          <a:custGeom>
            <a:avLst/>
            <a:gdLst/>
            <a:ahLst/>
            <a:cxnLst/>
            <a:rect l="l" t="t" r="r" b="b"/>
            <a:pathLst>
              <a:path w="4076700" h="9525">
                <a:moveTo>
                  <a:pt x="0" y="0"/>
                </a:moveTo>
                <a:lnTo>
                  <a:pt x="4076700" y="0"/>
                </a:lnTo>
                <a:lnTo>
                  <a:pt x="4076700" y="9525"/>
                </a:lnTo>
                <a:lnTo>
                  <a:pt x="0" y="9525"/>
                </a:lnTo>
                <a:lnTo>
                  <a:pt x="0" y="0"/>
                </a:lnTo>
                <a:close/>
              </a:path>
            </a:pathLst>
          </a:custGeom>
          <a:solidFill>
            <a:srgbClr val="FFFFFF">
              <a:alpha val="20000"/>
            </a:srgbClr>
          </a:solidFill>
          <a:ln/>
        </p:spPr>
      </p:sp>
      <p:sp>
        <p:nvSpPr>
          <p:cNvPr id="50" name="Text 48"/>
          <p:cNvSpPr/>
          <p:nvPr/>
        </p:nvSpPr>
        <p:spPr>
          <a:xfrm>
            <a:off x="7530405" y="3067050"/>
            <a:ext cx="4143375" cy="438150"/>
          </a:xfrm>
          <a:prstGeom prst="rect">
            <a:avLst/>
          </a:prstGeom>
          <a:noFill/>
          <a:ln/>
        </p:spPr>
        <p:txBody>
          <a:bodyPr wrap="square" lIns="0" tIns="0" rIns="0" bIns="0" rtlCol="0" anchor="ctr"/>
          <a:lstStyle/>
          <a:p>
            <a:pPr>
              <a:lnSpc>
                <a:spcPct val="140000"/>
              </a:lnSpc>
            </a:pPr>
            <a:r>
              <a:rPr lang="en-US" sz="1050" b="1" dirty="0">
                <a:solidFill>
                  <a:srgbClr val="C5A065"/>
                </a:solidFill>
                <a:latin typeface="Liter" pitchFamily="34" charset="0"/>
                <a:ea typeface="Liter" pitchFamily="34" charset="-122"/>
                <a:cs typeface="Liter" pitchFamily="34" charset="-120"/>
              </a:rPr>
              <a:t>Impact:</a:t>
            </a:r>
            <a:pPr>
              <a:lnSpc>
                <a:spcPct val="140000"/>
              </a:lnSpc>
            </a:pPr>
            <a:r>
              <a:rPr lang="en-US" sz="1050" dirty="0">
                <a:solidFill>
                  <a:srgbClr val="F8F9FA">
                    <a:alpha val="80000"/>
                  </a:srgbClr>
                </a:solidFill>
                <a:latin typeface="Liter" pitchFamily="34" charset="0"/>
                <a:ea typeface="Liter" pitchFamily="34" charset="-122"/>
                <a:cs typeface="Liter" pitchFamily="34" charset="-120"/>
              </a:rPr>
              <a:t> Au-delà de 2.5s, le taux de rebond augmente de 32% et les conversions chutent significativement.</a:t>
            </a:r>
            <a:endParaRPr lang="en-US" sz="1600" dirty="0"/>
          </a:p>
        </p:txBody>
      </p:sp>
      <p:sp>
        <p:nvSpPr>
          <p:cNvPr id="51" name="Shape 49"/>
          <p:cNvSpPr/>
          <p:nvPr/>
        </p:nvSpPr>
        <p:spPr>
          <a:xfrm>
            <a:off x="7335143" y="4710113"/>
            <a:ext cx="4467225" cy="1762125"/>
          </a:xfrm>
          <a:custGeom>
            <a:avLst/>
            <a:gdLst/>
            <a:ahLst/>
            <a:cxnLst/>
            <a:rect l="l" t="t" r="r" b="b"/>
            <a:pathLst>
              <a:path w="4467225" h="1762125">
                <a:moveTo>
                  <a:pt x="114291" y="0"/>
                </a:moveTo>
                <a:lnTo>
                  <a:pt x="4352934" y="0"/>
                </a:lnTo>
                <a:cubicBezTo>
                  <a:pt x="4416055" y="0"/>
                  <a:pt x="4467225" y="51170"/>
                  <a:pt x="4467225" y="114291"/>
                </a:cubicBezTo>
                <a:lnTo>
                  <a:pt x="4467225" y="1647834"/>
                </a:lnTo>
                <a:cubicBezTo>
                  <a:pt x="4467225" y="1710955"/>
                  <a:pt x="4416055" y="1762125"/>
                  <a:pt x="4352934" y="1762125"/>
                </a:cubicBezTo>
                <a:lnTo>
                  <a:pt x="114291" y="1762125"/>
                </a:lnTo>
                <a:cubicBezTo>
                  <a:pt x="51170" y="1762125"/>
                  <a:pt x="0" y="1710955"/>
                  <a:pt x="0" y="1647834"/>
                </a:cubicBezTo>
                <a:lnTo>
                  <a:pt x="0" y="114291"/>
                </a:lnTo>
                <a:cubicBezTo>
                  <a:pt x="0" y="51212"/>
                  <a:pt x="51212" y="0"/>
                  <a:pt x="114291" y="0"/>
                </a:cubicBezTo>
                <a:close/>
              </a:path>
            </a:pathLst>
          </a:custGeom>
          <a:solidFill>
            <a:srgbClr val="FFFFFF">
              <a:alpha val="10196"/>
            </a:srgbClr>
          </a:solidFill>
          <a:ln w="12700">
            <a:solidFill>
              <a:srgbClr val="FFFFFF">
                <a:alpha val="20000"/>
              </a:srgbClr>
            </a:solidFill>
            <a:prstDash val="solid"/>
          </a:ln>
        </p:spPr>
      </p:sp>
      <p:sp>
        <p:nvSpPr>
          <p:cNvPr id="52" name="Text 50"/>
          <p:cNvSpPr/>
          <p:nvPr/>
        </p:nvSpPr>
        <p:spPr>
          <a:xfrm>
            <a:off x="7530405" y="4905375"/>
            <a:ext cx="4162425" cy="266700"/>
          </a:xfrm>
          <a:prstGeom prst="rect">
            <a:avLst/>
          </a:prstGeom>
          <a:noFill/>
          <a:ln/>
        </p:spPr>
        <p:txBody>
          <a:bodyPr wrap="square" lIns="0" tIns="0" rIns="0" bIns="0" rtlCol="0" anchor="ctr"/>
          <a:lstStyle/>
          <a:p>
            <a:pPr>
              <a:lnSpc>
                <a:spcPct val="130000"/>
              </a:lnSpc>
            </a:pPr>
            <a:r>
              <a:rPr lang="en-US" sz="1350" b="1" dirty="0">
                <a:solidFill>
                  <a:srgbClr val="F8F9FA"/>
                </a:solidFill>
                <a:latin typeface="Liter" pitchFamily="34" charset="0"/>
                <a:ea typeface="Liter" pitchFamily="34" charset="-122"/>
                <a:cs typeface="Liter" pitchFamily="34" charset="-120"/>
              </a:rPr>
              <a:t>Benchmarks Industrie Healthcare</a:t>
            </a:r>
            <a:endParaRPr lang="en-US" sz="1600" dirty="0"/>
          </a:p>
        </p:txBody>
      </p:sp>
      <p:sp>
        <p:nvSpPr>
          <p:cNvPr id="53" name="Text 51"/>
          <p:cNvSpPr/>
          <p:nvPr/>
        </p:nvSpPr>
        <p:spPr>
          <a:xfrm>
            <a:off x="7530405" y="5286375"/>
            <a:ext cx="1123950" cy="190500"/>
          </a:xfrm>
          <a:prstGeom prst="rect">
            <a:avLst/>
          </a:prstGeom>
          <a:noFill/>
          <a:ln/>
        </p:spPr>
        <p:txBody>
          <a:bodyPr wrap="square" lIns="0" tIns="0" rIns="0" bIns="0" rtlCol="0" anchor="ctr"/>
          <a:lstStyle/>
          <a:p>
            <a:pPr>
              <a:lnSpc>
                <a:spcPct val="120000"/>
              </a:lnSpc>
            </a:pPr>
            <a:r>
              <a:rPr lang="en-US" sz="1050" dirty="0">
                <a:solidFill>
                  <a:srgbClr val="F8F9FA">
                    <a:alpha val="80000"/>
                  </a:srgbClr>
                </a:solidFill>
                <a:latin typeface="Liter" pitchFamily="34" charset="0"/>
                <a:ea typeface="Liter" pitchFamily="34" charset="-122"/>
                <a:cs typeface="Liter" pitchFamily="34" charset="-120"/>
              </a:rPr>
              <a:t>SEO Score moyen</a:t>
            </a:r>
            <a:endParaRPr lang="en-US" sz="1600" dirty="0"/>
          </a:p>
        </p:txBody>
      </p:sp>
      <p:sp>
        <p:nvSpPr>
          <p:cNvPr id="54" name="Text 52"/>
          <p:cNvSpPr/>
          <p:nvPr/>
        </p:nvSpPr>
        <p:spPr>
          <a:xfrm>
            <a:off x="10984632" y="5286375"/>
            <a:ext cx="695325" cy="190500"/>
          </a:xfrm>
          <a:prstGeom prst="rect">
            <a:avLst/>
          </a:prstGeom>
          <a:noFill/>
          <a:ln/>
        </p:spPr>
        <p:txBody>
          <a:bodyPr wrap="square" lIns="0" tIns="0" rIns="0" bIns="0" rtlCol="0" anchor="ctr"/>
          <a:lstStyle/>
          <a:p>
            <a:pPr>
              <a:lnSpc>
                <a:spcPct val="120000"/>
              </a:lnSpc>
            </a:pPr>
            <a:r>
              <a:rPr lang="en-US" sz="1050" b="1" dirty="0">
                <a:solidFill>
                  <a:srgbClr val="C5A065"/>
                </a:solidFill>
                <a:latin typeface="Liter" pitchFamily="34" charset="0"/>
                <a:ea typeface="Liter" pitchFamily="34" charset="-122"/>
                <a:cs typeface="Liter" pitchFamily="34" charset="-120"/>
              </a:rPr>
              <a:t>65-75/100</a:t>
            </a:r>
            <a:endParaRPr lang="en-US" sz="1600" dirty="0"/>
          </a:p>
        </p:txBody>
      </p:sp>
      <p:sp>
        <p:nvSpPr>
          <p:cNvPr id="55" name="Text 53"/>
          <p:cNvSpPr/>
          <p:nvPr/>
        </p:nvSpPr>
        <p:spPr>
          <a:xfrm>
            <a:off x="7530405" y="5553075"/>
            <a:ext cx="1152525" cy="190500"/>
          </a:xfrm>
          <a:prstGeom prst="rect">
            <a:avLst/>
          </a:prstGeom>
          <a:noFill/>
          <a:ln/>
        </p:spPr>
        <p:txBody>
          <a:bodyPr wrap="square" lIns="0" tIns="0" rIns="0" bIns="0" rtlCol="0" anchor="ctr"/>
          <a:lstStyle/>
          <a:p>
            <a:pPr>
              <a:lnSpc>
                <a:spcPct val="120000"/>
              </a:lnSpc>
            </a:pPr>
            <a:r>
              <a:rPr lang="en-US" sz="1050" dirty="0">
                <a:solidFill>
                  <a:srgbClr val="F8F9FA">
                    <a:alpha val="80000"/>
                  </a:srgbClr>
                </a:solidFill>
                <a:latin typeface="Liter" pitchFamily="34" charset="0"/>
                <a:ea typeface="Liter" pitchFamily="34" charset="-122"/>
                <a:cs typeface="Liter" pitchFamily="34" charset="-120"/>
              </a:rPr>
              <a:t>Lighthouse moyen</a:t>
            </a:r>
            <a:endParaRPr lang="en-US" sz="1600" dirty="0"/>
          </a:p>
        </p:txBody>
      </p:sp>
      <p:sp>
        <p:nvSpPr>
          <p:cNvPr id="56" name="Text 54"/>
          <p:cNvSpPr/>
          <p:nvPr/>
        </p:nvSpPr>
        <p:spPr>
          <a:xfrm>
            <a:off x="10979348" y="5553075"/>
            <a:ext cx="695325" cy="190500"/>
          </a:xfrm>
          <a:prstGeom prst="rect">
            <a:avLst/>
          </a:prstGeom>
          <a:noFill/>
          <a:ln/>
        </p:spPr>
        <p:txBody>
          <a:bodyPr wrap="square" lIns="0" tIns="0" rIns="0" bIns="0" rtlCol="0" anchor="ctr"/>
          <a:lstStyle/>
          <a:p>
            <a:pPr>
              <a:lnSpc>
                <a:spcPct val="120000"/>
              </a:lnSpc>
            </a:pPr>
            <a:r>
              <a:rPr lang="en-US" sz="1050" b="1" dirty="0">
                <a:solidFill>
                  <a:srgbClr val="C5A065"/>
                </a:solidFill>
                <a:latin typeface="Liter" pitchFamily="34" charset="0"/>
                <a:ea typeface="Liter" pitchFamily="34" charset="-122"/>
                <a:cs typeface="Liter" pitchFamily="34" charset="-120"/>
              </a:rPr>
              <a:t>55-70/100</a:t>
            </a:r>
            <a:endParaRPr lang="en-US" sz="1600" dirty="0"/>
          </a:p>
        </p:txBody>
      </p:sp>
      <p:sp>
        <p:nvSpPr>
          <p:cNvPr id="57" name="Text 55"/>
          <p:cNvSpPr/>
          <p:nvPr/>
        </p:nvSpPr>
        <p:spPr>
          <a:xfrm>
            <a:off x="7530405" y="5819775"/>
            <a:ext cx="742950" cy="190500"/>
          </a:xfrm>
          <a:prstGeom prst="rect">
            <a:avLst/>
          </a:prstGeom>
          <a:noFill/>
          <a:ln/>
        </p:spPr>
        <p:txBody>
          <a:bodyPr wrap="square" lIns="0" tIns="0" rIns="0" bIns="0" rtlCol="0" anchor="ctr"/>
          <a:lstStyle/>
          <a:p>
            <a:pPr>
              <a:lnSpc>
                <a:spcPct val="120000"/>
              </a:lnSpc>
            </a:pPr>
            <a:r>
              <a:rPr lang="en-US" sz="1050" dirty="0">
                <a:solidFill>
                  <a:srgbClr val="F8F9FA">
                    <a:alpha val="80000"/>
                  </a:srgbClr>
                </a:solidFill>
                <a:latin typeface="Liter" pitchFamily="34" charset="0"/>
                <a:ea typeface="Liter" pitchFamily="34" charset="-122"/>
                <a:cs typeface="Liter" pitchFamily="34" charset="-120"/>
              </a:rPr>
              <a:t>LCP moyen</a:t>
            </a:r>
            <a:endParaRPr lang="en-US" sz="1600" dirty="0"/>
          </a:p>
        </p:txBody>
      </p:sp>
      <p:sp>
        <p:nvSpPr>
          <p:cNvPr id="58" name="Text 56"/>
          <p:cNvSpPr/>
          <p:nvPr/>
        </p:nvSpPr>
        <p:spPr>
          <a:xfrm>
            <a:off x="11119470" y="5819775"/>
            <a:ext cx="561975" cy="190500"/>
          </a:xfrm>
          <a:prstGeom prst="rect">
            <a:avLst/>
          </a:prstGeom>
          <a:noFill/>
          <a:ln/>
        </p:spPr>
        <p:txBody>
          <a:bodyPr wrap="square" lIns="0" tIns="0" rIns="0" bIns="0" rtlCol="0" anchor="ctr"/>
          <a:lstStyle/>
          <a:p>
            <a:pPr>
              <a:lnSpc>
                <a:spcPct val="120000"/>
              </a:lnSpc>
            </a:pPr>
            <a:r>
              <a:rPr lang="en-US" sz="1050" b="1" dirty="0">
                <a:solidFill>
                  <a:srgbClr val="C5A065"/>
                </a:solidFill>
                <a:latin typeface="Liter" pitchFamily="34" charset="0"/>
                <a:ea typeface="Liter" pitchFamily="34" charset="-122"/>
                <a:cs typeface="Liter" pitchFamily="34" charset="-120"/>
              </a:rPr>
              <a:t>3.2-4.5s</a:t>
            </a:r>
            <a:endParaRPr lang="en-US" sz="1600" dirty="0"/>
          </a:p>
        </p:txBody>
      </p:sp>
      <p:sp>
        <p:nvSpPr>
          <p:cNvPr id="59" name="Text 57"/>
          <p:cNvSpPr/>
          <p:nvPr/>
        </p:nvSpPr>
        <p:spPr>
          <a:xfrm>
            <a:off x="7530405" y="6124575"/>
            <a:ext cx="4133850" cy="152400"/>
          </a:xfrm>
          <a:prstGeom prst="rect">
            <a:avLst/>
          </a:prstGeom>
          <a:noFill/>
          <a:ln/>
        </p:spPr>
        <p:txBody>
          <a:bodyPr wrap="square" lIns="0" tIns="0" rIns="0" bIns="0" rtlCol="0" anchor="ctr"/>
          <a:lstStyle/>
          <a:p>
            <a:pPr>
              <a:lnSpc>
                <a:spcPct val="110000"/>
              </a:lnSpc>
            </a:pPr>
            <a:r>
              <a:rPr lang="en-US" sz="900" dirty="0">
                <a:solidFill>
                  <a:srgbClr val="F8F9FA">
                    <a:alpha val="50000"/>
                  </a:srgbClr>
                </a:solidFill>
                <a:latin typeface="Liter" pitchFamily="34" charset="0"/>
                <a:ea typeface="Liter" pitchFamily="34" charset="-122"/>
                <a:cs typeface="Liter" pitchFamily="34" charset="-120"/>
              </a:rPr>
              <a:t>Source: Fullmedia Healthcare Web Vitals 2025</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C5A065"/>
                </a:solidFill>
                <a:latin typeface="Liter" pitchFamily="34" charset="0"/>
                <a:ea typeface="Liter" pitchFamily="34" charset="-122"/>
                <a:cs typeface="Liter" pitchFamily="34" charset="-120"/>
              </a:rPr>
              <a:t>PHASE 2: CARTOGRAPHIE</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A3A52"/>
                </a:solidFill>
                <a:latin typeface="Liter" pitchFamily="34" charset="0"/>
                <a:ea typeface="Liter" pitchFamily="34" charset="-122"/>
                <a:cs typeface="Liter" pitchFamily="34" charset="-120"/>
              </a:rPr>
              <a:t>Les Frictions Techniques</a:t>
            </a:r>
            <a:endParaRPr lang="en-US" sz="1600" dirty="0"/>
          </a:p>
        </p:txBody>
      </p:sp>
      <p:sp>
        <p:nvSpPr>
          <p:cNvPr id="4" name="Text 2"/>
          <p:cNvSpPr/>
          <p:nvPr/>
        </p:nvSpPr>
        <p:spPr>
          <a:xfrm>
            <a:off x="381000" y="1104900"/>
            <a:ext cx="11515725" cy="266700"/>
          </a:xfrm>
          <a:prstGeom prst="rect">
            <a:avLst/>
          </a:prstGeom>
          <a:noFill/>
          <a:ln/>
        </p:spPr>
        <p:txBody>
          <a:bodyPr wrap="square" lIns="0" tIns="0" rIns="0" bIns="0" rtlCol="0" anchor="ctr"/>
          <a:lstStyle/>
          <a:p>
            <a:pPr>
              <a:lnSpc>
                <a:spcPct val="130000"/>
              </a:lnSpc>
            </a:pPr>
            <a:r>
              <a:rPr lang="en-US" sz="1350" dirty="0">
                <a:solidFill>
                  <a:srgbClr val="6C757D"/>
                </a:solidFill>
                <a:latin typeface="Liter" pitchFamily="34" charset="0"/>
                <a:ea typeface="Liter" pitchFamily="34" charset="-122"/>
                <a:cs typeface="Liter" pitchFamily="34" charset="-120"/>
              </a:rPr>
              <a:t>Les 3 fuites invisibles qui coûtent des patients à votre clinique</a:t>
            </a:r>
            <a:endParaRPr lang="en-US" sz="1600" dirty="0"/>
          </a:p>
        </p:txBody>
      </p:sp>
      <p:sp>
        <p:nvSpPr>
          <p:cNvPr id="5" name="Shape 3"/>
          <p:cNvSpPr/>
          <p:nvPr/>
        </p:nvSpPr>
        <p:spPr>
          <a:xfrm>
            <a:off x="381000" y="1524000"/>
            <a:ext cx="11430000" cy="685800"/>
          </a:xfrm>
          <a:custGeom>
            <a:avLst/>
            <a:gdLst/>
            <a:ahLst/>
            <a:cxnLst/>
            <a:rect l="l" t="t" r="r" b="b"/>
            <a:pathLst>
              <a:path w="11430000" h="685800">
                <a:moveTo>
                  <a:pt x="114302" y="0"/>
                </a:moveTo>
                <a:lnTo>
                  <a:pt x="11315698" y="0"/>
                </a:lnTo>
                <a:cubicBezTo>
                  <a:pt x="11378783" y="0"/>
                  <a:pt x="11430000" y="51217"/>
                  <a:pt x="11430000" y="114302"/>
                </a:cubicBezTo>
                <a:lnTo>
                  <a:pt x="11430000" y="571498"/>
                </a:lnTo>
                <a:cubicBezTo>
                  <a:pt x="11430000" y="634583"/>
                  <a:pt x="11378783" y="685800"/>
                  <a:pt x="11315698" y="685800"/>
                </a:cubicBezTo>
                <a:lnTo>
                  <a:pt x="114302" y="685800"/>
                </a:lnTo>
                <a:cubicBezTo>
                  <a:pt x="51217" y="685800"/>
                  <a:pt x="0" y="634583"/>
                  <a:pt x="0" y="571498"/>
                </a:cubicBezTo>
                <a:lnTo>
                  <a:pt x="0" y="114302"/>
                </a:lnTo>
                <a:cubicBezTo>
                  <a:pt x="0" y="51217"/>
                  <a:pt x="51217" y="0"/>
                  <a:pt x="114302"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6" name="Shape 4"/>
          <p:cNvSpPr/>
          <p:nvPr/>
        </p:nvSpPr>
        <p:spPr>
          <a:xfrm>
            <a:off x="533400" y="16764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A3A52"/>
          </a:solidFill>
          <a:ln/>
        </p:spPr>
      </p:sp>
      <p:sp>
        <p:nvSpPr>
          <p:cNvPr id="7" name="Shape 5"/>
          <p:cNvSpPr/>
          <p:nvPr/>
        </p:nvSpPr>
        <p:spPr>
          <a:xfrm>
            <a:off x="647700" y="1790700"/>
            <a:ext cx="152400" cy="152400"/>
          </a:xfrm>
          <a:custGeom>
            <a:avLst/>
            <a:gdLst/>
            <a:ahLst/>
            <a:cxnLst/>
            <a:rect l="l" t="t" r="r" b="b"/>
            <a:pathLst>
              <a:path w="152400" h="152400">
                <a:moveTo>
                  <a:pt x="123825" y="61912"/>
                </a:moveTo>
                <a:cubicBezTo>
                  <a:pt x="123825" y="75575"/>
                  <a:pt x="119390" y="88196"/>
                  <a:pt x="111919" y="98435"/>
                </a:cubicBezTo>
                <a:lnTo>
                  <a:pt x="149602" y="136148"/>
                </a:lnTo>
                <a:cubicBezTo>
                  <a:pt x="153323" y="139869"/>
                  <a:pt x="153323" y="145911"/>
                  <a:pt x="149602" y="149632"/>
                </a:cubicBezTo>
                <a:cubicBezTo>
                  <a:pt x="145881" y="153353"/>
                  <a:pt x="139839" y="153353"/>
                  <a:pt x="136118" y="149632"/>
                </a:cubicBezTo>
                <a:lnTo>
                  <a:pt x="98435" y="111919"/>
                </a:lnTo>
                <a:cubicBezTo>
                  <a:pt x="88196" y="119390"/>
                  <a:pt x="75575" y="123825"/>
                  <a:pt x="61912" y="123825"/>
                </a:cubicBezTo>
                <a:cubicBezTo>
                  <a:pt x="27712" y="123825"/>
                  <a:pt x="0" y="96113"/>
                  <a:pt x="0" y="61912"/>
                </a:cubicBezTo>
                <a:cubicBezTo>
                  <a:pt x="0" y="27712"/>
                  <a:pt x="27712" y="0"/>
                  <a:pt x="61912" y="0"/>
                </a:cubicBezTo>
                <a:cubicBezTo>
                  <a:pt x="96113" y="0"/>
                  <a:pt x="123825" y="27712"/>
                  <a:pt x="123825" y="61912"/>
                </a:cubicBezTo>
                <a:close/>
                <a:moveTo>
                  <a:pt x="61912" y="104775"/>
                </a:moveTo>
                <a:cubicBezTo>
                  <a:pt x="85569" y="104775"/>
                  <a:pt x="104775" y="85569"/>
                  <a:pt x="104775" y="61912"/>
                </a:cubicBezTo>
                <a:cubicBezTo>
                  <a:pt x="104775" y="38256"/>
                  <a:pt x="85569" y="19050"/>
                  <a:pt x="61912" y="19050"/>
                </a:cubicBezTo>
                <a:cubicBezTo>
                  <a:pt x="38256" y="19050"/>
                  <a:pt x="19050" y="38256"/>
                  <a:pt x="19050" y="61912"/>
                </a:cubicBezTo>
                <a:cubicBezTo>
                  <a:pt x="19050" y="85569"/>
                  <a:pt x="38256" y="104775"/>
                  <a:pt x="61912" y="104775"/>
                </a:cubicBezTo>
                <a:close/>
              </a:path>
            </a:pathLst>
          </a:custGeom>
          <a:solidFill>
            <a:srgbClr val="F8F9FA"/>
          </a:solidFill>
          <a:ln/>
        </p:spPr>
      </p:sp>
      <p:sp>
        <p:nvSpPr>
          <p:cNvPr id="8" name="Text 6"/>
          <p:cNvSpPr/>
          <p:nvPr/>
        </p:nvSpPr>
        <p:spPr>
          <a:xfrm>
            <a:off x="990600" y="1752600"/>
            <a:ext cx="800100" cy="228600"/>
          </a:xfrm>
          <a:prstGeom prst="rect">
            <a:avLst/>
          </a:prstGeom>
          <a:noFill/>
          <a:ln/>
        </p:spPr>
        <p:txBody>
          <a:bodyPr wrap="square" lIns="0" tIns="0" rIns="0" bIns="0" rtlCol="0" anchor="ctr"/>
          <a:lstStyle/>
          <a:p>
            <a:pPr>
              <a:lnSpc>
                <a:spcPct val="130000"/>
              </a:lnSpc>
            </a:pPr>
            <a:r>
              <a:rPr lang="en-US" sz="1200" b="1" dirty="0">
                <a:solidFill>
                  <a:srgbClr val="1A3A52"/>
                </a:solidFill>
                <a:latin typeface="Liter" pitchFamily="34" charset="0"/>
                <a:ea typeface="Liter" pitchFamily="34" charset="-122"/>
                <a:cs typeface="Liter" pitchFamily="34" charset="-120"/>
              </a:rPr>
              <a:t>Recherche</a:t>
            </a:r>
            <a:endParaRPr lang="en-US" sz="1600" dirty="0"/>
          </a:p>
        </p:txBody>
      </p:sp>
      <p:sp>
        <p:nvSpPr>
          <p:cNvPr id="9" name="Shape 7"/>
          <p:cNvSpPr/>
          <p:nvPr/>
        </p:nvSpPr>
        <p:spPr>
          <a:xfrm>
            <a:off x="2734419" y="1771650"/>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C5A065"/>
          </a:solidFill>
          <a:ln/>
        </p:spPr>
      </p:sp>
      <p:sp>
        <p:nvSpPr>
          <p:cNvPr id="10" name="Shape 8"/>
          <p:cNvSpPr/>
          <p:nvPr/>
        </p:nvSpPr>
        <p:spPr>
          <a:xfrm>
            <a:off x="3949452" y="16764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A3A52"/>
          </a:solidFill>
          <a:ln/>
        </p:spPr>
      </p:sp>
      <p:sp>
        <p:nvSpPr>
          <p:cNvPr id="11" name="Shape 9"/>
          <p:cNvSpPr/>
          <p:nvPr/>
        </p:nvSpPr>
        <p:spPr>
          <a:xfrm>
            <a:off x="4073277" y="1790700"/>
            <a:ext cx="133350" cy="152400"/>
          </a:xfrm>
          <a:custGeom>
            <a:avLst/>
            <a:gdLst/>
            <a:ahLst/>
            <a:cxnLst/>
            <a:rect l="l" t="t" r="r" b="b"/>
            <a:pathLst>
              <a:path w="133350" h="152400">
                <a:moveTo>
                  <a:pt x="23009" y="744"/>
                </a:moveTo>
                <a:cubicBezTo>
                  <a:pt x="25420" y="-476"/>
                  <a:pt x="28337" y="-208"/>
                  <a:pt x="30480" y="1429"/>
                </a:cubicBezTo>
                <a:lnTo>
                  <a:pt x="125730" y="72836"/>
                </a:lnTo>
                <a:cubicBezTo>
                  <a:pt x="128201" y="74682"/>
                  <a:pt x="129183" y="77897"/>
                  <a:pt x="128230" y="80814"/>
                </a:cubicBezTo>
                <a:cubicBezTo>
                  <a:pt x="127278" y="83731"/>
                  <a:pt x="124539" y="85695"/>
                  <a:pt x="121444" y="85695"/>
                </a:cubicBezTo>
                <a:lnTo>
                  <a:pt x="76111" y="85695"/>
                </a:lnTo>
                <a:lnTo>
                  <a:pt x="102572" y="138589"/>
                </a:lnTo>
                <a:cubicBezTo>
                  <a:pt x="104924" y="143292"/>
                  <a:pt x="103019" y="149007"/>
                  <a:pt x="98316" y="151358"/>
                </a:cubicBezTo>
                <a:cubicBezTo>
                  <a:pt x="93613" y="153710"/>
                  <a:pt x="87898" y="151805"/>
                  <a:pt x="85546" y="147102"/>
                </a:cubicBezTo>
                <a:lnTo>
                  <a:pt x="59085" y="94208"/>
                </a:lnTo>
                <a:lnTo>
                  <a:pt x="31909" y="130463"/>
                </a:lnTo>
                <a:cubicBezTo>
                  <a:pt x="30063" y="132933"/>
                  <a:pt x="26849" y="133916"/>
                  <a:pt x="23932" y="132963"/>
                </a:cubicBezTo>
                <a:cubicBezTo>
                  <a:pt x="21015" y="132011"/>
                  <a:pt x="19050" y="129272"/>
                  <a:pt x="19050" y="126206"/>
                </a:cubicBezTo>
                <a:lnTo>
                  <a:pt x="19050" y="7144"/>
                </a:lnTo>
                <a:cubicBezTo>
                  <a:pt x="19050" y="4435"/>
                  <a:pt x="20568" y="1965"/>
                  <a:pt x="23009" y="744"/>
                </a:cubicBezTo>
                <a:close/>
              </a:path>
            </a:pathLst>
          </a:custGeom>
          <a:solidFill>
            <a:srgbClr val="F8F9FA"/>
          </a:solidFill>
          <a:ln/>
        </p:spPr>
      </p:sp>
      <p:sp>
        <p:nvSpPr>
          <p:cNvPr id="12" name="Text 10"/>
          <p:cNvSpPr/>
          <p:nvPr/>
        </p:nvSpPr>
        <p:spPr>
          <a:xfrm>
            <a:off x="4406652" y="1752600"/>
            <a:ext cx="333375" cy="228600"/>
          </a:xfrm>
          <a:prstGeom prst="rect">
            <a:avLst/>
          </a:prstGeom>
          <a:noFill/>
          <a:ln/>
        </p:spPr>
        <p:txBody>
          <a:bodyPr wrap="square" lIns="0" tIns="0" rIns="0" bIns="0" rtlCol="0" anchor="ctr"/>
          <a:lstStyle/>
          <a:p>
            <a:pPr>
              <a:lnSpc>
                <a:spcPct val="130000"/>
              </a:lnSpc>
            </a:pPr>
            <a:r>
              <a:rPr lang="en-US" sz="1200" b="1" dirty="0">
                <a:solidFill>
                  <a:srgbClr val="1A3A52"/>
                </a:solidFill>
                <a:latin typeface="Liter" pitchFamily="34" charset="0"/>
                <a:ea typeface="Liter" pitchFamily="34" charset="-122"/>
                <a:cs typeface="Liter" pitchFamily="34" charset="-120"/>
              </a:rPr>
              <a:t>Clic</a:t>
            </a:r>
            <a:endParaRPr lang="en-US" sz="1600" dirty="0"/>
          </a:p>
        </p:txBody>
      </p:sp>
      <p:sp>
        <p:nvSpPr>
          <p:cNvPr id="13" name="Shape 11"/>
          <p:cNvSpPr/>
          <p:nvPr/>
        </p:nvSpPr>
        <p:spPr>
          <a:xfrm>
            <a:off x="5690071" y="1771650"/>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C5A065"/>
          </a:solidFill>
          <a:ln/>
        </p:spPr>
      </p:sp>
      <p:sp>
        <p:nvSpPr>
          <p:cNvPr id="14" name="Shape 12"/>
          <p:cNvSpPr/>
          <p:nvPr/>
        </p:nvSpPr>
        <p:spPr>
          <a:xfrm>
            <a:off x="6905179" y="16764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A3A52"/>
          </a:solidFill>
          <a:ln/>
        </p:spPr>
      </p:sp>
      <p:sp>
        <p:nvSpPr>
          <p:cNvPr id="15" name="Shape 13"/>
          <p:cNvSpPr/>
          <p:nvPr/>
        </p:nvSpPr>
        <p:spPr>
          <a:xfrm>
            <a:off x="7019479" y="1790700"/>
            <a:ext cx="152400" cy="152400"/>
          </a:xfrm>
          <a:custGeom>
            <a:avLst/>
            <a:gdLst/>
            <a:ahLst/>
            <a:cxnLst/>
            <a:rect l="l" t="t" r="r" b="b"/>
            <a:pathLst>
              <a:path w="152400" h="152400">
                <a:moveTo>
                  <a:pt x="76200" y="0"/>
                </a:moveTo>
                <a:cubicBezTo>
                  <a:pt x="118256" y="0"/>
                  <a:pt x="152400" y="34144"/>
                  <a:pt x="152400" y="76200"/>
                </a:cubicBezTo>
                <a:cubicBezTo>
                  <a:pt x="152400" y="118256"/>
                  <a:pt x="118256" y="152400"/>
                  <a:pt x="76200" y="152400"/>
                </a:cubicBezTo>
                <a:cubicBezTo>
                  <a:pt x="34144" y="152400"/>
                  <a:pt x="0" y="118256"/>
                  <a:pt x="0" y="76200"/>
                </a:cubicBezTo>
                <a:cubicBezTo>
                  <a:pt x="0" y="34144"/>
                  <a:pt x="34144" y="0"/>
                  <a:pt x="76200" y="0"/>
                </a:cubicBezTo>
                <a:close/>
                <a:moveTo>
                  <a:pt x="69056" y="35719"/>
                </a:moveTo>
                <a:lnTo>
                  <a:pt x="69056" y="76200"/>
                </a:lnTo>
                <a:cubicBezTo>
                  <a:pt x="69056" y="78581"/>
                  <a:pt x="70247" y="80814"/>
                  <a:pt x="72241" y="82153"/>
                </a:cubicBezTo>
                <a:lnTo>
                  <a:pt x="100816" y="101203"/>
                </a:lnTo>
                <a:cubicBezTo>
                  <a:pt x="104090" y="103406"/>
                  <a:pt x="108525" y="102513"/>
                  <a:pt x="110728" y="99209"/>
                </a:cubicBezTo>
                <a:cubicBezTo>
                  <a:pt x="112931" y="95905"/>
                  <a:pt x="112038" y="91500"/>
                  <a:pt x="108734" y="89297"/>
                </a:cubicBezTo>
                <a:lnTo>
                  <a:pt x="83344" y="72390"/>
                </a:lnTo>
                <a:lnTo>
                  <a:pt x="83344" y="35719"/>
                </a:lnTo>
                <a:cubicBezTo>
                  <a:pt x="83344" y="31760"/>
                  <a:pt x="80159" y="28575"/>
                  <a:pt x="76200" y="28575"/>
                </a:cubicBezTo>
                <a:cubicBezTo>
                  <a:pt x="72241" y="28575"/>
                  <a:pt x="69056" y="31760"/>
                  <a:pt x="69056" y="35719"/>
                </a:cubicBezTo>
                <a:close/>
              </a:path>
            </a:pathLst>
          </a:custGeom>
          <a:solidFill>
            <a:srgbClr val="F8F9FA"/>
          </a:solidFill>
          <a:ln/>
        </p:spPr>
      </p:sp>
      <p:sp>
        <p:nvSpPr>
          <p:cNvPr id="16" name="Text 14"/>
          <p:cNvSpPr/>
          <p:nvPr/>
        </p:nvSpPr>
        <p:spPr>
          <a:xfrm>
            <a:off x="7362379" y="1752600"/>
            <a:ext cx="914400" cy="228600"/>
          </a:xfrm>
          <a:prstGeom prst="rect">
            <a:avLst/>
          </a:prstGeom>
          <a:noFill/>
          <a:ln/>
        </p:spPr>
        <p:txBody>
          <a:bodyPr wrap="square" lIns="0" tIns="0" rIns="0" bIns="0" rtlCol="0" anchor="ctr"/>
          <a:lstStyle/>
          <a:p>
            <a:pPr>
              <a:lnSpc>
                <a:spcPct val="130000"/>
              </a:lnSpc>
            </a:pPr>
            <a:r>
              <a:rPr lang="en-US" sz="1200" b="1" dirty="0">
                <a:solidFill>
                  <a:srgbClr val="1A3A52"/>
                </a:solidFill>
                <a:latin typeface="Liter" pitchFamily="34" charset="0"/>
                <a:ea typeface="Liter" pitchFamily="34" charset="-122"/>
                <a:cs typeface="Liter" pitchFamily="34" charset="-120"/>
              </a:rPr>
              <a:t>Chargement</a:t>
            </a:r>
            <a:endParaRPr lang="en-US" sz="1600" dirty="0"/>
          </a:p>
        </p:txBody>
      </p:sp>
      <p:sp>
        <p:nvSpPr>
          <p:cNvPr id="17" name="Shape 15"/>
          <p:cNvSpPr/>
          <p:nvPr/>
        </p:nvSpPr>
        <p:spPr>
          <a:xfrm>
            <a:off x="9222284" y="1771650"/>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C5A065"/>
          </a:solidFill>
          <a:ln/>
        </p:spPr>
      </p:sp>
      <p:sp>
        <p:nvSpPr>
          <p:cNvPr id="18" name="Shape 16"/>
          <p:cNvSpPr/>
          <p:nvPr/>
        </p:nvSpPr>
        <p:spPr>
          <a:xfrm>
            <a:off x="10437391" y="16764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0A63E"/>
          </a:solidFill>
          <a:ln/>
        </p:spPr>
      </p:sp>
      <p:sp>
        <p:nvSpPr>
          <p:cNvPr id="19" name="Shape 17"/>
          <p:cNvSpPr/>
          <p:nvPr/>
        </p:nvSpPr>
        <p:spPr>
          <a:xfrm>
            <a:off x="10561216" y="1790700"/>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91797" y="68074"/>
                </a:moveTo>
                <a:cubicBezTo>
                  <a:pt x="93881" y="64740"/>
                  <a:pt x="92869" y="60335"/>
                  <a:pt x="89535" y="58222"/>
                </a:cubicBezTo>
                <a:cubicBezTo>
                  <a:pt x="86201" y="56108"/>
                  <a:pt x="81796" y="57150"/>
                  <a:pt x="79683" y="60484"/>
                </a:cubicBezTo>
                <a:lnTo>
                  <a:pt x="61406" y="89743"/>
                </a:lnTo>
                <a:lnTo>
                  <a:pt x="53370" y="79028"/>
                </a:lnTo>
                <a:cubicBezTo>
                  <a:pt x="50989" y="75873"/>
                  <a:pt x="46524" y="75218"/>
                  <a:pt x="43369" y="77599"/>
                </a:cubicBezTo>
                <a:cubicBezTo>
                  <a:pt x="40213" y="79980"/>
                  <a:pt x="39559" y="84445"/>
                  <a:pt x="41940" y="87600"/>
                </a:cubicBezTo>
                <a:lnTo>
                  <a:pt x="56227" y="106650"/>
                </a:lnTo>
                <a:cubicBezTo>
                  <a:pt x="57626" y="108525"/>
                  <a:pt x="59888" y="109597"/>
                  <a:pt x="62240" y="109508"/>
                </a:cubicBezTo>
                <a:cubicBezTo>
                  <a:pt x="64591" y="109418"/>
                  <a:pt x="66735" y="108168"/>
                  <a:pt x="67985" y="106144"/>
                </a:cubicBezTo>
                <a:lnTo>
                  <a:pt x="91797" y="68044"/>
                </a:lnTo>
                <a:close/>
              </a:path>
            </a:pathLst>
          </a:custGeom>
          <a:solidFill>
            <a:srgbClr val="FFFFFF"/>
          </a:solidFill>
          <a:ln/>
        </p:spPr>
      </p:sp>
      <p:sp>
        <p:nvSpPr>
          <p:cNvPr id="20" name="Text 18"/>
          <p:cNvSpPr/>
          <p:nvPr/>
        </p:nvSpPr>
        <p:spPr>
          <a:xfrm>
            <a:off x="10894591" y="1752600"/>
            <a:ext cx="838200" cy="228600"/>
          </a:xfrm>
          <a:prstGeom prst="rect">
            <a:avLst/>
          </a:prstGeom>
          <a:noFill/>
          <a:ln/>
        </p:spPr>
        <p:txBody>
          <a:bodyPr wrap="square" lIns="0" tIns="0" rIns="0" bIns="0" rtlCol="0" anchor="ctr"/>
          <a:lstStyle/>
          <a:p>
            <a:pPr>
              <a:lnSpc>
                <a:spcPct val="130000"/>
              </a:lnSpc>
            </a:pPr>
            <a:r>
              <a:rPr lang="en-US" sz="1200" b="1" dirty="0">
                <a:solidFill>
                  <a:srgbClr val="00A63E"/>
                </a:solidFill>
                <a:latin typeface="Liter" pitchFamily="34" charset="0"/>
                <a:ea typeface="Liter" pitchFamily="34" charset="-122"/>
                <a:cs typeface="Liter" pitchFamily="34" charset="-120"/>
              </a:rPr>
              <a:t>Conversion</a:t>
            </a:r>
            <a:endParaRPr lang="en-US" sz="1600" dirty="0"/>
          </a:p>
        </p:txBody>
      </p:sp>
      <p:sp>
        <p:nvSpPr>
          <p:cNvPr id="21" name="Shape 19"/>
          <p:cNvSpPr/>
          <p:nvPr/>
        </p:nvSpPr>
        <p:spPr>
          <a:xfrm>
            <a:off x="400050" y="2362200"/>
            <a:ext cx="3686175" cy="4114800"/>
          </a:xfrm>
          <a:custGeom>
            <a:avLst/>
            <a:gdLst/>
            <a:ahLst/>
            <a:cxnLst/>
            <a:rect l="l" t="t" r="r" b="b"/>
            <a:pathLst>
              <a:path w="3686175" h="4114800">
                <a:moveTo>
                  <a:pt x="38100" y="0"/>
                </a:moveTo>
                <a:lnTo>
                  <a:pt x="3571867" y="0"/>
                </a:lnTo>
                <a:cubicBezTo>
                  <a:pt x="3634997" y="0"/>
                  <a:pt x="3686175" y="51178"/>
                  <a:pt x="3686175" y="114308"/>
                </a:cubicBezTo>
                <a:lnTo>
                  <a:pt x="3686175" y="4000492"/>
                </a:lnTo>
                <a:cubicBezTo>
                  <a:pt x="3686175" y="4063622"/>
                  <a:pt x="3634997" y="4114800"/>
                  <a:pt x="3571867" y="4114800"/>
                </a:cubicBezTo>
                <a:lnTo>
                  <a:pt x="38100" y="4114800"/>
                </a:lnTo>
                <a:cubicBezTo>
                  <a:pt x="17072" y="4114800"/>
                  <a:pt x="0" y="4097728"/>
                  <a:pt x="0" y="407670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22" name="Shape 20"/>
          <p:cNvSpPr/>
          <p:nvPr/>
        </p:nvSpPr>
        <p:spPr>
          <a:xfrm>
            <a:off x="400050" y="2362200"/>
            <a:ext cx="38100" cy="4114800"/>
          </a:xfrm>
          <a:custGeom>
            <a:avLst/>
            <a:gdLst/>
            <a:ahLst/>
            <a:cxnLst/>
            <a:rect l="l" t="t" r="r" b="b"/>
            <a:pathLst>
              <a:path w="38100" h="4114800">
                <a:moveTo>
                  <a:pt x="38100" y="0"/>
                </a:moveTo>
                <a:lnTo>
                  <a:pt x="38100" y="0"/>
                </a:lnTo>
                <a:lnTo>
                  <a:pt x="38100" y="4114800"/>
                </a:lnTo>
                <a:lnTo>
                  <a:pt x="38100" y="4114800"/>
                </a:lnTo>
                <a:cubicBezTo>
                  <a:pt x="17072" y="4114800"/>
                  <a:pt x="0" y="4097728"/>
                  <a:pt x="0" y="4076700"/>
                </a:cubicBezTo>
                <a:lnTo>
                  <a:pt x="0" y="38100"/>
                </a:lnTo>
                <a:cubicBezTo>
                  <a:pt x="0" y="17072"/>
                  <a:pt x="17072" y="0"/>
                  <a:pt x="38100" y="0"/>
                </a:cubicBezTo>
                <a:close/>
              </a:path>
            </a:pathLst>
          </a:custGeom>
          <a:solidFill>
            <a:srgbClr val="FB2C36"/>
          </a:solidFill>
          <a:ln/>
        </p:spPr>
      </p:sp>
      <p:sp>
        <p:nvSpPr>
          <p:cNvPr id="23" name="Shape 21"/>
          <p:cNvSpPr/>
          <p:nvPr/>
        </p:nvSpPr>
        <p:spPr>
          <a:xfrm>
            <a:off x="419100" y="2362200"/>
            <a:ext cx="3667125" cy="1028700"/>
          </a:xfrm>
          <a:custGeom>
            <a:avLst/>
            <a:gdLst/>
            <a:ahLst/>
            <a:cxnLst/>
            <a:rect l="l" t="t" r="r" b="b"/>
            <a:pathLst>
              <a:path w="3667125" h="1028700">
                <a:moveTo>
                  <a:pt x="0" y="0"/>
                </a:moveTo>
                <a:lnTo>
                  <a:pt x="3667125" y="0"/>
                </a:lnTo>
                <a:lnTo>
                  <a:pt x="3667125" y="1028700"/>
                </a:lnTo>
                <a:lnTo>
                  <a:pt x="0" y="1028700"/>
                </a:lnTo>
                <a:lnTo>
                  <a:pt x="0" y="0"/>
                </a:lnTo>
                <a:close/>
              </a:path>
            </a:pathLst>
          </a:custGeom>
          <a:solidFill>
            <a:srgbClr val="FEF2F2"/>
          </a:solidFill>
          <a:ln/>
        </p:spPr>
      </p:sp>
      <p:sp>
        <p:nvSpPr>
          <p:cNvPr id="24" name="Shape 22"/>
          <p:cNvSpPr/>
          <p:nvPr/>
        </p:nvSpPr>
        <p:spPr>
          <a:xfrm>
            <a:off x="571500" y="25146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B2C36"/>
          </a:solidFill>
          <a:ln/>
        </p:spPr>
      </p:sp>
      <p:sp>
        <p:nvSpPr>
          <p:cNvPr id="25" name="Shape 23"/>
          <p:cNvSpPr/>
          <p:nvPr/>
        </p:nvSpPr>
        <p:spPr>
          <a:xfrm>
            <a:off x="704850" y="2647950"/>
            <a:ext cx="190500" cy="190500"/>
          </a:xfrm>
          <a:custGeom>
            <a:avLst/>
            <a:gdLst/>
            <a:ahLst/>
            <a:cxnLst/>
            <a:rect l="l" t="t" r="r" b="b"/>
            <a:pathLst>
              <a:path w="190500" h="190500">
                <a:moveTo>
                  <a:pt x="94283" y="1079"/>
                </a:moveTo>
                <a:cubicBezTo>
                  <a:pt x="92720" y="372"/>
                  <a:pt x="91046" y="0"/>
                  <a:pt x="89297" y="0"/>
                </a:cubicBezTo>
                <a:cubicBezTo>
                  <a:pt x="87548" y="0"/>
                  <a:pt x="85874" y="372"/>
                  <a:pt x="84311" y="1079"/>
                </a:cubicBezTo>
                <a:lnTo>
                  <a:pt x="14250" y="30807"/>
                </a:lnTo>
                <a:cubicBezTo>
                  <a:pt x="6065" y="34268"/>
                  <a:pt x="-37" y="42342"/>
                  <a:pt x="0" y="52090"/>
                </a:cubicBezTo>
                <a:cubicBezTo>
                  <a:pt x="186" y="88999"/>
                  <a:pt x="15367" y="156530"/>
                  <a:pt x="79474" y="187226"/>
                </a:cubicBezTo>
                <a:cubicBezTo>
                  <a:pt x="85688" y="190202"/>
                  <a:pt x="92906" y="190202"/>
                  <a:pt x="99120" y="187226"/>
                </a:cubicBezTo>
                <a:cubicBezTo>
                  <a:pt x="163264" y="156530"/>
                  <a:pt x="178445" y="88999"/>
                  <a:pt x="178594" y="52090"/>
                </a:cubicBezTo>
                <a:cubicBezTo>
                  <a:pt x="178631" y="42342"/>
                  <a:pt x="172529" y="34268"/>
                  <a:pt x="164343" y="30807"/>
                </a:cubicBezTo>
                <a:lnTo>
                  <a:pt x="94283" y="1079"/>
                </a:lnTo>
                <a:close/>
                <a:moveTo>
                  <a:pt x="89297" y="47625"/>
                </a:moveTo>
                <a:cubicBezTo>
                  <a:pt x="94245" y="47625"/>
                  <a:pt x="98227" y="51606"/>
                  <a:pt x="98227" y="56555"/>
                </a:cubicBezTo>
                <a:cubicBezTo>
                  <a:pt x="98227" y="65075"/>
                  <a:pt x="108533" y="69354"/>
                  <a:pt x="114560" y="63326"/>
                </a:cubicBezTo>
                <a:cubicBezTo>
                  <a:pt x="118058" y="59829"/>
                  <a:pt x="123713" y="59829"/>
                  <a:pt x="127174" y="63326"/>
                </a:cubicBezTo>
                <a:cubicBezTo>
                  <a:pt x="130634" y="66824"/>
                  <a:pt x="130671" y="72479"/>
                  <a:pt x="127174" y="75940"/>
                </a:cubicBezTo>
                <a:cubicBezTo>
                  <a:pt x="121146" y="81967"/>
                  <a:pt x="125425" y="92273"/>
                  <a:pt x="133945" y="92273"/>
                </a:cubicBezTo>
                <a:cubicBezTo>
                  <a:pt x="138894" y="92273"/>
                  <a:pt x="142875" y="96255"/>
                  <a:pt x="142875" y="101203"/>
                </a:cubicBezTo>
                <a:cubicBezTo>
                  <a:pt x="142875" y="106152"/>
                  <a:pt x="138894" y="110133"/>
                  <a:pt x="133945" y="110133"/>
                </a:cubicBezTo>
                <a:cubicBezTo>
                  <a:pt x="125425" y="110133"/>
                  <a:pt x="121146" y="120439"/>
                  <a:pt x="127174" y="126467"/>
                </a:cubicBezTo>
                <a:cubicBezTo>
                  <a:pt x="130671" y="129964"/>
                  <a:pt x="130671" y="135620"/>
                  <a:pt x="127174" y="139080"/>
                </a:cubicBezTo>
                <a:cubicBezTo>
                  <a:pt x="123676" y="142540"/>
                  <a:pt x="118021" y="142577"/>
                  <a:pt x="114560" y="139080"/>
                </a:cubicBezTo>
                <a:cubicBezTo>
                  <a:pt x="108533" y="133052"/>
                  <a:pt x="98227" y="137331"/>
                  <a:pt x="98227" y="145852"/>
                </a:cubicBezTo>
                <a:cubicBezTo>
                  <a:pt x="98227" y="150800"/>
                  <a:pt x="94245" y="154781"/>
                  <a:pt x="89297" y="154781"/>
                </a:cubicBezTo>
                <a:cubicBezTo>
                  <a:pt x="84348" y="154781"/>
                  <a:pt x="80367" y="150800"/>
                  <a:pt x="80367" y="145852"/>
                </a:cubicBezTo>
                <a:cubicBezTo>
                  <a:pt x="80367" y="137331"/>
                  <a:pt x="70061" y="133052"/>
                  <a:pt x="64033" y="139080"/>
                </a:cubicBezTo>
                <a:cubicBezTo>
                  <a:pt x="60536" y="142577"/>
                  <a:pt x="54880" y="142577"/>
                  <a:pt x="51420" y="139080"/>
                </a:cubicBezTo>
                <a:cubicBezTo>
                  <a:pt x="47960" y="135582"/>
                  <a:pt x="47923" y="129927"/>
                  <a:pt x="51420" y="126467"/>
                </a:cubicBezTo>
                <a:cubicBezTo>
                  <a:pt x="57448" y="120439"/>
                  <a:pt x="53169" y="110133"/>
                  <a:pt x="44648" y="110133"/>
                </a:cubicBezTo>
                <a:cubicBezTo>
                  <a:pt x="39700" y="110133"/>
                  <a:pt x="35719" y="106152"/>
                  <a:pt x="35719" y="101203"/>
                </a:cubicBezTo>
                <a:cubicBezTo>
                  <a:pt x="35719" y="96255"/>
                  <a:pt x="39700" y="92273"/>
                  <a:pt x="44648" y="92273"/>
                </a:cubicBezTo>
                <a:cubicBezTo>
                  <a:pt x="53169" y="92273"/>
                  <a:pt x="57448" y="81967"/>
                  <a:pt x="51420" y="75940"/>
                </a:cubicBezTo>
                <a:cubicBezTo>
                  <a:pt x="47923" y="72442"/>
                  <a:pt x="47923" y="66787"/>
                  <a:pt x="51420" y="63326"/>
                </a:cubicBezTo>
                <a:cubicBezTo>
                  <a:pt x="54918" y="59866"/>
                  <a:pt x="60573" y="59829"/>
                  <a:pt x="64033" y="63326"/>
                </a:cubicBezTo>
                <a:cubicBezTo>
                  <a:pt x="70061" y="69354"/>
                  <a:pt x="80367" y="65075"/>
                  <a:pt x="80367" y="56555"/>
                </a:cubicBezTo>
                <a:cubicBezTo>
                  <a:pt x="80367" y="51606"/>
                  <a:pt x="84348" y="47625"/>
                  <a:pt x="89297" y="47625"/>
                </a:cubicBezTo>
                <a:close/>
                <a:moveTo>
                  <a:pt x="77391" y="98227"/>
                </a:moveTo>
                <a:cubicBezTo>
                  <a:pt x="82319" y="98227"/>
                  <a:pt x="86320" y="94225"/>
                  <a:pt x="86320" y="89297"/>
                </a:cubicBezTo>
                <a:cubicBezTo>
                  <a:pt x="86320" y="84368"/>
                  <a:pt x="82319" y="80367"/>
                  <a:pt x="77391" y="80367"/>
                </a:cubicBezTo>
                <a:cubicBezTo>
                  <a:pt x="72462" y="80367"/>
                  <a:pt x="68461" y="84368"/>
                  <a:pt x="68461" y="89297"/>
                </a:cubicBezTo>
                <a:cubicBezTo>
                  <a:pt x="68461" y="94225"/>
                  <a:pt x="72462" y="98227"/>
                  <a:pt x="77391" y="98227"/>
                </a:cubicBezTo>
                <a:close/>
                <a:moveTo>
                  <a:pt x="110133" y="113109"/>
                </a:moveTo>
                <a:cubicBezTo>
                  <a:pt x="110133" y="108181"/>
                  <a:pt x="106132" y="104180"/>
                  <a:pt x="101203" y="104180"/>
                </a:cubicBezTo>
                <a:cubicBezTo>
                  <a:pt x="96275" y="104180"/>
                  <a:pt x="92273" y="108181"/>
                  <a:pt x="92273" y="113109"/>
                </a:cubicBezTo>
                <a:cubicBezTo>
                  <a:pt x="92273" y="118038"/>
                  <a:pt x="96275" y="122039"/>
                  <a:pt x="101203" y="122039"/>
                </a:cubicBezTo>
                <a:cubicBezTo>
                  <a:pt x="106132" y="122039"/>
                  <a:pt x="110133" y="118038"/>
                  <a:pt x="110133" y="113109"/>
                </a:cubicBezTo>
                <a:close/>
              </a:path>
            </a:pathLst>
          </a:custGeom>
          <a:solidFill>
            <a:srgbClr val="FFFFFF"/>
          </a:solidFill>
          <a:ln/>
        </p:spPr>
      </p:sp>
      <p:sp>
        <p:nvSpPr>
          <p:cNvPr id="26" name="Text 24"/>
          <p:cNvSpPr/>
          <p:nvPr/>
        </p:nvSpPr>
        <p:spPr>
          <a:xfrm>
            <a:off x="1143000" y="2514600"/>
            <a:ext cx="1590675" cy="266700"/>
          </a:xfrm>
          <a:prstGeom prst="rect">
            <a:avLst/>
          </a:prstGeom>
          <a:noFill/>
          <a:ln/>
        </p:spPr>
        <p:txBody>
          <a:bodyPr wrap="square" lIns="0" tIns="0" rIns="0" bIns="0" rtlCol="0" anchor="ctr"/>
          <a:lstStyle/>
          <a:p>
            <a:pPr>
              <a:lnSpc>
                <a:spcPct val="130000"/>
              </a:lnSpc>
            </a:pPr>
            <a:r>
              <a:rPr lang="en-US" sz="1350" b="1" dirty="0">
                <a:solidFill>
                  <a:srgbClr val="1A3A52"/>
                </a:solidFill>
                <a:latin typeface="Liter" pitchFamily="34" charset="0"/>
                <a:ea typeface="Liter" pitchFamily="34" charset="-122"/>
                <a:cs typeface="Liter" pitchFamily="34" charset="-120"/>
              </a:rPr>
              <a:t>Enregistrement SPF</a:t>
            </a:r>
            <a:endParaRPr lang="en-US" sz="1600" dirty="0"/>
          </a:p>
        </p:txBody>
      </p:sp>
      <p:sp>
        <p:nvSpPr>
          <p:cNvPr id="27" name="Text 25"/>
          <p:cNvSpPr/>
          <p:nvPr/>
        </p:nvSpPr>
        <p:spPr>
          <a:xfrm>
            <a:off x="1143000" y="2781300"/>
            <a:ext cx="1571625" cy="190500"/>
          </a:xfrm>
          <a:prstGeom prst="rect">
            <a:avLst/>
          </a:prstGeom>
          <a:noFill/>
          <a:ln/>
        </p:spPr>
        <p:txBody>
          <a:bodyPr wrap="square" lIns="0" tIns="0" rIns="0" bIns="0" rtlCol="0" anchor="ctr"/>
          <a:lstStyle/>
          <a:p>
            <a:pPr>
              <a:lnSpc>
                <a:spcPct val="120000"/>
              </a:lnSpc>
            </a:pPr>
            <a:r>
              <a:rPr lang="en-US" sz="1050" b="1" dirty="0">
                <a:solidFill>
                  <a:srgbClr val="E7000B"/>
                </a:solidFill>
                <a:latin typeface="Liter" pitchFamily="34" charset="0"/>
                <a:ea typeface="Liter" pitchFamily="34" charset="-122"/>
                <a:cs typeface="Liter" pitchFamily="34" charset="-120"/>
              </a:rPr>
              <a:t>Manquant</a:t>
            </a:r>
            <a:endParaRPr lang="en-US" sz="1600" dirty="0"/>
          </a:p>
        </p:txBody>
      </p:sp>
      <p:sp>
        <p:nvSpPr>
          <p:cNvPr id="28" name="Text 26"/>
          <p:cNvSpPr/>
          <p:nvPr/>
        </p:nvSpPr>
        <p:spPr>
          <a:xfrm>
            <a:off x="571500" y="3086100"/>
            <a:ext cx="3419475" cy="152400"/>
          </a:xfrm>
          <a:prstGeom prst="rect">
            <a:avLst/>
          </a:prstGeom>
          <a:noFill/>
          <a:ln/>
        </p:spPr>
        <p:txBody>
          <a:bodyPr wrap="square" lIns="0" tIns="0" rIns="0" bIns="0" rtlCol="0" anchor="ctr"/>
          <a:lstStyle/>
          <a:p>
            <a:pPr>
              <a:lnSpc>
                <a:spcPct val="110000"/>
              </a:lnSpc>
            </a:pPr>
            <a:r>
              <a:rPr lang="en-US" sz="900" spc="45" kern="0" dirty="0">
                <a:solidFill>
                  <a:srgbClr val="6C757D"/>
                </a:solidFill>
                <a:latin typeface="Liter" pitchFamily="34" charset="0"/>
                <a:ea typeface="Liter" pitchFamily="34" charset="-122"/>
                <a:cs typeface="Liter" pitchFamily="34" charset="-120"/>
              </a:rPr>
              <a:t>La Faille Immunitaire</a:t>
            </a:r>
            <a:endParaRPr lang="en-US" sz="1600" dirty="0"/>
          </a:p>
        </p:txBody>
      </p:sp>
      <p:sp>
        <p:nvSpPr>
          <p:cNvPr id="29" name="Text 27"/>
          <p:cNvSpPr/>
          <p:nvPr/>
        </p:nvSpPr>
        <p:spPr>
          <a:xfrm>
            <a:off x="571500" y="3543300"/>
            <a:ext cx="3438525" cy="742950"/>
          </a:xfrm>
          <a:prstGeom prst="rect">
            <a:avLst/>
          </a:prstGeom>
          <a:noFill/>
          <a:ln/>
        </p:spPr>
        <p:txBody>
          <a:bodyPr wrap="square" lIns="0" tIns="0" rIns="0" bIns="0" rtlCol="0" anchor="ctr"/>
          <a:lstStyle/>
          <a:p>
            <a:pPr>
              <a:lnSpc>
                <a:spcPct val="140000"/>
              </a:lnSpc>
            </a:pPr>
            <a:r>
              <a:rPr lang="en-US" sz="1200" b="1" dirty="0">
                <a:solidFill>
                  <a:srgbClr val="212529"/>
                </a:solidFill>
                <a:latin typeface="Liter" pitchFamily="34" charset="0"/>
                <a:ea typeface="Liter" pitchFamily="34" charset="-122"/>
                <a:cs typeface="Liter" pitchFamily="34" charset="-120"/>
              </a:rPr>
              <a:t>Absence de protocole de sécurité DNS.</a:t>
            </a:r>
            <a:pPr>
              <a:lnSpc>
                <a:spcPct val="140000"/>
              </a:lnSpc>
            </a:pPr>
            <a:r>
              <a:rPr lang="en-US" sz="1200" dirty="0">
                <a:solidFill>
                  <a:srgbClr val="212529"/>
                </a:solidFill>
                <a:latin typeface="Liter" pitchFamily="34" charset="0"/>
                <a:ea typeface="Liter" pitchFamily="34" charset="-122"/>
                <a:cs typeface="Liter" pitchFamily="34" charset="-120"/>
              </a:rPr>
              <a:t> Les emails de la clinique sont vulnérables au spoofing et au piratage.</a:t>
            </a:r>
            <a:endParaRPr lang="en-US" sz="1600" dirty="0"/>
          </a:p>
        </p:txBody>
      </p:sp>
      <p:sp>
        <p:nvSpPr>
          <p:cNvPr id="30" name="Shape 28"/>
          <p:cNvSpPr/>
          <p:nvPr/>
        </p:nvSpPr>
        <p:spPr>
          <a:xfrm>
            <a:off x="571500" y="4400550"/>
            <a:ext cx="3362325" cy="1104900"/>
          </a:xfrm>
          <a:custGeom>
            <a:avLst/>
            <a:gdLst/>
            <a:ahLst/>
            <a:cxnLst/>
            <a:rect l="l" t="t" r="r" b="b"/>
            <a:pathLst>
              <a:path w="3362325" h="1104900">
                <a:moveTo>
                  <a:pt x="76205" y="0"/>
                </a:moveTo>
                <a:lnTo>
                  <a:pt x="3286120" y="0"/>
                </a:lnTo>
                <a:cubicBezTo>
                  <a:pt x="3328207" y="0"/>
                  <a:pt x="3362325" y="34118"/>
                  <a:pt x="3362325" y="76205"/>
                </a:cubicBezTo>
                <a:lnTo>
                  <a:pt x="3362325" y="1028695"/>
                </a:lnTo>
                <a:cubicBezTo>
                  <a:pt x="3362325" y="1070782"/>
                  <a:pt x="3328207" y="1104900"/>
                  <a:pt x="3286120" y="1104900"/>
                </a:cubicBezTo>
                <a:lnTo>
                  <a:pt x="76205" y="1104900"/>
                </a:lnTo>
                <a:cubicBezTo>
                  <a:pt x="34118" y="1104900"/>
                  <a:pt x="0" y="1070782"/>
                  <a:pt x="0" y="1028695"/>
                </a:cubicBezTo>
                <a:lnTo>
                  <a:pt x="0" y="76205"/>
                </a:lnTo>
                <a:cubicBezTo>
                  <a:pt x="0" y="34146"/>
                  <a:pt x="34146" y="0"/>
                  <a:pt x="76205" y="0"/>
                </a:cubicBezTo>
                <a:close/>
              </a:path>
            </a:pathLst>
          </a:custGeom>
          <a:solidFill>
            <a:srgbClr val="FEF2F2"/>
          </a:solidFill>
          <a:ln/>
        </p:spPr>
      </p:sp>
      <p:sp>
        <p:nvSpPr>
          <p:cNvPr id="31" name="Text 29"/>
          <p:cNvSpPr/>
          <p:nvPr/>
        </p:nvSpPr>
        <p:spPr>
          <a:xfrm>
            <a:off x="685800" y="4514850"/>
            <a:ext cx="909861" cy="190500"/>
          </a:xfrm>
          <a:prstGeom prst="rect">
            <a:avLst/>
          </a:prstGeom>
          <a:noFill/>
          <a:ln/>
        </p:spPr>
        <p:txBody>
          <a:bodyPr wrap="square" lIns="0" tIns="0" rIns="0" bIns="0" rtlCol="0" anchor="ctr"/>
          <a:lstStyle/>
          <a:p>
            <a:pPr>
              <a:lnSpc>
                <a:spcPct val="120000"/>
              </a:lnSpc>
            </a:pPr>
            <a:r>
              <a:rPr lang="en-US" sz="1050" b="1" dirty="0">
                <a:solidFill>
                  <a:srgbClr val="212529"/>
                </a:solidFill>
                <a:latin typeface="Liter" pitchFamily="34" charset="0"/>
                <a:ea typeface="Liter" pitchFamily="34" charset="-122"/>
                <a:cs typeface="Liter" pitchFamily="34" charset="-120"/>
              </a:rPr>
              <a:t>Conséquence:</a:t>
            </a:r>
            <a:endParaRPr lang="en-US" sz="1600" dirty="0"/>
          </a:p>
        </p:txBody>
      </p:sp>
      <p:sp>
        <p:nvSpPr>
          <p:cNvPr id="32" name="Text 30"/>
          <p:cNvSpPr/>
          <p:nvPr/>
        </p:nvSpPr>
        <p:spPr>
          <a:xfrm>
            <a:off x="685800" y="47434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Risque élevé de spam</a:t>
            </a:r>
            <a:endParaRPr lang="en-US" sz="1600" dirty="0"/>
          </a:p>
        </p:txBody>
      </p:sp>
      <p:sp>
        <p:nvSpPr>
          <p:cNvPr id="33" name="Text 31"/>
          <p:cNvSpPr/>
          <p:nvPr/>
        </p:nvSpPr>
        <p:spPr>
          <a:xfrm>
            <a:off x="685800" y="49720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Emails envoyés dans courriers indésirables</a:t>
            </a:r>
            <a:endParaRPr lang="en-US" sz="1600" dirty="0"/>
          </a:p>
        </p:txBody>
      </p:sp>
      <p:sp>
        <p:nvSpPr>
          <p:cNvPr id="34" name="Text 32"/>
          <p:cNvSpPr/>
          <p:nvPr/>
        </p:nvSpPr>
        <p:spPr>
          <a:xfrm>
            <a:off x="685800" y="52006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Perte de crédibilité patient</a:t>
            </a:r>
            <a:endParaRPr lang="en-US" sz="1600" dirty="0"/>
          </a:p>
        </p:txBody>
      </p:sp>
      <p:sp>
        <p:nvSpPr>
          <p:cNvPr id="35" name="Shape 33"/>
          <p:cNvSpPr/>
          <p:nvPr/>
        </p:nvSpPr>
        <p:spPr>
          <a:xfrm>
            <a:off x="571500" y="5715000"/>
            <a:ext cx="3362325" cy="609600"/>
          </a:xfrm>
          <a:custGeom>
            <a:avLst/>
            <a:gdLst/>
            <a:ahLst/>
            <a:cxnLst/>
            <a:rect l="l" t="t" r="r" b="b"/>
            <a:pathLst>
              <a:path w="3362325" h="609600">
                <a:moveTo>
                  <a:pt x="76200" y="0"/>
                </a:moveTo>
                <a:lnTo>
                  <a:pt x="3286125" y="0"/>
                </a:lnTo>
                <a:cubicBezTo>
                  <a:pt x="3328181" y="0"/>
                  <a:pt x="3362325" y="34144"/>
                  <a:pt x="3362325" y="76200"/>
                </a:cubicBezTo>
                <a:lnTo>
                  <a:pt x="3362325" y="533400"/>
                </a:lnTo>
                <a:cubicBezTo>
                  <a:pt x="3362325" y="575456"/>
                  <a:pt x="3328181" y="609600"/>
                  <a:pt x="3286125" y="609600"/>
                </a:cubicBezTo>
                <a:lnTo>
                  <a:pt x="76200" y="609600"/>
                </a:lnTo>
                <a:cubicBezTo>
                  <a:pt x="34144" y="609600"/>
                  <a:pt x="0" y="575456"/>
                  <a:pt x="0" y="533400"/>
                </a:cubicBezTo>
                <a:lnTo>
                  <a:pt x="0" y="76200"/>
                </a:lnTo>
                <a:cubicBezTo>
                  <a:pt x="0" y="34144"/>
                  <a:pt x="34144" y="0"/>
                  <a:pt x="76200" y="0"/>
                </a:cubicBezTo>
                <a:close/>
              </a:path>
            </a:pathLst>
          </a:custGeom>
          <a:solidFill>
            <a:srgbClr val="1A3A52">
              <a:alpha val="5098"/>
            </a:srgbClr>
          </a:solidFill>
          <a:ln/>
        </p:spPr>
      </p:sp>
      <p:sp>
        <p:nvSpPr>
          <p:cNvPr id="36" name="Text 34"/>
          <p:cNvSpPr/>
          <p:nvPr/>
        </p:nvSpPr>
        <p:spPr>
          <a:xfrm>
            <a:off x="685800" y="5829300"/>
            <a:ext cx="3200400" cy="190500"/>
          </a:xfrm>
          <a:prstGeom prst="rect">
            <a:avLst/>
          </a:prstGeom>
          <a:noFill/>
          <a:ln/>
        </p:spPr>
        <p:txBody>
          <a:bodyPr wrap="square" lIns="0" tIns="0" rIns="0" bIns="0" rtlCol="0" anchor="ctr"/>
          <a:lstStyle/>
          <a:p>
            <a:pPr>
              <a:lnSpc>
                <a:spcPct val="120000"/>
              </a:lnSpc>
            </a:pPr>
            <a:r>
              <a:rPr lang="en-US" sz="1050" b="1" dirty="0">
                <a:solidFill>
                  <a:srgbClr val="E7000B"/>
                </a:solidFill>
                <a:latin typeface="Liter" pitchFamily="34" charset="0"/>
                <a:ea typeface="Liter" pitchFamily="34" charset="-122"/>
                <a:cs typeface="Liter" pitchFamily="34" charset="-120"/>
              </a:rPr>
              <a:t>Impact:</a:t>
            </a:r>
            <a:pPr>
              <a:lnSpc>
                <a:spcPct val="120000"/>
              </a:lnSpc>
            </a:pPr>
            <a:r>
              <a:rPr lang="en-US" sz="1050" dirty="0">
                <a:solidFill>
                  <a:srgbClr val="212529"/>
                </a:solidFill>
                <a:latin typeface="Liter" pitchFamily="34" charset="0"/>
                <a:ea typeface="Liter" pitchFamily="34" charset="-122"/>
                <a:cs typeface="Liter" pitchFamily="34" charset="-120"/>
              </a:rPr>
              <a:t> 61.9% des domaines ont ce problème</a:t>
            </a:r>
            <a:endParaRPr lang="en-US" sz="1600" dirty="0"/>
          </a:p>
        </p:txBody>
      </p:sp>
      <p:sp>
        <p:nvSpPr>
          <p:cNvPr id="37" name="Text 35"/>
          <p:cNvSpPr/>
          <p:nvPr/>
        </p:nvSpPr>
        <p:spPr>
          <a:xfrm>
            <a:off x="685800" y="6057900"/>
            <a:ext cx="3190875" cy="152400"/>
          </a:xfrm>
          <a:prstGeom prst="rect">
            <a:avLst/>
          </a:prstGeom>
          <a:noFill/>
          <a:ln/>
        </p:spPr>
        <p:txBody>
          <a:bodyPr wrap="square" lIns="0" tIns="0" rIns="0" bIns="0" rtlCol="0" anchor="ctr"/>
          <a:lstStyle/>
          <a:p>
            <a:pPr>
              <a:lnSpc>
                <a:spcPct val="110000"/>
              </a:lnSpc>
            </a:pPr>
            <a:r>
              <a:rPr lang="en-US" sz="900" dirty="0">
                <a:solidFill>
                  <a:srgbClr val="6C757D"/>
                </a:solidFill>
                <a:latin typeface="Liter" pitchFamily="34" charset="0"/>
                <a:ea typeface="Liter" pitchFamily="34" charset="-122"/>
                <a:cs typeface="Liter" pitchFamily="34" charset="-120"/>
              </a:rPr>
              <a:t>Source: Fortra Q2 2025</a:t>
            </a:r>
            <a:endParaRPr lang="en-US" sz="1600" dirty="0"/>
          </a:p>
        </p:txBody>
      </p:sp>
      <p:sp>
        <p:nvSpPr>
          <p:cNvPr id="38" name="Shape 36"/>
          <p:cNvSpPr/>
          <p:nvPr/>
        </p:nvSpPr>
        <p:spPr>
          <a:xfrm>
            <a:off x="4260800" y="2362200"/>
            <a:ext cx="3686175" cy="4114800"/>
          </a:xfrm>
          <a:custGeom>
            <a:avLst/>
            <a:gdLst/>
            <a:ahLst/>
            <a:cxnLst/>
            <a:rect l="l" t="t" r="r" b="b"/>
            <a:pathLst>
              <a:path w="3686175" h="4114800">
                <a:moveTo>
                  <a:pt x="38100" y="0"/>
                </a:moveTo>
                <a:lnTo>
                  <a:pt x="3571867" y="0"/>
                </a:lnTo>
                <a:cubicBezTo>
                  <a:pt x="3634997" y="0"/>
                  <a:pt x="3686175" y="51178"/>
                  <a:pt x="3686175" y="114308"/>
                </a:cubicBezTo>
                <a:lnTo>
                  <a:pt x="3686175" y="4000492"/>
                </a:lnTo>
                <a:cubicBezTo>
                  <a:pt x="3686175" y="4063622"/>
                  <a:pt x="3634997" y="4114800"/>
                  <a:pt x="3571867" y="4114800"/>
                </a:cubicBezTo>
                <a:lnTo>
                  <a:pt x="38100" y="4114800"/>
                </a:lnTo>
                <a:cubicBezTo>
                  <a:pt x="17072" y="4114800"/>
                  <a:pt x="0" y="4097728"/>
                  <a:pt x="0" y="407670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39" name="Shape 37"/>
          <p:cNvSpPr/>
          <p:nvPr/>
        </p:nvSpPr>
        <p:spPr>
          <a:xfrm>
            <a:off x="4260800" y="2362200"/>
            <a:ext cx="38100" cy="4114800"/>
          </a:xfrm>
          <a:custGeom>
            <a:avLst/>
            <a:gdLst/>
            <a:ahLst/>
            <a:cxnLst/>
            <a:rect l="l" t="t" r="r" b="b"/>
            <a:pathLst>
              <a:path w="38100" h="4114800">
                <a:moveTo>
                  <a:pt x="38100" y="0"/>
                </a:moveTo>
                <a:lnTo>
                  <a:pt x="38100" y="0"/>
                </a:lnTo>
                <a:lnTo>
                  <a:pt x="38100" y="4114800"/>
                </a:lnTo>
                <a:lnTo>
                  <a:pt x="38100" y="4114800"/>
                </a:lnTo>
                <a:cubicBezTo>
                  <a:pt x="17072" y="4114800"/>
                  <a:pt x="0" y="4097728"/>
                  <a:pt x="0" y="4076700"/>
                </a:cubicBezTo>
                <a:lnTo>
                  <a:pt x="0" y="38100"/>
                </a:lnTo>
                <a:cubicBezTo>
                  <a:pt x="0" y="17072"/>
                  <a:pt x="17072" y="0"/>
                  <a:pt x="38100" y="0"/>
                </a:cubicBezTo>
                <a:close/>
              </a:path>
            </a:pathLst>
          </a:custGeom>
          <a:solidFill>
            <a:srgbClr val="FF6900"/>
          </a:solidFill>
          <a:ln/>
        </p:spPr>
      </p:sp>
      <p:sp>
        <p:nvSpPr>
          <p:cNvPr id="40" name="Shape 38"/>
          <p:cNvSpPr/>
          <p:nvPr/>
        </p:nvSpPr>
        <p:spPr>
          <a:xfrm>
            <a:off x="4279850" y="2362200"/>
            <a:ext cx="3667125" cy="1028700"/>
          </a:xfrm>
          <a:custGeom>
            <a:avLst/>
            <a:gdLst/>
            <a:ahLst/>
            <a:cxnLst/>
            <a:rect l="l" t="t" r="r" b="b"/>
            <a:pathLst>
              <a:path w="3667125" h="1028700">
                <a:moveTo>
                  <a:pt x="0" y="0"/>
                </a:moveTo>
                <a:lnTo>
                  <a:pt x="3667125" y="0"/>
                </a:lnTo>
                <a:lnTo>
                  <a:pt x="3667125" y="1028700"/>
                </a:lnTo>
                <a:lnTo>
                  <a:pt x="0" y="1028700"/>
                </a:lnTo>
                <a:lnTo>
                  <a:pt x="0" y="0"/>
                </a:lnTo>
                <a:close/>
              </a:path>
            </a:pathLst>
          </a:custGeom>
          <a:solidFill>
            <a:srgbClr val="FFF7ED"/>
          </a:solidFill>
          <a:ln/>
        </p:spPr>
      </p:sp>
      <p:sp>
        <p:nvSpPr>
          <p:cNvPr id="41" name="Shape 39"/>
          <p:cNvSpPr/>
          <p:nvPr/>
        </p:nvSpPr>
        <p:spPr>
          <a:xfrm>
            <a:off x="4432250" y="25146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F6900"/>
          </a:solidFill>
          <a:ln/>
        </p:spPr>
      </p:sp>
      <p:sp>
        <p:nvSpPr>
          <p:cNvPr id="42" name="Shape 40"/>
          <p:cNvSpPr/>
          <p:nvPr/>
        </p:nvSpPr>
        <p:spPr>
          <a:xfrm>
            <a:off x="4553694" y="2647950"/>
            <a:ext cx="214313" cy="190500"/>
          </a:xfrm>
          <a:custGeom>
            <a:avLst/>
            <a:gdLst/>
            <a:ahLst/>
            <a:cxnLst/>
            <a:rect l="l" t="t" r="r" b="b"/>
            <a:pathLst>
              <a:path w="214313" h="190500">
                <a:moveTo>
                  <a:pt x="15255" y="-9265"/>
                </a:moveTo>
                <a:cubicBezTo>
                  <a:pt x="11757" y="-12762"/>
                  <a:pt x="6102" y="-12762"/>
                  <a:pt x="2642" y="-9265"/>
                </a:cubicBezTo>
                <a:cubicBezTo>
                  <a:pt x="-819" y="-5767"/>
                  <a:pt x="-856" y="-112"/>
                  <a:pt x="2604" y="3386"/>
                </a:cubicBezTo>
                <a:lnTo>
                  <a:pt x="199058" y="199839"/>
                </a:lnTo>
                <a:cubicBezTo>
                  <a:pt x="202555" y="203336"/>
                  <a:pt x="208211" y="203336"/>
                  <a:pt x="211671" y="199839"/>
                </a:cubicBezTo>
                <a:cubicBezTo>
                  <a:pt x="215131" y="196342"/>
                  <a:pt x="215168" y="190686"/>
                  <a:pt x="211671" y="187226"/>
                </a:cubicBezTo>
                <a:lnTo>
                  <a:pt x="166278" y="141833"/>
                </a:lnTo>
                <a:cubicBezTo>
                  <a:pt x="167841" y="140568"/>
                  <a:pt x="169366" y="139192"/>
                  <a:pt x="170780" y="137778"/>
                </a:cubicBezTo>
                <a:lnTo>
                  <a:pt x="197234" y="111323"/>
                </a:lnTo>
                <a:cubicBezTo>
                  <a:pt x="208136" y="100422"/>
                  <a:pt x="214275" y="85613"/>
                  <a:pt x="214275" y="70172"/>
                </a:cubicBezTo>
                <a:cubicBezTo>
                  <a:pt x="214275" y="38026"/>
                  <a:pt x="188230" y="11943"/>
                  <a:pt x="156046" y="11943"/>
                </a:cubicBezTo>
                <a:cubicBezTo>
                  <a:pt x="142168" y="11943"/>
                  <a:pt x="128848" y="16892"/>
                  <a:pt x="118356" y="25784"/>
                </a:cubicBezTo>
                <a:cubicBezTo>
                  <a:pt x="125909" y="29542"/>
                  <a:pt x="132755" y="34528"/>
                  <a:pt x="138633" y="40481"/>
                </a:cubicBezTo>
                <a:cubicBezTo>
                  <a:pt x="143880" y="37393"/>
                  <a:pt x="149870" y="35756"/>
                  <a:pt x="156046" y="35756"/>
                </a:cubicBezTo>
                <a:cubicBezTo>
                  <a:pt x="175059" y="35756"/>
                  <a:pt x="190463" y="51160"/>
                  <a:pt x="190463" y="70172"/>
                </a:cubicBezTo>
                <a:cubicBezTo>
                  <a:pt x="190463" y="79288"/>
                  <a:pt x="186854" y="88032"/>
                  <a:pt x="180380" y="94506"/>
                </a:cubicBezTo>
                <a:lnTo>
                  <a:pt x="153925" y="120960"/>
                </a:lnTo>
                <a:cubicBezTo>
                  <a:pt x="152474" y="122411"/>
                  <a:pt x="150912" y="123713"/>
                  <a:pt x="149237" y="124867"/>
                </a:cubicBezTo>
                <a:lnTo>
                  <a:pt x="131564" y="107193"/>
                </a:lnTo>
                <a:cubicBezTo>
                  <a:pt x="137703" y="106859"/>
                  <a:pt x="142615" y="101836"/>
                  <a:pt x="142801" y="95622"/>
                </a:cubicBezTo>
                <a:cubicBezTo>
                  <a:pt x="142801" y="95138"/>
                  <a:pt x="142801" y="94655"/>
                  <a:pt x="142801" y="94171"/>
                </a:cubicBezTo>
                <a:cubicBezTo>
                  <a:pt x="142801" y="62061"/>
                  <a:pt x="116793" y="35793"/>
                  <a:pt x="84572" y="35793"/>
                </a:cubicBezTo>
                <a:cubicBezTo>
                  <a:pt x="77428" y="35793"/>
                  <a:pt x="70470" y="37095"/>
                  <a:pt x="63922" y="39588"/>
                </a:cubicBezTo>
                <a:lnTo>
                  <a:pt x="15255" y="-9265"/>
                </a:lnTo>
                <a:close/>
                <a:moveTo>
                  <a:pt x="84051" y="59531"/>
                </a:moveTo>
                <a:cubicBezTo>
                  <a:pt x="84274" y="59531"/>
                  <a:pt x="84460" y="59531"/>
                  <a:pt x="84683" y="59531"/>
                </a:cubicBezTo>
                <a:cubicBezTo>
                  <a:pt x="90301" y="59531"/>
                  <a:pt x="95659" y="60908"/>
                  <a:pt x="100347" y="63326"/>
                </a:cubicBezTo>
                <a:cubicBezTo>
                  <a:pt x="101017" y="63773"/>
                  <a:pt x="101687" y="64182"/>
                  <a:pt x="102394" y="64480"/>
                </a:cubicBezTo>
                <a:cubicBezTo>
                  <a:pt x="112365" y="70545"/>
                  <a:pt x="119063" y="81558"/>
                  <a:pt x="119063" y="94097"/>
                </a:cubicBezTo>
                <a:cubicBezTo>
                  <a:pt x="119063" y="94245"/>
                  <a:pt x="119063" y="94394"/>
                  <a:pt x="119063" y="94543"/>
                </a:cubicBezTo>
                <a:lnTo>
                  <a:pt x="84051" y="59531"/>
                </a:lnTo>
                <a:close/>
                <a:moveTo>
                  <a:pt x="128811" y="154781"/>
                </a:moveTo>
                <a:lnTo>
                  <a:pt x="71438" y="97408"/>
                </a:lnTo>
                <a:cubicBezTo>
                  <a:pt x="71884" y="128885"/>
                  <a:pt x="97334" y="154298"/>
                  <a:pt x="128774" y="154744"/>
                </a:cubicBezTo>
                <a:close/>
                <a:moveTo>
                  <a:pt x="51978" y="77949"/>
                </a:moveTo>
                <a:lnTo>
                  <a:pt x="35123" y="61094"/>
                </a:lnTo>
                <a:lnTo>
                  <a:pt x="17041" y="79177"/>
                </a:lnTo>
                <a:cubicBezTo>
                  <a:pt x="6139" y="90078"/>
                  <a:pt x="0" y="104887"/>
                  <a:pt x="0" y="120328"/>
                </a:cubicBezTo>
                <a:cubicBezTo>
                  <a:pt x="0" y="152474"/>
                  <a:pt x="26045" y="178557"/>
                  <a:pt x="58229" y="178557"/>
                </a:cubicBezTo>
                <a:cubicBezTo>
                  <a:pt x="72070" y="178557"/>
                  <a:pt x="85427" y="173608"/>
                  <a:pt x="95920" y="164716"/>
                </a:cubicBezTo>
                <a:cubicBezTo>
                  <a:pt x="88367" y="160958"/>
                  <a:pt x="81483" y="155972"/>
                  <a:pt x="75605" y="150019"/>
                </a:cubicBezTo>
                <a:cubicBezTo>
                  <a:pt x="70396" y="153070"/>
                  <a:pt x="64405" y="154707"/>
                  <a:pt x="58229" y="154707"/>
                </a:cubicBezTo>
                <a:cubicBezTo>
                  <a:pt x="39216" y="154707"/>
                  <a:pt x="23812" y="139303"/>
                  <a:pt x="23812" y="120290"/>
                </a:cubicBezTo>
                <a:cubicBezTo>
                  <a:pt x="23812" y="111175"/>
                  <a:pt x="27422" y="102431"/>
                  <a:pt x="33896" y="95957"/>
                </a:cubicBezTo>
                <a:lnTo>
                  <a:pt x="51978" y="77874"/>
                </a:lnTo>
                <a:close/>
              </a:path>
            </a:pathLst>
          </a:custGeom>
          <a:solidFill>
            <a:srgbClr val="FFFFFF"/>
          </a:solidFill>
          <a:ln/>
        </p:spPr>
      </p:sp>
      <p:sp>
        <p:nvSpPr>
          <p:cNvPr id="43" name="Text 41"/>
          <p:cNvSpPr/>
          <p:nvPr/>
        </p:nvSpPr>
        <p:spPr>
          <a:xfrm>
            <a:off x="5003750" y="2514600"/>
            <a:ext cx="1514475" cy="266700"/>
          </a:xfrm>
          <a:prstGeom prst="rect">
            <a:avLst/>
          </a:prstGeom>
          <a:noFill/>
          <a:ln/>
        </p:spPr>
        <p:txBody>
          <a:bodyPr wrap="square" lIns="0" tIns="0" rIns="0" bIns="0" rtlCol="0" anchor="ctr"/>
          <a:lstStyle/>
          <a:p>
            <a:pPr>
              <a:lnSpc>
                <a:spcPct val="130000"/>
              </a:lnSpc>
            </a:pPr>
            <a:r>
              <a:rPr lang="en-US" sz="1350" b="1" dirty="0">
                <a:solidFill>
                  <a:srgbClr val="1A3A52"/>
                </a:solidFill>
                <a:latin typeface="Liter" pitchFamily="34" charset="0"/>
                <a:ea typeface="Liter" pitchFamily="34" charset="-122"/>
                <a:cs typeface="Liter" pitchFamily="34" charset="-120"/>
              </a:rPr>
              <a:t>Absence Page 404</a:t>
            </a:r>
            <a:endParaRPr lang="en-US" sz="1600" dirty="0"/>
          </a:p>
        </p:txBody>
      </p:sp>
      <p:sp>
        <p:nvSpPr>
          <p:cNvPr id="44" name="Text 42"/>
          <p:cNvSpPr/>
          <p:nvPr/>
        </p:nvSpPr>
        <p:spPr>
          <a:xfrm>
            <a:off x="5003750" y="2781300"/>
            <a:ext cx="1495425" cy="190500"/>
          </a:xfrm>
          <a:prstGeom prst="rect">
            <a:avLst/>
          </a:prstGeom>
          <a:noFill/>
          <a:ln/>
        </p:spPr>
        <p:txBody>
          <a:bodyPr wrap="square" lIns="0" tIns="0" rIns="0" bIns="0" rtlCol="0" anchor="ctr"/>
          <a:lstStyle/>
          <a:p>
            <a:pPr>
              <a:lnSpc>
                <a:spcPct val="120000"/>
              </a:lnSpc>
            </a:pPr>
            <a:r>
              <a:rPr lang="en-US" sz="1050" b="1" dirty="0">
                <a:solidFill>
                  <a:srgbClr val="F54900"/>
                </a:solidFill>
                <a:latin typeface="Liter" pitchFamily="34" charset="0"/>
                <a:ea typeface="Liter" pitchFamily="34" charset="-122"/>
                <a:cs typeface="Liter" pitchFamily="34" charset="-120"/>
              </a:rPr>
              <a:t>Personnalisée</a:t>
            </a:r>
            <a:endParaRPr lang="en-US" sz="1600" dirty="0"/>
          </a:p>
        </p:txBody>
      </p:sp>
      <p:sp>
        <p:nvSpPr>
          <p:cNvPr id="45" name="Text 43"/>
          <p:cNvSpPr/>
          <p:nvPr/>
        </p:nvSpPr>
        <p:spPr>
          <a:xfrm>
            <a:off x="4432250" y="3086100"/>
            <a:ext cx="3419475" cy="152400"/>
          </a:xfrm>
          <a:prstGeom prst="rect">
            <a:avLst/>
          </a:prstGeom>
          <a:noFill/>
          <a:ln/>
        </p:spPr>
        <p:txBody>
          <a:bodyPr wrap="square" lIns="0" tIns="0" rIns="0" bIns="0" rtlCol="0" anchor="ctr"/>
          <a:lstStyle/>
          <a:p>
            <a:pPr>
              <a:lnSpc>
                <a:spcPct val="110000"/>
              </a:lnSpc>
            </a:pPr>
            <a:r>
              <a:rPr lang="en-US" sz="900" spc="45" kern="0" dirty="0">
                <a:solidFill>
                  <a:srgbClr val="6C757D"/>
                </a:solidFill>
                <a:latin typeface="Liter" pitchFamily="34" charset="0"/>
                <a:ea typeface="Liter" pitchFamily="34" charset="-122"/>
                <a:cs typeface="Liter" pitchFamily="34" charset="-120"/>
              </a:rPr>
              <a:t>La Voie Sans Issue</a:t>
            </a:r>
            <a:endParaRPr lang="en-US" sz="1600" dirty="0"/>
          </a:p>
        </p:txBody>
      </p:sp>
      <p:sp>
        <p:nvSpPr>
          <p:cNvPr id="46" name="Text 44"/>
          <p:cNvSpPr/>
          <p:nvPr/>
        </p:nvSpPr>
        <p:spPr>
          <a:xfrm>
            <a:off x="4432250" y="3543300"/>
            <a:ext cx="3438525" cy="742950"/>
          </a:xfrm>
          <a:prstGeom prst="rect">
            <a:avLst/>
          </a:prstGeom>
          <a:noFill/>
          <a:ln/>
        </p:spPr>
        <p:txBody>
          <a:bodyPr wrap="square" lIns="0" tIns="0" rIns="0" bIns="0" rtlCol="0" anchor="ctr"/>
          <a:lstStyle/>
          <a:p>
            <a:pPr>
              <a:lnSpc>
                <a:spcPct val="140000"/>
              </a:lnSpc>
            </a:pPr>
            <a:r>
              <a:rPr lang="en-US" sz="1200" b="1" dirty="0">
                <a:solidFill>
                  <a:srgbClr val="212529"/>
                </a:solidFill>
                <a:latin typeface="Liter" pitchFamily="34" charset="0"/>
                <a:ea typeface="Liter" pitchFamily="34" charset="-122"/>
                <a:cs typeface="Liter" pitchFamily="34" charset="-120"/>
              </a:rPr>
              <a:t>Les liens brisés mènent à des pages vides.</a:t>
            </a:r>
            <a:pPr>
              <a:lnSpc>
                <a:spcPct val="140000"/>
              </a:lnSpc>
            </a:pPr>
            <a:r>
              <a:rPr lang="en-US" sz="1200" dirty="0">
                <a:solidFill>
                  <a:srgbClr val="212529"/>
                </a:solidFill>
                <a:latin typeface="Liter" pitchFamily="34" charset="0"/>
                <a:ea typeface="Liter" pitchFamily="34" charset="-122"/>
                <a:cs typeface="Liter" pitchFamily="34" charset="-120"/>
              </a:rPr>
              <a:t> Les patients qui cliquent sur un lien mort atteignent une impasse.</a:t>
            </a:r>
            <a:endParaRPr lang="en-US" sz="1600" dirty="0"/>
          </a:p>
        </p:txBody>
      </p:sp>
      <p:sp>
        <p:nvSpPr>
          <p:cNvPr id="47" name="Shape 45"/>
          <p:cNvSpPr/>
          <p:nvPr/>
        </p:nvSpPr>
        <p:spPr>
          <a:xfrm>
            <a:off x="4432250" y="4400550"/>
            <a:ext cx="3362325" cy="1104900"/>
          </a:xfrm>
          <a:custGeom>
            <a:avLst/>
            <a:gdLst/>
            <a:ahLst/>
            <a:cxnLst/>
            <a:rect l="l" t="t" r="r" b="b"/>
            <a:pathLst>
              <a:path w="3362325" h="1104900">
                <a:moveTo>
                  <a:pt x="76205" y="0"/>
                </a:moveTo>
                <a:lnTo>
                  <a:pt x="3286120" y="0"/>
                </a:lnTo>
                <a:cubicBezTo>
                  <a:pt x="3328207" y="0"/>
                  <a:pt x="3362325" y="34118"/>
                  <a:pt x="3362325" y="76205"/>
                </a:cubicBezTo>
                <a:lnTo>
                  <a:pt x="3362325" y="1028695"/>
                </a:lnTo>
                <a:cubicBezTo>
                  <a:pt x="3362325" y="1070782"/>
                  <a:pt x="3328207" y="1104900"/>
                  <a:pt x="3286120" y="1104900"/>
                </a:cubicBezTo>
                <a:lnTo>
                  <a:pt x="76205" y="1104900"/>
                </a:lnTo>
                <a:cubicBezTo>
                  <a:pt x="34118" y="1104900"/>
                  <a:pt x="0" y="1070782"/>
                  <a:pt x="0" y="1028695"/>
                </a:cubicBezTo>
                <a:lnTo>
                  <a:pt x="0" y="76205"/>
                </a:lnTo>
                <a:cubicBezTo>
                  <a:pt x="0" y="34146"/>
                  <a:pt x="34146" y="0"/>
                  <a:pt x="76205" y="0"/>
                </a:cubicBezTo>
                <a:close/>
              </a:path>
            </a:pathLst>
          </a:custGeom>
          <a:solidFill>
            <a:srgbClr val="FFF7ED"/>
          </a:solidFill>
          <a:ln/>
        </p:spPr>
      </p:sp>
      <p:sp>
        <p:nvSpPr>
          <p:cNvPr id="48" name="Text 46"/>
          <p:cNvSpPr/>
          <p:nvPr/>
        </p:nvSpPr>
        <p:spPr>
          <a:xfrm>
            <a:off x="4546550" y="4514850"/>
            <a:ext cx="909861" cy="190500"/>
          </a:xfrm>
          <a:prstGeom prst="rect">
            <a:avLst/>
          </a:prstGeom>
          <a:noFill/>
          <a:ln/>
        </p:spPr>
        <p:txBody>
          <a:bodyPr wrap="square" lIns="0" tIns="0" rIns="0" bIns="0" rtlCol="0" anchor="ctr"/>
          <a:lstStyle/>
          <a:p>
            <a:pPr>
              <a:lnSpc>
                <a:spcPct val="120000"/>
              </a:lnSpc>
            </a:pPr>
            <a:r>
              <a:rPr lang="en-US" sz="1050" b="1" dirty="0">
                <a:solidFill>
                  <a:srgbClr val="212529"/>
                </a:solidFill>
                <a:latin typeface="Liter" pitchFamily="34" charset="0"/>
                <a:ea typeface="Liter" pitchFamily="34" charset="-122"/>
                <a:cs typeface="Liter" pitchFamily="34" charset="-120"/>
              </a:rPr>
              <a:t>Conséquence:</a:t>
            </a:r>
            <a:endParaRPr lang="en-US" sz="1600" dirty="0"/>
          </a:p>
        </p:txBody>
      </p:sp>
      <p:sp>
        <p:nvSpPr>
          <p:cNvPr id="49" name="Text 47"/>
          <p:cNvSpPr/>
          <p:nvPr/>
        </p:nvSpPr>
        <p:spPr>
          <a:xfrm>
            <a:off x="4546550" y="47434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Rupture brutale de l'expérience</a:t>
            </a:r>
            <a:endParaRPr lang="en-US" sz="1600" dirty="0"/>
          </a:p>
        </p:txBody>
      </p:sp>
      <p:sp>
        <p:nvSpPr>
          <p:cNvPr id="50" name="Text 48"/>
          <p:cNvSpPr/>
          <p:nvPr/>
        </p:nvSpPr>
        <p:spPr>
          <a:xfrm>
            <a:off x="4546550" y="49720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Perte définitive du lead</a:t>
            </a:r>
            <a:endParaRPr lang="en-US" sz="1600" dirty="0"/>
          </a:p>
        </p:txBody>
      </p:sp>
      <p:sp>
        <p:nvSpPr>
          <p:cNvPr id="51" name="Text 49"/>
          <p:cNvSpPr/>
          <p:nvPr/>
        </p:nvSpPr>
        <p:spPr>
          <a:xfrm>
            <a:off x="4546550" y="52006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94% de taux de rebond sur 404 génériques</a:t>
            </a:r>
            <a:endParaRPr lang="en-US" sz="1600" dirty="0"/>
          </a:p>
        </p:txBody>
      </p:sp>
      <p:sp>
        <p:nvSpPr>
          <p:cNvPr id="52" name="Shape 50"/>
          <p:cNvSpPr/>
          <p:nvPr/>
        </p:nvSpPr>
        <p:spPr>
          <a:xfrm>
            <a:off x="4432250" y="5715000"/>
            <a:ext cx="3362325" cy="609600"/>
          </a:xfrm>
          <a:custGeom>
            <a:avLst/>
            <a:gdLst/>
            <a:ahLst/>
            <a:cxnLst/>
            <a:rect l="l" t="t" r="r" b="b"/>
            <a:pathLst>
              <a:path w="3362325" h="609600">
                <a:moveTo>
                  <a:pt x="76200" y="0"/>
                </a:moveTo>
                <a:lnTo>
                  <a:pt x="3286125" y="0"/>
                </a:lnTo>
                <a:cubicBezTo>
                  <a:pt x="3328181" y="0"/>
                  <a:pt x="3362325" y="34144"/>
                  <a:pt x="3362325" y="76200"/>
                </a:cubicBezTo>
                <a:lnTo>
                  <a:pt x="3362325" y="533400"/>
                </a:lnTo>
                <a:cubicBezTo>
                  <a:pt x="3362325" y="575456"/>
                  <a:pt x="3328181" y="609600"/>
                  <a:pt x="3286125" y="609600"/>
                </a:cubicBezTo>
                <a:lnTo>
                  <a:pt x="76200" y="609600"/>
                </a:lnTo>
                <a:cubicBezTo>
                  <a:pt x="34144" y="609600"/>
                  <a:pt x="0" y="575456"/>
                  <a:pt x="0" y="533400"/>
                </a:cubicBezTo>
                <a:lnTo>
                  <a:pt x="0" y="76200"/>
                </a:lnTo>
                <a:cubicBezTo>
                  <a:pt x="0" y="34144"/>
                  <a:pt x="34144" y="0"/>
                  <a:pt x="76200" y="0"/>
                </a:cubicBezTo>
                <a:close/>
              </a:path>
            </a:pathLst>
          </a:custGeom>
          <a:solidFill>
            <a:srgbClr val="1A3A52">
              <a:alpha val="5098"/>
            </a:srgbClr>
          </a:solidFill>
          <a:ln/>
        </p:spPr>
      </p:sp>
      <p:sp>
        <p:nvSpPr>
          <p:cNvPr id="53" name="Text 51"/>
          <p:cNvSpPr/>
          <p:nvPr/>
        </p:nvSpPr>
        <p:spPr>
          <a:xfrm>
            <a:off x="4546550" y="5829300"/>
            <a:ext cx="3200400" cy="190500"/>
          </a:xfrm>
          <a:prstGeom prst="rect">
            <a:avLst/>
          </a:prstGeom>
          <a:noFill/>
          <a:ln/>
        </p:spPr>
        <p:txBody>
          <a:bodyPr wrap="square" lIns="0" tIns="0" rIns="0" bIns="0" rtlCol="0" anchor="ctr"/>
          <a:lstStyle/>
          <a:p>
            <a:pPr>
              <a:lnSpc>
                <a:spcPct val="120000"/>
              </a:lnSpc>
            </a:pPr>
            <a:r>
              <a:rPr lang="en-US" sz="1050" b="1" dirty="0">
                <a:solidFill>
                  <a:srgbClr val="F54900"/>
                </a:solidFill>
                <a:latin typeface="Liter" pitchFamily="34" charset="0"/>
                <a:ea typeface="Liter" pitchFamily="34" charset="-122"/>
                <a:cs typeface="Liter" pitchFamily="34" charset="-120"/>
              </a:rPr>
              <a:t>Impact:</a:t>
            </a:r>
            <a:pPr>
              <a:lnSpc>
                <a:spcPct val="120000"/>
              </a:lnSpc>
            </a:pPr>
            <a:r>
              <a:rPr lang="en-US" sz="1050" dirty="0">
                <a:solidFill>
                  <a:srgbClr val="212529"/>
                </a:solidFill>
                <a:latin typeface="Liter" pitchFamily="34" charset="0"/>
                <a:ea typeface="Liter" pitchFamily="34" charset="-122"/>
                <a:cs typeface="Liter" pitchFamily="34" charset="-120"/>
              </a:rPr>
              <a:t> 70% des patients ne reviennent jamais</a:t>
            </a:r>
            <a:endParaRPr lang="en-US" sz="1600" dirty="0"/>
          </a:p>
        </p:txBody>
      </p:sp>
      <p:sp>
        <p:nvSpPr>
          <p:cNvPr id="54" name="Text 52"/>
          <p:cNvSpPr/>
          <p:nvPr/>
        </p:nvSpPr>
        <p:spPr>
          <a:xfrm>
            <a:off x="4546550" y="6057900"/>
            <a:ext cx="3190875" cy="152400"/>
          </a:xfrm>
          <a:prstGeom prst="rect">
            <a:avLst/>
          </a:prstGeom>
          <a:noFill/>
          <a:ln/>
        </p:spPr>
        <p:txBody>
          <a:bodyPr wrap="square" lIns="0" tIns="0" rIns="0" bIns="0" rtlCol="0" anchor="ctr"/>
          <a:lstStyle/>
          <a:p>
            <a:pPr>
              <a:lnSpc>
                <a:spcPct val="110000"/>
              </a:lnSpc>
            </a:pPr>
            <a:r>
              <a:rPr lang="en-US" sz="900" dirty="0">
                <a:solidFill>
                  <a:srgbClr val="6C757D"/>
                </a:solidFill>
                <a:latin typeface="Liter" pitchFamily="34" charset="0"/>
                <a:ea typeface="Liter" pitchFamily="34" charset="-122"/>
                <a:cs typeface="Liter" pitchFamily="34" charset="-120"/>
              </a:rPr>
              <a:t>Source: 2Point Agency 2026</a:t>
            </a:r>
            <a:endParaRPr lang="en-US" sz="1600" dirty="0"/>
          </a:p>
        </p:txBody>
      </p:sp>
      <p:sp>
        <p:nvSpPr>
          <p:cNvPr id="55" name="Shape 53"/>
          <p:cNvSpPr/>
          <p:nvPr/>
        </p:nvSpPr>
        <p:spPr>
          <a:xfrm>
            <a:off x="8121625" y="2362200"/>
            <a:ext cx="3686175" cy="4114800"/>
          </a:xfrm>
          <a:custGeom>
            <a:avLst/>
            <a:gdLst/>
            <a:ahLst/>
            <a:cxnLst/>
            <a:rect l="l" t="t" r="r" b="b"/>
            <a:pathLst>
              <a:path w="3686175" h="4114800">
                <a:moveTo>
                  <a:pt x="38100" y="0"/>
                </a:moveTo>
                <a:lnTo>
                  <a:pt x="3571867" y="0"/>
                </a:lnTo>
                <a:cubicBezTo>
                  <a:pt x="3634997" y="0"/>
                  <a:pt x="3686175" y="51178"/>
                  <a:pt x="3686175" y="114308"/>
                </a:cubicBezTo>
                <a:lnTo>
                  <a:pt x="3686175" y="4000492"/>
                </a:lnTo>
                <a:cubicBezTo>
                  <a:pt x="3686175" y="4063622"/>
                  <a:pt x="3634997" y="4114800"/>
                  <a:pt x="3571867" y="4114800"/>
                </a:cubicBezTo>
                <a:lnTo>
                  <a:pt x="38100" y="4114800"/>
                </a:lnTo>
                <a:cubicBezTo>
                  <a:pt x="17072" y="4114800"/>
                  <a:pt x="0" y="4097728"/>
                  <a:pt x="0" y="407670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56" name="Shape 54"/>
          <p:cNvSpPr/>
          <p:nvPr/>
        </p:nvSpPr>
        <p:spPr>
          <a:xfrm>
            <a:off x="8121625" y="2362200"/>
            <a:ext cx="38100" cy="4114800"/>
          </a:xfrm>
          <a:custGeom>
            <a:avLst/>
            <a:gdLst/>
            <a:ahLst/>
            <a:cxnLst/>
            <a:rect l="l" t="t" r="r" b="b"/>
            <a:pathLst>
              <a:path w="38100" h="4114800">
                <a:moveTo>
                  <a:pt x="38100" y="0"/>
                </a:moveTo>
                <a:lnTo>
                  <a:pt x="38100" y="0"/>
                </a:lnTo>
                <a:lnTo>
                  <a:pt x="38100" y="4114800"/>
                </a:lnTo>
                <a:lnTo>
                  <a:pt x="38100" y="4114800"/>
                </a:lnTo>
                <a:cubicBezTo>
                  <a:pt x="17072" y="4114800"/>
                  <a:pt x="0" y="4097728"/>
                  <a:pt x="0" y="4076700"/>
                </a:cubicBezTo>
                <a:lnTo>
                  <a:pt x="0" y="38100"/>
                </a:lnTo>
                <a:cubicBezTo>
                  <a:pt x="0" y="17072"/>
                  <a:pt x="17072" y="0"/>
                  <a:pt x="38100" y="0"/>
                </a:cubicBezTo>
                <a:close/>
              </a:path>
            </a:pathLst>
          </a:custGeom>
          <a:solidFill>
            <a:srgbClr val="C5A065"/>
          </a:solidFill>
          <a:ln/>
        </p:spPr>
      </p:sp>
      <p:sp>
        <p:nvSpPr>
          <p:cNvPr id="57" name="Shape 55"/>
          <p:cNvSpPr/>
          <p:nvPr/>
        </p:nvSpPr>
        <p:spPr>
          <a:xfrm>
            <a:off x="8140675" y="2362200"/>
            <a:ext cx="3667125" cy="1028700"/>
          </a:xfrm>
          <a:custGeom>
            <a:avLst/>
            <a:gdLst/>
            <a:ahLst/>
            <a:cxnLst/>
            <a:rect l="l" t="t" r="r" b="b"/>
            <a:pathLst>
              <a:path w="3667125" h="1028700">
                <a:moveTo>
                  <a:pt x="0" y="0"/>
                </a:moveTo>
                <a:lnTo>
                  <a:pt x="3667125" y="0"/>
                </a:lnTo>
                <a:lnTo>
                  <a:pt x="3667125" y="1028700"/>
                </a:lnTo>
                <a:lnTo>
                  <a:pt x="0" y="1028700"/>
                </a:lnTo>
                <a:lnTo>
                  <a:pt x="0" y="0"/>
                </a:lnTo>
                <a:close/>
              </a:path>
            </a:pathLst>
          </a:custGeom>
          <a:solidFill>
            <a:srgbClr val="C5A065">
              <a:alpha val="10196"/>
            </a:srgbClr>
          </a:solidFill>
          <a:ln/>
        </p:spPr>
      </p:sp>
      <p:sp>
        <p:nvSpPr>
          <p:cNvPr id="58" name="Shape 56"/>
          <p:cNvSpPr/>
          <p:nvPr/>
        </p:nvSpPr>
        <p:spPr>
          <a:xfrm>
            <a:off x="8293075" y="25146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5A065"/>
          </a:solidFill>
          <a:ln/>
        </p:spPr>
      </p:sp>
      <p:sp>
        <p:nvSpPr>
          <p:cNvPr id="59" name="Shape 57"/>
          <p:cNvSpPr/>
          <p:nvPr/>
        </p:nvSpPr>
        <p:spPr>
          <a:xfrm>
            <a:off x="8438331" y="2647950"/>
            <a:ext cx="166688" cy="190500"/>
          </a:xfrm>
          <a:custGeom>
            <a:avLst/>
            <a:gdLst/>
            <a:ahLst/>
            <a:cxnLst/>
            <a:rect l="l" t="t" r="r" b="b"/>
            <a:pathLst>
              <a:path w="166688" h="190500">
                <a:moveTo>
                  <a:pt x="62694" y="0"/>
                </a:moveTo>
                <a:cubicBezTo>
                  <a:pt x="57745" y="0"/>
                  <a:pt x="53764" y="3981"/>
                  <a:pt x="53764" y="8930"/>
                </a:cubicBezTo>
                <a:cubicBezTo>
                  <a:pt x="53764" y="13878"/>
                  <a:pt x="57745" y="17859"/>
                  <a:pt x="62694" y="17859"/>
                </a:cubicBezTo>
                <a:lnTo>
                  <a:pt x="74600" y="17859"/>
                </a:lnTo>
                <a:lnTo>
                  <a:pt x="74600" y="27273"/>
                </a:lnTo>
                <a:cubicBezTo>
                  <a:pt x="34417" y="31700"/>
                  <a:pt x="3163" y="65782"/>
                  <a:pt x="3163" y="107156"/>
                </a:cubicBezTo>
                <a:cubicBezTo>
                  <a:pt x="3163" y="151544"/>
                  <a:pt x="39142" y="187523"/>
                  <a:pt x="83530" y="187523"/>
                </a:cubicBezTo>
                <a:cubicBezTo>
                  <a:pt x="127918" y="187523"/>
                  <a:pt x="163897" y="151544"/>
                  <a:pt x="163897" y="107156"/>
                </a:cubicBezTo>
                <a:cubicBezTo>
                  <a:pt x="163897" y="92348"/>
                  <a:pt x="159879" y="78470"/>
                  <a:pt x="152884" y="66526"/>
                </a:cubicBezTo>
                <a:lnTo>
                  <a:pt x="163376" y="56034"/>
                </a:lnTo>
                <a:cubicBezTo>
                  <a:pt x="168027" y="51383"/>
                  <a:pt x="168027" y="43830"/>
                  <a:pt x="163376" y="39179"/>
                </a:cubicBezTo>
                <a:cubicBezTo>
                  <a:pt x="158725" y="34528"/>
                  <a:pt x="151172" y="34528"/>
                  <a:pt x="146521" y="39179"/>
                </a:cubicBezTo>
                <a:lnTo>
                  <a:pt x="137815" y="47885"/>
                </a:lnTo>
                <a:cubicBezTo>
                  <a:pt x="125574" y="36649"/>
                  <a:pt x="109835" y="29170"/>
                  <a:pt x="92422" y="27236"/>
                </a:cubicBezTo>
                <a:lnTo>
                  <a:pt x="92422" y="17822"/>
                </a:lnTo>
                <a:lnTo>
                  <a:pt x="104329" y="17822"/>
                </a:lnTo>
                <a:cubicBezTo>
                  <a:pt x="109277" y="17822"/>
                  <a:pt x="113258" y="13841"/>
                  <a:pt x="113258" y="8892"/>
                </a:cubicBezTo>
                <a:cubicBezTo>
                  <a:pt x="113258" y="3944"/>
                  <a:pt x="109277" y="-37"/>
                  <a:pt x="104329" y="-37"/>
                </a:cubicBezTo>
                <a:lnTo>
                  <a:pt x="62657" y="-37"/>
                </a:lnTo>
                <a:close/>
                <a:moveTo>
                  <a:pt x="92459" y="68461"/>
                </a:moveTo>
                <a:lnTo>
                  <a:pt x="92459" y="107156"/>
                </a:lnTo>
                <a:cubicBezTo>
                  <a:pt x="92459" y="112105"/>
                  <a:pt x="88478" y="116086"/>
                  <a:pt x="83530" y="116086"/>
                </a:cubicBezTo>
                <a:cubicBezTo>
                  <a:pt x="78581" y="116086"/>
                  <a:pt x="74600" y="112105"/>
                  <a:pt x="74600" y="107156"/>
                </a:cubicBezTo>
                <a:lnTo>
                  <a:pt x="74600" y="68461"/>
                </a:lnTo>
                <a:cubicBezTo>
                  <a:pt x="74600" y="63512"/>
                  <a:pt x="78581" y="59531"/>
                  <a:pt x="83530" y="59531"/>
                </a:cubicBezTo>
                <a:cubicBezTo>
                  <a:pt x="88478" y="59531"/>
                  <a:pt x="92459" y="63512"/>
                  <a:pt x="92459" y="68461"/>
                </a:cubicBezTo>
                <a:close/>
              </a:path>
            </a:pathLst>
          </a:custGeom>
          <a:solidFill>
            <a:srgbClr val="FFFFFF"/>
          </a:solidFill>
          <a:ln/>
        </p:spPr>
      </p:sp>
      <p:sp>
        <p:nvSpPr>
          <p:cNvPr id="60" name="Text 58"/>
          <p:cNvSpPr/>
          <p:nvPr/>
        </p:nvSpPr>
        <p:spPr>
          <a:xfrm>
            <a:off x="8864575" y="2514600"/>
            <a:ext cx="952500" cy="266700"/>
          </a:xfrm>
          <a:prstGeom prst="rect">
            <a:avLst/>
          </a:prstGeom>
          <a:noFill/>
          <a:ln/>
        </p:spPr>
        <p:txBody>
          <a:bodyPr wrap="square" lIns="0" tIns="0" rIns="0" bIns="0" rtlCol="0" anchor="ctr"/>
          <a:lstStyle/>
          <a:p>
            <a:pPr>
              <a:lnSpc>
                <a:spcPct val="130000"/>
              </a:lnSpc>
            </a:pPr>
            <a:r>
              <a:rPr lang="en-US" sz="1350" b="1" dirty="0">
                <a:solidFill>
                  <a:srgbClr val="1A3A52"/>
                </a:solidFill>
                <a:latin typeface="Liter" pitchFamily="34" charset="0"/>
                <a:ea typeface="Liter" pitchFamily="34" charset="-122"/>
                <a:cs typeface="Liter" pitchFamily="34" charset="-120"/>
              </a:rPr>
              <a:t>LCP à 3.13s</a:t>
            </a:r>
            <a:endParaRPr lang="en-US" sz="1600" dirty="0"/>
          </a:p>
        </p:txBody>
      </p:sp>
      <p:sp>
        <p:nvSpPr>
          <p:cNvPr id="61" name="Text 59"/>
          <p:cNvSpPr/>
          <p:nvPr/>
        </p:nvSpPr>
        <p:spPr>
          <a:xfrm>
            <a:off x="8864575" y="2781300"/>
            <a:ext cx="933450" cy="190500"/>
          </a:xfrm>
          <a:prstGeom prst="rect">
            <a:avLst/>
          </a:prstGeom>
          <a:noFill/>
          <a:ln/>
        </p:spPr>
        <p:txBody>
          <a:bodyPr wrap="square" lIns="0" tIns="0" rIns="0" bIns="0" rtlCol="0" anchor="ctr"/>
          <a:lstStyle/>
          <a:p>
            <a:pPr>
              <a:lnSpc>
                <a:spcPct val="120000"/>
              </a:lnSpc>
            </a:pPr>
            <a:r>
              <a:rPr lang="en-US" sz="1050" b="1" dirty="0">
                <a:solidFill>
                  <a:srgbClr val="C5A065"/>
                </a:solidFill>
                <a:latin typeface="Liter" pitchFamily="34" charset="0"/>
                <a:ea typeface="Liter" pitchFamily="34" charset="-122"/>
                <a:cs typeface="Liter" pitchFamily="34" charset="-120"/>
              </a:rPr>
              <a:t>Critique</a:t>
            </a:r>
            <a:endParaRPr lang="en-US" sz="1600" dirty="0"/>
          </a:p>
        </p:txBody>
      </p:sp>
      <p:sp>
        <p:nvSpPr>
          <p:cNvPr id="62" name="Text 60"/>
          <p:cNvSpPr/>
          <p:nvPr/>
        </p:nvSpPr>
        <p:spPr>
          <a:xfrm>
            <a:off x="8293075" y="3086100"/>
            <a:ext cx="3419475" cy="152400"/>
          </a:xfrm>
          <a:prstGeom prst="rect">
            <a:avLst/>
          </a:prstGeom>
          <a:noFill/>
          <a:ln/>
        </p:spPr>
        <p:txBody>
          <a:bodyPr wrap="square" lIns="0" tIns="0" rIns="0" bIns="0" rtlCol="0" anchor="ctr"/>
          <a:lstStyle/>
          <a:p>
            <a:pPr>
              <a:lnSpc>
                <a:spcPct val="110000"/>
              </a:lnSpc>
            </a:pPr>
            <a:r>
              <a:rPr lang="en-US" sz="900" spc="45" kern="0" dirty="0">
                <a:solidFill>
                  <a:srgbClr val="6C757D"/>
                </a:solidFill>
                <a:latin typeface="Liter" pitchFamily="34" charset="0"/>
                <a:ea typeface="Liter" pitchFamily="34" charset="-122"/>
                <a:cs typeface="Liter" pitchFamily="34" charset="-120"/>
              </a:rPr>
              <a:t>Le Goulot d'Étranglement</a:t>
            </a:r>
            <a:endParaRPr lang="en-US" sz="1600" dirty="0"/>
          </a:p>
        </p:txBody>
      </p:sp>
      <p:sp>
        <p:nvSpPr>
          <p:cNvPr id="63" name="Text 61"/>
          <p:cNvSpPr/>
          <p:nvPr/>
        </p:nvSpPr>
        <p:spPr>
          <a:xfrm>
            <a:off x="8293075" y="3543300"/>
            <a:ext cx="3438525" cy="742950"/>
          </a:xfrm>
          <a:prstGeom prst="rect">
            <a:avLst/>
          </a:prstGeom>
          <a:noFill/>
          <a:ln/>
        </p:spPr>
        <p:txBody>
          <a:bodyPr wrap="square" lIns="0" tIns="0" rIns="0" bIns="0" rtlCol="0" anchor="ctr"/>
          <a:lstStyle/>
          <a:p>
            <a:pPr>
              <a:lnSpc>
                <a:spcPct val="140000"/>
              </a:lnSpc>
            </a:pPr>
            <a:r>
              <a:rPr lang="en-US" sz="1200" b="1" dirty="0">
                <a:solidFill>
                  <a:srgbClr val="212529"/>
                </a:solidFill>
                <a:latin typeface="Liter" pitchFamily="34" charset="0"/>
                <a:ea typeface="Liter" pitchFamily="34" charset="-122"/>
                <a:cs typeface="Liter" pitchFamily="34" charset="-120"/>
              </a:rPr>
              <a:t>Temps de chargement critique.</a:t>
            </a:r>
            <a:pPr>
              <a:lnSpc>
                <a:spcPct val="140000"/>
              </a:lnSpc>
            </a:pPr>
            <a:r>
              <a:rPr lang="en-US" sz="1200" dirty="0">
                <a:solidFill>
                  <a:srgbClr val="212529"/>
                </a:solidFill>
                <a:latin typeface="Liter" pitchFamily="34" charset="0"/>
                <a:ea typeface="Liter" pitchFamily="34" charset="-122"/>
                <a:cs typeface="Liter" pitchFamily="34" charset="-120"/>
              </a:rPr>
              <a:t> Causé par des images lourdes non optimisées (ex: logosmall.png = 334 Ko).</a:t>
            </a:r>
            <a:endParaRPr lang="en-US" sz="1600" dirty="0"/>
          </a:p>
        </p:txBody>
      </p:sp>
      <p:sp>
        <p:nvSpPr>
          <p:cNvPr id="64" name="Shape 62"/>
          <p:cNvSpPr/>
          <p:nvPr/>
        </p:nvSpPr>
        <p:spPr>
          <a:xfrm>
            <a:off x="8293075" y="4400550"/>
            <a:ext cx="3362325" cy="1104900"/>
          </a:xfrm>
          <a:custGeom>
            <a:avLst/>
            <a:gdLst/>
            <a:ahLst/>
            <a:cxnLst/>
            <a:rect l="l" t="t" r="r" b="b"/>
            <a:pathLst>
              <a:path w="3362325" h="1104900">
                <a:moveTo>
                  <a:pt x="76205" y="0"/>
                </a:moveTo>
                <a:lnTo>
                  <a:pt x="3286120" y="0"/>
                </a:lnTo>
                <a:cubicBezTo>
                  <a:pt x="3328207" y="0"/>
                  <a:pt x="3362325" y="34118"/>
                  <a:pt x="3362325" y="76205"/>
                </a:cubicBezTo>
                <a:lnTo>
                  <a:pt x="3362325" y="1028695"/>
                </a:lnTo>
                <a:cubicBezTo>
                  <a:pt x="3362325" y="1070782"/>
                  <a:pt x="3328207" y="1104900"/>
                  <a:pt x="3286120" y="1104900"/>
                </a:cubicBezTo>
                <a:lnTo>
                  <a:pt x="76205" y="1104900"/>
                </a:lnTo>
                <a:cubicBezTo>
                  <a:pt x="34118" y="1104900"/>
                  <a:pt x="0" y="1070782"/>
                  <a:pt x="0" y="1028695"/>
                </a:cubicBezTo>
                <a:lnTo>
                  <a:pt x="0" y="76205"/>
                </a:lnTo>
                <a:cubicBezTo>
                  <a:pt x="0" y="34146"/>
                  <a:pt x="34146" y="0"/>
                  <a:pt x="76205" y="0"/>
                </a:cubicBezTo>
                <a:close/>
              </a:path>
            </a:pathLst>
          </a:custGeom>
          <a:solidFill>
            <a:srgbClr val="C5A065">
              <a:alpha val="10196"/>
            </a:srgbClr>
          </a:solidFill>
          <a:ln/>
        </p:spPr>
      </p:sp>
      <p:sp>
        <p:nvSpPr>
          <p:cNvPr id="65" name="Text 63"/>
          <p:cNvSpPr/>
          <p:nvPr/>
        </p:nvSpPr>
        <p:spPr>
          <a:xfrm>
            <a:off x="8407375" y="4514850"/>
            <a:ext cx="909861" cy="190500"/>
          </a:xfrm>
          <a:prstGeom prst="rect">
            <a:avLst/>
          </a:prstGeom>
          <a:noFill/>
          <a:ln/>
        </p:spPr>
        <p:txBody>
          <a:bodyPr wrap="square" lIns="0" tIns="0" rIns="0" bIns="0" rtlCol="0" anchor="ctr"/>
          <a:lstStyle/>
          <a:p>
            <a:pPr>
              <a:lnSpc>
                <a:spcPct val="120000"/>
              </a:lnSpc>
            </a:pPr>
            <a:r>
              <a:rPr lang="en-US" sz="1050" b="1" dirty="0">
                <a:solidFill>
                  <a:srgbClr val="212529"/>
                </a:solidFill>
                <a:latin typeface="Liter" pitchFamily="34" charset="0"/>
                <a:ea typeface="Liter" pitchFamily="34" charset="-122"/>
                <a:cs typeface="Liter" pitchFamily="34" charset="-120"/>
              </a:rPr>
              <a:t>Conséquence:</a:t>
            </a:r>
            <a:endParaRPr lang="en-US" sz="1600" dirty="0"/>
          </a:p>
        </p:txBody>
      </p:sp>
      <p:sp>
        <p:nvSpPr>
          <p:cNvPr id="66" name="Text 64"/>
          <p:cNvSpPr/>
          <p:nvPr/>
        </p:nvSpPr>
        <p:spPr>
          <a:xfrm>
            <a:off x="8407375" y="47434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Au-delà de 2.5s, rebond explose</a:t>
            </a:r>
            <a:endParaRPr lang="en-US" sz="1600" dirty="0"/>
          </a:p>
        </p:txBody>
      </p:sp>
      <p:sp>
        <p:nvSpPr>
          <p:cNvPr id="67" name="Text 65"/>
          <p:cNvSpPr/>
          <p:nvPr/>
        </p:nvSpPr>
        <p:spPr>
          <a:xfrm>
            <a:off x="8407375" y="49720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Perte d'attention patient</a:t>
            </a:r>
            <a:endParaRPr lang="en-US" sz="1600" dirty="0"/>
          </a:p>
        </p:txBody>
      </p:sp>
      <p:sp>
        <p:nvSpPr>
          <p:cNvPr id="68" name="Text 66"/>
          <p:cNvSpPr/>
          <p:nvPr/>
        </p:nvSpPr>
        <p:spPr>
          <a:xfrm>
            <a:off x="8407375" y="5200650"/>
            <a:ext cx="3200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 Pénalité Google Core Web Vitals</a:t>
            </a:r>
            <a:endParaRPr lang="en-US" sz="1600" dirty="0"/>
          </a:p>
        </p:txBody>
      </p:sp>
      <p:sp>
        <p:nvSpPr>
          <p:cNvPr id="69" name="Shape 67"/>
          <p:cNvSpPr/>
          <p:nvPr/>
        </p:nvSpPr>
        <p:spPr>
          <a:xfrm>
            <a:off x="8293075" y="5715000"/>
            <a:ext cx="3362325" cy="609600"/>
          </a:xfrm>
          <a:custGeom>
            <a:avLst/>
            <a:gdLst/>
            <a:ahLst/>
            <a:cxnLst/>
            <a:rect l="l" t="t" r="r" b="b"/>
            <a:pathLst>
              <a:path w="3362325" h="609600">
                <a:moveTo>
                  <a:pt x="76200" y="0"/>
                </a:moveTo>
                <a:lnTo>
                  <a:pt x="3286125" y="0"/>
                </a:lnTo>
                <a:cubicBezTo>
                  <a:pt x="3328181" y="0"/>
                  <a:pt x="3362325" y="34144"/>
                  <a:pt x="3362325" y="76200"/>
                </a:cubicBezTo>
                <a:lnTo>
                  <a:pt x="3362325" y="533400"/>
                </a:lnTo>
                <a:cubicBezTo>
                  <a:pt x="3362325" y="575456"/>
                  <a:pt x="3328181" y="609600"/>
                  <a:pt x="3286125" y="609600"/>
                </a:cubicBezTo>
                <a:lnTo>
                  <a:pt x="76200" y="609600"/>
                </a:lnTo>
                <a:cubicBezTo>
                  <a:pt x="34144" y="609600"/>
                  <a:pt x="0" y="575456"/>
                  <a:pt x="0" y="533400"/>
                </a:cubicBezTo>
                <a:lnTo>
                  <a:pt x="0" y="76200"/>
                </a:lnTo>
                <a:cubicBezTo>
                  <a:pt x="0" y="34144"/>
                  <a:pt x="34144" y="0"/>
                  <a:pt x="76200" y="0"/>
                </a:cubicBezTo>
                <a:close/>
              </a:path>
            </a:pathLst>
          </a:custGeom>
          <a:solidFill>
            <a:srgbClr val="1A3A52">
              <a:alpha val="5098"/>
            </a:srgbClr>
          </a:solidFill>
          <a:ln/>
        </p:spPr>
      </p:sp>
      <p:sp>
        <p:nvSpPr>
          <p:cNvPr id="70" name="Text 68"/>
          <p:cNvSpPr/>
          <p:nvPr/>
        </p:nvSpPr>
        <p:spPr>
          <a:xfrm>
            <a:off x="8407375" y="5829300"/>
            <a:ext cx="3200400" cy="190500"/>
          </a:xfrm>
          <a:prstGeom prst="rect">
            <a:avLst/>
          </a:prstGeom>
          <a:noFill/>
          <a:ln/>
        </p:spPr>
        <p:txBody>
          <a:bodyPr wrap="square" lIns="0" tIns="0" rIns="0" bIns="0" rtlCol="0" anchor="ctr"/>
          <a:lstStyle/>
          <a:p>
            <a:pPr>
              <a:lnSpc>
                <a:spcPct val="120000"/>
              </a:lnSpc>
            </a:pPr>
            <a:r>
              <a:rPr lang="en-US" sz="1050" b="1" dirty="0">
                <a:solidFill>
                  <a:srgbClr val="C5A065"/>
                </a:solidFill>
                <a:latin typeface="Liter" pitchFamily="34" charset="0"/>
                <a:ea typeface="Liter" pitchFamily="34" charset="-122"/>
                <a:cs typeface="Liter" pitchFamily="34" charset="-120"/>
              </a:rPr>
              <a:t>Impact:</a:t>
            </a:r>
            <a:pPr>
              <a:lnSpc>
                <a:spcPct val="120000"/>
              </a:lnSpc>
            </a:pPr>
            <a:r>
              <a:rPr lang="en-US" sz="1050" dirty="0">
                <a:solidFill>
                  <a:srgbClr val="212529"/>
                </a:solidFill>
                <a:latin typeface="Liter" pitchFamily="34" charset="0"/>
                <a:ea typeface="Liter" pitchFamily="34" charset="-122"/>
                <a:cs typeface="Liter" pitchFamily="34" charset="-120"/>
              </a:rPr>
              <a:t> -20% conversions par seconde de retard</a:t>
            </a:r>
            <a:endParaRPr lang="en-US" sz="1600" dirty="0"/>
          </a:p>
        </p:txBody>
      </p:sp>
      <p:sp>
        <p:nvSpPr>
          <p:cNvPr id="71" name="Text 69"/>
          <p:cNvSpPr/>
          <p:nvPr/>
        </p:nvSpPr>
        <p:spPr>
          <a:xfrm>
            <a:off x="8407375" y="6057900"/>
            <a:ext cx="3190875" cy="152400"/>
          </a:xfrm>
          <a:prstGeom prst="rect">
            <a:avLst/>
          </a:prstGeom>
          <a:noFill/>
          <a:ln/>
        </p:spPr>
        <p:txBody>
          <a:bodyPr wrap="square" lIns="0" tIns="0" rIns="0" bIns="0" rtlCol="0" anchor="ctr"/>
          <a:lstStyle/>
          <a:p>
            <a:pPr>
              <a:lnSpc>
                <a:spcPct val="110000"/>
              </a:lnSpc>
            </a:pPr>
            <a:r>
              <a:rPr lang="en-US" sz="900" dirty="0">
                <a:solidFill>
                  <a:srgbClr val="6C757D"/>
                </a:solidFill>
                <a:latin typeface="Liter" pitchFamily="34" charset="0"/>
                <a:ea typeface="Liter" pitchFamily="34" charset="-122"/>
                <a:cs typeface="Liter" pitchFamily="34" charset="-120"/>
              </a:rPr>
              <a:t>Source: Deloitte 2024</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2"/>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C5A065"/>
                </a:solidFill>
                <a:latin typeface="Liter" pitchFamily="34" charset="0"/>
                <a:ea typeface="Liter" pitchFamily="34" charset="-122"/>
                <a:cs typeface="Liter" pitchFamily="34" charset="-120"/>
              </a:rPr>
              <a:t>PHASE 3: VISIBILITÉ</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F8F9FA"/>
                </a:solidFill>
                <a:latin typeface="Liter" pitchFamily="34" charset="0"/>
                <a:ea typeface="Liter" pitchFamily="34" charset="-122"/>
                <a:cs typeface="Liter" pitchFamily="34" charset="-120"/>
              </a:rPr>
              <a:t>Le Radar de Visibilité SEO</a:t>
            </a:r>
            <a:endParaRPr lang="en-US" sz="1600" dirty="0"/>
          </a:p>
        </p:txBody>
      </p:sp>
      <p:sp>
        <p:nvSpPr>
          <p:cNvPr id="4" name="Text 2"/>
          <p:cNvSpPr/>
          <p:nvPr/>
        </p:nvSpPr>
        <p:spPr>
          <a:xfrm>
            <a:off x="381000" y="1104900"/>
            <a:ext cx="11515725" cy="266700"/>
          </a:xfrm>
          <a:prstGeom prst="rect">
            <a:avLst/>
          </a:prstGeom>
          <a:noFill/>
          <a:ln/>
        </p:spPr>
        <p:txBody>
          <a:bodyPr wrap="square" lIns="0" tIns="0" rIns="0" bIns="0" rtlCol="0" anchor="ctr"/>
          <a:lstStyle/>
          <a:p>
            <a:pPr>
              <a:lnSpc>
                <a:spcPct val="130000"/>
              </a:lnSpc>
            </a:pPr>
            <a:r>
              <a:rPr lang="en-US" sz="1350" dirty="0">
                <a:solidFill>
                  <a:srgbClr val="F8F9FA">
                    <a:alpha val="70000"/>
                  </a:srgbClr>
                </a:solidFill>
                <a:latin typeface="Liter" pitchFamily="34" charset="0"/>
                <a:ea typeface="Liter" pitchFamily="34" charset="-122"/>
                <a:cs typeface="Liter" pitchFamily="34" charset="-120"/>
              </a:rPr>
              <a:t>Domination sur la marque, mais angles morts sur l'intention d'achat</a:t>
            </a:r>
            <a:endParaRPr lang="en-US" sz="1600" dirty="0"/>
          </a:p>
        </p:txBody>
      </p:sp>
      <p:sp>
        <p:nvSpPr>
          <p:cNvPr id="5" name="Shape 3"/>
          <p:cNvSpPr/>
          <p:nvPr/>
        </p:nvSpPr>
        <p:spPr>
          <a:xfrm>
            <a:off x="385763" y="1528763"/>
            <a:ext cx="4467225" cy="4438650"/>
          </a:xfrm>
          <a:custGeom>
            <a:avLst/>
            <a:gdLst/>
            <a:ahLst/>
            <a:cxnLst/>
            <a:rect l="l" t="t" r="r" b="b"/>
            <a:pathLst>
              <a:path w="4467225" h="4438650">
                <a:moveTo>
                  <a:pt x="114295" y="0"/>
                </a:moveTo>
                <a:lnTo>
                  <a:pt x="4352930" y="0"/>
                </a:lnTo>
                <a:cubicBezTo>
                  <a:pt x="4416053" y="0"/>
                  <a:pt x="4467225" y="51172"/>
                  <a:pt x="4467225" y="114295"/>
                </a:cubicBezTo>
                <a:lnTo>
                  <a:pt x="4467225" y="4324355"/>
                </a:lnTo>
                <a:cubicBezTo>
                  <a:pt x="4467225" y="4387478"/>
                  <a:pt x="4416053" y="4438650"/>
                  <a:pt x="4352930" y="4438650"/>
                </a:cubicBezTo>
                <a:lnTo>
                  <a:pt x="114295" y="4438650"/>
                </a:lnTo>
                <a:cubicBezTo>
                  <a:pt x="51172" y="4438650"/>
                  <a:pt x="0" y="4387478"/>
                  <a:pt x="0" y="4324355"/>
                </a:cubicBezTo>
                <a:lnTo>
                  <a:pt x="0" y="114295"/>
                </a:lnTo>
                <a:cubicBezTo>
                  <a:pt x="0" y="51172"/>
                  <a:pt x="51172" y="0"/>
                  <a:pt x="114295" y="0"/>
                </a:cubicBezTo>
                <a:close/>
              </a:path>
            </a:pathLst>
          </a:custGeom>
          <a:solidFill>
            <a:srgbClr val="FFFFFF">
              <a:alpha val="10196"/>
            </a:srgbClr>
          </a:solidFill>
          <a:ln w="12700">
            <a:solidFill>
              <a:srgbClr val="FFFFFF">
                <a:alpha val="20000"/>
              </a:srgbClr>
            </a:solidFill>
            <a:prstDash val="solid"/>
          </a:ln>
        </p:spPr>
      </p:sp>
      <p:sp>
        <p:nvSpPr>
          <p:cNvPr id="6" name="Text 4"/>
          <p:cNvSpPr/>
          <p:nvPr/>
        </p:nvSpPr>
        <p:spPr>
          <a:xfrm>
            <a:off x="533400" y="1724025"/>
            <a:ext cx="4171950" cy="2667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Liter" pitchFamily="34" charset="0"/>
                <a:ea typeface="Liter" pitchFamily="34" charset="-122"/>
                <a:cs typeface="Liter" pitchFamily="34" charset="-120"/>
              </a:rPr>
              <a:t>Cartographie des Positions</a:t>
            </a:r>
            <a:endParaRPr lang="en-US" sz="1600" dirty="0"/>
          </a:p>
        </p:txBody>
      </p:sp>
      <p:pic>
        <p:nvPicPr>
          <p:cNvPr id="7" name="Image 0" descr="https://kimi-img.moonshot.cn/pub/slides/26-04-15-05:43:44-d7fba433jih29j18stq0.png">    </p:cNvPr>
          <p:cNvPicPr>
            <a:picLocks noChangeAspect="1"/>
          </p:cNvPicPr>
          <p:nvPr/>
        </p:nvPicPr>
        <p:blipFill>
          <a:blip r:embed="rId1"/>
          <a:srcRect l="0" r="0" t="0" b="0"/>
          <a:stretch/>
        </p:blipFill>
        <p:spPr>
          <a:xfrm>
            <a:off x="581025" y="2105025"/>
            <a:ext cx="4076700" cy="3362325"/>
          </a:xfrm>
          <a:prstGeom prst="roundRect">
            <a:avLst>
              <a:gd name="adj" fmla="val 0"/>
            </a:avLst>
          </a:prstGeom>
        </p:spPr>
      </p:pic>
      <p:sp>
        <p:nvSpPr>
          <p:cNvPr id="8" name="Shape 5"/>
          <p:cNvSpPr/>
          <p:nvPr/>
        </p:nvSpPr>
        <p:spPr>
          <a:xfrm>
            <a:off x="806797" y="5619750"/>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00C950"/>
          </a:solidFill>
          <a:ln/>
        </p:spPr>
      </p:sp>
      <p:sp>
        <p:nvSpPr>
          <p:cNvPr id="9" name="Text 6"/>
          <p:cNvSpPr/>
          <p:nvPr/>
        </p:nvSpPr>
        <p:spPr>
          <a:xfrm>
            <a:off x="997297" y="5581650"/>
            <a:ext cx="914400" cy="190500"/>
          </a:xfrm>
          <a:prstGeom prst="rect">
            <a:avLst/>
          </a:prstGeom>
          <a:noFill/>
          <a:ln/>
        </p:spPr>
        <p:txBody>
          <a:bodyPr wrap="square" lIns="0" tIns="0" rIns="0" bIns="0" rtlCol="0" anchor="ctr"/>
          <a:lstStyle/>
          <a:p>
            <a:pPr>
              <a:lnSpc>
                <a:spcPct val="120000"/>
              </a:lnSpc>
            </a:pPr>
            <a:r>
              <a:rPr lang="en-US" sz="1050" dirty="0">
                <a:solidFill>
                  <a:srgbClr val="F8F9FA">
                    <a:alpha val="80000"/>
                  </a:srgbClr>
                </a:solidFill>
                <a:latin typeface="Liter" pitchFamily="34" charset="0"/>
                <a:ea typeface="Liter" pitchFamily="34" charset="-122"/>
                <a:cs typeface="Liter" pitchFamily="34" charset="-120"/>
              </a:rPr>
              <a:t>Position #1-10</a:t>
            </a:r>
            <a:endParaRPr lang="en-US" sz="1600" dirty="0"/>
          </a:p>
        </p:txBody>
      </p:sp>
      <p:sp>
        <p:nvSpPr>
          <p:cNvPr id="10" name="Shape 7"/>
          <p:cNvSpPr/>
          <p:nvPr/>
        </p:nvSpPr>
        <p:spPr>
          <a:xfrm>
            <a:off x="2069604" y="5619750"/>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C5A065"/>
          </a:solidFill>
          <a:ln/>
        </p:spPr>
      </p:sp>
      <p:sp>
        <p:nvSpPr>
          <p:cNvPr id="11" name="Text 8"/>
          <p:cNvSpPr/>
          <p:nvPr/>
        </p:nvSpPr>
        <p:spPr>
          <a:xfrm>
            <a:off x="2260104" y="5581650"/>
            <a:ext cx="990600" cy="190500"/>
          </a:xfrm>
          <a:prstGeom prst="rect">
            <a:avLst/>
          </a:prstGeom>
          <a:noFill/>
          <a:ln/>
        </p:spPr>
        <p:txBody>
          <a:bodyPr wrap="square" lIns="0" tIns="0" rIns="0" bIns="0" rtlCol="0" anchor="ctr"/>
          <a:lstStyle/>
          <a:p>
            <a:pPr>
              <a:lnSpc>
                <a:spcPct val="120000"/>
              </a:lnSpc>
            </a:pPr>
            <a:r>
              <a:rPr lang="en-US" sz="1050" dirty="0">
                <a:solidFill>
                  <a:srgbClr val="F8F9FA">
                    <a:alpha val="80000"/>
                  </a:srgbClr>
                </a:solidFill>
                <a:latin typeface="Liter" pitchFamily="34" charset="0"/>
                <a:ea typeface="Liter" pitchFamily="34" charset="-122"/>
                <a:cs typeface="Liter" pitchFamily="34" charset="-120"/>
              </a:rPr>
              <a:t>Position #11-20</a:t>
            </a:r>
            <a:endParaRPr lang="en-US" sz="1600" dirty="0"/>
          </a:p>
        </p:txBody>
      </p:sp>
      <p:sp>
        <p:nvSpPr>
          <p:cNvPr id="12" name="Shape 9"/>
          <p:cNvSpPr/>
          <p:nvPr/>
        </p:nvSpPr>
        <p:spPr>
          <a:xfrm>
            <a:off x="3409950" y="5619750"/>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FB2C36"/>
          </a:solidFill>
          <a:ln/>
        </p:spPr>
      </p:sp>
      <p:sp>
        <p:nvSpPr>
          <p:cNvPr id="13" name="Text 10"/>
          <p:cNvSpPr/>
          <p:nvPr/>
        </p:nvSpPr>
        <p:spPr>
          <a:xfrm>
            <a:off x="3600450" y="5581650"/>
            <a:ext cx="904875" cy="190500"/>
          </a:xfrm>
          <a:prstGeom prst="rect">
            <a:avLst/>
          </a:prstGeom>
          <a:noFill/>
          <a:ln/>
        </p:spPr>
        <p:txBody>
          <a:bodyPr wrap="square" lIns="0" tIns="0" rIns="0" bIns="0" rtlCol="0" anchor="ctr"/>
          <a:lstStyle/>
          <a:p>
            <a:pPr>
              <a:lnSpc>
                <a:spcPct val="120000"/>
              </a:lnSpc>
            </a:pPr>
            <a:r>
              <a:rPr lang="en-US" sz="1050" dirty="0">
                <a:solidFill>
                  <a:srgbClr val="F8F9FA">
                    <a:alpha val="80000"/>
                  </a:srgbClr>
                </a:solidFill>
                <a:latin typeface="Liter" pitchFamily="34" charset="0"/>
                <a:ea typeface="Liter" pitchFamily="34" charset="-122"/>
                <a:cs typeface="Liter" pitchFamily="34" charset="-120"/>
              </a:rPr>
              <a:t>Position #20+</a:t>
            </a:r>
            <a:endParaRPr lang="en-US" sz="1600" dirty="0"/>
          </a:p>
        </p:txBody>
      </p:sp>
      <p:sp>
        <p:nvSpPr>
          <p:cNvPr id="14" name="Shape 11"/>
          <p:cNvSpPr/>
          <p:nvPr/>
        </p:nvSpPr>
        <p:spPr>
          <a:xfrm>
            <a:off x="5018708" y="1528763"/>
            <a:ext cx="6791325" cy="1400175"/>
          </a:xfrm>
          <a:custGeom>
            <a:avLst/>
            <a:gdLst/>
            <a:ahLst/>
            <a:cxnLst/>
            <a:rect l="l" t="t" r="r" b="b"/>
            <a:pathLst>
              <a:path w="6791325" h="1400175">
                <a:moveTo>
                  <a:pt x="114296" y="0"/>
                </a:moveTo>
                <a:lnTo>
                  <a:pt x="6677029" y="0"/>
                </a:lnTo>
                <a:cubicBezTo>
                  <a:pt x="6740111" y="0"/>
                  <a:pt x="6791325" y="51214"/>
                  <a:pt x="6791325" y="114296"/>
                </a:cubicBezTo>
                <a:lnTo>
                  <a:pt x="6791325" y="1285879"/>
                </a:lnTo>
                <a:cubicBezTo>
                  <a:pt x="6791325" y="1348961"/>
                  <a:pt x="6740111" y="1400175"/>
                  <a:pt x="6677029" y="1400175"/>
                </a:cubicBezTo>
                <a:lnTo>
                  <a:pt x="114296" y="1400175"/>
                </a:lnTo>
                <a:cubicBezTo>
                  <a:pt x="51214" y="1400175"/>
                  <a:pt x="0" y="1348961"/>
                  <a:pt x="0" y="1285879"/>
                </a:cubicBezTo>
                <a:lnTo>
                  <a:pt x="0" y="114296"/>
                </a:lnTo>
                <a:cubicBezTo>
                  <a:pt x="0" y="51214"/>
                  <a:pt x="51214" y="0"/>
                  <a:pt x="114296" y="0"/>
                </a:cubicBezTo>
                <a:close/>
              </a:path>
            </a:pathLst>
          </a:custGeom>
          <a:solidFill>
            <a:srgbClr val="00C950">
              <a:alpha val="20000"/>
            </a:srgbClr>
          </a:solidFill>
          <a:ln w="12700">
            <a:solidFill>
              <a:srgbClr val="00C950">
                <a:alpha val="40000"/>
              </a:srgbClr>
            </a:solidFill>
            <a:prstDash val="solid"/>
          </a:ln>
        </p:spPr>
      </p:sp>
      <p:sp>
        <p:nvSpPr>
          <p:cNvPr id="15" name="Shape 12"/>
          <p:cNvSpPr/>
          <p:nvPr/>
        </p:nvSpPr>
        <p:spPr>
          <a:xfrm>
            <a:off x="5175870" y="16859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00C950"/>
          </a:solidFill>
          <a:ln/>
        </p:spPr>
      </p:sp>
      <p:sp>
        <p:nvSpPr>
          <p:cNvPr id="16" name="Shape 13"/>
          <p:cNvSpPr/>
          <p:nvPr/>
        </p:nvSpPr>
        <p:spPr>
          <a:xfrm>
            <a:off x="5309220" y="1819275"/>
            <a:ext cx="190500" cy="190500"/>
          </a:xfrm>
          <a:custGeom>
            <a:avLst/>
            <a:gdLst/>
            <a:ahLst/>
            <a:cxnLst/>
            <a:rect l="l" t="t" r="r" b="b"/>
            <a:pathLst>
              <a:path w="190500" h="190500">
                <a:moveTo>
                  <a:pt x="53690" y="0"/>
                </a:moveTo>
                <a:lnTo>
                  <a:pt x="137033" y="0"/>
                </a:lnTo>
                <a:cubicBezTo>
                  <a:pt x="146893" y="0"/>
                  <a:pt x="154930" y="8111"/>
                  <a:pt x="154558" y="17934"/>
                </a:cubicBezTo>
                <a:cubicBezTo>
                  <a:pt x="154484" y="19906"/>
                  <a:pt x="154409" y="21878"/>
                  <a:pt x="154298" y="23812"/>
                </a:cubicBezTo>
                <a:lnTo>
                  <a:pt x="172752" y="23812"/>
                </a:lnTo>
                <a:cubicBezTo>
                  <a:pt x="182463" y="23812"/>
                  <a:pt x="191021" y="31849"/>
                  <a:pt x="190277" y="42342"/>
                </a:cubicBezTo>
                <a:cubicBezTo>
                  <a:pt x="187486" y="80925"/>
                  <a:pt x="167767" y="102133"/>
                  <a:pt x="146372" y="113221"/>
                </a:cubicBezTo>
                <a:cubicBezTo>
                  <a:pt x="140494" y="116272"/>
                  <a:pt x="134503" y="118542"/>
                  <a:pt x="128811" y="120216"/>
                </a:cubicBezTo>
                <a:cubicBezTo>
                  <a:pt x="121295" y="130857"/>
                  <a:pt x="113481" y="136475"/>
                  <a:pt x="107268" y="139489"/>
                </a:cubicBezTo>
                <a:lnTo>
                  <a:pt x="107268" y="166688"/>
                </a:lnTo>
                <a:lnTo>
                  <a:pt x="131080" y="166688"/>
                </a:lnTo>
                <a:cubicBezTo>
                  <a:pt x="137666" y="166688"/>
                  <a:pt x="142987" y="172008"/>
                  <a:pt x="142987" y="178594"/>
                </a:cubicBezTo>
                <a:cubicBezTo>
                  <a:pt x="142987" y="185179"/>
                  <a:pt x="137666" y="190500"/>
                  <a:pt x="131080" y="190500"/>
                </a:cubicBezTo>
                <a:lnTo>
                  <a:pt x="59643" y="190500"/>
                </a:lnTo>
                <a:cubicBezTo>
                  <a:pt x="53057" y="190500"/>
                  <a:pt x="47737" y="185179"/>
                  <a:pt x="47737" y="178594"/>
                </a:cubicBezTo>
                <a:cubicBezTo>
                  <a:pt x="47737" y="172008"/>
                  <a:pt x="53057" y="166688"/>
                  <a:pt x="59643" y="166688"/>
                </a:cubicBezTo>
                <a:lnTo>
                  <a:pt x="83455" y="166688"/>
                </a:lnTo>
                <a:lnTo>
                  <a:pt x="83455" y="139489"/>
                </a:lnTo>
                <a:cubicBezTo>
                  <a:pt x="77502" y="136624"/>
                  <a:pt x="70098" y="131304"/>
                  <a:pt x="62880" y="121518"/>
                </a:cubicBezTo>
                <a:cubicBezTo>
                  <a:pt x="56034" y="119732"/>
                  <a:pt x="48592" y="117016"/>
                  <a:pt x="41337" y="112923"/>
                </a:cubicBezTo>
                <a:cubicBezTo>
                  <a:pt x="21208" y="101650"/>
                  <a:pt x="3051" y="80404"/>
                  <a:pt x="446" y="42267"/>
                </a:cubicBezTo>
                <a:cubicBezTo>
                  <a:pt x="-260" y="31812"/>
                  <a:pt x="8260" y="23775"/>
                  <a:pt x="17971" y="23775"/>
                </a:cubicBezTo>
                <a:lnTo>
                  <a:pt x="36426" y="23775"/>
                </a:lnTo>
                <a:cubicBezTo>
                  <a:pt x="36314" y="21841"/>
                  <a:pt x="36240" y="19906"/>
                  <a:pt x="36165" y="17897"/>
                </a:cubicBezTo>
                <a:cubicBezTo>
                  <a:pt x="35793" y="8037"/>
                  <a:pt x="43830" y="-37"/>
                  <a:pt x="53690" y="-37"/>
                </a:cubicBezTo>
                <a:close/>
                <a:moveTo>
                  <a:pt x="37765" y="41672"/>
                </a:moveTo>
                <a:lnTo>
                  <a:pt x="18269" y="41672"/>
                </a:lnTo>
                <a:cubicBezTo>
                  <a:pt x="20575" y="73186"/>
                  <a:pt x="35049" y="88962"/>
                  <a:pt x="49969" y="97334"/>
                </a:cubicBezTo>
                <a:cubicBezTo>
                  <a:pt x="44611" y="83455"/>
                  <a:pt x="40184" y="65336"/>
                  <a:pt x="37765" y="41672"/>
                </a:cubicBezTo>
                <a:close/>
                <a:moveTo>
                  <a:pt x="141387" y="95548"/>
                </a:moveTo>
                <a:cubicBezTo>
                  <a:pt x="156456" y="86692"/>
                  <a:pt x="170073" y="70954"/>
                  <a:pt x="172380" y="41672"/>
                </a:cubicBezTo>
                <a:lnTo>
                  <a:pt x="152921" y="41672"/>
                </a:lnTo>
                <a:cubicBezTo>
                  <a:pt x="150614" y="64331"/>
                  <a:pt x="146447" y="81930"/>
                  <a:pt x="141387" y="95548"/>
                </a:cubicBezTo>
                <a:close/>
              </a:path>
            </a:pathLst>
          </a:custGeom>
          <a:solidFill>
            <a:srgbClr val="FFFFFF"/>
          </a:solidFill>
          <a:ln/>
        </p:spPr>
      </p:sp>
      <p:sp>
        <p:nvSpPr>
          <p:cNvPr id="17" name="Text 14"/>
          <p:cNvSpPr/>
          <p:nvPr/>
        </p:nvSpPr>
        <p:spPr>
          <a:xfrm>
            <a:off x="5785470" y="1685925"/>
            <a:ext cx="128587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Zone de Force</a:t>
            </a:r>
            <a:endParaRPr lang="en-US" sz="1600" dirty="0"/>
          </a:p>
        </p:txBody>
      </p:sp>
      <p:sp>
        <p:nvSpPr>
          <p:cNvPr id="18" name="Shape 15"/>
          <p:cNvSpPr/>
          <p:nvPr/>
        </p:nvSpPr>
        <p:spPr>
          <a:xfrm>
            <a:off x="10744200" y="1685925"/>
            <a:ext cx="904875" cy="266700"/>
          </a:xfrm>
          <a:custGeom>
            <a:avLst/>
            <a:gdLst/>
            <a:ahLst/>
            <a:cxnLst/>
            <a:rect l="l" t="t" r="r" b="b"/>
            <a:pathLst>
              <a:path w="904875" h="266700">
                <a:moveTo>
                  <a:pt x="133350" y="0"/>
                </a:moveTo>
                <a:lnTo>
                  <a:pt x="771525" y="0"/>
                </a:lnTo>
                <a:cubicBezTo>
                  <a:pt x="845123" y="0"/>
                  <a:pt x="904875" y="59752"/>
                  <a:pt x="904875" y="133350"/>
                </a:cubicBezTo>
                <a:lnTo>
                  <a:pt x="904875" y="133350"/>
                </a:lnTo>
                <a:cubicBezTo>
                  <a:pt x="904875" y="206948"/>
                  <a:pt x="845123" y="266700"/>
                  <a:pt x="771525" y="266700"/>
                </a:cubicBezTo>
                <a:lnTo>
                  <a:pt x="133350" y="266700"/>
                </a:lnTo>
                <a:cubicBezTo>
                  <a:pt x="59752" y="266700"/>
                  <a:pt x="0" y="206948"/>
                  <a:pt x="0" y="133350"/>
                </a:cubicBezTo>
                <a:lnTo>
                  <a:pt x="0" y="133350"/>
                </a:lnTo>
                <a:cubicBezTo>
                  <a:pt x="0" y="59752"/>
                  <a:pt x="59752" y="0"/>
                  <a:pt x="133350" y="0"/>
                </a:cubicBezTo>
                <a:close/>
              </a:path>
            </a:pathLst>
          </a:custGeom>
          <a:solidFill>
            <a:srgbClr val="00C950"/>
          </a:solidFill>
          <a:ln/>
        </p:spPr>
      </p:sp>
      <p:sp>
        <p:nvSpPr>
          <p:cNvPr id="19" name="Text 16"/>
          <p:cNvSpPr/>
          <p:nvPr/>
        </p:nvSpPr>
        <p:spPr>
          <a:xfrm>
            <a:off x="10744200" y="1685925"/>
            <a:ext cx="971550" cy="266700"/>
          </a:xfrm>
          <a:prstGeom prst="rect">
            <a:avLst/>
          </a:prstGeom>
          <a:noFill/>
          <a:ln/>
        </p:spPr>
        <p:txBody>
          <a:bodyPr wrap="square" lIns="114300" tIns="38100" rIns="114300" bIns="3810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Position #2</a:t>
            </a:r>
            <a:endParaRPr lang="en-US" sz="1600" dirty="0"/>
          </a:p>
        </p:txBody>
      </p:sp>
      <p:sp>
        <p:nvSpPr>
          <p:cNvPr id="20" name="Text 17"/>
          <p:cNvSpPr/>
          <p:nvPr/>
        </p:nvSpPr>
        <p:spPr>
          <a:xfrm>
            <a:off x="5785470" y="2028825"/>
            <a:ext cx="5943600" cy="228600"/>
          </a:xfrm>
          <a:prstGeom prst="rect">
            <a:avLst/>
          </a:prstGeom>
          <a:noFill/>
          <a:ln/>
        </p:spPr>
        <p:txBody>
          <a:bodyPr wrap="square" lIns="0" tIns="0" rIns="0" bIns="0" rtlCol="0" anchor="ctr"/>
          <a:lstStyle/>
          <a:p>
            <a:pPr>
              <a:lnSpc>
                <a:spcPct val="130000"/>
              </a:lnSpc>
            </a:pPr>
            <a:r>
              <a:rPr lang="en-US" sz="1200" b="1" dirty="0">
                <a:solidFill>
                  <a:srgbClr val="F8F9FA">
                    <a:alpha val="90000"/>
                  </a:srgbClr>
                </a:solidFill>
                <a:latin typeface="Liter" pitchFamily="34" charset="0"/>
                <a:ea typeface="Liter" pitchFamily="34" charset="-122"/>
                <a:cs typeface="Liter" pitchFamily="34" charset="-120"/>
              </a:rPr>
              <a:t>Mot-clé:</a:t>
            </a:r>
            <a:pPr>
              <a:lnSpc>
                <a:spcPct val="130000"/>
              </a:lnSpc>
            </a:pPr>
            <a:r>
              <a:rPr lang="en-US" sz="1200" dirty="0">
                <a:solidFill>
                  <a:srgbClr val="F8F9FA">
                    <a:alpha val="90000"/>
                  </a:srgbClr>
                </a:solidFill>
                <a:latin typeface="Liter" pitchFamily="34" charset="0"/>
                <a:ea typeface="Liter" pitchFamily="34" charset="-122"/>
                <a:cs typeface="Liter" pitchFamily="34" charset="-120"/>
              </a:rPr>
              <a:t> "international neurofeedback center marrakech"</a:t>
            </a:r>
            <a:endParaRPr lang="en-US" sz="1600" dirty="0"/>
          </a:p>
        </p:txBody>
      </p:sp>
      <p:sp>
        <p:nvSpPr>
          <p:cNvPr id="21" name="Text 18"/>
          <p:cNvSpPr/>
          <p:nvPr/>
        </p:nvSpPr>
        <p:spPr>
          <a:xfrm>
            <a:off x="5785470" y="2333625"/>
            <a:ext cx="5934075" cy="438150"/>
          </a:xfrm>
          <a:prstGeom prst="rect">
            <a:avLst/>
          </a:prstGeom>
          <a:noFill/>
          <a:ln/>
        </p:spPr>
        <p:txBody>
          <a:bodyPr wrap="square" lIns="0" tIns="0" rIns="0" bIns="0" rtlCol="0" anchor="ctr"/>
          <a:lstStyle/>
          <a:p>
            <a:pPr>
              <a:lnSpc>
                <a:spcPct val="140000"/>
              </a:lnSpc>
            </a:pPr>
            <a:r>
              <a:rPr lang="en-US" sz="1050" dirty="0">
                <a:solidFill>
                  <a:srgbClr val="F8F9FA">
                    <a:alpha val="70000"/>
                  </a:srgbClr>
                </a:solidFill>
                <a:latin typeface="Liter" pitchFamily="34" charset="0"/>
                <a:ea typeface="Liter" pitchFamily="34" charset="-122"/>
                <a:cs typeface="Liter" pitchFamily="34" charset="-120"/>
              </a:rPr>
              <a:t>Forte autorité locale établie. Le site domine les recherches de marque et géographiques ciblées, capturant le trafic qualifié des patients internationaux.</a:t>
            </a:r>
            <a:endParaRPr lang="en-US" sz="1600" dirty="0"/>
          </a:p>
        </p:txBody>
      </p:sp>
      <p:sp>
        <p:nvSpPr>
          <p:cNvPr id="22" name="Shape 19"/>
          <p:cNvSpPr/>
          <p:nvPr/>
        </p:nvSpPr>
        <p:spPr>
          <a:xfrm>
            <a:off x="5018708" y="3048000"/>
            <a:ext cx="6791325" cy="1400175"/>
          </a:xfrm>
          <a:custGeom>
            <a:avLst/>
            <a:gdLst/>
            <a:ahLst/>
            <a:cxnLst/>
            <a:rect l="l" t="t" r="r" b="b"/>
            <a:pathLst>
              <a:path w="6791325" h="1400175">
                <a:moveTo>
                  <a:pt x="114296" y="0"/>
                </a:moveTo>
                <a:lnTo>
                  <a:pt x="6677029" y="0"/>
                </a:lnTo>
                <a:cubicBezTo>
                  <a:pt x="6740111" y="0"/>
                  <a:pt x="6791325" y="51214"/>
                  <a:pt x="6791325" y="114296"/>
                </a:cubicBezTo>
                <a:lnTo>
                  <a:pt x="6791325" y="1285879"/>
                </a:lnTo>
                <a:cubicBezTo>
                  <a:pt x="6791325" y="1348961"/>
                  <a:pt x="6740111" y="1400175"/>
                  <a:pt x="6677029" y="1400175"/>
                </a:cubicBezTo>
                <a:lnTo>
                  <a:pt x="114296" y="1400175"/>
                </a:lnTo>
                <a:cubicBezTo>
                  <a:pt x="51214" y="1400175"/>
                  <a:pt x="0" y="1348961"/>
                  <a:pt x="0" y="1285879"/>
                </a:cubicBezTo>
                <a:lnTo>
                  <a:pt x="0" y="114296"/>
                </a:lnTo>
                <a:cubicBezTo>
                  <a:pt x="0" y="51214"/>
                  <a:pt x="51214" y="0"/>
                  <a:pt x="114296" y="0"/>
                </a:cubicBezTo>
                <a:close/>
              </a:path>
            </a:pathLst>
          </a:custGeom>
          <a:solidFill>
            <a:srgbClr val="FB2C36">
              <a:alpha val="20000"/>
            </a:srgbClr>
          </a:solidFill>
          <a:ln w="12700">
            <a:solidFill>
              <a:srgbClr val="FB2C36">
                <a:alpha val="40000"/>
              </a:srgbClr>
            </a:solidFill>
            <a:prstDash val="solid"/>
          </a:ln>
        </p:spPr>
      </p:sp>
      <p:sp>
        <p:nvSpPr>
          <p:cNvPr id="23" name="Shape 20"/>
          <p:cNvSpPr/>
          <p:nvPr/>
        </p:nvSpPr>
        <p:spPr>
          <a:xfrm>
            <a:off x="5175870" y="3205163"/>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B2C36"/>
          </a:solidFill>
          <a:ln/>
        </p:spPr>
      </p:sp>
      <p:sp>
        <p:nvSpPr>
          <p:cNvPr id="24" name="Shape 21"/>
          <p:cNvSpPr/>
          <p:nvPr/>
        </p:nvSpPr>
        <p:spPr>
          <a:xfrm>
            <a:off x="5297314" y="3338513"/>
            <a:ext cx="214313" cy="190500"/>
          </a:xfrm>
          <a:custGeom>
            <a:avLst/>
            <a:gdLst/>
            <a:ahLst/>
            <a:cxnLst/>
            <a:rect l="l" t="t" r="r" b="b"/>
            <a:pathLst>
              <a:path w="214313" h="190500">
                <a:moveTo>
                  <a:pt x="15255" y="-9265"/>
                </a:moveTo>
                <a:cubicBezTo>
                  <a:pt x="11757" y="-12762"/>
                  <a:pt x="6102" y="-12762"/>
                  <a:pt x="2642" y="-9265"/>
                </a:cubicBezTo>
                <a:cubicBezTo>
                  <a:pt x="-819" y="-5767"/>
                  <a:pt x="-856" y="-112"/>
                  <a:pt x="2604" y="3386"/>
                </a:cubicBezTo>
                <a:lnTo>
                  <a:pt x="199058" y="199839"/>
                </a:lnTo>
                <a:cubicBezTo>
                  <a:pt x="202555" y="203336"/>
                  <a:pt x="208211" y="203336"/>
                  <a:pt x="211671" y="199839"/>
                </a:cubicBezTo>
                <a:cubicBezTo>
                  <a:pt x="215131" y="196342"/>
                  <a:pt x="215168" y="190686"/>
                  <a:pt x="211671" y="187226"/>
                </a:cubicBezTo>
                <a:lnTo>
                  <a:pt x="175803" y="151358"/>
                </a:lnTo>
                <a:cubicBezTo>
                  <a:pt x="176808" y="150465"/>
                  <a:pt x="177812" y="149572"/>
                  <a:pt x="178780" y="148679"/>
                </a:cubicBezTo>
                <a:cubicBezTo>
                  <a:pt x="196193" y="132494"/>
                  <a:pt x="207838" y="113184"/>
                  <a:pt x="213382" y="99901"/>
                </a:cubicBezTo>
                <a:cubicBezTo>
                  <a:pt x="214610" y="96962"/>
                  <a:pt x="214610" y="93687"/>
                  <a:pt x="213382" y="90748"/>
                </a:cubicBezTo>
                <a:cubicBezTo>
                  <a:pt x="207838" y="77465"/>
                  <a:pt x="196193" y="58117"/>
                  <a:pt x="178780" y="41970"/>
                </a:cubicBezTo>
                <a:cubicBezTo>
                  <a:pt x="161255" y="25710"/>
                  <a:pt x="137182" y="11981"/>
                  <a:pt x="107119" y="11981"/>
                </a:cubicBezTo>
                <a:cubicBezTo>
                  <a:pt x="85985" y="11981"/>
                  <a:pt x="67828" y="18752"/>
                  <a:pt x="52797" y="28426"/>
                </a:cubicBezTo>
                <a:lnTo>
                  <a:pt x="15255" y="-9265"/>
                </a:lnTo>
                <a:close/>
                <a:moveTo>
                  <a:pt x="76088" y="51606"/>
                </a:moveTo>
                <a:cubicBezTo>
                  <a:pt x="84832" y="45355"/>
                  <a:pt x="95585" y="41672"/>
                  <a:pt x="107156" y="41672"/>
                </a:cubicBezTo>
                <a:cubicBezTo>
                  <a:pt x="136736" y="41672"/>
                  <a:pt x="160734" y="65670"/>
                  <a:pt x="160734" y="95250"/>
                </a:cubicBezTo>
                <a:cubicBezTo>
                  <a:pt x="160734" y="106821"/>
                  <a:pt x="157051" y="117537"/>
                  <a:pt x="150800" y="126318"/>
                </a:cubicBezTo>
                <a:lnTo>
                  <a:pt x="137889" y="113407"/>
                </a:lnTo>
                <a:cubicBezTo>
                  <a:pt x="142615" y="105445"/>
                  <a:pt x="144214" y="95659"/>
                  <a:pt x="141647" y="85985"/>
                </a:cubicBezTo>
                <a:cubicBezTo>
                  <a:pt x="136550" y="66935"/>
                  <a:pt x="116942" y="55625"/>
                  <a:pt x="97892" y="60722"/>
                </a:cubicBezTo>
                <a:cubicBezTo>
                  <a:pt x="94692" y="61578"/>
                  <a:pt x="91678" y="62843"/>
                  <a:pt x="88962" y="64443"/>
                </a:cubicBezTo>
                <a:lnTo>
                  <a:pt x="76051" y="51532"/>
                </a:lnTo>
                <a:close/>
                <a:moveTo>
                  <a:pt x="121034" y="147005"/>
                </a:moveTo>
                <a:cubicBezTo>
                  <a:pt x="116607" y="148196"/>
                  <a:pt x="111956" y="148828"/>
                  <a:pt x="107156" y="148828"/>
                </a:cubicBezTo>
                <a:cubicBezTo>
                  <a:pt x="77577" y="148828"/>
                  <a:pt x="53578" y="124830"/>
                  <a:pt x="53578" y="95250"/>
                </a:cubicBezTo>
                <a:cubicBezTo>
                  <a:pt x="53578" y="90450"/>
                  <a:pt x="54211" y="85799"/>
                  <a:pt x="55401" y="81372"/>
                </a:cubicBezTo>
                <a:lnTo>
                  <a:pt x="25822" y="51792"/>
                </a:lnTo>
                <a:cubicBezTo>
                  <a:pt x="13692" y="65484"/>
                  <a:pt x="5358" y="79995"/>
                  <a:pt x="930" y="90674"/>
                </a:cubicBezTo>
                <a:cubicBezTo>
                  <a:pt x="-298" y="93613"/>
                  <a:pt x="-298" y="96887"/>
                  <a:pt x="930" y="99826"/>
                </a:cubicBezTo>
                <a:cubicBezTo>
                  <a:pt x="6474" y="113109"/>
                  <a:pt x="18120" y="132457"/>
                  <a:pt x="35533" y="148605"/>
                </a:cubicBezTo>
                <a:cubicBezTo>
                  <a:pt x="53057" y="164864"/>
                  <a:pt x="77130" y="178594"/>
                  <a:pt x="107193" y="178594"/>
                </a:cubicBezTo>
                <a:cubicBezTo>
                  <a:pt x="121072" y="178594"/>
                  <a:pt x="133685" y="175654"/>
                  <a:pt x="144959" y="170929"/>
                </a:cubicBezTo>
                <a:lnTo>
                  <a:pt x="121072" y="147042"/>
                </a:lnTo>
                <a:close/>
              </a:path>
            </a:pathLst>
          </a:custGeom>
          <a:solidFill>
            <a:srgbClr val="FFFFFF"/>
          </a:solidFill>
          <a:ln/>
        </p:spPr>
      </p:sp>
      <p:sp>
        <p:nvSpPr>
          <p:cNvPr id="25" name="Text 22"/>
          <p:cNvSpPr/>
          <p:nvPr/>
        </p:nvSpPr>
        <p:spPr>
          <a:xfrm>
            <a:off x="5785470" y="3205163"/>
            <a:ext cx="1524000"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Angle Mort Local</a:t>
            </a:r>
            <a:endParaRPr lang="en-US" sz="1600" dirty="0"/>
          </a:p>
        </p:txBody>
      </p:sp>
      <p:sp>
        <p:nvSpPr>
          <p:cNvPr id="26" name="Shape 23"/>
          <p:cNvSpPr/>
          <p:nvPr/>
        </p:nvSpPr>
        <p:spPr>
          <a:xfrm>
            <a:off x="10662345" y="3205163"/>
            <a:ext cx="990600" cy="266700"/>
          </a:xfrm>
          <a:custGeom>
            <a:avLst/>
            <a:gdLst/>
            <a:ahLst/>
            <a:cxnLst/>
            <a:rect l="l" t="t" r="r" b="b"/>
            <a:pathLst>
              <a:path w="990600" h="266700">
                <a:moveTo>
                  <a:pt x="133350" y="0"/>
                </a:moveTo>
                <a:lnTo>
                  <a:pt x="857250" y="0"/>
                </a:lnTo>
                <a:cubicBezTo>
                  <a:pt x="930848" y="0"/>
                  <a:pt x="990600" y="59752"/>
                  <a:pt x="990600" y="133350"/>
                </a:cubicBezTo>
                <a:lnTo>
                  <a:pt x="990600" y="133350"/>
                </a:lnTo>
                <a:cubicBezTo>
                  <a:pt x="990600" y="206948"/>
                  <a:pt x="930848" y="266700"/>
                  <a:pt x="857250" y="266700"/>
                </a:cubicBezTo>
                <a:lnTo>
                  <a:pt x="133350" y="266700"/>
                </a:lnTo>
                <a:cubicBezTo>
                  <a:pt x="59752" y="266700"/>
                  <a:pt x="0" y="206948"/>
                  <a:pt x="0" y="133350"/>
                </a:cubicBezTo>
                <a:lnTo>
                  <a:pt x="0" y="133350"/>
                </a:lnTo>
                <a:cubicBezTo>
                  <a:pt x="0" y="59752"/>
                  <a:pt x="59752" y="0"/>
                  <a:pt x="133350" y="0"/>
                </a:cubicBezTo>
                <a:close/>
              </a:path>
            </a:pathLst>
          </a:custGeom>
          <a:solidFill>
            <a:srgbClr val="FB2C36"/>
          </a:solidFill>
          <a:ln/>
        </p:spPr>
      </p:sp>
      <p:sp>
        <p:nvSpPr>
          <p:cNvPr id="27" name="Text 24"/>
          <p:cNvSpPr/>
          <p:nvPr/>
        </p:nvSpPr>
        <p:spPr>
          <a:xfrm>
            <a:off x="10662345" y="3205163"/>
            <a:ext cx="1057275" cy="266700"/>
          </a:xfrm>
          <a:prstGeom prst="rect">
            <a:avLst/>
          </a:prstGeom>
          <a:noFill/>
          <a:ln/>
        </p:spPr>
        <p:txBody>
          <a:bodyPr wrap="square" lIns="114300" tIns="38100" rIns="114300" bIns="3810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Position #28</a:t>
            </a:r>
            <a:endParaRPr lang="en-US" sz="1600" dirty="0"/>
          </a:p>
        </p:txBody>
      </p:sp>
      <p:sp>
        <p:nvSpPr>
          <p:cNvPr id="28" name="Text 25"/>
          <p:cNvSpPr/>
          <p:nvPr/>
        </p:nvSpPr>
        <p:spPr>
          <a:xfrm>
            <a:off x="5785470" y="3548063"/>
            <a:ext cx="5943600" cy="228600"/>
          </a:xfrm>
          <a:prstGeom prst="rect">
            <a:avLst/>
          </a:prstGeom>
          <a:noFill/>
          <a:ln/>
        </p:spPr>
        <p:txBody>
          <a:bodyPr wrap="square" lIns="0" tIns="0" rIns="0" bIns="0" rtlCol="0" anchor="ctr"/>
          <a:lstStyle/>
          <a:p>
            <a:pPr>
              <a:lnSpc>
                <a:spcPct val="130000"/>
              </a:lnSpc>
            </a:pPr>
            <a:r>
              <a:rPr lang="en-US" sz="1200" b="1" dirty="0">
                <a:solidFill>
                  <a:srgbClr val="F8F9FA">
                    <a:alpha val="90000"/>
                  </a:srgbClr>
                </a:solidFill>
                <a:latin typeface="Liter" pitchFamily="34" charset="0"/>
                <a:ea typeface="Liter" pitchFamily="34" charset="-122"/>
                <a:cs typeface="Liter" pitchFamily="34" charset="-120"/>
              </a:rPr>
              <a:t>Mot-clé:</a:t>
            </a:r>
            <a:pPr>
              <a:lnSpc>
                <a:spcPct val="130000"/>
              </a:lnSpc>
            </a:pPr>
            <a:r>
              <a:rPr lang="en-US" sz="1200" dirty="0">
                <a:solidFill>
                  <a:srgbClr val="F8F9FA">
                    <a:alpha val="90000"/>
                  </a:srgbClr>
                </a:solidFill>
                <a:latin typeface="Liter" pitchFamily="34" charset="0"/>
                <a:ea typeface="Liter" pitchFamily="34" charset="-122"/>
                <a:cs typeface="Liter" pitchFamily="34" charset="-120"/>
              </a:rPr>
              <a:t> "neurofeedback agadir"</a:t>
            </a:r>
            <a:endParaRPr lang="en-US" sz="1600" dirty="0"/>
          </a:p>
        </p:txBody>
      </p:sp>
      <p:sp>
        <p:nvSpPr>
          <p:cNvPr id="29" name="Text 26"/>
          <p:cNvSpPr/>
          <p:nvPr/>
        </p:nvSpPr>
        <p:spPr>
          <a:xfrm>
            <a:off x="5785470" y="3852863"/>
            <a:ext cx="5934075" cy="438150"/>
          </a:xfrm>
          <a:prstGeom prst="rect">
            <a:avLst/>
          </a:prstGeom>
          <a:noFill/>
          <a:ln/>
        </p:spPr>
        <p:txBody>
          <a:bodyPr wrap="square" lIns="0" tIns="0" rIns="0" bIns="0" rtlCol="0" anchor="ctr"/>
          <a:lstStyle/>
          <a:p>
            <a:pPr>
              <a:lnSpc>
                <a:spcPct val="140000"/>
              </a:lnSpc>
            </a:pPr>
            <a:r>
              <a:rPr lang="en-US" sz="1050" b="1" dirty="0">
                <a:solidFill>
                  <a:srgbClr val="F8F9FA">
                    <a:alpha val="70000"/>
                  </a:srgbClr>
                </a:solidFill>
                <a:latin typeface="Liter" pitchFamily="34" charset="0"/>
                <a:ea typeface="Liter" pitchFamily="34" charset="-122"/>
                <a:cs typeface="Liter" pitchFamily="34" charset="-120"/>
              </a:rPr>
              <a:t>Perte de parts de marché régionales.</a:t>
            </a:r>
            <a:pPr>
              <a:lnSpc>
                <a:spcPct val="140000"/>
              </a:lnSpc>
            </a:pPr>
            <a:r>
              <a:rPr lang="en-US" sz="1050" dirty="0">
                <a:solidFill>
                  <a:srgbClr val="F8F9FA">
                    <a:alpha val="70000"/>
                  </a:srgbClr>
                </a:solidFill>
                <a:latin typeface="Liter" pitchFamily="34" charset="0"/>
                <a:ea typeface="Liter" pitchFamily="34" charset="-122"/>
                <a:cs typeface="Liter" pitchFamily="34" charset="-120"/>
              </a:rPr>
              <a:t> Absence quasi-totale sur le marché d'Agadir, ville importante du Maroc avec forte demande potentielle pour services neurofeedback.</a:t>
            </a:r>
            <a:endParaRPr lang="en-US" sz="1600" dirty="0"/>
          </a:p>
        </p:txBody>
      </p:sp>
      <p:sp>
        <p:nvSpPr>
          <p:cNvPr id="30" name="Shape 27"/>
          <p:cNvSpPr/>
          <p:nvPr/>
        </p:nvSpPr>
        <p:spPr>
          <a:xfrm>
            <a:off x="5018708" y="4567238"/>
            <a:ext cx="6791325" cy="1400175"/>
          </a:xfrm>
          <a:custGeom>
            <a:avLst/>
            <a:gdLst/>
            <a:ahLst/>
            <a:cxnLst/>
            <a:rect l="l" t="t" r="r" b="b"/>
            <a:pathLst>
              <a:path w="6791325" h="1400175">
                <a:moveTo>
                  <a:pt x="114296" y="0"/>
                </a:moveTo>
                <a:lnTo>
                  <a:pt x="6677029" y="0"/>
                </a:lnTo>
                <a:cubicBezTo>
                  <a:pt x="6740111" y="0"/>
                  <a:pt x="6791325" y="51214"/>
                  <a:pt x="6791325" y="114296"/>
                </a:cubicBezTo>
                <a:lnTo>
                  <a:pt x="6791325" y="1285879"/>
                </a:lnTo>
                <a:cubicBezTo>
                  <a:pt x="6791325" y="1348961"/>
                  <a:pt x="6740111" y="1400175"/>
                  <a:pt x="6677029" y="1400175"/>
                </a:cubicBezTo>
                <a:lnTo>
                  <a:pt x="114296" y="1400175"/>
                </a:lnTo>
                <a:cubicBezTo>
                  <a:pt x="51214" y="1400175"/>
                  <a:pt x="0" y="1348961"/>
                  <a:pt x="0" y="1285879"/>
                </a:cubicBezTo>
                <a:lnTo>
                  <a:pt x="0" y="114296"/>
                </a:lnTo>
                <a:cubicBezTo>
                  <a:pt x="0" y="51214"/>
                  <a:pt x="51214" y="0"/>
                  <a:pt x="114296" y="0"/>
                </a:cubicBezTo>
                <a:close/>
              </a:path>
            </a:pathLst>
          </a:custGeom>
          <a:solidFill>
            <a:srgbClr val="C5A065">
              <a:alpha val="20000"/>
            </a:srgbClr>
          </a:solidFill>
          <a:ln w="12700">
            <a:solidFill>
              <a:srgbClr val="C5A065">
                <a:alpha val="40000"/>
              </a:srgbClr>
            </a:solidFill>
            <a:prstDash val="solid"/>
          </a:ln>
        </p:spPr>
      </p:sp>
      <p:sp>
        <p:nvSpPr>
          <p:cNvPr id="31" name="Shape 28"/>
          <p:cNvSpPr/>
          <p:nvPr/>
        </p:nvSpPr>
        <p:spPr>
          <a:xfrm>
            <a:off x="5175870" y="47244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5A065"/>
          </a:solidFill>
          <a:ln/>
        </p:spPr>
      </p:sp>
      <p:sp>
        <p:nvSpPr>
          <p:cNvPr id="32" name="Shape 29"/>
          <p:cNvSpPr/>
          <p:nvPr/>
        </p:nvSpPr>
        <p:spPr>
          <a:xfrm>
            <a:off x="5321126" y="4857750"/>
            <a:ext cx="166688" cy="190500"/>
          </a:xfrm>
          <a:custGeom>
            <a:avLst/>
            <a:gdLst/>
            <a:ahLst/>
            <a:cxnLst/>
            <a:rect l="l" t="t" r="r" b="b"/>
            <a:pathLst>
              <a:path w="166688" h="190500">
                <a:moveTo>
                  <a:pt x="27273" y="71438"/>
                </a:moveTo>
                <a:cubicBezTo>
                  <a:pt x="37505" y="37021"/>
                  <a:pt x="69391" y="11906"/>
                  <a:pt x="107156" y="11906"/>
                </a:cubicBezTo>
                <a:lnTo>
                  <a:pt x="130969" y="11906"/>
                </a:lnTo>
                <a:cubicBezTo>
                  <a:pt x="137554" y="11906"/>
                  <a:pt x="142875" y="17227"/>
                  <a:pt x="142875" y="23812"/>
                </a:cubicBezTo>
                <a:cubicBezTo>
                  <a:pt x="142875" y="30398"/>
                  <a:pt x="137554" y="35719"/>
                  <a:pt x="130969" y="35719"/>
                </a:cubicBezTo>
                <a:lnTo>
                  <a:pt x="107156" y="35719"/>
                </a:lnTo>
                <a:cubicBezTo>
                  <a:pt x="82748" y="35719"/>
                  <a:pt x="61764" y="50416"/>
                  <a:pt x="52574" y="71438"/>
                </a:cubicBezTo>
                <a:lnTo>
                  <a:pt x="101203" y="71438"/>
                </a:lnTo>
                <a:cubicBezTo>
                  <a:pt x="106152" y="71438"/>
                  <a:pt x="110133" y="75419"/>
                  <a:pt x="110133" y="80367"/>
                </a:cubicBezTo>
                <a:cubicBezTo>
                  <a:pt x="110133" y="85316"/>
                  <a:pt x="106152" y="89297"/>
                  <a:pt x="101203" y="89297"/>
                </a:cubicBezTo>
                <a:lnTo>
                  <a:pt x="47923" y="89297"/>
                </a:lnTo>
                <a:cubicBezTo>
                  <a:pt x="47737" y="91269"/>
                  <a:pt x="47625" y="93241"/>
                  <a:pt x="47625" y="95250"/>
                </a:cubicBezTo>
                <a:cubicBezTo>
                  <a:pt x="47625" y="97259"/>
                  <a:pt x="47737" y="99231"/>
                  <a:pt x="47923" y="101203"/>
                </a:cubicBezTo>
                <a:lnTo>
                  <a:pt x="101203" y="101203"/>
                </a:lnTo>
                <a:cubicBezTo>
                  <a:pt x="106152" y="101203"/>
                  <a:pt x="110133" y="105184"/>
                  <a:pt x="110133" y="110133"/>
                </a:cubicBezTo>
                <a:cubicBezTo>
                  <a:pt x="110133" y="115081"/>
                  <a:pt x="106152" y="119063"/>
                  <a:pt x="101203" y="119063"/>
                </a:cubicBezTo>
                <a:lnTo>
                  <a:pt x="52574" y="119063"/>
                </a:lnTo>
                <a:cubicBezTo>
                  <a:pt x="61764" y="140084"/>
                  <a:pt x="82748" y="154781"/>
                  <a:pt x="107156" y="154781"/>
                </a:cubicBezTo>
                <a:lnTo>
                  <a:pt x="130969" y="154781"/>
                </a:lnTo>
                <a:cubicBezTo>
                  <a:pt x="137554" y="154781"/>
                  <a:pt x="142875" y="160102"/>
                  <a:pt x="142875" y="166688"/>
                </a:cubicBezTo>
                <a:cubicBezTo>
                  <a:pt x="142875" y="173273"/>
                  <a:pt x="137554" y="178594"/>
                  <a:pt x="130969" y="178594"/>
                </a:cubicBezTo>
                <a:lnTo>
                  <a:pt x="107156" y="178594"/>
                </a:lnTo>
                <a:cubicBezTo>
                  <a:pt x="69391" y="178594"/>
                  <a:pt x="37505" y="153479"/>
                  <a:pt x="27273" y="119063"/>
                </a:cubicBezTo>
                <a:lnTo>
                  <a:pt x="14883" y="119063"/>
                </a:lnTo>
                <a:cubicBezTo>
                  <a:pt x="9934" y="119063"/>
                  <a:pt x="5953" y="115081"/>
                  <a:pt x="5953" y="110133"/>
                </a:cubicBezTo>
                <a:cubicBezTo>
                  <a:pt x="5953" y="105184"/>
                  <a:pt x="9934" y="101203"/>
                  <a:pt x="14883" y="101203"/>
                </a:cubicBezTo>
                <a:lnTo>
                  <a:pt x="24036" y="101203"/>
                </a:lnTo>
                <a:cubicBezTo>
                  <a:pt x="23775" y="97296"/>
                  <a:pt x="23775" y="93204"/>
                  <a:pt x="24036" y="89297"/>
                </a:cubicBezTo>
                <a:lnTo>
                  <a:pt x="14883" y="89297"/>
                </a:lnTo>
                <a:cubicBezTo>
                  <a:pt x="9934" y="89297"/>
                  <a:pt x="5953" y="85316"/>
                  <a:pt x="5953" y="80367"/>
                </a:cubicBezTo>
                <a:cubicBezTo>
                  <a:pt x="5953" y="75419"/>
                  <a:pt x="9934" y="71438"/>
                  <a:pt x="14883" y="71438"/>
                </a:cubicBezTo>
                <a:lnTo>
                  <a:pt x="27273" y="71438"/>
                </a:lnTo>
                <a:close/>
              </a:path>
            </a:pathLst>
          </a:custGeom>
          <a:solidFill>
            <a:srgbClr val="FFFFFF"/>
          </a:solidFill>
          <a:ln/>
        </p:spPr>
      </p:sp>
      <p:sp>
        <p:nvSpPr>
          <p:cNvPr id="33" name="Text 30"/>
          <p:cNvSpPr/>
          <p:nvPr/>
        </p:nvSpPr>
        <p:spPr>
          <a:xfrm>
            <a:off x="5785470" y="4724400"/>
            <a:ext cx="208597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Liter" pitchFamily="34" charset="0"/>
                <a:ea typeface="Liter" pitchFamily="34" charset="-122"/>
                <a:cs typeface="Liter" pitchFamily="34" charset="-120"/>
              </a:rPr>
              <a:t>Angle Mort Commercial</a:t>
            </a:r>
            <a:endParaRPr lang="en-US" sz="1600" dirty="0"/>
          </a:p>
        </p:txBody>
      </p:sp>
      <p:sp>
        <p:nvSpPr>
          <p:cNvPr id="34" name="Shape 31"/>
          <p:cNvSpPr/>
          <p:nvPr/>
        </p:nvSpPr>
        <p:spPr>
          <a:xfrm>
            <a:off x="10700072" y="4724400"/>
            <a:ext cx="952500" cy="266700"/>
          </a:xfrm>
          <a:custGeom>
            <a:avLst/>
            <a:gdLst/>
            <a:ahLst/>
            <a:cxnLst/>
            <a:rect l="l" t="t" r="r" b="b"/>
            <a:pathLst>
              <a:path w="952500" h="266700">
                <a:moveTo>
                  <a:pt x="133350" y="0"/>
                </a:moveTo>
                <a:lnTo>
                  <a:pt x="819150" y="0"/>
                </a:lnTo>
                <a:cubicBezTo>
                  <a:pt x="892748" y="0"/>
                  <a:pt x="952500" y="59752"/>
                  <a:pt x="952500" y="133350"/>
                </a:cubicBezTo>
                <a:lnTo>
                  <a:pt x="952500" y="133350"/>
                </a:lnTo>
                <a:cubicBezTo>
                  <a:pt x="952500" y="206948"/>
                  <a:pt x="892748" y="266700"/>
                  <a:pt x="819150" y="266700"/>
                </a:cubicBezTo>
                <a:lnTo>
                  <a:pt x="133350" y="266700"/>
                </a:lnTo>
                <a:cubicBezTo>
                  <a:pt x="59752" y="266700"/>
                  <a:pt x="0" y="206948"/>
                  <a:pt x="0" y="133350"/>
                </a:cubicBezTo>
                <a:lnTo>
                  <a:pt x="0" y="133350"/>
                </a:lnTo>
                <a:cubicBezTo>
                  <a:pt x="0" y="59752"/>
                  <a:pt x="59752" y="0"/>
                  <a:pt x="133350" y="0"/>
                </a:cubicBezTo>
                <a:close/>
              </a:path>
            </a:pathLst>
          </a:custGeom>
          <a:solidFill>
            <a:srgbClr val="C5A065"/>
          </a:solidFill>
          <a:ln/>
        </p:spPr>
      </p:sp>
      <p:sp>
        <p:nvSpPr>
          <p:cNvPr id="35" name="Text 32"/>
          <p:cNvSpPr/>
          <p:nvPr/>
        </p:nvSpPr>
        <p:spPr>
          <a:xfrm>
            <a:off x="10700072" y="4724400"/>
            <a:ext cx="1019175" cy="266700"/>
          </a:xfrm>
          <a:prstGeom prst="rect">
            <a:avLst/>
          </a:prstGeom>
          <a:noFill/>
          <a:ln/>
        </p:spPr>
        <p:txBody>
          <a:bodyPr wrap="square" lIns="114300" tIns="38100" rIns="114300" bIns="3810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Position #17</a:t>
            </a:r>
            <a:endParaRPr lang="en-US" sz="1600" dirty="0"/>
          </a:p>
        </p:txBody>
      </p:sp>
      <p:sp>
        <p:nvSpPr>
          <p:cNvPr id="36" name="Text 33"/>
          <p:cNvSpPr/>
          <p:nvPr/>
        </p:nvSpPr>
        <p:spPr>
          <a:xfrm>
            <a:off x="5785470" y="5067300"/>
            <a:ext cx="5943600" cy="228600"/>
          </a:xfrm>
          <a:prstGeom prst="rect">
            <a:avLst/>
          </a:prstGeom>
          <a:noFill/>
          <a:ln/>
        </p:spPr>
        <p:txBody>
          <a:bodyPr wrap="square" lIns="0" tIns="0" rIns="0" bIns="0" rtlCol="0" anchor="ctr"/>
          <a:lstStyle/>
          <a:p>
            <a:pPr>
              <a:lnSpc>
                <a:spcPct val="130000"/>
              </a:lnSpc>
            </a:pPr>
            <a:r>
              <a:rPr lang="en-US" sz="1200" b="1" dirty="0">
                <a:solidFill>
                  <a:srgbClr val="F8F9FA">
                    <a:alpha val="90000"/>
                  </a:srgbClr>
                </a:solidFill>
                <a:latin typeface="Liter" pitchFamily="34" charset="0"/>
                <a:ea typeface="Liter" pitchFamily="34" charset="-122"/>
                <a:cs typeface="Liter" pitchFamily="34" charset="-120"/>
              </a:rPr>
              <a:t>Mot-clé:</a:t>
            </a:r>
            <a:pPr>
              <a:lnSpc>
                <a:spcPct val="130000"/>
              </a:lnSpc>
            </a:pPr>
            <a:r>
              <a:rPr lang="en-US" sz="1200" dirty="0">
                <a:solidFill>
                  <a:srgbClr val="F8F9FA">
                    <a:alpha val="90000"/>
                  </a:srgbClr>
                </a:solidFill>
                <a:latin typeface="Liter" pitchFamily="34" charset="0"/>
                <a:ea typeface="Liter" pitchFamily="34" charset="-122"/>
                <a:cs typeface="Liter" pitchFamily="34" charset="-120"/>
              </a:rPr>
              <a:t> "neurofeedback prix maroc"</a:t>
            </a:r>
            <a:endParaRPr lang="en-US" sz="1600" dirty="0"/>
          </a:p>
        </p:txBody>
      </p:sp>
      <p:sp>
        <p:nvSpPr>
          <p:cNvPr id="37" name="Text 34"/>
          <p:cNvSpPr/>
          <p:nvPr/>
        </p:nvSpPr>
        <p:spPr>
          <a:xfrm>
            <a:off x="5785470" y="5372100"/>
            <a:ext cx="5934075" cy="438150"/>
          </a:xfrm>
          <a:prstGeom prst="rect">
            <a:avLst/>
          </a:prstGeom>
          <a:noFill/>
          <a:ln/>
        </p:spPr>
        <p:txBody>
          <a:bodyPr wrap="square" lIns="0" tIns="0" rIns="0" bIns="0" rtlCol="0" anchor="ctr"/>
          <a:lstStyle/>
          <a:p>
            <a:pPr>
              <a:lnSpc>
                <a:spcPct val="140000"/>
              </a:lnSpc>
            </a:pPr>
            <a:r>
              <a:rPr lang="en-US" sz="1050" b="1" dirty="0">
                <a:solidFill>
                  <a:srgbClr val="F8F9FA">
                    <a:alpha val="70000"/>
                  </a:srgbClr>
                </a:solidFill>
                <a:latin typeface="Liter" pitchFamily="34" charset="0"/>
                <a:ea typeface="Liter" pitchFamily="34" charset="-122"/>
                <a:cs typeface="Liter" pitchFamily="34" charset="-120"/>
              </a:rPr>
              <a:t>Absence sur requêtes à haute intention.</a:t>
            </a:r>
            <a:pPr>
              <a:lnSpc>
                <a:spcPct val="140000"/>
              </a:lnSpc>
            </a:pPr>
            <a:r>
              <a:rPr lang="en-US" sz="1050" dirty="0">
                <a:solidFill>
                  <a:srgbClr val="F8F9FA">
                    <a:alpha val="70000"/>
                  </a:srgbClr>
                </a:solidFill>
                <a:latin typeface="Liter" pitchFamily="34" charset="0"/>
                <a:ea typeface="Liter" pitchFamily="34" charset="-122"/>
                <a:cs typeface="Liter" pitchFamily="34" charset="-120"/>
              </a:rPr>
              <a:t> Les patients qui recherchent les prix sont prêts à convertir. Être en position #17 signifie perdre ces leads qualifiés au profit des concurrents.</a:t>
            </a:r>
            <a:endParaRPr lang="en-US" sz="1600" dirty="0"/>
          </a:p>
        </p:txBody>
      </p:sp>
      <p:sp>
        <p:nvSpPr>
          <p:cNvPr id="38" name="Shape 35"/>
          <p:cNvSpPr/>
          <p:nvPr/>
        </p:nvSpPr>
        <p:spPr>
          <a:xfrm>
            <a:off x="381000" y="6086475"/>
            <a:ext cx="11430000" cy="457200"/>
          </a:xfrm>
          <a:custGeom>
            <a:avLst/>
            <a:gdLst/>
            <a:ahLst/>
            <a:cxnLst/>
            <a:rect l="l" t="t" r="r" b="b"/>
            <a:pathLst>
              <a:path w="11430000" h="457200">
                <a:moveTo>
                  <a:pt x="76202" y="0"/>
                </a:moveTo>
                <a:lnTo>
                  <a:pt x="11353798" y="0"/>
                </a:lnTo>
                <a:cubicBezTo>
                  <a:pt x="11395883" y="0"/>
                  <a:pt x="11430000" y="34117"/>
                  <a:pt x="11430000" y="76202"/>
                </a:cubicBezTo>
                <a:lnTo>
                  <a:pt x="11430000" y="380998"/>
                </a:lnTo>
                <a:cubicBezTo>
                  <a:pt x="11430000" y="423083"/>
                  <a:pt x="11395883" y="457200"/>
                  <a:pt x="11353798" y="457200"/>
                </a:cubicBezTo>
                <a:lnTo>
                  <a:pt x="76202" y="457200"/>
                </a:lnTo>
                <a:cubicBezTo>
                  <a:pt x="34145" y="457200"/>
                  <a:pt x="0" y="423055"/>
                  <a:pt x="0" y="380998"/>
                </a:cubicBezTo>
                <a:lnTo>
                  <a:pt x="0" y="76202"/>
                </a:lnTo>
                <a:cubicBezTo>
                  <a:pt x="0" y="34145"/>
                  <a:pt x="34145" y="0"/>
                  <a:pt x="76202" y="0"/>
                </a:cubicBezTo>
                <a:close/>
              </a:path>
            </a:pathLst>
          </a:custGeom>
          <a:solidFill>
            <a:srgbClr val="FFFFFF">
              <a:alpha val="10196"/>
            </a:srgbClr>
          </a:solidFill>
          <a:ln/>
        </p:spPr>
      </p:sp>
      <p:sp>
        <p:nvSpPr>
          <p:cNvPr id="39" name="Shape 36"/>
          <p:cNvSpPr/>
          <p:nvPr/>
        </p:nvSpPr>
        <p:spPr>
          <a:xfrm>
            <a:off x="519113" y="6219825"/>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C5A065"/>
          </a:solidFill>
          <a:ln/>
        </p:spPr>
      </p:sp>
      <p:sp>
        <p:nvSpPr>
          <p:cNvPr id="40" name="Text 37"/>
          <p:cNvSpPr/>
          <p:nvPr/>
        </p:nvSpPr>
        <p:spPr>
          <a:xfrm>
            <a:off x="847725" y="6200775"/>
            <a:ext cx="4657725"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Liter" pitchFamily="34" charset="0"/>
                <a:ea typeface="Liter" pitchFamily="34" charset="-122"/>
                <a:cs typeface="Liter" pitchFamily="34" charset="-120"/>
              </a:rPr>
              <a:t>Opportunité:</a:t>
            </a:r>
            <a:pPr>
              <a:lnSpc>
                <a:spcPct val="130000"/>
              </a:lnSpc>
            </a:pPr>
            <a:r>
              <a:rPr lang="en-US" sz="1200" dirty="0">
                <a:solidFill>
                  <a:srgbClr val="F8F9FA"/>
                </a:solidFill>
                <a:latin typeface="Liter" pitchFamily="34" charset="0"/>
                <a:ea typeface="Liter" pitchFamily="34" charset="-122"/>
                <a:cs typeface="Liter" pitchFamily="34" charset="-120"/>
              </a:rPr>
              <a:t> 77% des patients recherchent en ligne avant de réserver</a:t>
            </a:r>
            <a:endParaRPr lang="en-US" sz="1600" dirty="0"/>
          </a:p>
        </p:txBody>
      </p:sp>
      <p:sp>
        <p:nvSpPr>
          <p:cNvPr id="41" name="Text 38"/>
          <p:cNvSpPr/>
          <p:nvPr/>
        </p:nvSpPr>
        <p:spPr>
          <a:xfrm>
            <a:off x="9720783" y="6219825"/>
            <a:ext cx="2038350" cy="190500"/>
          </a:xfrm>
          <a:prstGeom prst="rect">
            <a:avLst/>
          </a:prstGeom>
          <a:noFill/>
          <a:ln/>
        </p:spPr>
        <p:txBody>
          <a:bodyPr wrap="square" lIns="0" tIns="0" rIns="0" bIns="0" rtlCol="0" anchor="ctr"/>
          <a:lstStyle/>
          <a:p>
            <a:pPr>
              <a:lnSpc>
                <a:spcPct val="120000"/>
              </a:lnSpc>
            </a:pPr>
            <a:r>
              <a:rPr lang="en-US" sz="1050" dirty="0">
                <a:solidFill>
                  <a:srgbClr val="F8F9FA">
                    <a:alpha val="60000"/>
                  </a:srgbClr>
                </a:solidFill>
                <a:latin typeface="Liter" pitchFamily="34" charset="0"/>
                <a:ea typeface="Liter" pitchFamily="34" charset="-122"/>
                <a:cs typeface="Liter" pitchFamily="34" charset="-120"/>
              </a:rPr>
              <a:t>Source: InnerSpark Creative 2025</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C5A065"/>
                </a:solidFill>
                <a:latin typeface="Liter" pitchFamily="34" charset="0"/>
                <a:ea typeface="Liter" pitchFamily="34" charset="-122"/>
                <a:cs typeface="Liter" pitchFamily="34" charset="-120"/>
              </a:rPr>
              <a:t>SYNTHÈSE</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A3A52"/>
                </a:solidFill>
                <a:latin typeface="Liter" pitchFamily="34" charset="0"/>
                <a:ea typeface="Liter" pitchFamily="34" charset="-122"/>
                <a:cs typeface="Liter" pitchFamily="34" charset="-120"/>
              </a:rPr>
              <a:t>L'Équation de la Perte</a:t>
            </a:r>
            <a:endParaRPr lang="en-US" sz="1600" dirty="0"/>
          </a:p>
        </p:txBody>
      </p:sp>
      <p:sp>
        <p:nvSpPr>
          <p:cNvPr id="4" name="Text 2"/>
          <p:cNvSpPr/>
          <p:nvPr/>
        </p:nvSpPr>
        <p:spPr>
          <a:xfrm>
            <a:off x="381000" y="1104900"/>
            <a:ext cx="11515725" cy="266700"/>
          </a:xfrm>
          <a:prstGeom prst="rect">
            <a:avLst/>
          </a:prstGeom>
          <a:noFill/>
          <a:ln/>
        </p:spPr>
        <p:txBody>
          <a:bodyPr wrap="square" lIns="0" tIns="0" rIns="0" bIns="0" rtlCol="0" anchor="ctr"/>
          <a:lstStyle/>
          <a:p>
            <a:pPr>
              <a:lnSpc>
                <a:spcPct val="130000"/>
              </a:lnSpc>
            </a:pPr>
            <a:r>
              <a:rPr lang="en-US" sz="1350" dirty="0">
                <a:solidFill>
                  <a:srgbClr val="6C757D"/>
                </a:solidFill>
                <a:latin typeface="Liter" pitchFamily="34" charset="0"/>
                <a:ea typeface="Liter" pitchFamily="34" charset="-122"/>
                <a:cs typeface="Liter" pitchFamily="34" charset="-120"/>
              </a:rPr>
              <a:t>Comment les fuites invisibles érodent votre acquisition patient</a:t>
            </a:r>
            <a:endParaRPr lang="en-US" sz="1600" dirty="0"/>
          </a:p>
        </p:txBody>
      </p:sp>
      <p:sp>
        <p:nvSpPr>
          <p:cNvPr id="5" name="Shape 3"/>
          <p:cNvSpPr/>
          <p:nvPr/>
        </p:nvSpPr>
        <p:spPr>
          <a:xfrm>
            <a:off x="381000" y="1524000"/>
            <a:ext cx="11430000" cy="1828800"/>
          </a:xfrm>
          <a:custGeom>
            <a:avLst/>
            <a:gdLst/>
            <a:ahLst/>
            <a:cxnLst/>
            <a:rect l="l" t="t" r="r" b="b"/>
            <a:pathLst>
              <a:path w="11430000" h="1828800">
                <a:moveTo>
                  <a:pt x="152394" y="0"/>
                </a:moveTo>
                <a:lnTo>
                  <a:pt x="11277606" y="0"/>
                </a:lnTo>
                <a:cubicBezTo>
                  <a:pt x="11361771" y="0"/>
                  <a:pt x="11430000" y="68229"/>
                  <a:pt x="11430000" y="152394"/>
                </a:cubicBezTo>
                <a:lnTo>
                  <a:pt x="11430000" y="1676406"/>
                </a:lnTo>
                <a:cubicBezTo>
                  <a:pt x="11430000" y="1760571"/>
                  <a:pt x="11361771" y="1828800"/>
                  <a:pt x="11277606" y="1828800"/>
                </a:cubicBezTo>
                <a:lnTo>
                  <a:pt x="152394" y="1828800"/>
                </a:lnTo>
                <a:cubicBezTo>
                  <a:pt x="68229" y="1828800"/>
                  <a:pt x="0" y="1760571"/>
                  <a:pt x="0" y="1676406"/>
                </a:cubicBezTo>
                <a:lnTo>
                  <a:pt x="0" y="152394"/>
                </a:lnTo>
                <a:cubicBezTo>
                  <a:pt x="0" y="68285"/>
                  <a:pt x="68285" y="0"/>
                  <a:pt x="152394" y="0"/>
                </a:cubicBezTo>
                <a:close/>
              </a:path>
            </a:pathLst>
          </a:custGeom>
          <a:solidFill>
            <a:srgbClr val="1A3A52"/>
          </a:solidFill>
          <a:ln/>
        </p:spPr>
      </p:sp>
      <p:sp>
        <p:nvSpPr>
          <p:cNvPr id="6" name="Shape 4"/>
          <p:cNvSpPr/>
          <p:nvPr/>
        </p:nvSpPr>
        <p:spPr>
          <a:xfrm>
            <a:off x="3547616" y="1771650"/>
            <a:ext cx="723900" cy="723900"/>
          </a:xfrm>
          <a:custGeom>
            <a:avLst/>
            <a:gdLst/>
            <a:ahLst/>
            <a:cxnLst/>
            <a:rect l="l" t="t" r="r" b="b"/>
            <a:pathLst>
              <a:path w="723900" h="723900">
                <a:moveTo>
                  <a:pt x="361950" y="0"/>
                </a:moveTo>
                <a:lnTo>
                  <a:pt x="361950" y="0"/>
                </a:lnTo>
                <a:cubicBezTo>
                  <a:pt x="561716" y="0"/>
                  <a:pt x="723900" y="162184"/>
                  <a:pt x="723900" y="361950"/>
                </a:cubicBezTo>
                <a:lnTo>
                  <a:pt x="723900" y="361950"/>
                </a:lnTo>
                <a:cubicBezTo>
                  <a:pt x="723900" y="561716"/>
                  <a:pt x="561716" y="723900"/>
                  <a:pt x="361950" y="723900"/>
                </a:cubicBezTo>
                <a:lnTo>
                  <a:pt x="361950" y="723900"/>
                </a:lnTo>
                <a:cubicBezTo>
                  <a:pt x="162184" y="723900"/>
                  <a:pt x="0" y="561716"/>
                  <a:pt x="0" y="361950"/>
                </a:cubicBezTo>
                <a:lnTo>
                  <a:pt x="0" y="361950"/>
                </a:lnTo>
                <a:cubicBezTo>
                  <a:pt x="0" y="162184"/>
                  <a:pt x="162184" y="0"/>
                  <a:pt x="361950" y="0"/>
                </a:cubicBezTo>
                <a:close/>
              </a:path>
            </a:pathLst>
          </a:custGeom>
          <a:solidFill>
            <a:srgbClr val="FB2C36">
              <a:alpha val="20000"/>
            </a:srgbClr>
          </a:solidFill>
          <a:ln w="50800">
            <a:solidFill>
              <a:srgbClr val="FB2C36"/>
            </a:solidFill>
            <a:prstDash val="solid"/>
          </a:ln>
        </p:spPr>
      </p:sp>
      <p:sp>
        <p:nvSpPr>
          <p:cNvPr id="7" name="Shape 5"/>
          <p:cNvSpPr/>
          <p:nvPr/>
        </p:nvSpPr>
        <p:spPr>
          <a:xfrm>
            <a:off x="3751213" y="1990725"/>
            <a:ext cx="321469" cy="285750"/>
          </a:xfrm>
          <a:custGeom>
            <a:avLst/>
            <a:gdLst/>
            <a:ahLst/>
            <a:cxnLst/>
            <a:rect l="l" t="t" r="r" b="b"/>
            <a:pathLst>
              <a:path w="321469" h="285750">
                <a:moveTo>
                  <a:pt x="107156" y="53578"/>
                </a:moveTo>
                <a:cubicBezTo>
                  <a:pt x="107156" y="23999"/>
                  <a:pt x="131155" y="0"/>
                  <a:pt x="160734" y="0"/>
                </a:cubicBezTo>
                <a:cubicBezTo>
                  <a:pt x="190314" y="0"/>
                  <a:pt x="214313" y="23999"/>
                  <a:pt x="214313" y="53578"/>
                </a:cubicBezTo>
                <a:lnTo>
                  <a:pt x="214313" y="55587"/>
                </a:lnTo>
                <a:cubicBezTo>
                  <a:pt x="214313" y="64350"/>
                  <a:pt x="207225" y="71438"/>
                  <a:pt x="198462" y="71438"/>
                </a:cubicBezTo>
                <a:lnTo>
                  <a:pt x="123062" y="71438"/>
                </a:lnTo>
                <a:cubicBezTo>
                  <a:pt x="114300" y="71438"/>
                  <a:pt x="107212" y="64350"/>
                  <a:pt x="107212" y="55587"/>
                </a:cubicBezTo>
                <a:lnTo>
                  <a:pt x="107212" y="53578"/>
                </a:lnTo>
                <a:close/>
                <a:moveTo>
                  <a:pt x="300038" y="60722"/>
                </a:moveTo>
                <a:cubicBezTo>
                  <a:pt x="305953" y="68591"/>
                  <a:pt x="304335" y="79809"/>
                  <a:pt x="296466" y="85725"/>
                </a:cubicBezTo>
                <a:lnTo>
                  <a:pt x="241883" y="126634"/>
                </a:lnTo>
                <a:cubicBezTo>
                  <a:pt x="244841" y="131601"/>
                  <a:pt x="247073" y="137071"/>
                  <a:pt x="248469" y="142875"/>
                </a:cubicBezTo>
                <a:lnTo>
                  <a:pt x="303609" y="142875"/>
                </a:lnTo>
                <a:cubicBezTo>
                  <a:pt x="313488" y="142875"/>
                  <a:pt x="321469" y="150856"/>
                  <a:pt x="321469" y="160734"/>
                </a:cubicBezTo>
                <a:cubicBezTo>
                  <a:pt x="321469" y="170613"/>
                  <a:pt x="313488" y="178594"/>
                  <a:pt x="303609" y="178594"/>
                </a:cubicBezTo>
                <a:lnTo>
                  <a:pt x="250031" y="178594"/>
                </a:lnTo>
                <a:lnTo>
                  <a:pt x="250031" y="196453"/>
                </a:lnTo>
                <a:cubicBezTo>
                  <a:pt x="250031" y="197904"/>
                  <a:pt x="249975" y="199411"/>
                  <a:pt x="249920" y="200862"/>
                </a:cubicBezTo>
                <a:lnTo>
                  <a:pt x="296466" y="235744"/>
                </a:lnTo>
                <a:cubicBezTo>
                  <a:pt x="304335" y="241660"/>
                  <a:pt x="305953" y="252878"/>
                  <a:pt x="300038" y="260747"/>
                </a:cubicBezTo>
                <a:cubicBezTo>
                  <a:pt x="294122" y="268616"/>
                  <a:pt x="282904" y="270235"/>
                  <a:pt x="275034" y="264319"/>
                </a:cubicBezTo>
                <a:lnTo>
                  <a:pt x="239818" y="237920"/>
                </a:lnTo>
                <a:cubicBezTo>
                  <a:pt x="226870" y="262589"/>
                  <a:pt x="202704" y="280448"/>
                  <a:pt x="174129" y="284745"/>
                </a:cubicBezTo>
                <a:lnTo>
                  <a:pt x="174129" y="156270"/>
                </a:lnTo>
                <a:cubicBezTo>
                  <a:pt x="174129" y="148847"/>
                  <a:pt x="168157" y="142875"/>
                  <a:pt x="160734" y="142875"/>
                </a:cubicBezTo>
                <a:cubicBezTo>
                  <a:pt x="153312" y="142875"/>
                  <a:pt x="147340" y="148847"/>
                  <a:pt x="147340" y="156270"/>
                </a:cubicBezTo>
                <a:lnTo>
                  <a:pt x="147340" y="284745"/>
                </a:lnTo>
                <a:cubicBezTo>
                  <a:pt x="118765" y="280448"/>
                  <a:pt x="94599" y="262589"/>
                  <a:pt x="81651" y="237920"/>
                </a:cubicBezTo>
                <a:lnTo>
                  <a:pt x="46434" y="264319"/>
                </a:lnTo>
                <a:cubicBezTo>
                  <a:pt x="38565" y="270235"/>
                  <a:pt x="27347" y="268616"/>
                  <a:pt x="21431" y="260747"/>
                </a:cubicBezTo>
                <a:cubicBezTo>
                  <a:pt x="15515" y="252878"/>
                  <a:pt x="17134" y="241660"/>
                  <a:pt x="25003" y="235744"/>
                </a:cubicBezTo>
                <a:lnTo>
                  <a:pt x="71549" y="200862"/>
                </a:lnTo>
                <a:cubicBezTo>
                  <a:pt x="71493" y="199411"/>
                  <a:pt x="71438" y="197960"/>
                  <a:pt x="71438" y="196453"/>
                </a:cubicBezTo>
                <a:lnTo>
                  <a:pt x="71438" y="178594"/>
                </a:lnTo>
                <a:lnTo>
                  <a:pt x="17859" y="178594"/>
                </a:lnTo>
                <a:cubicBezTo>
                  <a:pt x="7981" y="178594"/>
                  <a:pt x="0" y="170613"/>
                  <a:pt x="0" y="160734"/>
                </a:cubicBezTo>
                <a:cubicBezTo>
                  <a:pt x="0" y="150856"/>
                  <a:pt x="7981" y="142875"/>
                  <a:pt x="17859" y="142875"/>
                </a:cubicBezTo>
                <a:lnTo>
                  <a:pt x="73000" y="142875"/>
                </a:lnTo>
                <a:cubicBezTo>
                  <a:pt x="74395" y="137071"/>
                  <a:pt x="76628" y="131601"/>
                  <a:pt x="79586" y="126634"/>
                </a:cubicBezTo>
                <a:lnTo>
                  <a:pt x="25003" y="85725"/>
                </a:lnTo>
                <a:cubicBezTo>
                  <a:pt x="17134" y="79809"/>
                  <a:pt x="15515" y="68591"/>
                  <a:pt x="21431" y="60722"/>
                </a:cubicBezTo>
                <a:cubicBezTo>
                  <a:pt x="27347" y="52853"/>
                  <a:pt x="38565" y="51234"/>
                  <a:pt x="46434" y="57150"/>
                </a:cubicBezTo>
                <a:lnTo>
                  <a:pt x="107156" y="102691"/>
                </a:lnTo>
                <a:cubicBezTo>
                  <a:pt x="114021" y="99845"/>
                  <a:pt x="121555" y="98227"/>
                  <a:pt x="129480" y="98227"/>
                </a:cubicBezTo>
                <a:lnTo>
                  <a:pt x="191988" y="98227"/>
                </a:lnTo>
                <a:cubicBezTo>
                  <a:pt x="199913" y="98227"/>
                  <a:pt x="207448" y="99789"/>
                  <a:pt x="214313" y="102691"/>
                </a:cubicBezTo>
                <a:lnTo>
                  <a:pt x="275034" y="57150"/>
                </a:lnTo>
                <a:cubicBezTo>
                  <a:pt x="282904" y="51234"/>
                  <a:pt x="294122" y="52853"/>
                  <a:pt x="300038" y="60722"/>
                </a:cubicBezTo>
                <a:close/>
              </a:path>
            </a:pathLst>
          </a:custGeom>
          <a:solidFill>
            <a:srgbClr val="FB2C36"/>
          </a:solidFill>
          <a:ln/>
        </p:spPr>
      </p:sp>
      <p:sp>
        <p:nvSpPr>
          <p:cNvPr id="8" name="Text 6"/>
          <p:cNvSpPr/>
          <p:nvPr/>
        </p:nvSpPr>
        <p:spPr>
          <a:xfrm>
            <a:off x="2985864" y="2628900"/>
            <a:ext cx="1847850" cy="2667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Liter" pitchFamily="34" charset="0"/>
                <a:ea typeface="Liter" pitchFamily="34" charset="-122"/>
                <a:cs typeface="Liter" pitchFamily="34" charset="-120"/>
              </a:rPr>
              <a:t>Frictions Techniques</a:t>
            </a:r>
            <a:endParaRPr lang="en-US" sz="1600" dirty="0"/>
          </a:p>
        </p:txBody>
      </p:sp>
      <p:sp>
        <p:nvSpPr>
          <p:cNvPr id="9" name="Text 7"/>
          <p:cNvSpPr/>
          <p:nvPr/>
        </p:nvSpPr>
        <p:spPr>
          <a:xfrm>
            <a:off x="3000152" y="2933700"/>
            <a:ext cx="1819275" cy="190500"/>
          </a:xfrm>
          <a:prstGeom prst="rect">
            <a:avLst/>
          </a:prstGeom>
          <a:noFill/>
          <a:ln/>
        </p:spPr>
        <p:txBody>
          <a:bodyPr wrap="square" lIns="0" tIns="0" rIns="0" bIns="0" rtlCol="0" anchor="ctr"/>
          <a:lstStyle/>
          <a:p>
            <a:pPr algn="ctr">
              <a:lnSpc>
                <a:spcPct val="120000"/>
              </a:lnSpc>
            </a:pPr>
            <a:r>
              <a:rPr lang="en-US" sz="1050" dirty="0">
                <a:solidFill>
                  <a:srgbClr val="F8F9FA">
                    <a:alpha val="70000"/>
                  </a:srgbClr>
                </a:solidFill>
                <a:latin typeface="Liter" pitchFamily="34" charset="0"/>
                <a:ea typeface="Liter" pitchFamily="34" charset="-122"/>
                <a:cs typeface="Liter" pitchFamily="34" charset="-120"/>
              </a:rPr>
              <a:t>LCP, SPF, 404</a:t>
            </a:r>
            <a:endParaRPr lang="en-US" sz="1600" dirty="0"/>
          </a:p>
        </p:txBody>
      </p:sp>
      <p:sp>
        <p:nvSpPr>
          <p:cNvPr id="10" name="Text 8"/>
          <p:cNvSpPr/>
          <p:nvPr/>
        </p:nvSpPr>
        <p:spPr>
          <a:xfrm>
            <a:off x="5014317" y="2209800"/>
            <a:ext cx="485775" cy="457200"/>
          </a:xfrm>
          <a:prstGeom prst="rect">
            <a:avLst/>
          </a:prstGeom>
          <a:noFill/>
          <a:ln/>
        </p:spPr>
        <p:txBody>
          <a:bodyPr wrap="square" lIns="0" tIns="0" rIns="0" bIns="0" rtlCol="0" anchor="ctr"/>
          <a:lstStyle/>
          <a:p>
            <a:pPr>
              <a:lnSpc>
                <a:spcPct val="80000"/>
              </a:lnSpc>
            </a:pPr>
            <a:r>
              <a:rPr lang="en-US" sz="3600" b="1" dirty="0">
                <a:solidFill>
                  <a:srgbClr val="C5A065"/>
                </a:solidFill>
                <a:latin typeface="Liter" pitchFamily="34" charset="0"/>
                <a:ea typeface="Liter" pitchFamily="34" charset="-122"/>
                <a:cs typeface="Liter" pitchFamily="34" charset="-120"/>
              </a:rPr>
              <a:t>+</a:t>
            </a:r>
            <a:endParaRPr lang="en-US" sz="1600" dirty="0"/>
          </a:p>
        </p:txBody>
      </p:sp>
      <p:sp>
        <p:nvSpPr>
          <p:cNvPr id="11" name="Shape 9"/>
          <p:cNvSpPr/>
          <p:nvPr/>
        </p:nvSpPr>
        <p:spPr>
          <a:xfrm>
            <a:off x="5897314" y="1771650"/>
            <a:ext cx="723900" cy="723900"/>
          </a:xfrm>
          <a:custGeom>
            <a:avLst/>
            <a:gdLst/>
            <a:ahLst/>
            <a:cxnLst/>
            <a:rect l="l" t="t" r="r" b="b"/>
            <a:pathLst>
              <a:path w="723900" h="723900">
                <a:moveTo>
                  <a:pt x="361950" y="0"/>
                </a:moveTo>
                <a:lnTo>
                  <a:pt x="361950" y="0"/>
                </a:lnTo>
                <a:cubicBezTo>
                  <a:pt x="561716" y="0"/>
                  <a:pt x="723900" y="162184"/>
                  <a:pt x="723900" y="361950"/>
                </a:cubicBezTo>
                <a:lnTo>
                  <a:pt x="723900" y="361950"/>
                </a:lnTo>
                <a:cubicBezTo>
                  <a:pt x="723900" y="561716"/>
                  <a:pt x="561716" y="723900"/>
                  <a:pt x="361950" y="723900"/>
                </a:cubicBezTo>
                <a:lnTo>
                  <a:pt x="361950" y="723900"/>
                </a:lnTo>
                <a:cubicBezTo>
                  <a:pt x="162184" y="723900"/>
                  <a:pt x="0" y="561716"/>
                  <a:pt x="0" y="361950"/>
                </a:cubicBezTo>
                <a:lnTo>
                  <a:pt x="0" y="361950"/>
                </a:lnTo>
                <a:cubicBezTo>
                  <a:pt x="0" y="162184"/>
                  <a:pt x="162184" y="0"/>
                  <a:pt x="361950" y="0"/>
                </a:cubicBezTo>
                <a:close/>
              </a:path>
            </a:pathLst>
          </a:custGeom>
          <a:solidFill>
            <a:srgbClr val="FF6900">
              <a:alpha val="20000"/>
            </a:srgbClr>
          </a:solidFill>
          <a:ln w="50800">
            <a:solidFill>
              <a:srgbClr val="FF6900"/>
            </a:solidFill>
            <a:prstDash val="solid"/>
          </a:ln>
        </p:spPr>
      </p:sp>
      <p:sp>
        <p:nvSpPr>
          <p:cNvPr id="12" name="Shape 10"/>
          <p:cNvSpPr/>
          <p:nvPr/>
        </p:nvSpPr>
        <p:spPr>
          <a:xfrm>
            <a:off x="6100911" y="1990725"/>
            <a:ext cx="321469" cy="285750"/>
          </a:xfrm>
          <a:custGeom>
            <a:avLst/>
            <a:gdLst/>
            <a:ahLst/>
            <a:cxnLst/>
            <a:rect l="l" t="t" r="r" b="b"/>
            <a:pathLst>
              <a:path w="321469" h="285750">
                <a:moveTo>
                  <a:pt x="22882" y="-13897"/>
                </a:moveTo>
                <a:cubicBezTo>
                  <a:pt x="17636" y="-19143"/>
                  <a:pt x="9153" y="-19143"/>
                  <a:pt x="3963" y="-13897"/>
                </a:cubicBezTo>
                <a:cubicBezTo>
                  <a:pt x="-1228" y="-8651"/>
                  <a:pt x="-1284" y="-167"/>
                  <a:pt x="3907" y="5079"/>
                </a:cubicBezTo>
                <a:lnTo>
                  <a:pt x="298586" y="299758"/>
                </a:lnTo>
                <a:cubicBezTo>
                  <a:pt x="303833" y="305005"/>
                  <a:pt x="312316" y="305005"/>
                  <a:pt x="317506" y="299758"/>
                </a:cubicBezTo>
                <a:cubicBezTo>
                  <a:pt x="322697" y="294512"/>
                  <a:pt x="322752" y="286029"/>
                  <a:pt x="317506" y="280839"/>
                </a:cubicBezTo>
                <a:lnTo>
                  <a:pt x="263705" y="227037"/>
                </a:lnTo>
                <a:cubicBezTo>
                  <a:pt x="265212" y="225698"/>
                  <a:pt x="266719" y="224358"/>
                  <a:pt x="268170" y="223019"/>
                </a:cubicBezTo>
                <a:cubicBezTo>
                  <a:pt x="294289" y="198741"/>
                  <a:pt x="311758" y="169776"/>
                  <a:pt x="320073" y="149851"/>
                </a:cubicBezTo>
                <a:cubicBezTo>
                  <a:pt x="321915" y="145442"/>
                  <a:pt x="321915" y="140531"/>
                  <a:pt x="320073" y="136122"/>
                </a:cubicBezTo>
                <a:cubicBezTo>
                  <a:pt x="311758" y="116198"/>
                  <a:pt x="294289" y="87176"/>
                  <a:pt x="268170" y="62954"/>
                </a:cubicBezTo>
                <a:cubicBezTo>
                  <a:pt x="241883" y="38565"/>
                  <a:pt x="205773" y="17971"/>
                  <a:pt x="160679" y="17971"/>
                </a:cubicBezTo>
                <a:cubicBezTo>
                  <a:pt x="128978" y="17971"/>
                  <a:pt x="101743" y="28129"/>
                  <a:pt x="79195" y="42639"/>
                </a:cubicBezTo>
                <a:lnTo>
                  <a:pt x="22882" y="-13897"/>
                </a:lnTo>
                <a:close/>
                <a:moveTo>
                  <a:pt x="114133" y="77409"/>
                </a:moveTo>
                <a:cubicBezTo>
                  <a:pt x="127248" y="68033"/>
                  <a:pt x="143377" y="62508"/>
                  <a:pt x="160734" y="62508"/>
                </a:cubicBezTo>
                <a:cubicBezTo>
                  <a:pt x="205104" y="62508"/>
                  <a:pt x="241102" y="98506"/>
                  <a:pt x="241102" y="142875"/>
                </a:cubicBezTo>
                <a:cubicBezTo>
                  <a:pt x="241102" y="160232"/>
                  <a:pt x="235576" y="176306"/>
                  <a:pt x="226200" y="189477"/>
                </a:cubicBezTo>
                <a:lnTo>
                  <a:pt x="206834" y="170111"/>
                </a:lnTo>
                <a:cubicBezTo>
                  <a:pt x="213922" y="158167"/>
                  <a:pt x="216322" y="143489"/>
                  <a:pt x="212471" y="128978"/>
                </a:cubicBezTo>
                <a:cubicBezTo>
                  <a:pt x="204825" y="100403"/>
                  <a:pt x="175413" y="83437"/>
                  <a:pt x="146838" y="91083"/>
                </a:cubicBezTo>
                <a:cubicBezTo>
                  <a:pt x="142038" y="92366"/>
                  <a:pt x="137517" y="94264"/>
                  <a:pt x="133443" y="96664"/>
                </a:cubicBezTo>
                <a:lnTo>
                  <a:pt x="114077" y="77298"/>
                </a:lnTo>
                <a:close/>
                <a:moveTo>
                  <a:pt x="181552" y="220507"/>
                </a:moveTo>
                <a:cubicBezTo>
                  <a:pt x="174910" y="222293"/>
                  <a:pt x="167934" y="223242"/>
                  <a:pt x="160734" y="223242"/>
                </a:cubicBezTo>
                <a:cubicBezTo>
                  <a:pt x="116365" y="223242"/>
                  <a:pt x="80367" y="187244"/>
                  <a:pt x="80367" y="142875"/>
                </a:cubicBezTo>
                <a:cubicBezTo>
                  <a:pt x="80367" y="135675"/>
                  <a:pt x="81316" y="128699"/>
                  <a:pt x="83102" y="122058"/>
                </a:cubicBezTo>
                <a:lnTo>
                  <a:pt x="38733" y="77688"/>
                </a:lnTo>
                <a:cubicBezTo>
                  <a:pt x="20538" y="98227"/>
                  <a:pt x="8037" y="119993"/>
                  <a:pt x="1395" y="136010"/>
                </a:cubicBezTo>
                <a:cubicBezTo>
                  <a:pt x="-446" y="140419"/>
                  <a:pt x="-446" y="145331"/>
                  <a:pt x="1395" y="149740"/>
                </a:cubicBezTo>
                <a:cubicBezTo>
                  <a:pt x="9711" y="169664"/>
                  <a:pt x="27180" y="198686"/>
                  <a:pt x="53299" y="222907"/>
                </a:cubicBezTo>
                <a:cubicBezTo>
                  <a:pt x="79586" y="247297"/>
                  <a:pt x="115695" y="267891"/>
                  <a:pt x="160790" y="267891"/>
                </a:cubicBezTo>
                <a:cubicBezTo>
                  <a:pt x="181608" y="267891"/>
                  <a:pt x="200527" y="263482"/>
                  <a:pt x="217438" y="256394"/>
                </a:cubicBezTo>
                <a:lnTo>
                  <a:pt x="181608" y="220563"/>
                </a:lnTo>
                <a:close/>
              </a:path>
            </a:pathLst>
          </a:custGeom>
          <a:solidFill>
            <a:srgbClr val="FF6900"/>
          </a:solidFill>
          <a:ln/>
        </p:spPr>
      </p:sp>
      <p:sp>
        <p:nvSpPr>
          <p:cNvPr id="13" name="Text 11"/>
          <p:cNvSpPr/>
          <p:nvPr/>
        </p:nvSpPr>
        <p:spPr>
          <a:xfrm>
            <a:off x="5448598" y="2628900"/>
            <a:ext cx="1619250" cy="2667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Liter" pitchFamily="34" charset="0"/>
                <a:ea typeface="Liter" pitchFamily="34" charset="-122"/>
                <a:cs typeface="Liter" pitchFamily="34" charset="-120"/>
              </a:rPr>
              <a:t>Angles Morts SEO</a:t>
            </a:r>
            <a:endParaRPr lang="en-US" sz="1600" dirty="0"/>
          </a:p>
        </p:txBody>
      </p:sp>
      <p:sp>
        <p:nvSpPr>
          <p:cNvPr id="14" name="Text 12"/>
          <p:cNvSpPr/>
          <p:nvPr/>
        </p:nvSpPr>
        <p:spPr>
          <a:xfrm>
            <a:off x="5462885" y="2933700"/>
            <a:ext cx="1590675" cy="190500"/>
          </a:xfrm>
          <a:prstGeom prst="rect">
            <a:avLst/>
          </a:prstGeom>
          <a:noFill/>
          <a:ln/>
        </p:spPr>
        <p:txBody>
          <a:bodyPr wrap="square" lIns="0" tIns="0" rIns="0" bIns="0" rtlCol="0" anchor="ctr"/>
          <a:lstStyle/>
          <a:p>
            <a:pPr algn="ctr">
              <a:lnSpc>
                <a:spcPct val="120000"/>
              </a:lnSpc>
            </a:pPr>
            <a:r>
              <a:rPr lang="en-US" sz="1050" dirty="0">
                <a:solidFill>
                  <a:srgbClr val="F8F9FA">
                    <a:alpha val="70000"/>
                  </a:srgbClr>
                </a:solidFill>
                <a:latin typeface="Liter" pitchFamily="34" charset="0"/>
                <a:ea typeface="Liter" pitchFamily="34" charset="-122"/>
                <a:cs typeface="Liter" pitchFamily="34" charset="-120"/>
              </a:rPr>
              <a:t>Positions 17 &amp; 28</a:t>
            </a:r>
            <a:endParaRPr lang="en-US" sz="1600" dirty="0"/>
          </a:p>
        </p:txBody>
      </p:sp>
      <p:sp>
        <p:nvSpPr>
          <p:cNvPr id="15" name="Text 13"/>
          <p:cNvSpPr/>
          <p:nvPr/>
        </p:nvSpPr>
        <p:spPr>
          <a:xfrm>
            <a:off x="7250981" y="2209800"/>
            <a:ext cx="485775" cy="457200"/>
          </a:xfrm>
          <a:prstGeom prst="rect">
            <a:avLst/>
          </a:prstGeom>
          <a:noFill/>
          <a:ln/>
        </p:spPr>
        <p:txBody>
          <a:bodyPr wrap="square" lIns="0" tIns="0" rIns="0" bIns="0" rtlCol="0" anchor="ctr"/>
          <a:lstStyle/>
          <a:p>
            <a:pPr>
              <a:lnSpc>
                <a:spcPct val="80000"/>
              </a:lnSpc>
            </a:pPr>
            <a:r>
              <a:rPr lang="en-US" sz="3600" b="1" dirty="0">
                <a:solidFill>
                  <a:srgbClr val="C5A065"/>
                </a:solidFill>
                <a:latin typeface="Liter" pitchFamily="34" charset="0"/>
                <a:ea typeface="Liter" pitchFamily="34" charset="-122"/>
                <a:cs typeface="Liter" pitchFamily="34" charset="-120"/>
              </a:rPr>
              <a:t>=</a:t>
            </a:r>
            <a:endParaRPr lang="en-US" sz="1600" dirty="0"/>
          </a:p>
        </p:txBody>
      </p:sp>
      <p:sp>
        <p:nvSpPr>
          <p:cNvPr id="16" name="Shape 14"/>
          <p:cNvSpPr/>
          <p:nvPr/>
        </p:nvSpPr>
        <p:spPr>
          <a:xfrm>
            <a:off x="8083674" y="1771650"/>
            <a:ext cx="723900" cy="723900"/>
          </a:xfrm>
          <a:custGeom>
            <a:avLst/>
            <a:gdLst/>
            <a:ahLst/>
            <a:cxnLst/>
            <a:rect l="l" t="t" r="r" b="b"/>
            <a:pathLst>
              <a:path w="723900" h="723900">
                <a:moveTo>
                  <a:pt x="361950" y="0"/>
                </a:moveTo>
                <a:lnTo>
                  <a:pt x="361950" y="0"/>
                </a:lnTo>
                <a:cubicBezTo>
                  <a:pt x="561716" y="0"/>
                  <a:pt x="723900" y="162184"/>
                  <a:pt x="723900" y="361950"/>
                </a:cubicBezTo>
                <a:lnTo>
                  <a:pt x="723900" y="361950"/>
                </a:lnTo>
                <a:cubicBezTo>
                  <a:pt x="723900" y="561716"/>
                  <a:pt x="561716" y="723900"/>
                  <a:pt x="361950" y="723900"/>
                </a:cubicBezTo>
                <a:lnTo>
                  <a:pt x="361950" y="723900"/>
                </a:lnTo>
                <a:cubicBezTo>
                  <a:pt x="162184" y="723900"/>
                  <a:pt x="0" y="561716"/>
                  <a:pt x="0" y="361950"/>
                </a:cubicBezTo>
                <a:lnTo>
                  <a:pt x="0" y="361950"/>
                </a:lnTo>
                <a:cubicBezTo>
                  <a:pt x="0" y="162184"/>
                  <a:pt x="162184" y="0"/>
                  <a:pt x="361950" y="0"/>
                </a:cubicBezTo>
                <a:close/>
              </a:path>
            </a:pathLst>
          </a:custGeom>
          <a:solidFill>
            <a:srgbClr val="C5A065">
              <a:alpha val="20000"/>
            </a:srgbClr>
          </a:solidFill>
          <a:ln w="50800">
            <a:solidFill>
              <a:srgbClr val="C5A065"/>
            </a:solidFill>
            <a:prstDash val="solid"/>
          </a:ln>
        </p:spPr>
      </p:sp>
      <p:sp>
        <p:nvSpPr>
          <p:cNvPr id="17" name="Shape 15"/>
          <p:cNvSpPr/>
          <p:nvPr/>
        </p:nvSpPr>
        <p:spPr>
          <a:xfrm>
            <a:off x="8287271" y="1990725"/>
            <a:ext cx="321469" cy="285750"/>
          </a:xfrm>
          <a:custGeom>
            <a:avLst/>
            <a:gdLst/>
            <a:ahLst/>
            <a:cxnLst/>
            <a:rect l="l" t="t" r="r" b="b"/>
            <a:pathLst>
              <a:path w="321469" h="285750">
                <a:moveTo>
                  <a:pt x="22882" y="-13897"/>
                </a:moveTo>
                <a:cubicBezTo>
                  <a:pt x="17636" y="-19143"/>
                  <a:pt x="9153" y="-19143"/>
                  <a:pt x="3963" y="-13897"/>
                </a:cubicBezTo>
                <a:cubicBezTo>
                  <a:pt x="-1228" y="-8651"/>
                  <a:pt x="-1284" y="-167"/>
                  <a:pt x="3907" y="5079"/>
                </a:cubicBezTo>
                <a:lnTo>
                  <a:pt x="298586" y="299758"/>
                </a:lnTo>
                <a:cubicBezTo>
                  <a:pt x="303833" y="305005"/>
                  <a:pt x="312316" y="305005"/>
                  <a:pt x="317506" y="299758"/>
                </a:cubicBezTo>
                <a:cubicBezTo>
                  <a:pt x="322697" y="294512"/>
                  <a:pt x="322752" y="286029"/>
                  <a:pt x="317506" y="280839"/>
                </a:cubicBezTo>
                <a:lnTo>
                  <a:pt x="173850" y="137127"/>
                </a:lnTo>
                <a:cubicBezTo>
                  <a:pt x="204546" y="131043"/>
                  <a:pt x="227707" y="103919"/>
                  <a:pt x="227707" y="71438"/>
                </a:cubicBezTo>
                <a:cubicBezTo>
                  <a:pt x="227707" y="34435"/>
                  <a:pt x="197737" y="4465"/>
                  <a:pt x="160734" y="4465"/>
                </a:cubicBezTo>
                <a:cubicBezTo>
                  <a:pt x="128253" y="4465"/>
                  <a:pt x="101129" y="27626"/>
                  <a:pt x="95045" y="58322"/>
                </a:cubicBezTo>
                <a:lnTo>
                  <a:pt x="22882" y="-13897"/>
                </a:lnTo>
                <a:close/>
                <a:moveTo>
                  <a:pt x="131490" y="170445"/>
                </a:moveTo>
                <a:cubicBezTo>
                  <a:pt x="82544" y="176696"/>
                  <a:pt x="44648" y="218498"/>
                  <a:pt x="44648" y="269174"/>
                </a:cubicBezTo>
                <a:cubicBezTo>
                  <a:pt x="44648" y="278327"/>
                  <a:pt x="52071" y="285750"/>
                  <a:pt x="61224" y="285750"/>
                </a:cubicBezTo>
                <a:lnTo>
                  <a:pt x="246794" y="285750"/>
                </a:lnTo>
                <a:lnTo>
                  <a:pt x="131490" y="170445"/>
                </a:lnTo>
                <a:close/>
              </a:path>
            </a:pathLst>
          </a:custGeom>
          <a:solidFill>
            <a:srgbClr val="C5A065"/>
          </a:solidFill>
          <a:ln/>
        </p:spPr>
      </p:sp>
      <p:sp>
        <p:nvSpPr>
          <p:cNvPr id="18" name="Text 16"/>
          <p:cNvSpPr/>
          <p:nvPr/>
        </p:nvSpPr>
        <p:spPr>
          <a:xfrm>
            <a:off x="7685261" y="2628900"/>
            <a:ext cx="1524000" cy="2667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Liter" pitchFamily="34" charset="0"/>
                <a:ea typeface="Liter" pitchFamily="34" charset="-122"/>
                <a:cs typeface="Liter" pitchFamily="34" charset="-120"/>
              </a:rPr>
              <a:t>Perte de Patients</a:t>
            </a:r>
            <a:endParaRPr lang="en-US" sz="1600" dirty="0"/>
          </a:p>
        </p:txBody>
      </p:sp>
      <p:sp>
        <p:nvSpPr>
          <p:cNvPr id="19" name="Text 17"/>
          <p:cNvSpPr/>
          <p:nvPr/>
        </p:nvSpPr>
        <p:spPr>
          <a:xfrm>
            <a:off x="7699549" y="2933700"/>
            <a:ext cx="1495425" cy="190500"/>
          </a:xfrm>
          <a:prstGeom prst="rect">
            <a:avLst/>
          </a:prstGeom>
          <a:noFill/>
          <a:ln/>
        </p:spPr>
        <p:txBody>
          <a:bodyPr wrap="square" lIns="0" tIns="0" rIns="0" bIns="0" rtlCol="0" anchor="ctr"/>
          <a:lstStyle/>
          <a:p>
            <a:pPr algn="ctr">
              <a:lnSpc>
                <a:spcPct val="120000"/>
              </a:lnSpc>
            </a:pPr>
            <a:r>
              <a:rPr lang="en-US" sz="1050" dirty="0">
                <a:solidFill>
                  <a:srgbClr val="F8F9FA">
                    <a:alpha val="70000"/>
                  </a:srgbClr>
                </a:solidFill>
                <a:latin typeface="Liter" pitchFamily="34" charset="0"/>
                <a:ea typeface="Liter" pitchFamily="34" charset="-122"/>
                <a:cs typeface="Liter" pitchFamily="34" charset="-120"/>
              </a:rPr>
              <a:t>Haute Valeur</a:t>
            </a:r>
            <a:endParaRPr lang="en-US" sz="1600" dirty="0"/>
          </a:p>
        </p:txBody>
      </p:sp>
      <p:sp>
        <p:nvSpPr>
          <p:cNvPr id="20" name="Shape 18"/>
          <p:cNvSpPr/>
          <p:nvPr/>
        </p:nvSpPr>
        <p:spPr>
          <a:xfrm>
            <a:off x="400050" y="3505200"/>
            <a:ext cx="11410950" cy="1562100"/>
          </a:xfrm>
          <a:custGeom>
            <a:avLst/>
            <a:gdLst/>
            <a:ahLst/>
            <a:cxnLst/>
            <a:rect l="l" t="t" r="r" b="b"/>
            <a:pathLst>
              <a:path w="11410950" h="1562100">
                <a:moveTo>
                  <a:pt x="0" y="0"/>
                </a:moveTo>
                <a:lnTo>
                  <a:pt x="11296651" y="0"/>
                </a:lnTo>
                <a:cubicBezTo>
                  <a:pt x="11359777" y="0"/>
                  <a:pt x="11410950" y="51173"/>
                  <a:pt x="11410950" y="114299"/>
                </a:cubicBezTo>
                <a:lnTo>
                  <a:pt x="11410950" y="1447801"/>
                </a:lnTo>
                <a:cubicBezTo>
                  <a:pt x="11410950" y="1510927"/>
                  <a:pt x="11359777" y="1562100"/>
                  <a:pt x="11296651" y="1562100"/>
                </a:cubicBezTo>
                <a:lnTo>
                  <a:pt x="0" y="1562100"/>
                </a:lnTo>
                <a:lnTo>
                  <a:pt x="0" y="0"/>
                </a:lnTo>
                <a:close/>
              </a:path>
            </a:pathLst>
          </a:custGeom>
          <a:solidFill>
            <a:srgbClr val="C5A065">
              <a:alpha val="10196"/>
            </a:srgbClr>
          </a:solidFill>
          <a:ln/>
        </p:spPr>
      </p:sp>
      <p:sp>
        <p:nvSpPr>
          <p:cNvPr id="21" name="Shape 19"/>
          <p:cNvSpPr/>
          <p:nvPr/>
        </p:nvSpPr>
        <p:spPr>
          <a:xfrm>
            <a:off x="400050" y="3505200"/>
            <a:ext cx="38100" cy="1562100"/>
          </a:xfrm>
          <a:custGeom>
            <a:avLst/>
            <a:gdLst/>
            <a:ahLst/>
            <a:cxnLst/>
            <a:rect l="l" t="t" r="r" b="b"/>
            <a:pathLst>
              <a:path w="38100" h="1562100">
                <a:moveTo>
                  <a:pt x="0" y="0"/>
                </a:moveTo>
                <a:lnTo>
                  <a:pt x="38100" y="0"/>
                </a:lnTo>
                <a:lnTo>
                  <a:pt x="38100" y="1562100"/>
                </a:lnTo>
                <a:lnTo>
                  <a:pt x="0" y="1562100"/>
                </a:lnTo>
                <a:lnTo>
                  <a:pt x="0" y="0"/>
                </a:lnTo>
                <a:close/>
              </a:path>
            </a:pathLst>
          </a:custGeom>
          <a:solidFill>
            <a:srgbClr val="C5A065"/>
          </a:solidFill>
          <a:ln/>
        </p:spPr>
      </p:sp>
      <p:sp>
        <p:nvSpPr>
          <p:cNvPr id="22" name="Shape 20"/>
          <p:cNvSpPr/>
          <p:nvPr/>
        </p:nvSpPr>
        <p:spPr>
          <a:xfrm>
            <a:off x="683419" y="3733800"/>
            <a:ext cx="214313" cy="285750"/>
          </a:xfrm>
          <a:custGeom>
            <a:avLst/>
            <a:gdLst/>
            <a:ahLst/>
            <a:cxnLst/>
            <a:rect l="l" t="t" r="r" b="b"/>
            <a:pathLst>
              <a:path w="214313" h="285750">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C5A065"/>
          </a:solidFill>
          <a:ln/>
        </p:spPr>
      </p:sp>
      <p:sp>
        <p:nvSpPr>
          <p:cNvPr id="23" name="Text 21"/>
          <p:cNvSpPr/>
          <p:nvPr/>
        </p:nvSpPr>
        <p:spPr>
          <a:xfrm>
            <a:off x="1119188" y="3695700"/>
            <a:ext cx="10601325" cy="266700"/>
          </a:xfrm>
          <a:prstGeom prst="rect">
            <a:avLst/>
          </a:prstGeom>
          <a:noFill/>
          <a:ln/>
        </p:spPr>
        <p:txBody>
          <a:bodyPr wrap="square" lIns="0" tIns="0" rIns="0" bIns="0" rtlCol="0" anchor="ctr"/>
          <a:lstStyle/>
          <a:p>
            <a:pPr>
              <a:lnSpc>
                <a:spcPct val="120000"/>
              </a:lnSpc>
            </a:pPr>
            <a:r>
              <a:rPr lang="en-US" sz="1500" b="1" dirty="0">
                <a:solidFill>
                  <a:srgbClr val="1A3A52"/>
                </a:solidFill>
                <a:latin typeface="Liter" pitchFamily="34" charset="0"/>
                <a:ea typeface="Liter" pitchFamily="34" charset="-122"/>
                <a:cs typeface="Liter" pitchFamily="34" charset="-120"/>
              </a:rPr>
              <a:t>Key Insight</a:t>
            </a:r>
            <a:endParaRPr lang="en-US" sz="1600" dirty="0"/>
          </a:p>
        </p:txBody>
      </p:sp>
      <p:sp>
        <p:nvSpPr>
          <p:cNvPr id="24" name="Text 22"/>
          <p:cNvSpPr/>
          <p:nvPr/>
        </p:nvSpPr>
        <p:spPr>
          <a:xfrm>
            <a:off x="1119188" y="4038600"/>
            <a:ext cx="10591800" cy="838200"/>
          </a:xfrm>
          <a:prstGeom prst="rect">
            <a:avLst/>
          </a:prstGeom>
          <a:noFill/>
          <a:ln/>
        </p:spPr>
        <p:txBody>
          <a:bodyPr wrap="square" lIns="0" tIns="0" rIns="0" bIns="0" rtlCol="0" anchor="ctr"/>
          <a:lstStyle/>
          <a:p>
            <a:pPr>
              <a:lnSpc>
                <a:spcPct val="140000"/>
              </a:lnSpc>
            </a:pPr>
            <a:r>
              <a:rPr lang="en-US" sz="1350" b="1" dirty="0">
                <a:solidFill>
                  <a:srgbClr val="212529"/>
                </a:solidFill>
                <a:latin typeface="Liter" pitchFamily="34" charset="0"/>
                <a:ea typeface="Liter" pitchFamily="34" charset="-122"/>
                <a:cs typeface="Liter" pitchFamily="34" charset="-120"/>
              </a:rPr>
              <a:t>Votre excellence clinique hors ligne n'est pas reflétée par votre infrastructure en ligne.</a:t>
            </a:r>
            <a:pPr>
              <a:lnSpc>
                <a:spcPct val="140000"/>
              </a:lnSpc>
            </a:pPr>
            <a:r>
              <a:rPr lang="en-US" sz="1350" dirty="0">
                <a:solidFill>
                  <a:srgbClr val="212529"/>
                </a:solidFill>
                <a:latin typeface="Liter" pitchFamily="34" charset="0"/>
                <a:ea typeface="Liter" pitchFamily="34" charset="-122"/>
                <a:cs typeface="Liter" pitchFamily="34" charset="-120"/>
              </a:rPr>
              <a:t> Le trafic que vous gagnez est fui avant même d'arriver au formulaire de contact. Chaque seconde de retard, chaque lien brisé, chaque position SEO manquée représente un patient potentiel qui choisit votre concurrent.</a:t>
            </a:r>
            <a:endParaRPr lang="en-US" sz="1600" dirty="0"/>
          </a:p>
        </p:txBody>
      </p:sp>
      <p:sp>
        <p:nvSpPr>
          <p:cNvPr id="25" name="Shape 23"/>
          <p:cNvSpPr/>
          <p:nvPr/>
        </p:nvSpPr>
        <p:spPr>
          <a:xfrm>
            <a:off x="381000" y="5217319"/>
            <a:ext cx="2743200" cy="1295400"/>
          </a:xfrm>
          <a:custGeom>
            <a:avLst/>
            <a:gdLst/>
            <a:ahLst/>
            <a:cxnLst/>
            <a:rect l="l" t="t" r="r" b="b"/>
            <a:pathLst>
              <a:path w="2743200" h="1295400">
                <a:moveTo>
                  <a:pt x="114306" y="0"/>
                </a:moveTo>
                <a:lnTo>
                  <a:pt x="2628894" y="0"/>
                </a:lnTo>
                <a:cubicBezTo>
                  <a:pt x="2692023" y="0"/>
                  <a:pt x="2743200" y="51177"/>
                  <a:pt x="2743200" y="114306"/>
                </a:cubicBezTo>
                <a:lnTo>
                  <a:pt x="2743200" y="1181094"/>
                </a:lnTo>
                <a:cubicBezTo>
                  <a:pt x="2743200" y="1244223"/>
                  <a:pt x="2692023" y="1295400"/>
                  <a:pt x="2628894" y="1295400"/>
                </a:cubicBezTo>
                <a:lnTo>
                  <a:pt x="114306" y="1295400"/>
                </a:lnTo>
                <a:cubicBezTo>
                  <a:pt x="51177" y="1295400"/>
                  <a:pt x="0" y="1244223"/>
                  <a:pt x="0" y="1181094"/>
                </a:cubicBezTo>
                <a:lnTo>
                  <a:pt x="0" y="114306"/>
                </a:lnTo>
                <a:cubicBezTo>
                  <a:pt x="0" y="51219"/>
                  <a:pt x="51219" y="0"/>
                  <a:pt x="114306"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26" name="Text 24"/>
          <p:cNvSpPr/>
          <p:nvPr/>
        </p:nvSpPr>
        <p:spPr>
          <a:xfrm>
            <a:off x="447675" y="5369719"/>
            <a:ext cx="2609850" cy="381000"/>
          </a:xfrm>
          <a:prstGeom prst="rect">
            <a:avLst/>
          </a:prstGeom>
          <a:noFill/>
          <a:ln/>
        </p:spPr>
        <p:txBody>
          <a:bodyPr wrap="square" lIns="0" tIns="0" rIns="0" bIns="0" rtlCol="0" anchor="ctr"/>
          <a:lstStyle/>
          <a:p>
            <a:pPr algn="ctr">
              <a:lnSpc>
                <a:spcPct val="90000"/>
              </a:lnSpc>
            </a:pPr>
            <a:r>
              <a:rPr lang="en-US" sz="2700" b="1" dirty="0">
                <a:solidFill>
                  <a:srgbClr val="1A3A52"/>
                </a:solidFill>
                <a:latin typeface="Liter" pitchFamily="34" charset="0"/>
                <a:ea typeface="Liter" pitchFamily="34" charset="-122"/>
                <a:cs typeface="Liter" pitchFamily="34" charset="-120"/>
              </a:rPr>
              <a:t>77%</a:t>
            </a:r>
            <a:endParaRPr lang="en-US" sz="1600" dirty="0"/>
          </a:p>
        </p:txBody>
      </p:sp>
      <p:sp>
        <p:nvSpPr>
          <p:cNvPr id="27" name="Text 25"/>
          <p:cNvSpPr/>
          <p:nvPr/>
        </p:nvSpPr>
        <p:spPr>
          <a:xfrm>
            <a:off x="500063" y="5826919"/>
            <a:ext cx="2505075" cy="381000"/>
          </a:xfrm>
          <a:prstGeom prst="rect">
            <a:avLst/>
          </a:prstGeom>
          <a:noFill/>
          <a:ln/>
        </p:spPr>
        <p:txBody>
          <a:bodyPr wrap="square" lIns="0" tIns="0" rIns="0" bIns="0" rtlCol="0" anchor="ctr"/>
          <a:lstStyle/>
          <a:p>
            <a:pPr algn="ctr">
              <a:lnSpc>
                <a:spcPct val="120000"/>
              </a:lnSpc>
            </a:pPr>
            <a:r>
              <a:rPr lang="en-US" sz="1200" dirty="0">
                <a:solidFill>
                  <a:srgbClr val="6C757D"/>
                </a:solidFill>
                <a:latin typeface="Liter" pitchFamily="34" charset="0"/>
                <a:ea typeface="Liter" pitchFamily="34" charset="-122"/>
                <a:cs typeface="Liter" pitchFamily="34" charset="-120"/>
              </a:rPr>
              <a:t>des patients recherchent en ligne avant de réserver</a:t>
            </a:r>
            <a:endParaRPr lang="en-US" sz="1600" dirty="0"/>
          </a:p>
        </p:txBody>
      </p:sp>
      <p:sp>
        <p:nvSpPr>
          <p:cNvPr id="28" name="Shape 26"/>
          <p:cNvSpPr/>
          <p:nvPr/>
        </p:nvSpPr>
        <p:spPr>
          <a:xfrm>
            <a:off x="533400" y="6284119"/>
            <a:ext cx="2438400" cy="76200"/>
          </a:xfrm>
          <a:custGeom>
            <a:avLst/>
            <a:gdLst/>
            <a:ahLst/>
            <a:cxnLst/>
            <a:rect l="l" t="t" r="r" b="b"/>
            <a:pathLst>
              <a:path w="2438400" h="76200">
                <a:moveTo>
                  <a:pt x="38100" y="0"/>
                </a:moveTo>
                <a:lnTo>
                  <a:pt x="2400300" y="0"/>
                </a:lnTo>
                <a:cubicBezTo>
                  <a:pt x="2421328" y="0"/>
                  <a:pt x="2438400" y="17072"/>
                  <a:pt x="2438400" y="38100"/>
                </a:cubicBezTo>
                <a:lnTo>
                  <a:pt x="2438400" y="38100"/>
                </a:lnTo>
                <a:cubicBezTo>
                  <a:pt x="2438400" y="59128"/>
                  <a:pt x="2421328" y="76200"/>
                  <a:pt x="240030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29" name="Shape 27"/>
          <p:cNvSpPr/>
          <p:nvPr/>
        </p:nvSpPr>
        <p:spPr>
          <a:xfrm>
            <a:off x="533400" y="6284119"/>
            <a:ext cx="1876425" cy="76200"/>
          </a:xfrm>
          <a:custGeom>
            <a:avLst/>
            <a:gdLst/>
            <a:ahLst/>
            <a:cxnLst/>
            <a:rect l="l" t="t" r="r" b="b"/>
            <a:pathLst>
              <a:path w="1876425" h="76200">
                <a:moveTo>
                  <a:pt x="38100" y="0"/>
                </a:moveTo>
                <a:lnTo>
                  <a:pt x="1838325" y="0"/>
                </a:lnTo>
                <a:cubicBezTo>
                  <a:pt x="1859353" y="0"/>
                  <a:pt x="1876425" y="17072"/>
                  <a:pt x="1876425" y="38100"/>
                </a:cubicBezTo>
                <a:lnTo>
                  <a:pt x="1876425" y="38100"/>
                </a:lnTo>
                <a:cubicBezTo>
                  <a:pt x="1876425" y="59128"/>
                  <a:pt x="1859353" y="76200"/>
                  <a:pt x="1838325" y="76200"/>
                </a:cubicBezTo>
                <a:lnTo>
                  <a:pt x="38100" y="76200"/>
                </a:lnTo>
                <a:cubicBezTo>
                  <a:pt x="17072" y="76200"/>
                  <a:pt x="0" y="59128"/>
                  <a:pt x="0" y="38100"/>
                </a:cubicBezTo>
                <a:lnTo>
                  <a:pt x="0" y="38100"/>
                </a:lnTo>
                <a:cubicBezTo>
                  <a:pt x="0" y="17072"/>
                  <a:pt x="17072" y="0"/>
                  <a:pt x="38100" y="0"/>
                </a:cubicBezTo>
                <a:close/>
              </a:path>
            </a:pathLst>
          </a:custGeom>
          <a:solidFill>
            <a:srgbClr val="1A3A52"/>
          </a:solidFill>
          <a:ln/>
        </p:spPr>
      </p:sp>
      <p:sp>
        <p:nvSpPr>
          <p:cNvPr id="30" name="Shape 28"/>
          <p:cNvSpPr/>
          <p:nvPr/>
        </p:nvSpPr>
        <p:spPr>
          <a:xfrm>
            <a:off x="3276600" y="5217319"/>
            <a:ext cx="2743200" cy="1295400"/>
          </a:xfrm>
          <a:custGeom>
            <a:avLst/>
            <a:gdLst/>
            <a:ahLst/>
            <a:cxnLst/>
            <a:rect l="l" t="t" r="r" b="b"/>
            <a:pathLst>
              <a:path w="2743200" h="1295400">
                <a:moveTo>
                  <a:pt x="114306" y="0"/>
                </a:moveTo>
                <a:lnTo>
                  <a:pt x="2628894" y="0"/>
                </a:lnTo>
                <a:cubicBezTo>
                  <a:pt x="2692023" y="0"/>
                  <a:pt x="2743200" y="51177"/>
                  <a:pt x="2743200" y="114306"/>
                </a:cubicBezTo>
                <a:lnTo>
                  <a:pt x="2743200" y="1181094"/>
                </a:lnTo>
                <a:cubicBezTo>
                  <a:pt x="2743200" y="1244223"/>
                  <a:pt x="2692023" y="1295400"/>
                  <a:pt x="2628894" y="1295400"/>
                </a:cubicBezTo>
                <a:lnTo>
                  <a:pt x="114306" y="1295400"/>
                </a:lnTo>
                <a:cubicBezTo>
                  <a:pt x="51177" y="1295400"/>
                  <a:pt x="0" y="1244223"/>
                  <a:pt x="0" y="1181094"/>
                </a:cubicBezTo>
                <a:lnTo>
                  <a:pt x="0" y="114306"/>
                </a:lnTo>
                <a:cubicBezTo>
                  <a:pt x="0" y="51219"/>
                  <a:pt x="51219" y="0"/>
                  <a:pt x="114306"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31" name="Text 29"/>
          <p:cNvSpPr/>
          <p:nvPr/>
        </p:nvSpPr>
        <p:spPr>
          <a:xfrm>
            <a:off x="3343275" y="5369719"/>
            <a:ext cx="2609850" cy="381000"/>
          </a:xfrm>
          <a:prstGeom prst="rect">
            <a:avLst/>
          </a:prstGeom>
          <a:noFill/>
          <a:ln/>
        </p:spPr>
        <p:txBody>
          <a:bodyPr wrap="square" lIns="0" tIns="0" rIns="0" bIns="0" rtlCol="0" anchor="ctr"/>
          <a:lstStyle/>
          <a:p>
            <a:pPr algn="ctr">
              <a:lnSpc>
                <a:spcPct val="90000"/>
              </a:lnSpc>
            </a:pPr>
            <a:r>
              <a:rPr lang="en-US" sz="2700" b="1" dirty="0">
                <a:solidFill>
                  <a:srgbClr val="C5A065"/>
                </a:solidFill>
                <a:latin typeface="Liter" pitchFamily="34" charset="0"/>
                <a:ea typeface="Liter" pitchFamily="34" charset="-122"/>
                <a:cs typeface="Liter" pitchFamily="34" charset="-120"/>
              </a:rPr>
              <a:t>68%</a:t>
            </a:r>
            <a:endParaRPr lang="en-US" sz="1600" dirty="0"/>
          </a:p>
        </p:txBody>
      </p:sp>
      <p:sp>
        <p:nvSpPr>
          <p:cNvPr id="32" name="Text 30"/>
          <p:cNvSpPr/>
          <p:nvPr/>
        </p:nvSpPr>
        <p:spPr>
          <a:xfrm>
            <a:off x="3395663" y="5826919"/>
            <a:ext cx="2505075" cy="190500"/>
          </a:xfrm>
          <a:prstGeom prst="rect">
            <a:avLst/>
          </a:prstGeom>
          <a:noFill/>
          <a:ln/>
        </p:spPr>
        <p:txBody>
          <a:bodyPr wrap="square" lIns="0" tIns="0" rIns="0" bIns="0" rtlCol="0" anchor="ctr"/>
          <a:lstStyle/>
          <a:p>
            <a:pPr algn="ctr">
              <a:lnSpc>
                <a:spcPct val="120000"/>
              </a:lnSpc>
            </a:pPr>
            <a:r>
              <a:rPr lang="en-US" sz="1050" dirty="0">
                <a:solidFill>
                  <a:srgbClr val="6C757D"/>
                </a:solidFill>
                <a:latin typeface="Liter" pitchFamily="34" charset="0"/>
                <a:ea typeface="Liter" pitchFamily="34" charset="-122"/>
                <a:cs typeface="Liter" pitchFamily="34" charset="-120"/>
              </a:rPr>
              <a:t>sont influencés par les avis en ligne</a:t>
            </a:r>
            <a:endParaRPr lang="en-US" sz="1600" dirty="0"/>
          </a:p>
        </p:txBody>
      </p:sp>
      <p:sp>
        <p:nvSpPr>
          <p:cNvPr id="33" name="Shape 31"/>
          <p:cNvSpPr/>
          <p:nvPr/>
        </p:nvSpPr>
        <p:spPr>
          <a:xfrm>
            <a:off x="3429000" y="6093619"/>
            <a:ext cx="2438400" cy="76200"/>
          </a:xfrm>
          <a:custGeom>
            <a:avLst/>
            <a:gdLst/>
            <a:ahLst/>
            <a:cxnLst/>
            <a:rect l="l" t="t" r="r" b="b"/>
            <a:pathLst>
              <a:path w="2438400" h="76200">
                <a:moveTo>
                  <a:pt x="38100" y="0"/>
                </a:moveTo>
                <a:lnTo>
                  <a:pt x="2400300" y="0"/>
                </a:lnTo>
                <a:cubicBezTo>
                  <a:pt x="2421328" y="0"/>
                  <a:pt x="2438400" y="17072"/>
                  <a:pt x="2438400" y="38100"/>
                </a:cubicBezTo>
                <a:lnTo>
                  <a:pt x="2438400" y="38100"/>
                </a:lnTo>
                <a:cubicBezTo>
                  <a:pt x="2438400" y="59128"/>
                  <a:pt x="2421328" y="76200"/>
                  <a:pt x="240030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34" name="Shape 32"/>
          <p:cNvSpPr/>
          <p:nvPr/>
        </p:nvSpPr>
        <p:spPr>
          <a:xfrm>
            <a:off x="3429000" y="6093619"/>
            <a:ext cx="1657350" cy="76200"/>
          </a:xfrm>
          <a:custGeom>
            <a:avLst/>
            <a:gdLst/>
            <a:ahLst/>
            <a:cxnLst/>
            <a:rect l="l" t="t" r="r" b="b"/>
            <a:pathLst>
              <a:path w="1657350" h="76200">
                <a:moveTo>
                  <a:pt x="38100" y="0"/>
                </a:moveTo>
                <a:lnTo>
                  <a:pt x="1619250" y="0"/>
                </a:lnTo>
                <a:cubicBezTo>
                  <a:pt x="1640278" y="0"/>
                  <a:pt x="1657350" y="17072"/>
                  <a:pt x="1657350" y="38100"/>
                </a:cubicBezTo>
                <a:lnTo>
                  <a:pt x="1657350" y="38100"/>
                </a:lnTo>
                <a:cubicBezTo>
                  <a:pt x="1657350" y="59128"/>
                  <a:pt x="1640278" y="76200"/>
                  <a:pt x="1619250" y="76200"/>
                </a:cubicBezTo>
                <a:lnTo>
                  <a:pt x="38100" y="76200"/>
                </a:lnTo>
                <a:cubicBezTo>
                  <a:pt x="17072" y="76200"/>
                  <a:pt x="0" y="59128"/>
                  <a:pt x="0" y="38100"/>
                </a:cubicBezTo>
                <a:lnTo>
                  <a:pt x="0" y="38100"/>
                </a:lnTo>
                <a:cubicBezTo>
                  <a:pt x="0" y="17072"/>
                  <a:pt x="17072" y="0"/>
                  <a:pt x="38100" y="0"/>
                </a:cubicBezTo>
                <a:close/>
              </a:path>
            </a:pathLst>
          </a:custGeom>
          <a:solidFill>
            <a:srgbClr val="C5A065"/>
          </a:solidFill>
          <a:ln/>
        </p:spPr>
      </p:sp>
      <p:sp>
        <p:nvSpPr>
          <p:cNvPr id="35" name="Shape 33"/>
          <p:cNvSpPr/>
          <p:nvPr/>
        </p:nvSpPr>
        <p:spPr>
          <a:xfrm>
            <a:off x="6172200" y="5217319"/>
            <a:ext cx="2743200" cy="1295400"/>
          </a:xfrm>
          <a:custGeom>
            <a:avLst/>
            <a:gdLst/>
            <a:ahLst/>
            <a:cxnLst/>
            <a:rect l="l" t="t" r="r" b="b"/>
            <a:pathLst>
              <a:path w="2743200" h="1295400">
                <a:moveTo>
                  <a:pt x="114306" y="0"/>
                </a:moveTo>
                <a:lnTo>
                  <a:pt x="2628894" y="0"/>
                </a:lnTo>
                <a:cubicBezTo>
                  <a:pt x="2692023" y="0"/>
                  <a:pt x="2743200" y="51177"/>
                  <a:pt x="2743200" y="114306"/>
                </a:cubicBezTo>
                <a:lnTo>
                  <a:pt x="2743200" y="1181094"/>
                </a:lnTo>
                <a:cubicBezTo>
                  <a:pt x="2743200" y="1244223"/>
                  <a:pt x="2692023" y="1295400"/>
                  <a:pt x="2628894" y="1295400"/>
                </a:cubicBezTo>
                <a:lnTo>
                  <a:pt x="114306" y="1295400"/>
                </a:lnTo>
                <a:cubicBezTo>
                  <a:pt x="51177" y="1295400"/>
                  <a:pt x="0" y="1244223"/>
                  <a:pt x="0" y="1181094"/>
                </a:cubicBezTo>
                <a:lnTo>
                  <a:pt x="0" y="114306"/>
                </a:lnTo>
                <a:cubicBezTo>
                  <a:pt x="0" y="51219"/>
                  <a:pt x="51219" y="0"/>
                  <a:pt x="114306"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36" name="Text 34"/>
          <p:cNvSpPr/>
          <p:nvPr/>
        </p:nvSpPr>
        <p:spPr>
          <a:xfrm>
            <a:off x="6238875" y="5369719"/>
            <a:ext cx="2609850" cy="381000"/>
          </a:xfrm>
          <a:prstGeom prst="rect">
            <a:avLst/>
          </a:prstGeom>
          <a:noFill/>
          <a:ln/>
        </p:spPr>
        <p:txBody>
          <a:bodyPr wrap="square" lIns="0" tIns="0" rIns="0" bIns="0" rtlCol="0" anchor="ctr"/>
          <a:lstStyle/>
          <a:p>
            <a:pPr algn="ctr">
              <a:lnSpc>
                <a:spcPct val="90000"/>
              </a:lnSpc>
            </a:pPr>
            <a:r>
              <a:rPr lang="en-US" sz="2700" b="1" dirty="0">
                <a:solidFill>
                  <a:srgbClr val="E7000B"/>
                </a:solidFill>
                <a:latin typeface="Liter" pitchFamily="34" charset="0"/>
                <a:ea typeface="Liter" pitchFamily="34" charset="-122"/>
                <a:cs typeface="Liter" pitchFamily="34" charset="-120"/>
              </a:rPr>
              <a:t>70%</a:t>
            </a:r>
            <a:endParaRPr lang="en-US" sz="1600" dirty="0"/>
          </a:p>
        </p:txBody>
      </p:sp>
      <p:sp>
        <p:nvSpPr>
          <p:cNvPr id="37" name="Text 35"/>
          <p:cNvSpPr/>
          <p:nvPr/>
        </p:nvSpPr>
        <p:spPr>
          <a:xfrm>
            <a:off x="6291263" y="5826919"/>
            <a:ext cx="2505075" cy="190500"/>
          </a:xfrm>
          <a:prstGeom prst="rect">
            <a:avLst/>
          </a:prstGeom>
          <a:noFill/>
          <a:ln/>
        </p:spPr>
        <p:txBody>
          <a:bodyPr wrap="square" lIns="0" tIns="0" rIns="0" bIns="0" rtlCol="0" anchor="ctr"/>
          <a:lstStyle/>
          <a:p>
            <a:pPr algn="ctr">
              <a:lnSpc>
                <a:spcPct val="120000"/>
              </a:lnSpc>
            </a:pPr>
            <a:r>
              <a:rPr lang="en-US" sz="1050" dirty="0">
                <a:solidFill>
                  <a:srgbClr val="6C757D"/>
                </a:solidFill>
                <a:latin typeface="Liter" pitchFamily="34" charset="0"/>
                <a:ea typeface="Liter" pitchFamily="34" charset="-122"/>
                <a:cs typeface="Liter" pitchFamily="34" charset="-120"/>
              </a:rPr>
              <a:t>ne reviennent jamais après une 404</a:t>
            </a:r>
            <a:endParaRPr lang="en-US" sz="1600" dirty="0"/>
          </a:p>
        </p:txBody>
      </p:sp>
      <p:sp>
        <p:nvSpPr>
          <p:cNvPr id="38" name="Shape 36"/>
          <p:cNvSpPr/>
          <p:nvPr/>
        </p:nvSpPr>
        <p:spPr>
          <a:xfrm>
            <a:off x="6324600" y="6093619"/>
            <a:ext cx="2438400" cy="76200"/>
          </a:xfrm>
          <a:custGeom>
            <a:avLst/>
            <a:gdLst/>
            <a:ahLst/>
            <a:cxnLst/>
            <a:rect l="l" t="t" r="r" b="b"/>
            <a:pathLst>
              <a:path w="2438400" h="76200">
                <a:moveTo>
                  <a:pt x="38100" y="0"/>
                </a:moveTo>
                <a:lnTo>
                  <a:pt x="2400300" y="0"/>
                </a:lnTo>
                <a:cubicBezTo>
                  <a:pt x="2421328" y="0"/>
                  <a:pt x="2438400" y="17072"/>
                  <a:pt x="2438400" y="38100"/>
                </a:cubicBezTo>
                <a:lnTo>
                  <a:pt x="2438400" y="38100"/>
                </a:lnTo>
                <a:cubicBezTo>
                  <a:pt x="2438400" y="59128"/>
                  <a:pt x="2421328" y="76200"/>
                  <a:pt x="240030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39" name="Shape 37"/>
          <p:cNvSpPr/>
          <p:nvPr/>
        </p:nvSpPr>
        <p:spPr>
          <a:xfrm>
            <a:off x="6324600" y="6093619"/>
            <a:ext cx="1704975" cy="76200"/>
          </a:xfrm>
          <a:custGeom>
            <a:avLst/>
            <a:gdLst/>
            <a:ahLst/>
            <a:cxnLst/>
            <a:rect l="l" t="t" r="r" b="b"/>
            <a:pathLst>
              <a:path w="1704975" h="76200">
                <a:moveTo>
                  <a:pt x="38100" y="0"/>
                </a:moveTo>
                <a:lnTo>
                  <a:pt x="1666875" y="0"/>
                </a:lnTo>
                <a:cubicBezTo>
                  <a:pt x="1687903" y="0"/>
                  <a:pt x="1704975" y="17072"/>
                  <a:pt x="1704975" y="38100"/>
                </a:cubicBezTo>
                <a:lnTo>
                  <a:pt x="1704975" y="38100"/>
                </a:lnTo>
                <a:cubicBezTo>
                  <a:pt x="1704975" y="59128"/>
                  <a:pt x="1687903" y="76200"/>
                  <a:pt x="1666875" y="76200"/>
                </a:cubicBezTo>
                <a:lnTo>
                  <a:pt x="38100" y="76200"/>
                </a:lnTo>
                <a:cubicBezTo>
                  <a:pt x="17072" y="76200"/>
                  <a:pt x="0" y="59128"/>
                  <a:pt x="0" y="38100"/>
                </a:cubicBezTo>
                <a:lnTo>
                  <a:pt x="0" y="38100"/>
                </a:lnTo>
                <a:cubicBezTo>
                  <a:pt x="0" y="17072"/>
                  <a:pt x="17072" y="0"/>
                  <a:pt x="38100" y="0"/>
                </a:cubicBezTo>
                <a:close/>
              </a:path>
            </a:pathLst>
          </a:custGeom>
          <a:solidFill>
            <a:srgbClr val="E7000B"/>
          </a:solidFill>
          <a:ln/>
        </p:spPr>
      </p:sp>
      <p:sp>
        <p:nvSpPr>
          <p:cNvPr id="40" name="Shape 38"/>
          <p:cNvSpPr/>
          <p:nvPr/>
        </p:nvSpPr>
        <p:spPr>
          <a:xfrm>
            <a:off x="9067800" y="5217319"/>
            <a:ext cx="2743200" cy="1295400"/>
          </a:xfrm>
          <a:custGeom>
            <a:avLst/>
            <a:gdLst/>
            <a:ahLst/>
            <a:cxnLst/>
            <a:rect l="l" t="t" r="r" b="b"/>
            <a:pathLst>
              <a:path w="2743200" h="1295400">
                <a:moveTo>
                  <a:pt x="114306" y="0"/>
                </a:moveTo>
                <a:lnTo>
                  <a:pt x="2628894" y="0"/>
                </a:lnTo>
                <a:cubicBezTo>
                  <a:pt x="2692023" y="0"/>
                  <a:pt x="2743200" y="51177"/>
                  <a:pt x="2743200" y="114306"/>
                </a:cubicBezTo>
                <a:lnTo>
                  <a:pt x="2743200" y="1181094"/>
                </a:lnTo>
                <a:cubicBezTo>
                  <a:pt x="2743200" y="1244223"/>
                  <a:pt x="2692023" y="1295400"/>
                  <a:pt x="2628894" y="1295400"/>
                </a:cubicBezTo>
                <a:lnTo>
                  <a:pt x="114306" y="1295400"/>
                </a:lnTo>
                <a:cubicBezTo>
                  <a:pt x="51177" y="1295400"/>
                  <a:pt x="0" y="1244223"/>
                  <a:pt x="0" y="1181094"/>
                </a:cubicBezTo>
                <a:lnTo>
                  <a:pt x="0" y="114306"/>
                </a:lnTo>
                <a:cubicBezTo>
                  <a:pt x="0" y="51219"/>
                  <a:pt x="51219" y="0"/>
                  <a:pt x="114306"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41" name="Text 39"/>
          <p:cNvSpPr/>
          <p:nvPr/>
        </p:nvSpPr>
        <p:spPr>
          <a:xfrm>
            <a:off x="9134475" y="5369719"/>
            <a:ext cx="2609850" cy="381000"/>
          </a:xfrm>
          <a:prstGeom prst="rect">
            <a:avLst/>
          </a:prstGeom>
          <a:noFill/>
          <a:ln/>
        </p:spPr>
        <p:txBody>
          <a:bodyPr wrap="square" lIns="0" tIns="0" rIns="0" bIns="0" rtlCol="0" anchor="ctr"/>
          <a:lstStyle/>
          <a:p>
            <a:pPr algn="ctr">
              <a:lnSpc>
                <a:spcPct val="90000"/>
              </a:lnSpc>
            </a:pPr>
            <a:r>
              <a:rPr lang="en-US" sz="2700" b="1" dirty="0">
                <a:solidFill>
                  <a:srgbClr val="F54900"/>
                </a:solidFill>
                <a:latin typeface="Liter" pitchFamily="34" charset="0"/>
                <a:ea typeface="Liter" pitchFamily="34" charset="-122"/>
                <a:cs typeface="Liter" pitchFamily="34" charset="-120"/>
              </a:rPr>
              <a:t>-20%</a:t>
            </a:r>
            <a:endParaRPr lang="en-US" sz="1600" dirty="0"/>
          </a:p>
        </p:txBody>
      </p:sp>
      <p:sp>
        <p:nvSpPr>
          <p:cNvPr id="42" name="Text 40"/>
          <p:cNvSpPr/>
          <p:nvPr/>
        </p:nvSpPr>
        <p:spPr>
          <a:xfrm>
            <a:off x="9186863" y="5826919"/>
            <a:ext cx="2505075" cy="190500"/>
          </a:xfrm>
          <a:prstGeom prst="rect">
            <a:avLst/>
          </a:prstGeom>
          <a:noFill/>
          <a:ln/>
        </p:spPr>
        <p:txBody>
          <a:bodyPr wrap="square" lIns="0" tIns="0" rIns="0" bIns="0" rtlCol="0" anchor="ctr"/>
          <a:lstStyle/>
          <a:p>
            <a:pPr algn="ctr">
              <a:lnSpc>
                <a:spcPct val="120000"/>
              </a:lnSpc>
            </a:pPr>
            <a:r>
              <a:rPr lang="en-US" sz="1050" dirty="0">
                <a:solidFill>
                  <a:srgbClr val="6C757D"/>
                </a:solidFill>
                <a:latin typeface="Liter" pitchFamily="34" charset="0"/>
                <a:ea typeface="Liter" pitchFamily="34" charset="-122"/>
                <a:cs typeface="Liter" pitchFamily="34" charset="-120"/>
              </a:rPr>
              <a:t>conversions par seconde de retard</a:t>
            </a:r>
            <a:endParaRPr lang="en-US" sz="1600" dirty="0"/>
          </a:p>
        </p:txBody>
      </p:sp>
      <p:sp>
        <p:nvSpPr>
          <p:cNvPr id="43" name="Shape 41"/>
          <p:cNvSpPr/>
          <p:nvPr/>
        </p:nvSpPr>
        <p:spPr>
          <a:xfrm>
            <a:off x="9220200" y="6093619"/>
            <a:ext cx="2438400" cy="76200"/>
          </a:xfrm>
          <a:custGeom>
            <a:avLst/>
            <a:gdLst/>
            <a:ahLst/>
            <a:cxnLst/>
            <a:rect l="l" t="t" r="r" b="b"/>
            <a:pathLst>
              <a:path w="2438400" h="76200">
                <a:moveTo>
                  <a:pt x="38100" y="0"/>
                </a:moveTo>
                <a:lnTo>
                  <a:pt x="2400300" y="0"/>
                </a:lnTo>
                <a:cubicBezTo>
                  <a:pt x="2421328" y="0"/>
                  <a:pt x="2438400" y="17072"/>
                  <a:pt x="2438400" y="38100"/>
                </a:cubicBezTo>
                <a:lnTo>
                  <a:pt x="2438400" y="38100"/>
                </a:lnTo>
                <a:cubicBezTo>
                  <a:pt x="2438400" y="59128"/>
                  <a:pt x="2421328" y="76200"/>
                  <a:pt x="240030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44" name="Shape 42"/>
          <p:cNvSpPr/>
          <p:nvPr/>
        </p:nvSpPr>
        <p:spPr>
          <a:xfrm>
            <a:off x="9220200" y="6093619"/>
            <a:ext cx="1952625" cy="76200"/>
          </a:xfrm>
          <a:custGeom>
            <a:avLst/>
            <a:gdLst/>
            <a:ahLst/>
            <a:cxnLst/>
            <a:rect l="l" t="t" r="r" b="b"/>
            <a:pathLst>
              <a:path w="1952625" h="76200">
                <a:moveTo>
                  <a:pt x="38100" y="0"/>
                </a:moveTo>
                <a:lnTo>
                  <a:pt x="1914525" y="0"/>
                </a:lnTo>
                <a:cubicBezTo>
                  <a:pt x="1935553" y="0"/>
                  <a:pt x="1952625" y="17072"/>
                  <a:pt x="1952625" y="38100"/>
                </a:cubicBezTo>
                <a:lnTo>
                  <a:pt x="1952625" y="38100"/>
                </a:lnTo>
                <a:cubicBezTo>
                  <a:pt x="1952625" y="59128"/>
                  <a:pt x="1935553" y="76200"/>
                  <a:pt x="1914525" y="76200"/>
                </a:cubicBezTo>
                <a:lnTo>
                  <a:pt x="38100" y="76200"/>
                </a:lnTo>
                <a:cubicBezTo>
                  <a:pt x="17072" y="76200"/>
                  <a:pt x="0" y="59128"/>
                  <a:pt x="0" y="38100"/>
                </a:cubicBezTo>
                <a:lnTo>
                  <a:pt x="0" y="38100"/>
                </a:lnTo>
                <a:cubicBezTo>
                  <a:pt x="0" y="17072"/>
                  <a:pt x="17072" y="0"/>
                  <a:pt x="38100" y="0"/>
                </a:cubicBezTo>
                <a:close/>
              </a:path>
            </a:pathLst>
          </a:custGeom>
          <a:solidFill>
            <a:srgbClr val="F54900"/>
          </a:solidFill>
          <a:ln/>
        </p:spPr>
      </p:sp>
      <p:sp>
        <p:nvSpPr>
          <p:cNvPr id="45" name="Text 43"/>
          <p:cNvSpPr/>
          <p:nvPr/>
        </p:nvSpPr>
        <p:spPr>
          <a:xfrm>
            <a:off x="381000" y="6665119"/>
            <a:ext cx="51054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Liter" pitchFamily="34" charset="0"/>
                <a:ea typeface="Liter" pitchFamily="34" charset="-122"/>
                <a:cs typeface="Liter" pitchFamily="34" charset="-120"/>
              </a:rPr>
              <a:t>Sources: Healthcare Marketing Benchmarks 2025, 2Point Agency 2026, Deloitte 2024</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A52"/>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C5A065"/>
                </a:solidFill>
                <a:latin typeface="Liter" pitchFamily="34" charset="0"/>
                <a:ea typeface="Liter" pitchFamily="34" charset="-122"/>
                <a:cs typeface="Liter" pitchFamily="34" charset="-120"/>
              </a:rPr>
              <a:t>VIRAGE STRATÉGIQUE</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F8F9FA"/>
                </a:solidFill>
                <a:latin typeface="Liter" pitchFamily="34" charset="0"/>
                <a:ea typeface="Liter" pitchFamily="34" charset="-122"/>
                <a:cs typeface="Liter" pitchFamily="34" charset="-120"/>
              </a:rPr>
              <a:t>Volume vs. Valeur</a:t>
            </a:r>
            <a:endParaRPr lang="en-US" sz="1600" dirty="0"/>
          </a:p>
        </p:txBody>
      </p:sp>
      <p:sp>
        <p:nvSpPr>
          <p:cNvPr id="4" name="Text 2"/>
          <p:cNvSpPr/>
          <p:nvPr/>
        </p:nvSpPr>
        <p:spPr>
          <a:xfrm>
            <a:off x="317500" y="920750"/>
            <a:ext cx="11628438" cy="222250"/>
          </a:xfrm>
          <a:prstGeom prst="rect">
            <a:avLst/>
          </a:prstGeom>
          <a:noFill/>
          <a:ln/>
        </p:spPr>
        <p:txBody>
          <a:bodyPr wrap="square" lIns="0" tIns="0" rIns="0" bIns="0" rtlCol="0" anchor="ctr"/>
          <a:lstStyle/>
          <a:p>
            <a:pPr>
              <a:lnSpc>
                <a:spcPct val="130000"/>
              </a:lnSpc>
            </a:pPr>
            <a:r>
              <a:rPr lang="en-US" sz="1125" dirty="0">
                <a:solidFill>
                  <a:srgbClr val="F8F9FA">
                    <a:alpha val="70000"/>
                  </a:srgbClr>
                </a:solidFill>
                <a:latin typeface="Liter" pitchFamily="34" charset="0"/>
                <a:ea typeface="Liter" pitchFamily="34" charset="-122"/>
                <a:cs typeface="Liter" pitchFamily="34" charset="-120"/>
              </a:rPr>
              <a:t>Pourquoi l'acquisition publicitaire doit se concentrer sur le diagnostic</a:t>
            </a:r>
            <a:endParaRPr lang="en-US" sz="1600" dirty="0"/>
          </a:p>
        </p:txBody>
      </p:sp>
      <p:sp>
        <p:nvSpPr>
          <p:cNvPr id="5" name="Shape 3"/>
          <p:cNvSpPr/>
          <p:nvPr/>
        </p:nvSpPr>
        <p:spPr>
          <a:xfrm>
            <a:off x="321469" y="1273969"/>
            <a:ext cx="5675313" cy="4389438"/>
          </a:xfrm>
          <a:custGeom>
            <a:avLst/>
            <a:gdLst/>
            <a:ahLst/>
            <a:cxnLst/>
            <a:rect l="l" t="t" r="r" b="b"/>
            <a:pathLst>
              <a:path w="5675313" h="4389438">
                <a:moveTo>
                  <a:pt x="95251" y="0"/>
                </a:moveTo>
                <a:lnTo>
                  <a:pt x="5580062" y="0"/>
                </a:lnTo>
                <a:cubicBezTo>
                  <a:pt x="5632667" y="0"/>
                  <a:pt x="5675313" y="42645"/>
                  <a:pt x="5675313" y="95251"/>
                </a:cubicBezTo>
                <a:lnTo>
                  <a:pt x="5675313" y="4294187"/>
                </a:lnTo>
                <a:cubicBezTo>
                  <a:pt x="5675313" y="4346792"/>
                  <a:pt x="5632667" y="4389438"/>
                  <a:pt x="5580062" y="4389438"/>
                </a:cubicBezTo>
                <a:lnTo>
                  <a:pt x="95251" y="4389438"/>
                </a:lnTo>
                <a:cubicBezTo>
                  <a:pt x="42645" y="4389438"/>
                  <a:pt x="0" y="4346792"/>
                  <a:pt x="0" y="4294187"/>
                </a:cubicBezTo>
                <a:lnTo>
                  <a:pt x="0" y="95251"/>
                </a:lnTo>
                <a:cubicBezTo>
                  <a:pt x="0" y="42680"/>
                  <a:pt x="42680" y="0"/>
                  <a:pt x="95251" y="0"/>
                </a:cubicBezTo>
                <a:close/>
              </a:path>
            </a:pathLst>
          </a:custGeom>
          <a:solidFill>
            <a:srgbClr val="FFFFFF">
              <a:alpha val="10196"/>
            </a:srgbClr>
          </a:solidFill>
          <a:ln w="12700">
            <a:solidFill>
              <a:srgbClr val="FFFFFF">
                <a:alpha val="20000"/>
              </a:srgbClr>
            </a:solidFill>
            <a:prstDash val="solid"/>
          </a:ln>
        </p:spPr>
      </p:sp>
      <p:sp>
        <p:nvSpPr>
          <p:cNvPr id="6" name="Shape 4"/>
          <p:cNvSpPr/>
          <p:nvPr/>
        </p:nvSpPr>
        <p:spPr>
          <a:xfrm>
            <a:off x="484187" y="1436688"/>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6C757D"/>
          </a:solidFill>
          <a:ln/>
        </p:spPr>
      </p:sp>
      <p:sp>
        <p:nvSpPr>
          <p:cNvPr id="7" name="Shape 5"/>
          <p:cNvSpPr/>
          <p:nvPr/>
        </p:nvSpPr>
        <p:spPr>
          <a:xfrm>
            <a:off x="623094" y="1563688"/>
            <a:ext cx="166688" cy="190500"/>
          </a:xfrm>
          <a:custGeom>
            <a:avLst/>
            <a:gdLst/>
            <a:ahLst/>
            <a:cxnLst/>
            <a:rect l="l" t="t" r="r" b="b"/>
            <a:pathLst>
              <a:path w="166688" h="190500">
                <a:moveTo>
                  <a:pt x="83344" y="92273"/>
                </a:moveTo>
                <a:cubicBezTo>
                  <a:pt x="107986" y="92273"/>
                  <a:pt x="127992" y="72267"/>
                  <a:pt x="127992" y="47625"/>
                </a:cubicBezTo>
                <a:cubicBezTo>
                  <a:pt x="127992" y="22983"/>
                  <a:pt x="107986" y="2977"/>
                  <a:pt x="83344" y="2977"/>
                </a:cubicBezTo>
                <a:cubicBezTo>
                  <a:pt x="58702" y="2977"/>
                  <a:pt x="38695" y="22983"/>
                  <a:pt x="38695" y="47625"/>
                </a:cubicBezTo>
                <a:cubicBezTo>
                  <a:pt x="38695" y="72267"/>
                  <a:pt x="58702" y="92273"/>
                  <a:pt x="83344" y="92273"/>
                </a:cubicBezTo>
                <a:close/>
                <a:moveTo>
                  <a:pt x="72293" y="113109"/>
                </a:moveTo>
                <a:cubicBezTo>
                  <a:pt x="35644" y="113109"/>
                  <a:pt x="5953" y="142801"/>
                  <a:pt x="5953" y="179450"/>
                </a:cubicBezTo>
                <a:cubicBezTo>
                  <a:pt x="5953" y="185551"/>
                  <a:pt x="10902" y="190500"/>
                  <a:pt x="17004" y="190500"/>
                </a:cubicBezTo>
                <a:lnTo>
                  <a:pt x="149684" y="190500"/>
                </a:lnTo>
                <a:cubicBezTo>
                  <a:pt x="155786" y="190500"/>
                  <a:pt x="160734" y="185551"/>
                  <a:pt x="160734" y="179450"/>
                </a:cubicBezTo>
                <a:cubicBezTo>
                  <a:pt x="160734" y="142801"/>
                  <a:pt x="131043" y="113109"/>
                  <a:pt x="94394" y="113109"/>
                </a:cubicBezTo>
                <a:lnTo>
                  <a:pt x="72293" y="113109"/>
                </a:lnTo>
                <a:close/>
              </a:path>
            </a:pathLst>
          </a:custGeom>
          <a:solidFill>
            <a:srgbClr val="FFFFFF"/>
          </a:solidFill>
          <a:ln/>
        </p:spPr>
      </p:sp>
      <p:sp>
        <p:nvSpPr>
          <p:cNvPr id="8" name="Text 6"/>
          <p:cNvSpPr/>
          <p:nvPr/>
        </p:nvSpPr>
        <p:spPr>
          <a:xfrm>
            <a:off x="1023938" y="1436688"/>
            <a:ext cx="1563688" cy="254000"/>
          </a:xfrm>
          <a:prstGeom prst="rect">
            <a:avLst/>
          </a:prstGeom>
          <a:noFill/>
          <a:ln/>
        </p:spPr>
        <p:txBody>
          <a:bodyPr wrap="square" lIns="0" tIns="0" rIns="0" bIns="0" rtlCol="0" anchor="ctr"/>
          <a:lstStyle/>
          <a:p>
            <a:pPr>
              <a:lnSpc>
                <a:spcPct val="110000"/>
              </a:lnSpc>
            </a:pPr>
            <a:r>
              <a:rPr lang="en-US" sz="1500" b="1" dirty="0">
                <a:solidFill>
                  <a:srgbClr val="F8F9FA"/>
                </a:solidFill>
                <a:latin typeface="Liter" pitchFamily="34" charset="0"/>
                <a:ea typeface="Liter" pitchFamily="34" charset="-122"/>
                <a:cs typeface="Liter" pitchFamily="34" charset="-120"/>
              </a:rPr>
              <a:t>Session Standard</a:t>
            </a:r>
            <a:endParaRPr lang="en-US" sz="1600" dirty="0"/>
          </a:p>
        </p:txBody>
      </p:sp>
      <p:sp>
        <p:nvSpPr>
          <p:cNvPr id="9" name="Text 7"/>
          <p:cNvSpPr/>
          <p:nvPr/>
        </p:nvSpPr>
        <p:spPr>
          <a:xfrm>
            <a:off x="1023938" y="1690688"/>
            <a:ext cx="1531938" cy="190500"/>
          </a:xfrm>
          <a:prstGeom prst="rect">
            <a:avLst/>
          </a:prstGeom>
          <a:noFill/>
          <a:ln/>
        </p:spPr>
        <p:txBody>
          <a:bodyPr wrap="square" lIns="0" tIns="0" rIns="0" bIns="0" rtlCol="0" anchor="ctr"/>
          <a:lstStyle/>
          <a:p>
            <a:pPr>
              <a:lnSpc>
                <a:spcPct val="130000"/>
              </a:lnSpc>
            </a:pPr>
            <a:r>
              <a:rPr lang="en-US" sz="1000" dirty="0">
                <a:solidFill>
                  <a:srgbClr val="6C757D"/>
                </a:solidFill>
                <a:latin typeface="Liter" pitchFamily="34" charset="0"/>
                <a:ea typeface="Liter" pitchFamily="34" charset="-122"/>
                <a:cs typeface="Liter" pitchFamily="34" charset="-120"/>
              </a:rPr>
              <a:t>Biofeedback</a:t>
            </a:r>
            <a:endParaRPr lang="en-US" sz="1600" dirty="0"/>
          </a:p>
        </p:txBody>
      </p:sp>
      <p:sp>
        <p:nvSpPr>
          <p:cNvPr id="10" name="Shape 8"/>
          <p:cNvSpPr/>
          <p:nvPr/>
        </p:nvSpPr>
        <p:spPr>
          <a:xfrm>
            <a:off x="484187" y="2008187"/>
            <a:ext cx="5349875" cy="1047750"/>
          </a:xfrm>
          <a:custGeom>
            <a:avLst/>
            <a:gdLst/>
            <a:ahLst/>
            <a:cxnLst/>
            <a:rect l="l" t="t" r="r" b="b"/>
            <a:pathLst>
              <a:path w="5349875" h="1047750">
                <a:moveTo>
                  <a:pt x="63504" y="0"/>
                </a:moveTo>
                <a:lnTo>
                  <a:pt x="5286371" y="0"/>
                </a:lnTo>
                <a:cubicBezTo>
                  <a:pt x="5321443" y="0"/>
                  <a:pt x="5349875" y="28432"/>
                  <a:pt x="5349875" y="63504"/>
                </a:cubicBezTo>
                <a:lnTo>
                  <a:pt x="5349875" y="984246"/>
                </a:lnTo>
                <a:cubicBezTo>
                  <a:pt x="5349875" y="1019318"/>
                  <a:pt x="5321443" y="1047750"/>
                  <a:pt x="5286371" y="1047750"/>
                </a:cubicBezTo>
                <a:lnTo>
                  <a:pt x="63504" y="1047750"/>
                </a:lnTo>
                <a:cubicBezTo>
                  <a:pt x="28432" y="1047750"/>
                  <a:pt x="0" y="1019318"/>
                  <a:pt x="0" y="984246"/>
                </a:cubicBezTo>
                <a:lnTo>
                  <a:pt x="0" y="63504"/>
                </a:lnTo>
                <a:cubicBezTo>
                  <a:pt x="0" y="28432"/>
                  <a:pt x="28432" y="0"/>
                  <a:pt x="63504" y="0"/>
                </a:cubicBezTo>
                <a:close/>
              </a:path>
            </a:pathLst>
          </a:custGeom>
          <a:solidFill>
            <a:srgbClr val="FFFFFF">
              <a:alpha val="5098"/>
            </a:srgbClr>
          </a:solidFill>
          <a:ln/>
        </p:spPr>
      </p:sp>
      <p:sp>
        <p:nvSpPr>
          <p:cNvPr id="11" name="Shape 9"/>
          <p:cNvSpPr/>
          <p:nvPr/>
        </p:nvSpPr>
        <p:spPr>
          <a:xfrm>
            <a:off x="660797" y="2166938"/>
            <a:ext cx="99219" cy="158750"/>
          </a:xfrm>
          <a:custGeom>
            <a:avLst/>
            <a:gdLst/>
            <a:ahLst/>
            <a:cxnLst/>
            <a:rect l="l" t="t" r="r" b="b"/>
            <a:pathLst>
              <a:path w="99219" h="158750">
                <a:moveTo>
                  <a:pt x="42168" y="7441"/>
                </a:moveTo>
                <a:cubicBezTo>
                  <a:pt x="42168" y="3318"/>
                  <a:pt x="45486" y="0"/>
                  <a:pt x="49609" y="0"/>
                </a:cubicBezTo>
                <a:cubicBezTo>
                  <a:pt x="53733" y="0"/>
                  <a:pt x="57051" y="3318"/>
                  <a:pt x="57051" y="7441"/>
                </a:cubicBezTo>
                <a:lnTo>
                  <a:pt x="57051" y="19844"/>
                </a:lnTo>
                <a:lnTo>
                  <a:pt x="74414" y="19844"/>
                </a:lnTo>
                <a:cubicBezTo>
                  <a:pt x="79902" y="19844"/>
                  <a:pt x="84336" y="24278"/>
                  <a:pt x="84336" y="29766"/>
                </a:cubicBezTo>
                <a:cubicBezTo>
                  <a:pt x="84336" y="35254"/>
                  <a:pt x="79902" y="39688"/>
                  <a:pt x="74414" y="39688"/>
                </a:cubicBezTo>
                <a:lnTo>
                  <a:pt x="38788" y="39688"/>
                </a:lnTo>
                <a:cubicBezTo>
                  <a:pt x="31068" y="39688"/>
                  <a:pt x="24805" y="45951"/>
                  <a:pt x="24805" y="53671"/>
                </a:cubicBezTo>
                <a:cubicBezTo>
                  <a:pt x="24805" y="60647"/>
                  <a:pt x="29921" y="66539"/>
                  <a:pt x="36804" y="67531"/>
                </a:cubicBezTo>
                <a:lnTo>
                  <a:pt x="65205" y="71593"/>
                </a:lnTo>
                <a:cubicBezTo>
                  <a:pt x="81886" y="73980"/>
                  <a:pt x="94258" y="88243"/>
                  <a:pt x="94258" y="105079"/>
                </a:cubicBezTo>
                <a:cubicBezTo>
                  <a:pt x="94258" y="123775"/>
                  <a:pt x="79096" y="138906"/>
                  <a:pt x="60430" y="138906"/>
                </a:cubicBezTo>
                <a:lnTo>
                  <a:pt x="57051" y="138906"/>
                </a:lnTo>
                <a:lnTo>
                  <a:pt x="57051" y="151309"/>
                </a:lnTo>
                <a:cubicBezTo>
                  <a:pt x="57051" y="155432"/>
                  <a:pt x="53733" y="158750"/>
                  <a:pt x="49609" y="158750"/>
                </a:cubicBezTo>
                <a:cubicBezTo>
                  <a:pt x="45486" y="158750"/>
                  <a:pt x="42168" y="155432"/>
                  <a:pt x="42168" y="151309"/>
                </a:cubicBezTo>
                <a:lnTo>
                  <a:pt x="42168" y="138906"/>
                </a:lnTo>
                <a:lnTo>
                  <a:pt x="19844" y="138906"/>
                </a:lnTo>
                <a:cubicBezTo>
                  <a:pt x="14356" y="138906"/>
                  <a:pt x="9922" y="134472"/>
                  <a:pt x="9922" y="128984"/>
                </a:cubicBezTo>
                <a:cubicBezTo>
                  <a:pt x="9922" y="123496"/>
                  <a:pt x="14356" y="119062"/>
                  <a:pt x="19844" y="119062"/>
                </a:cubicBezTo>
                <a:lnTo>
                  <a:pt x="60430" y="119062"/>
                </a:lnTo>
                <a:cubicBezTo>
                  <a:pt x="68151" y="119062"/>
                  <a:pt x="74414" y="112799"/>
                  <a:pt x="74414" y="105079"/>
                </a:cubicBezTo>
                <a:cubicBezTo>
                  <a:pt x="74414" y="98103"/>
                  <a:pt x="69298" y="92211"/>
                  <a:pt x="62415" y="91219"/>
                </a:cubicBezTo>
                <a:lnTo>
                  <a:pt x="34013" y="87157"/>
                </a:lnTo>
                <a:cubicBezTo>
                  <a:pt x="17332" y="84801"/>
                  <a:pt x="4961" y="70507"/>
                  <a:pt x="4961" y="53671"/>
                </a:cubicBezTo>
                <a:cubicBezTo>
                  <a:pt x="4961" y="35006"/>
                  <a:pt x="20123" y="19844"/>
                  <a:pt x="38788" y="19844"/>
                </a:cubicBezTo>
                <a:lnTo>
                  <a:pt x="42168" y="19844"/>
                </a:lnTo>
                <a:lnTo>
                  <a:pt x="42168" y="7441"/>
                </a:lnTo>
                <a:close/>
              </a:path>
            </a:pathLst>
          </a:custGeom>
          <a:solidFill>
            <a:srgbClr val="6C757D"/>
          </a:solidFill>
          <a:ln/>
        </p:spPr>
      </p:sp>
      <p:sp>
        <p:nvSpPr>
          <p:cNvPr id="12" name="Text 10"/>
          <p:cNvSpPr/>
          <p:nvPr/>
        </p:nvSpPr>
        <p:spPr>
          <a:xfrm>
            <a:off x="904875" y="2135188"/>
            <a:ext cx="365125" cy="222250"/>
          </a:xfrm>
          <a:prstGeom prst="rect">
            <a:avLst/>
          </a:prstGeom>
          <a:noFill/>
          <a:ln/>
        </p:spPr>
        <p:txBody>
          <a:bodyPr wrap="square" lIns="0" tIns="0" rIns="0" bIns="0" rtlCol="0" anchor="ctr"/>
          <a:lstStyle/>
          <a:p>
            <a:pPr>
              <a:lnSpc>
                <a:spcPct val="130000"/>
              </a:lnSpc>
            </a:pPr>
            <a:r>
              <a:rPr lang="en-US" sz="1125" b="1" dirty="0">
                <a:solidFill>
                  <a:srgbClr val="F8F9FA"/>
                </a:solidFill>
                <a:latin typeface="Liter" pitchFamily="34" charset="0"/>
                <a:ea typeface="Liter" pitchFamily="34" charset="-122"/>
                <a:cs typeface="Liter" pitchFamily="34" charset="-120"/>
              </a:rPr>
              <a:t>Tarif</a:t>
            </a:r>
            <a:endParaRPr lang="en-US" sz="1600" dirty="0"/>
          </a:p>
        </p:txBody>
      </p:sp>
      <p:sp>
        <p:nvSpPr>
          <p:cNvPr id="13" name="Text 11"/>
          <p:cNvSpPr/>
          <p:nvPr/>
        </p:nvSpPr>
        <p:spPr>
          <a:xfrm>
            <a:off x="611188" y="2420938"/>
            <a:ext cx="5238750" cy="317500"/>
          </a:xfrm>
          <a:prstGeom prst="rect">
            <a:avLst/>
          </a:prstGeom>
          <a:noFill/>
          <a:ln/>
        </p:spPr>
        <p:txBody>
          <a:bodyPr wrap="square" lIns="0" tIns="0" rIns="0" bIns="0" rtlCol="0" anchor="ctr"/>
          <a:lstStyle/>
          <a:p>
            <a:pPr>
              <a:lnSpc>
                <a:spcPct val="90000"/>
              </a:lnSpc>
            </a:pPr>
            <a:r>
              <a:rPr lang="en-US" sz="2250" b="1" dirty="0">
                <a:solidFill>
                  <a:srgbClr val="6C757D"/>
                </a:solidFill>
                <a:latin typeface="Liter" pitchFamily="34" charset="0"/>
                <a:ea typeface="Liter" pitchFamily="34" charset="-122"/>
                <a:cs typeface="Liter" pitchFamily="34" charset="-120"/>
              </a:rPr>
              <a:t>150 $</a:t>
            </a:r>
            <a:endParaRPr lang="en-US" sz="1600" dirty="0"/>
          </a:p>
        </p:txBody>
      </p:sp>
      <p:sp>
        <p:nvSpPr>
          <p:cNvPr id="14" name="Text 12"/>
          <p:cNvSpPr/>
          <p:nvPr/>
        </p:nvSpPr>
        <p:spPr>
          <a:xfrm>
            <a:off x="611188" y="2770188"/>
            <a:ext cx="5151438" cy="158750"/>
          </a:xfrm>
          <a:prstGeom prst="rect">
            <a:avLst/>
          </a:prstGeom>
          <a:noFill/>
          <a:ln/>
        </p:spPr>
        <p:txBody>
          <a:bodyPr wrap="square" lIns="0" tIns="0" rIns="0" bIns="0" rtlCol="0" anchor="ctr"/>
          <a:lstStyle/>
          <a:p>
            <a:pPr>
              <a:lnSpc>
                <a:spcPct val="120000"/>
              </a:lnSpc>
            </a:pPr>
            <a:r>
              <a:rPr lang="en-US" sz="875" dirty="0">
                <a:solidFill>
                  <a:srgbClr val="F8F9FA">
                    <a:alpha val="60000"/>
                  </a:srgbClr>
                </a:solidFill>
                <a:latin typeface="Liter" pitchFamily="34" charset="0"/>
                <a:ea typeface="Liter" pitchFamily="34" charset="-122"/>
                <a:cs typeface="Liter" pitchFamily="34" charset="-120"/>
              </a:rPr>
              <a:t>par séance</a:t>
            </a:r>
            <a:endParaRPr lang="en-US" sz="1600" dirty="0"/>
          </a:p>
        </p:txBody>
      </p:sp>
      <p:sp>
        <p:nvSpPr>
          <p:cNvPr id="15" name="Shape 13"/>
          <p:cNvSpPr/>
          <p:nvPr/>
        </p:nvSpPr>
        <p:spPr>
          <a:xfrm>
            <a:off x="484187" y="3182938"/>
            <a:ext cx="5349875" cy="952500"/>
          </a:xfrm>
          <a:custGeom>
            <a:avLst/>
            <a:gdLst/>
            <a:ahLst/>
            <a:cxnLst/>
            <a:rect l="l" t="t" r="r" b="b"/>
            <a:pathLst>
              <a:path w="5349875" h="952500">
                <a:moveTo>
                  <a:pt x="63503" y="0"/>
                </a:moveTo>
                <a:lnTo>
                  <a:pt x="5286372" y="0"/>
                </a:lnTo>
                <a:cubicBezTo>
                  <a:pt x="5321444" y="0"/>
                  <a:pt x="5349875" y="28431"/>
                  <a:pt x="5349875" y="63503"/>
                </a:cubicBezTo>
                <a:lnTo>
                  <a:pt x="5349875" y="888997"/>
                </a:lnTo>
                <a:cubicBezTo>
                  <a:pt x="5349875" y="924069"/>
                  <a:pt x="5321444" y="952500"/>
                  <a:pt x="5286372" y="952500"/>
                </a:cubicBezTo>
                <a:lnTo>
                  <a:pt x="63503" y="952500"/>
                </a:lnTo>
                <a:cubicBezTo>
                  <a:pt x="28431" y="952500"/>
                  <a:pt x="0" y="924069"/>
                  <a:pt x="0" y="888997"/>
                </a:cubicBezTo>
                <a:lnTo>
                  <a:pt x="0" y="63503"/>
                </a:lnTo>
                <a:cubicBezTo>
                  <a:pt x="0" y="28431"/>
                  <a:pt x="28431" y="0"/>
                  <a:pt x="63503" y="0"/>
                </a:cubicBezTo>
                <a:close/>
              </a:path>
            </a:pathLst>
          </a:custGeom>
          <a:solidFill>
            <a:srgbClr val="FFFFFF">
              <a:alpha val="5098"/>
            </a:srgbClr>
          </a:solidFill>
          <a:ln/>
        </p:spPr>
      </p:sp>
      <p:sp>
        <p:nvSpPr>
          <p:cNvPr id="16" name="Shape 14"/>
          <p:cNvSpPr/>
          <p:nvPr/>
        </p:nvSpPr>
        <p:spPr>
          <a:xfrm>
            <a:off x="631031" y="3341688"/>
            <a:ext cx="158750" cy="158750"/>
          </a:xfrm>
          <a:custGeom>
            <a:avLst/>
            <a:gdLst/>
            <a:ahLst/>
            <a:cxnLst/>
            <a:rect l="l" t="t" r="r" b="b"/>
            <a:pathLst>
              <a:path w="158750" h="158750">
                <a:moveTo>
                  <a:pt x="9922" y="9922"/>
                </a:moveTo>
                <a:cubicBezTo>
                  <a:pt x="15410" y="9922"/>
                  <a:pt x="19844" y="14356"/>
                  <a:pt x="19844" y="19844"/>
                </a:cubicBezTo>
                <a:lnTo>
                  <a:pt x="19844" y="124023"/>
                </a:lnTo>
                <a:cubicBezTo>
                  <a:pt x="19844" y="126752"/>
                  <a:pt x="22076" y="128984"/>
                  <a:pt x="24805" y="128984"/>
                </a:cubicBezTo>
                <a:lnTo>
                  <a:pt x="148828" y="128984"/>
                </a:lnTo>
                <a:cubicBezTo>
                  <a:pt x="154316" y="128984"/>
                  <a:pt x="158750" y="133418"/>
                  <a:pt x="158750" y="138906"/>
                </a:cubicBezTo>
                <a:cubicBezTo>
                  <a:pt x="158750" y="144394"/>
                  <a:pt x="154316" y="148828"/>
                  <a:pt x="148828" y="148828"/>
                </a:cubicBezTo>
                <a:lnTo>
                  <a:pt x="24805" y="148828"/>
                </a:lnTo>
                <a:cubicBezTo>
                  <a:pt x="11100" y="148828"/>
                  <a:pt x="0" y="137728"/>
                  <a:pt x="0" y="124023"/>
                </a:cubicBezTo>
                <a:lnTo>
                  <a:pt x="0" y="19844"/>
                </a:lnTo>
                <a:cubicBezTo>
                  <a:pt x="0" y="14356"/>
                  <a:pt x="4434" y="9922"/>
                  <a:pt x="9922" y="9922"/>
                </a:cubicBezTo>
                <a:close/>
                <a:moveTo>
                  <a:pt x="39688" y="29766"/>
                </a:moveTo>
                <a:cubicBezTo>
                  <a:pt x="39688" y="24278"/>
                  <a:pt x="44121" y="19844"/>
                  <a:pt x="49609" y="19844"/>
                </a:cubicBezTo>
                <a:lnTo>
                  <a:pt x="109141" y="19844"/>
                </a:lnTo>
                <a:cubicBezTo>
                  <a:pt x="114629" y="19844"/>
                  <a:pt x="119062" y="24278"/>
                  <a:pt x="119062" y="29766"/>
                </a:cubicBezTo>
                <a:cubicBezTo>
                  <a:pt x="119062" y="35254"/>
                  <a:pt x="114629" y="39688"/>
                  <a:pt x="109141" y="39688"/>
                </a:cubicBezTo>
                <a:lnTo>
                  <a:pt x="49609" y="39688"/>
                </a:lnTo>
                <a:cubicBezTo>
                  <a:pt x="44121" y="39688"/>
                  <a:pt x="39688" y="35254"/>
                  <a:pt x="39688" y="29766"/>
                </a:cubicBezTo>
                <a:close/>
                <a:moveTo>
                  <a:pt x="49609" y="54570"/>
                </a:moveTo>
                <a:lnTo>
                  <a:pt x="89297" y="54570"/>
                </a:lnTo>
                <a:cubicBezTo>
                  <a:pt x="94785" y="54570"/>
                  <a:pt x="99219" y="59004"/>
                  <a:pt x="99219" y="64492"/>
                </a:cubicBezTo>
                <a:cubicBezTo>
                  <a:pt x="99219" y="69980"/>
                  <a:pt x="94785" y="74414"/>
                  <a:pt x="89297" y="74414"/>
                </a:cubicBezTo>
                <a:lnTo>
                  <a:pt x="49609" y="74414"/>
                </a:lnTo>
                <a:cubicBezTo>
                  <a:pt x="44121" y="74414"/>
                  <a:pt x="39688" y="69980"/>
                  <a:pt x="39688" y="64492"/>
                </a:cubicBezTo>
                <a:cubicBezTo>
                  <a:pt x="39688" y="59004"/>
                  <a:pt x="44121" y="54570"/>
                  <a:pt x="49609" y="54570"/>
                </a:cubicBezTo>
                <a:close/>
                <a:moveTo>
                  <a:pt x="49609" y="89297"/>
                </a:moveTo>
                <a:lnTo>
                  <a:pt x="128984" y="89297"/>
                </a:lnTo>
                <a:cubicBezTo>
                  <a:pt x="134472" y="89297"/>
                  <a:pt x="138906" y="93731"/>
                  <a:pt x="138906" y="99219"/>
                </a:cubicBezTo>
                <a:cubicBezTo>
                  <a:pt x="138906" y="104707"/>
                  <a:pt x="134472" y="109141"/>
                  <a:pt x="128984" y="109141"/>
                </a:cubicBezTo>
                <a:lnTo>
                  <a:pt x="49609" y="109141"/>
                </a:lnTo>
                <a:cubicBezTo>
                  <a:pt x="44121" y="109141"/>
                  <a:pt x="39688" y="104707"/>
                  <a:pt x="39688" y="99219"/>
                </a:cubicBezTo>
                <a:cubicBezTo>
                  <a:pt x="39688" y="93731"/>
                  <a:pt x="44121" y="89297"/>
                  <a:pt x="49609" y="89297"/>
                </a:cubicBezTo>
                <a:close/>
              </a:path>
            </a:pathLst>
          </a:custGeom>
          <a:solidFill>
            <a:srgbClr val="6C757D"/>
          </a:solidFill>
          <a:ln/>
        </p:spPr>
      </p:sp>
      <p:sp>
        <p:nvSpPr>
          <p:cNvPr id="17" name="Text 15"/>
          <p:cNvSpPr/>
          <p:nvPr/>
        </p:nvSpPr>
        <p:spPr>
          <a:xfrm>
            <a:off x="904875" y="3309938"/>
            <a:ext cx="547688" cy="222250"/>
          </a:xfrm>
          <a:prstGeom prst="rect">
            <a:avLst/>
          </a:prstGeom>
          <a:noFill/>
          <a:ln/>
        </p:spPr>
        <p:txBody>
          <a:bodyPr wrap="square" lIns="0" tIns="0" rIns="0" bIns="0" rtlCol="0" anchor="ctr"/>
          <a:lstStyle/>
          <a:p>
            <a:pPr>
              <a:lnSpc>
                <a:spcPct val="130000"/>
              </a:lnSpc>
            </a:pPr>
            <a:r>
              <a:rPr lang="en-US" sz="1125" b="1" dirty="0">
                <a:solidFill>
                  <a:srgbClr val="F8F9FA"/>
                </a:solidFill>
                <a:latin typeface="Liter" pitchFamily="34" charset="0"/>
                <a:ea typeface="Liter" pitchFamily="34" charset="-122"/>
                <a:cs typeface="Liter" pitchFamily="34" charset="-120"/>
              </a:rPr>
              <a:t>Modèle</a:t>
            </a:r>
            <a:endParaRPr lang="en-US" sz="1600" dirty="0"/>
          </a:p>
        </p:txBody>
      </p:sp>
      <p:sp>
        <p:nvSpPr>
          <p:cNvPr id="18" name="Text 16"/>
          <p:cNvSpPr/>
          <p:nvPr/>
        </p:nvSpPr>
        <p:spPr>
          <a:xfrm>
            <a:off x="611188" y="3595688"/>
            <a:ext cx="5159375" cy="412750"/>
          </a:xfrm>
          <a:prstGeom prst="rect">
            <a:avLst/>
          </a:prstGeom>
          <a:noFill/>
          <a:ln/>
        </p:spPr>
        <p:txBody>
          <a:bodyPr wrap="square" lIns="0" tIns="0" rIns="0" bIns="0" rtlCol="0" anchor="ctr"/>
          <a:lstStyle/>
          <a:p>
            <a:pPr>
              <a:lnSpc>
                <a:spcPct val="140000"/>
              </a:lnSpc>
            </a:pPr>
            <a:r>
              <a:rPr lang="en-US" sz="1000" b="1" dirty="0">
                <a:solidFill>
                  <a:srgbClr val="F8F9FA">
                    <a:alpha val="90000"/>
                  </a:srgbClr>
                </a:solidFill>
                <a:latin typeface="Liter" pitchFamily="34" charset="0"/>
                <a:ea typeface="Liter" pitchFamily="34" charset="-122"/>
                <a:cs typeface="Liter" pitchFamily="34" charset="-120"/>
              </a:rPr>
              <a:t>Basé sur le volume.</a:t>
            </a:r>
            <a:pPr>
              <a:lnSpc>
                <a:spcPct val="140000"/>
              </a:lnSpc>
            </a:pPr>
            <a:r>
              <a:rPr lang="en-US" sz="1000" dirty="0">
                <a:solidFill>
                  <a:srgbClr val="F8F9FA">
                    <a:alpha val="90000"/>
                  </a:srgbClr>
                </a:solidFill>
                <a:latin typeface="Liter" pitchFamily="34" charset="0"/>
                <a:ea typeface="Liter" pitchFamily="34" charset="-122"/>
                <a:cs typeface="Liter" pitchFamily="34" charset="-120"/>
              </a:rPr>
              <a:t> Nécessite de remplir continuellement l'agenda avec de nouveaux patients.</a:t>
            </a:r>
            <a:endParaRPr lang="en-US" sz="1600" dirty="0"/>
          </a:p>
        </p:txBody>
      </p:sp>
      <p:sp>
        <p:nvSpPr>
          <p:cNvPr id="19" name="Shape 17"/>
          <p:cNvSpPr/>
          <p:nvPr/>
        </p:nvSpPr>
        <p:spPr>
          <a:xfrm>
            <a:off x="484187" y="4262438"/>
            <a:ext cx="5349875" cy="746125"/>
          </a:xfrm>
          <a:custGeom>
            <a:avLst/>
            <a:gdLst/>
            <a:ahLst/>
            <a:cxnLst/>
            <a:rect l="l" t="t" r="r" b="b"/>
            <a:pathLst>
              <a:path w="5349875" h="746125">
                <a:moveTo>
                  <a:pt x="63503" y="0"/>
                </a:moveTo>
                <a:lnTo>
                  <a:pt x="5286372" y="0"/>
                </a:lnTo>
                <a:cubicBezTo>
                  <a:pt x="5321444" y="0"/>
                  <a:pt x="5349875" y="28431"/>
                  <a:pt x="5349875" y="63503"/>
                </a:cubicBezTo>
                <a:lnTo>
                  <a:pt x="5349875" y="682622"/>
                </a:lnTo>
                <a:cubicBezTo>
                  <a:pt x="5349875" y="717694"/>
                  <a:pt x="5321444" y="746125"/>
                  <a:pt x="5286372" y="746125"/>
                </a:cubicBezTo>
                <a:lnTo>
                  <a:pt x="63503" y="746125"/>
                </a:lnTo>
                <a:cubicBezTo>
                  <a:pt x="28431" y="746125"/>
                  <a:pt x="0" y="717694"/>
                  <a:pt x="0" y="682622"/>
                </a:cubicBezTo>
                <a:lnTo>
                  <a:pt x="0" y="63503"/>
                </a:lnTo>
                <a:cubicBezTo>
                  <a:pt x="0" y="28431"/>
                  <a:pt x="28431" y="0"/>
                  <a:pt x="63503" y="0"/>
                </a:cubicBezTo>
                <a:close/>
              </a:path>
            </a:pathLst>
          </a:custGeom>
          <a:solidFill>
            <a:srgbClr val="FFFFFF">
              <a:alpha val="5098"/>
            </a:srgbClr>
          </a:solidFill>
          <a:ln/>
        </p:spPr>
      </p:sp>
      <p:sp>
        <p:nvSpPr>
          <p:cNvPr id="20" name="Shape 18"/>
          <p:cNvSpPr/>
          <p:nvPr/>
        </p:nvSpPr>
        <p:spPr>
          <a:xfrm>
            <a:off x="640953" y="4421188"/>
            <a:ext cx="138906" cy="158750"/>
          </a:xfrm>
          <a:custGeom>
            <a:avLst/>
            <a:gdLst/>
            <a:ahLst/>
            <a:cxnLst/>
            <a:rect l="l" t="t" r="r" b="b"/>
            <a:pathLst>
              <a:path w="138906" h="158750">
                <a:moveTo>
                  <a:pt x="69453" y="2480"/>
                </a:moveTo>
                <a:cubicBezTo>
                  <a:pt x="48918" y="2480"/>
                  <a:pt x="32246" y="19152"/>
                  <a:pt x="32246" y="39688"/>
                </a:cubicBezTo>
                <a:cubicBezTo>
                  <a:pt x="32246" y="60223"/>
                  <a:pt x="48918" y="76895"/>
                  <a:pt x="69453" y="76895"/>
                </a:cubicBezTo>
                <a:cubicBezTo>
                  <a:pt x="89988" y="76895"/>
                  <a:pt x="106660" y="60223"/>
                  <a:pt x="106660" y="39688"/>
                </a:cubicBezTo>
                <a:cubicBezTo>
                  <a:pt x="106660" y="19152"/>
                  <a:pt x="89988" y="2480"/>
                  <a:pt x="69453" y="2480"/>
                </a:cubicBezTo>
                <a:close/>
                <a:moveTo>
                  <a:pt x="88057" y="99467"/>
                </a:moveTo>
                <a:cubicBezTo>
                  <a:pt x="86382" y="99312"/>
                  <a:pt x="84646" y="99219"/>
                  <a:pt x="82910" y="99219"/>
                </a:cubicBezTo>
                <a:lnTo>
                  <a:pt x="55966" y="99219"/>
                </a:lnTo>
                <a:cubicBezTo>
                  <a:pt x="54229" y="99219"/>
                  <a:pt x="52524" y="99312"/>
                  <a:pt x="50819" y="99467"/>
                </a:cubicBezTo>
                <a:lnTo>
                  <a:pt x="50819" y="120396"/>
                </a:lnTo>
                <a:cubicBezTo>
                  <a:pt x="55935" y="122752"/>
                  <a:pt x="59500" y="127930"/>
                  <a:pt x="59500" y="133914"/>
                </a:cubicBezTo>
                <a:cubicBezTo>
                  <a:pt x="59500" y="142131"/>
                  <a:pt x="52834" y="148797"/>
                  <a:pt x="44617" y="148797"/>
                </a:cubicBezTo>
                <a:cubicBezTo>
                  <a:pt x="36401" y="148797"/>
                  <a:pt x="29735" y="142131"/>
                  <a:pt x="29735" y="133914"/>
                </a:cubicBezTo>
                <a:cubicBezTo>
                  <a:pt x="29735" y="127899"/>
                  <a:pt x="33300" y="122721"/>
                  <a:pt x="38416" y="120396"/>
                </a:cubicBezTo>
                <a:lnTo>
                  <a:pt x="38416" y="102288"/>
                </a:lnTo>
                <a:cubicBezTo>
                  <a:pt x="18914" y="109451"/>
                  <a:pt x="4961" y="128240"/>
                  <a:pt x="4961" y="150254"/>
                </a:cubicBezTo>
                <a:cubicBezTo>
                  <a:pt x="4961" y="154936"/>
                  <a:pt x="8775" y="158750"/>
                  <a:pt x="13457" y="158750"/>
                </a:cubicBezTo>
                <a:lnTo>
                  <a:pt x="125419" y="158750"/>
                </a:lnTo>
                <a:cubicBezTo>
                  <a:pt x="130101" y="158750"/>
                  <a:pt x="133914" y="154936"/>
                  <a:pt x="133914" y="150254"/>
                </a:cubicBezTo>
                <a:cubicBezTo>
                  <a:pt x="133914" y="128240"/>
                  <a:pt x="119962" y="109482"/>
                  <a:pt x="100428" y="102319"/>
                </a:cubicBezTo>
                <a:lnTo>
                  <a:pt x="100428" y="113916"/>
                </a:lnTo>
                <a:cubicBezTo>
                  <a:pt x="107652" y="116458"/>
                  <a:pt x="112830" y="123372"/>
                  <a:pt x="112830" y="131465"/>
                </a:cubicBezTo>
                <a:lnTo>
                  <a:pt x="112830" y="141387"/>
                </a:lnTo>
                <a:cubicBezTo>
                  <a:pt x="112830" y="144797"/>
                  <a:pt x="110040" y="147588"/>
                  <a:pt x="106629" y="147588"/>
                </a:cubicBezTo>
                <a:cubicBezTo>
                  <a:pt x="103219" y="147588"/>
                  <a:pt x="100428" y="144797"/>
                  <a:pt x="100428" y="141387"/>
                </a:cubicBezTo>
                <a:lnTo>
                  <a:pt x="100428" y="131465"/>
                </a:lnTo>
                <a:cubicBezTo>
                  <a:pt x="100428" y="128054"/>
                  <a:pt x="97637" y="125264"/>
                  <a:pt x="94227" y="125264"/>
                </a:cubicBezTo>
                <a:cubicBezTo>
                  <a:pt x="90816" y="125264"/>
                  <a:pt x="88026" y="128054"/>
                  <a:pt x="88026" y="131465"/>
                </a:cubicBezTo>
                <a:lnTo>
                  <a:pt x="88026" y="141387"/>
                </a:lnTo>
                <a:cubicBezTo>
                  <a:pt x="88026" y="144797"/>
                  <a:pt x="85235" y="147588"/>
                  <a:pt x="81824" y="147588"/>
                </a:cubicBezTo>
                <a:cubicBezTo>
                  <a:pt x="78414" y="147588"/>
                  <a:pt x="75623" y="144797"/>
                  <a:pt x="75623" y="141387"/>
                </a:cubicBezTo>
                <a:lnTo>
                  <a:pt x="75623" y="131465"/>
                </a:lnTo>
                <a:cubicBezTo>
                  <a:pt x="75623" y="123372"/>
                  <a:pt x="80801" y="116489"/>
                  <a:pt x="88026" y="113916"/>
                </a:cubicBezTo>
                <a:lnTo>
                  <a:pt x="88026" y="99467"/>
                </a:lnTo>
                <a:close/>
              </a:path>
            </a:pathLst>
          </a:custGeom>
          <a:solidFill>
            <a:srgbClr val="6C757D"/>
          </a:solidFill>
          <a:ln/>
        </p:spPr>
      </p:sp>
      <p:sp>
        <p:nvSpPr>
          <p:cNvPr id="21" name="Text 19"/>
          <p:cNvSpPr/>
          <p:nvPr/>
        </p:nvSpPr>
        <p:spPr>
          <a:xfrm>
            <a:off x="904875" y="4389438"/>
            <a:ext cx="349250" cy="222250"/>
          </a:xfrm>
          <a:prstGeom prst="rect">
            <a:avLst/>
          </a:prstGeom>
          <a:noFill/>
          <a:ln/>
        </p:spPr>
        <p:txBody>
          <a:bodyPr wrap="square" lIns="0" tIns="0" rIns="0" bIns="0" rtlCol="0" anchor="ctr"/>
          <a:lstStyle/>
          <a:p>
            <a:pPr>
              <a:lnSpc>
                <a:spcPct val="130000"/>
              </a:lnSpc>
            </a:pPr>
            <a:r>
              <a:rPr lang="en-US" sz="1125" b="1" dirty="0">
                <a:solidFill>
                  <a:srgbClr val="F8F9FA"/>
                </a:solidFill>
                <a:latin typeface="Liter" pitchFamily="34" charset="0"/>
                <a:ea typeface="Liter" pitchFamily="34" charset="-122"/>
                <a:cs typeface="Liter" pitchFamily="34" charset="-120"/>
              </a:rPr>
              <a:t>Rôle</a:t>
            </a:r>
            <a:endParaRPr lang="en-US" sz="1600" dirty="0"/>
          </a:p>
        </p:txBody>
      </p:sp>
      <p:sp>
        <p:nvSpPr>
          <p:cNvPr id="22" name="Text 20"/>
          <p:cNvSpPr/>
          <p:nvPr/>
        </p:nvSpPr>
        <p:spPr>
          <a:xfrm>
            <a:off x="611188" y="4675188"/>
            <a:ext cx="5159375" cy="206375"/>
          </a:xfrm>
          <a:prstGeom prst="rect">
            <a:avLst/>
          </a:prstGeom>
          <a:noFill/>
          <a:ln/>
        </p:spPr>
        <p:txBody>
          <a:bodyPr wrap="square" lIns="0" tIns="0" rIns="0" bIns="0" rtlCol="0" anchor="ctr"/>
          <a:lstStyle/>
          <a:p>
            <a:pPr>
              <a:lnSpc>
                <a:spcPct val="140000"/>
              </a:lnSpc>
            </a:pPr>
            <a:r>
              <a:rPr lang="en-US" sz="1000" dirty="0">
                <a:solidFill>
                  <a:srgbClr val="F8F9FA">
                    <a:alpha val="90000"/>
                  </a:srgbClr>
                </a:solidFill>
                <a:latin typeface="Liter" pitchFamily="34" charset="0"/>
                <a:ea typeface="Liter" pitchFamily="34" charset="-122"/>
                <a:cs typeface="Liter" pitchFamily="34" charset="-120"/>
              </a:rPr>
              <a:t>Outil de rétention à haut volume. Bon pour fidéliser mais coûteux à acquérir.</a:t>
            </a:r>
            <a:endParaRPr lang="en-US" sz="1600" dirty="0"/>
          </a:p>
        </p:txBody>
      </p:sp>
      <p:sp>
        <p:nvSpPr>
          <p:cNvPr id="23" name="Shape 21"/>
          <p:cNvSpPr/>
          <p:nvPr/>
        </p:nvSpPr>
        <p:spPr>
          <a:xfrm>
            <a:off x="488156" y="5139531"/>
            <a:ext cx="5341938" cy="357188"/>
          </a:xfrm>
          <a:custGeom>
            <a:avLst/>
            <a:gdLst/>
            <a:ahLst/>
            <a:cxnLst/>
            <a:rect l="l" t="t" r="r" b="b"/>
            <a:pathLst>
              <a:path w="5341938" h="357188">
                <a:moveTo>
                  <a:pt x="63501" y="0"/>
                </a:moveTo>
                <a:lnTo>
                  <a:pt x="5278437" y="0"/>
                </a:lnTo>
                <a:cubicBezTo>
                  <a:pt x="5313507" y="0"/>
                  <a:pt x="5341938" y="28430"/>
                  <a:pt x="5341938" y="63501"/>
                </a:cubicBezTo>
                <a:lnTo>
                  <a:pt x="5341938" y="293687"/>
                </a:lnTo>
                <a:cubicBezTo>
                  <a:pt x="5341938" y="328757"/>
                  <a:pt x="5313507" y="357188"/>
                  <a:pt x="5278437" y="357188"/>
                </a:cubicBezTo>
                <a:lnTo>
                  <a:pt x="63501" y="357188"/>
                </a:lnTo>
                <a:cubicBezTo>
                  <a:pt x="28430" y="357188"/>
                  <a:pt x="0" y="328757"/>
                  <a:pt x="0" y="293687"/>
                </a:cubicBezTo>
                <a:lnTo>
                  <a:pt x="0" y="63501"/>
                </a:lnTo>
                <a:cubicBezTo>
                  <a:pt x="0" y="28454"/>
                  <a:pt x="28454" y="0"/>
                  <a:pt x="63501" y="0"/>
                </a:cubicBezTo>
                <a:close/>
              </a:path>
            </a:pathLst>
          </a:custGeom>
          <a:solidFill>
            <a:srgbClr val="FB2C36">
              <a:alpha val="20000"/>
            </a:srgbClr>
          </a:solidFill>
          <a:ln w="12700">
            <a:solidFill>
              <a:srgbClr val="FB2C36">
                <a:alpha val="40000"/>
              </a:srgbClr>
            </a:solidFill>
            <a:prstDash val="solid"/>
          </a:ln>
        </p:spPr>
      </p:sp>
      <p:sp>
        <p:nvSpPr>
          <p:cNvPr id="24" name="Shape 22"/>
          <p:cNvSpPr/>
          <p:nvPr/>
        </p:nvSpPr>
        <p:spPr>
          <a:xfrm>
            <a:off x="1694966" y="5262563"/>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36246" y="36246"/>
                </a:moveTo>
                <a:cubicBezTo>
                  <a:pt x="38286" y="34206"/>
                  <a:pt x="41585" y="34206"/>
                  <a:pt x="43604" y="36246"/>
                </a:cubicBezTo>
                <a:lnTo>
                  <a:pt x="55541" y="48183"/>
                </a:lnTo>
                <a:lnTo>
                  <a:pt x="67478" y="36246"/>
                </a:lnTo>
                <a:cubicBezTo>
                  <a:pt x="69518" y="34206"/>
                  <a:pt x="72817" y="34206"/>
                  <a:pt x="74836" y="36246"/>
                </a:cubicBezTo>
                <a:cubicBezTo>
                  <a:pt x="76854" y="38286"/>
                  <a:pt x="76876" y="41585"/>
                  <a:pt x="74836" y="43604"/>
                </a:cubicBezTo>
                <a:lnTo>
                  <a:pt x="62898" y="55541"/>
                </a:lnTo>
                <a:lnTo>
                  <a:pt x="74836" y="67478"/>
                </a:lnTo>
                <a:cubicBezTo>
                  <a:pt x="76876" y="69518"/>
                  <a:pt x="76876" y="72817"/>
                  <a:pt x="74836" y="74836"/>
                </a:cubicBezTo>
                <a:cubicBezTo>
                  <a:pt x="72796" y="76854"/>
                  <a:pt x="69497" y="76876"/>
                  <a:pt x="67478" y="74836"/>
                </a:cubicBezTo>
                <a:lnTo>
                  <a:pt x="55541" y="62898"/>
                </a:lnTo>
                <a:lnTo>
                  <a:pt x="43604" y="74836"/>
                </a:lnTo>
                <a:cubicBezTo>
                  <a:pt x="41563" y="76876"/>
                  <a:pt x="38264" y="76876"/>
                  <a:pt x="36246" y="74836"/>
                </a:cubicBezTo>
                <a:cubicBezTo>
                  <a:pt x="34227" y="72796"/>
                  <a:pt x="34206" y="69497"/>
                  <a:pt x="36246" y="67478"/>
                </a:cubicBezTo>
                <a:lnTo>
                  <a:pt x="48183" y="55541"/>
                </a:lnTo>
                <a:lnTo>
                  <a:pt x="36246" y="43604"/>
                </a:lnTo>
                <a:cubicBezTo>
                  <a:pt x="34206" y="41563"/>
                  <a:pt x="34206" y="38264"/>
                  <a:pt x="36246" y="36246"/>
                </a:cubicBezTo>
                <a:close/>
              </a:path>
            </a:pathLst>
          </a:custGeom>
          <a:solidFill>
            <a:srgbClr val="FF6467"/>
          </a:solidFill>
          <a:ln/>
        </p:spPr>
      </p:sp>
      <p:sp>
        <p:nvSpPr>
          <p:cNvPr id="25" name="Text 23"/>
          <p:cNvSpPr/>
          <p:nvPr/>
        </p:nvSpPr>
        <p:spPr>
          <a:xfrm>
            <a:off x="742156" y="5238750"/>
            <a:ext cx="5016500" cy="158750"/>
          </a:xfrm>
          <a:prstGeom prst="rect">
            <a:avLst/>
          </a:prstGeom>
          <a:noFill/>
          <a:ln/>
        </p:spPr>
        <p:txBody>
          <a:bodyPr wrap="square" lIns="0" tIns="0" rIns="0" bIns="0" rtlCol="0" anchor="ctr"/>
          <a:lstStyle/>
          <a:p>
            <a:pPr algn="ctr">
              <a:lnSpc>
                <a:spcPct val="120000"/>
              </a:lnSpc>
            </a:pPr>
            <a:r>
              <a:rPr lang="en-US" sz="875" b="1" dirty="0">
                <a:solidFill>
                  <a:srgbClr val="F8F9FA">
                    <a:alpha val="80000"/>
                  </a:srgbClr>
                </a:solidFill>
                <a:latin typeface="Liter" pitchFamily="34" charset="0"/>
                <a:ea typeface="Liter" pitchFamily="34" charset="-122"/>
                <a:cs typeface="Liter" pitchFamily="34" charset="-120"/>
              </a:rPr>
              <a:t>Coût d'acquisition:</a:t>
            </a:r>
            <a:pPr algn="ctr">
              <a:lnSpc>
                <a:spcPct val="120000"/>
              </a:lnSpc>
            </a:pPr>
            <a:r>
              <a:rPr lang="en-US" sz="875" dirty="0">
                <a:solidFill>
                  <a:srgbClr val="F8F9FA">
                    <a:alpha val="80000"/>
                  </a:srgbClr>
                </a:solidFill>
                <a:latin typeface="Liter" pitchFamily="34" charset="0"/>
                <a:ea typeface="Liter" pitchFamily="34" charset="-122"/>
                <a:cs typeface="Liter" pitchFamily="34" charset="-120"/>
              </a:rPr>
              <a:t> 50-80$ par patient (CPL Healthcare)</a:t>
            </a:r>
            <a:endParaRPr lang="en-US" sz="1600" dirty="0"/>
          </a:p>
        </p:txBody>
      </p:sp>
      <p:sp>
        <p:nvSpPr>
          <p:cNvPr id="26" name="Shape 24"/>
          <p:cNvSpPr/>
          <p:nvPr/>
        </p:nvSpPr>
        <p:spPr>
          <a:xfrm>
            <a:off x="6195219" y="1273969"/>
            <a:ext cx="5675313" cy="4389438"/>
          </a:xfrm>
          <a:custGeom>
            <a:avLst/>
            <a:gdLst/>
            <a:ahLst/>
            <a:cxnLst/>
            <a:rect l="l" t="t" r="r" b="b"/>
            <a:pathLst>
              <a:path w="5675313" h="4389438">
                <a:moveTo>
                  <a:pt x="95251" y="0"/>
                </a:moveTo>
                <a:lnTo>
                  <a:pt x="5580062" y="0"/>
                </a:lnTo>
                <a:cubicBezTo>
                  <a:pt x="5632667" y="0"/>
                  <a:pt x="5675313" y="42645"/>
                  <a:pt x="5675313" y="95251"/>
                </a:cubicBezTo>
                <a:lnTo>
                  <a:pt x="5675313" y="4294187"/>
                </a:lnTo>
                <a:cubicBezTo>
                  <a:pt x="5675313" y="4346792"/>
                  <a:pt x="5632667" y="4389438"/>
                  <a:pt x="5580062" y="4389438"/>
                </a:cubicBezTo>
                <a:lnTo>
                  <a:pt x="95251" y="4389438"/>
                </a:lnTo>
                <a:cubicBezTo>
                  <a:pt x="42645" y="4389438"/>
                  <a:pt x="0" y="4346792"/>
                  <a:pt x="0" y="4294187"/>
                </a:cubicBezTo>
                <a:lnTo>
                  <a:pt x="0" y="95251"/>
                </a:lnTo>
                <a:cubicBezTo>
                  <a:pt x="0" y="42680"/>
                  <a:pt x="42680" y="0"/>
                  <a:pt x="95251" y="0"/>
                </a:cubicBezTo>
                <a:close/>
              </a:path>
            </a:pathLst>
          </a:custGeom>
          <a:solidFill>
            <a:srgbClr val="C5A065">
              <a:alpha val="20000"/>
            </a:srgbClr>
          </a:solidFill>
          <a:ln w="12700">
            <a:solidFill>
              <a:srgbClr val="C5A065">
                <a:alpha val="40000"/>
              </a:srgbClr>
            </a:solidFill>
            <a:prstDash val="solid"/>
          </a:ln>
        </p:spPr>
      </p:sp>
      <p:sp>
        <p:nvSpPr>
          <p:cNvPr id="27" name="Shape 25"/>
          <p:cNvSpPr/>
          <p:nvPr/>
        </p:nvSpPr>
        <p:spPr>
          <a:xfrm>
            <a:off x="6357938" y="1436688"/>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C5A065"/>
          </a:solidFill>
          <a:ln/>
        </p:spPr>
      </p:sp>
      <p:sp>
        <p:nvSpPr>
          <p:cNvPr id="28" name="Shape 26"/>
          <p:cNvSpPr/>
          <p:nvPr/>
        </p:nvSpPr>
        <p:spPr>
          <a:xfrm>
            <a:off x="6484938" y="1563688"/>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FFFFFF"/>
          </a:solidFill>
          <a:ln/>
        </p:spPr>
      </p:sp>
      <p:sp>
        <p:nvSpPr>
          <p:cNvPr id="29" name="Text 27"/>
          <p:cNvSpPr/>
          <p:nvPr/>
        </p:nvSpPr>
        <p:spPr>
          <a:xfrm>
            <a:off x="6897688" y="1436688"/>
            <a:ext cx="1698625" cy="254000"/>
          </a:xfrm>
          <a:prstGeom prst="rect">
            <a:avLst/>
          </a:prstGeom>
          <a:noFill/>
          <a:ln/>
        </p:spPr>
        <p:txBody>
          <a:bodyPr wrap="square" lIns="0" tIns="0" rIns="0" bIns="0" rtlCol="0" anchor="ctr"/>
          <a:lstStyle/>
          <a:p>
            <a:pPr>
              <a:lnSpc>
                <a:spcPct val="110000"/>
              </a:lnSpc>
            </a:pPr>
            <a:r>
              <a:rPr lang="en-US" sz="1500" b="1" dirty="0">
                <a:solidFill>
                  <a:srgbClr val="F8F9FA"/>
                </a:solidFill>
                <a:latin typeface="Liter" pitchFamily="34" charset="0"/>
                <a:ea typeface="Liter" pitchFamily="34" charset="-122"/>
                <a:cs typeface="Liter" pitchFamily="34" charset="-120"/>
              </a:rPr>
              <a:t>Cartographie qEEG</a:t>
            </a:r>
            <a:endParaRPr lang="en-US" sz="1600" dirty="0"/>
          </a:p>
        </p:txBody>
      </p:sp>
      <p:sp>
        <p:nvSpPr>
          <p:cNvPr id="30" name="Text 28"/>
          <p:cNvSpPr/>
          <p:nvPr/>
        </p:nvSpPr>
        <p:spPr>
          <a:xfrm>
            <a:off x="6897688" y="1690688"/>
            <a:ext cx="1666875" cy="190500"/>
          </a:xfrm>
          <a:prstGeom prst="rect">
            <a:avLst/>
          </a:prstGeom>
          <a:noFill/>
          <a:ln/>
        </p:spPr>
        <p:txBody>
          <a:bodyPr wrap="square" lIns="0" tIns="0" rIns="0" bIns="0" rtlCol="0" anchor="ctr"/>
          <a:lstStyle/>
          <a:p>
            <a:pPr>
              <a:lnSpc>
                <a:spcPct val="130000"/>
              </a:lnSpc>
            </a:pPr>
            <a:r>
              <a:rPr lang="en-US" sz="1000" dirty="0">
                <a:solidFill>
                  <a:srgbClr val="C5A065"/>
                </a:solidFill>
                <a:latin typeface="Liter" pitchFamily="34" charset="0"/>
                <a:ea typeface="Liter" pitchFamily="34" charset="-122"/>
                <a:cs typeface="Liter" pitchFamily="34" charset="-120"/>
              </a:rPr>
              <a:t>Brain Mapping</a:t>
            </a:r>
            <a:endParaRPr lang="en-US" sz="1600" dirty="0"/>
          </a:p>
        </p:txBody>
      </p:sp>
      <p:sp>
        <p:nvSpPr>
          <p:cNvPr id="31" name="Shape 29"/>
          <p:cNvSpPr/>
          <p:nvPr/>
        </p:nvSpPr>
        <p:spPr>
          <a:xfrm>
            <a:off x="6357938" y="2008187"/>
            <a:ext cx="5349875" cy="1047750"/>
          </a:xfrm>
          <a:custGeom>
            <a:avLst/>
            <a:gdLst/>
            <a:ahLst/>
            <a:cxnLst/>
            <a:rect l="l" t="t" r="r" b="b"/>
            <a:pathLst>
              <a:path w="5349875" h="1047750">
                <a:moveTo>
                  <a:pt x="63504" y="0"/>
                </a:moveTo>
                <a:lnTo>
                  <a:pt x="5286371" y="0"/>
                </a:lnTo>
                <a:cubicBezTo>
                  <a:pt x="5321443" y="0"/>
                  <a:pt x="5349875" y="28432"/>
                  <a:pt x="5349875" y="63504"/>
                </a:cubicBezTo>
                <a:lnTo>
                  <a:pt x="5349875" y="984246"/>
                </a:lnTo>
                <a:cubicBezTo>
                  <a:pt x="5349875" y="1019318"/>
                  <a:pt x="5321443" y="1047750"/>
                  <a:pt x="5286371" y="1047750"/>
                </a:cubicBezTo>
                <a:lnTo>
                  <a:pt x="63504" y="1047750"/>
                </a:lnTo>
                <a:cubicBezTo>
                  <a:pt x="28432" y="1047750"/>
                  <a:pt x="0" y="1019318"/>
                  <a:pt x="0" y="984246"/>
                </a:cubicBezTo>
                <a:lnTo>
                  <a:pt x="0" y="63504"/>
                </a:lnTo>
                <a:cubicBezTo>
                  <a:pt x="0" y="28432"/>
                  <a:pt x="28432" y="0"/>
                  <a:pt x="63504" y="0"/>
                </a:cubicBezTo>
                <a:close/>
              </a:path>
            </a:pathLst>
          </a:custGeom>
          <a:solidFill>
            <a:srgbClr val="FFFFFF">
              <a:alpha val="10196"/>
            </a:srgbClr>
          </a:solidFill>
          <a:ln/>
        </p:spPr>
      </p:sp>
      <p:sp>
        <p:nvSpPr>
          <p:cNvPr id="32" name="Shape 30"/>
          <p:cNvSpPr/>
          <p:nvPr/>
        </p:nvSpPr>
        <p:spPr>
          <a:xfrm>
            <a:off x="6534547" y="2166938"/>
            <a:ext cx="99219" cy="158750"/>
          </a:xfrm>
          <a:custGeom>
            <a:avLst/>
            <a:gdLst/>
            <a:ahLst/>
            <a:cxnLst/>
            <a:rect l="l" t="t" r="r" b="b"/>
            <a:pathLst>
              <a:path w="99219" h="158750">
                <a:moveTo>
                  <a:pt x="42168" y="7441"/>
                </a:moveTo>
                <a:cubicBezTo>
                  <a:pt x="42168" y="3318"/>
                  <a:pt x="45486" y="0"/>
                  <a:pt x="49609" y="0"/>
                </a:cubicBezTo>
                <a:cubicBezTo>
                  <a:pt x="53733" y="0"/>
                  <a:pt x="57051" y="3318"/>
                  <a:pt x="57051" y="7441"/>
                </a:cubicBezTo>
                <a:lnTo>
                  <a:pt x="57051" y="19844"/>
                </a:lnTo>
                <a:lnTo>
                  <a:pt x="74414" y="19844"/>
                </a:lnTo>
                <a:cubicBezTo>
                  <a:pt x="79902" y="19844"/>
                  <a:pt x="84336" y="24278"/>
                  <a:pt x="84336" y="29766"/>
                </a:cubicBezTo>
                <a:cubicBezTo>
                  <a:pt x="84336" y="35254"/>
                  <a:pt x="79902" y="39688"/>
                  <a:pt x="74414" y="39688"/>
                </a:cubicBezTo>
                <a:lnTo>
                  <a:pt x="38788" y="39688"/>
                </a:lnTo>
                <a:cubicBezTo>
                  <a:pt x="31068" y="39688"/>
                  <a:pt x="24805" y="45951"/>
                  <a:pt x="24805" y="53671"/>
                </a:cubicBezTo>
                <a:cubicBezTo>
                  <a:pt x="24805" y="60647"/>
                  <a:pt x="29921" y="66539"/>
                  <a:pt x="36804" y="67531"/>
                </a:cubicBezTo>
                <a:lnTo>
                  <a:pt x="65205" y="71593"/>
                </a:lnTo>
                <a:cubicBezTo>
                  <a:pt x="81886" y="73980"/>
                  <a:pt x="94258" y="88243"/>
                  <a:pt x="94258" y="105079"/>
                </a:cubicBezTo>
                <a:cubicBezTo>
                  <a:pt x="94258" y="123775"/>
                  <a:pt x="79096" y="138906"/>
                  <a:pt x="60430" y="138906"/>
                </a:cubicBezTo>
                <a:lnTo>
                  <a:pt x="57051" y="138906"/>
                </a:lnTo>
                <a:lnTo>
                  <a:pt x="57051" y="151309"/>
                </a:lnTo>
                <a:cubicBezTo>
                  <a:pt x="57051" y="155432"/>
                  <a:pt x="53733" y="158750"/>
                  <a:pt x="49609" y="158750"/>
                </a:cubicBezTo>
                <a:cubicBezTo>
                  <a:pt x="45486" y="158750"/>
                  <a:pt x="42168" y="155432"/>
                  <a:pt x="42168" y="151309"/>
                </a:cubicBezTo>
                <a:lnTo>
                  <a:pt x="42168" y="138906"/>
                </a:lnTo>
                <a:lnTo>
                  <a:pt x="19844" y="138906"/>
                </a:lnTo>
                <a:cubicBezTo>
                  <a:pt x="14356" y="138906"/>
                  <a:pt x="9922" y="134472"/>
                  <a:pt x="9922" y="128984"/>
                </a:cubicBezTo>
                <a:cubicBezTo>
                  <a:pt x="9922" y="123496"/>
                  <a:pt x="14356" y="119062"/>
                  <a:pt x="19844" y="119062"/>
                </a:cubicBezTo>
                <a:lnTo>
                  <a:pt x="60430" y="119062"/>
                </a:lnTo>
                <a:cubicBezTo>
                  <a:pt x="68151" y="119062"/>
                  <a:pt x="74414" y="112799"/>
                  <a:pt x="74414" y="105079"/>
                </a:cubicBezTo>
                <a:cubicBezTo>
                  <a:pt x="74414" y="98103"/>
                  <a:pt x="69298" y="92211"/>
                  <a:pt x="62415" y="91219"/>
                </a:cubicBezTo>
                <a:lnTo>
                  <a:pt x="34013" y="87157"/>
                </a:lnTo>
                <a:cubicBezTo>
                  <a:pt x="17332" y="84801"/>
                  <a:pt x="4961" y="70507"/>
                  <a:pt x="4961" y="53671"/>
                </a:cubicBezTo>
                <a:cubicBezTo>
                  <a:pt x="4961" y="35006"/>
                  <a:pt x="20123" y="19844"/>
                  <a:pt x="38788" y="19844"/>
                </a:cubicBezTo>
                <a:lnTo>
                  <a:pt x="42168" y="19844"/>
                </a:lnTo>
                <a:lnTo>
                  <a:pt x="42168" y="7441"/>
                </a:lnTo>
                <a:close/>
              </a:path>
            </a:pathLst>
          </a:custGeom>
          <a:solidFill>
            <a:srgbClr val="C5A065"/>
          </a:solidFill>
          <a:ln/>
        </p:spPr>
      </p:sp>
      <p:sp>
        <p:nvSpPr>
          <p:cNvPr id="33" name="Text 31"/>
          <p:cNvSpPr/>
          <p:nvPr/>
        </p:nvSpPr>
        <p:spPr>
          <a:xfrm>
            <a:off x="6778625" y="2135188"/>
            <a:ext cx="365125" cy="222250"/>
          </a:xfrm>
          <a:prstGeom prst="rect">
            <a:avLst/>
          </a:prstGeom>
          <a:noFill/>
          <a:ln/>
        </p:spPr>
        <p:txBody>
          <a:bodyPr wrap="square" lIns="0" tIns="0" rIns="0" bIns="0" rtlCol="0" anchor="ctr"/>
          <a:lstStyle/>
          <a:p>
            <a:pPr>
              <a:lnSpc>
                <a:spcPct val="130000"/>
              </a:lnSpc>
            </a:pPr>
            <a:r>
              <a:rPr lang="en-US" sz="1125" b="1" dirty="0">
                <a:solidFill>
                  <a:srgbClr val="F8F9FA"/>
                </a:solidFill>
                <a:latin typeface="Liter" pitchFamily="34" charset="0"/>
                <a:ea typeface="Liter" pitchFamily="34" charset="-122"/>
                <a:cs typeface="Liter" pitchFamily="34" charset="-120"/>
              </a:rPr>
              <a:t>Tarif</a:t>
            </a:r>
            <a:endParaRPr lang="en-US" sz="1600" dirty="0"/>
          </a:p>
        </p:txBody>
      </p:sp>
      <p:sp>
        <p:nvSpPr>
          <p:cNvPr id="34" name="Text 32"/>
          <p:cNvSpPr/>
          <p:nvPr/>
        </p:nvSpPr>
        <p:spPr>
          <a:xfrm>
            <a:off x="6484938" y="2420938"/>
            <a:ext cx="5238750" cy="317500"/>
          </a:xfrm>
          <a:prstGeom prst="rect">
            <a:avLst/>
          </a:prstGeom>
          <a:noFill/>
          <a:ln/>
        </p:spPr>
        <p:txBody>
          <a:bodyPr wrap="square" lIns="0" tIns="0" rIns="0" bIns="0" rtlCol="0" anchor="ctr"/>
          <a:lstStyle/>
          <a:p>
            <a:pPr>
              <a:lnSpc>
                <a:spcPct val="90000"/>
              </a:lnSpc>
            </a:pPr>
            <a:r>
              <a:rPr lang="en-US" sz="2250" b="1" dirty="0">
                <a:solidFill>
                  <a:srgbClr val="C5A065"/>
                </a:solidFill>
                <a:latin typeface="Liter" pitchFamily="34" charset="0"/>
                <a:ea typeface="Liter" pitchFamily="34" charset="-122"/>
                <a:cs typeface="Liter" pitchFamily="34" charset="-120"/>
              </a:rPr>
              <a:t>300 $</a:t>
            </a:r>
            <a:endParaRPr lang="en-US" sz="1600" dirty="0"/>
          </a:p>
        </p:txBody>
      </p:sp>
      <p:sp>
        <p:nvSpPr>
          <p:cNvPr id="35" name="Text 33"/>
          <p:cNvSpPr/>
          <p:nvPr/>
        </p:nvSpPr>
        <p:spPr>
          <a:xfrm>
            <a:off x="6484938" y="2770188"/>
            <a:ext cx="5151438" cy="158750"/>
          </a:xfrm>
          <a:prstGeom prst="rect">
            <a:avLst/>
          </a:prstGeom>
          <a:noFill/>
          <a:ln/>
        </p:spPr>
        <p:txBody>
          <a:bodyPr wrap="square" lIns="0" tIns="0" rIns="0" bIns="0" rtlCol="0" anchor="ctr"/>
          <a:lstStyle/>
          <a:p>
            <a:pPr>
              <a:lnSpc>
                <a:spcPct val="120000"/>
              </a:lnSpc>
            </a:pPr>
            <a:r>
              <a:rPr lang="en-US" sz="875" dirty="0">
                <a:solidFill>
                  <a:srgbClr val="F8F9FA">
                    <a:alpha val="80000"/>
                  </a:srgbClr>
                </a:solidFill>
                <a:latin typeface="Liter" pitchFamily="34" charset="0"/>
                <a:ea typeface="Liter" pitchFamily="34" charset="-122"/>
                <a:cs typeface="Liter" pitchFamily="34" charset="-120"/>
              </a:rPr>
              <a:t>par évaluation</a:t>
            </a:r>
            <a:endParaRPr lang="en-US" sz="1600" dirty="0"/>
          </a:p>
        </p:txBody>
      </p:sp>
      <p:sp>
        <p:nvSpPr>
          <p:cNvPr id="36" name="Shape 34"/>
          <p:cNvSpPr/>
          <p:nvPr/>
        </p:nvSpPr>
        <p:spPr>
          <a:xfrm>
            <a:off x="6357938" y="3182938"/>
            <a:ext cx="5349875" cy="746125"/>
          </a:xfrm>
          <a:custGeom>
            <a:avLst/>
            <a:gdLst/>
            <a:ahLst/>
            <a:cxnLst/>
            <a:rect l="l" t="t" r="r" b="b"/>
            <a:pathLst>
              <a:path w="5349875" h="746125">
                <a:moveTo>
                  <a:pt x="63503" y="0"/>
                </a:moveTo>
                <a:lnTo>
                  <a:pt x="5286372" y="0"/>
                </a:lnTo>
                <a:cubicBezTo>
                  <a:pt x="5321444" y="0"/>
                  <a:pt x="5349875" y="28431"/>
                  <a:pt x="5349875" y="63503"/>
                </a:cubicBezTo>
                <a:lnTo>
                  <a:pt x="5349875" y="682622"/>
                </a:lnTo>
                <a:cubicBezTo>
                  <a:pt x="5349875" y="717694"/>
                  <a:pt x="5321444" y="746125"/>
                  <a:pt x="5286372" y="746125"/>
                </a:cubicBezTo>
                <a:lnTo>
                  <a:pt x="63503" y="746125"/>
                </a:lnTo>
                <a:cubicBezTo>
                  <a:pt x="28431" y="746125"/>
                  <a:pt x="0" y="717694"/>
                  <a:pt x="0" y="682622"/>
                </a:cubicBezTo>
                <a:lnTo>
                  <a:pt x="0" y="63503"/>
                </a:lnTo>
                <a:cubicBezTo>
                  <a:pt x="0" y="28431"/>
                  <a:pt x="28431" y="0"/>
                  <a:pt x="63503" y="0"/>
                </a:cubicBezTo>
                <a:close/>
              </a:path>
            </a:pathLst>
          </a:custGeom>
          <a:solidFill>
            <a:srgbClr val="FFFFFF">
              <a:alpha val="10196"/>
            </a:srgbClr>
          </a:solidFill>
          <a:ln/>
        </p:spPr>
      </p:sp>
      <p:sp>
        <p:nvSpPr>
          <p:cNvPr id="37" name="Shape 35"/>
          <p:cNvSpPr/>
          <p:nvPr/>
        </p:nvSpPr>
        <p:spPr>
          <a:xfrm>
            <a:off x="6504781" y="3341688"/>
            <a:ext cx="158750" cy="158750"/>
          </a:xfrm>
          <a:custGeom>
            <a:avLst/>
            <a:gdLst/>
            <a:ahLst/>
            <a:cxnLst/>
            <a:rect l="l" t="t" r="r" b="b"/>
            <a:pathLst>
              <a:path w="158750" h="158750">
                <a:moveTo>
                  <a:pt x="39688" y="99219"/>
                </a:moveTo>
                <a:lnTo>
                  <a:pt x="7596" y="99219"/>
                </a:lnTo>
                <a:cubicBezTo>
                  <a:pt x="-124" y="99219"/>
                  <a:pt x="-4868" y="90816"/>
                  <a:pt x="-899" y="84181"/>
                </a:cubicBezTo>
                <a:lnTo>
                  <a:pt x="15503" y="56834"/>
                </a:lnTo>
                <a:cubicBezTo>
                  <a:pt x="18200" y="52338"/>
                  <a:pt x="23037" y="49609"/>
                  <a:pt x="28277" y="49609"/>
                </a:cubicBezTo>
                <a:lnTo>
                  <a:pt x="57733" y="49609"/>
                </a:lnTo>
                <a:cubicBezTo>
                  <a:pt x="81328" y="9643"/>
                  <a:pt x="116520" y="7627"/>
                  <a:pt x="140053" y="11069"/>
                </a:cubicBezTo>
                <a:cubicBezTo>
                  <a:pt x="144022" y="11658"/>
                  <a:pt x="147123" y="14759"/>
                  <a:pt x="147681" y="18697"/>
                </a:cubicBezTo>
                <a:cubicBezTo>
                  <a:pt x="151123" y="42230"/>
                  <a:pt x="149107" y="77422"/>
                  <a:pt x="109141" y="101017"/>
                </a:cubicBezTo>
                <a:lnTo>
                  <a:pt x="109141" y="130473"/>
                </a:lnTo>
                <a:cubicBezTo>
                  <a:pt x="109141" y="135713"/>
                  <a:pt x="106412" y="140550"/>
                  <a:pt x="101916" y="143247"/>
                </a:cubicBezTo>
                <a:lnTo>
                  <a:pt x="74569" y="159649"/>
                </a:lnTo>
                <a:cubicBezTo>
                  <a:pt x="67965" y="163618"/>
                  <a:pt x="59531" y="158843"/>
                  <a:pt x="59531" y="151154"/>
                </a:cubicBezTo>
                <a:lnTo>
                  <a:pt x="59531" y="119062"/>
                </a:lnTo>
                <a:cubicBezTo>
                  <a:pt x="59531" y="108117"/>
                  <a:pt x="50633" y="99219"/>
                  <a:pt x="39688" y="99219"/>
                </a:cubicBezTo>
                <a:lnTo>
                  <a:pt x="39656" y="99219"/>
                </a:lnTo>
                <a:close/>
                <a:moveTo>
                  <a:pt x="124023" y="49609"/>
                </a:moveTo>
                <a:cubicBezTo>
                  <a:pt x="124023" y="41395"/>
                  <a:pt x="117355" y="34727"/>
                  <a:pt x="109141" y="34727"/>
                </a:cubicBezTo>
                <a:cubicBezTo>
                  <a:pt x="100927" y="34727"/>
                  <a:pt x="94258" y="41395"/>
                  <a:pt x="94258" y="49609"/>
                </a:cubicBezTo>
                <a:cubicBezTo>
                  <a:pt x="94258" y="57823"/>
                  <a:pt x="100927" y="64492"/>
                  <a:pt x="109141" y="64492"/>
                </a:cubicBezTo>
                <a:cubicBezTo>
                  <a:pt x="117355" y="64492"/>
                  <a:pt x="124023" y="57823"/>
                  <a:pt x="124023" y="49609"/>
                </a:cubicBezTo>
                <a:close/>
              </a:path>
            </a:pathLst>
          </a:custGeom>
          <a:solidFill>
            <a:srgbClr val="C5A065"/>
          </a:solidFill>
          <a:ln/>
        </p:spPr>
      </p:sp>
      <p:sp>
        <p:nvSpPr>
          <p:cNvPr id="38" name="Text 36"/>
          <p:cNvSpPr/>
          <p:nvPr/>
        </p:nvSpPr>
        <p:spPr>
          <a:xfrm>
            <a:off x="6778625" y="3309938"/>
            <a:ext cx="547688" cy="222250"/>
          </a:xfrm>
          <a:prstGeom prst="rect">
            <a:avLst/>
          </a:prstGeom>
          <a:noFill/>
          <a:ln/>
        </p:spPr>
        <p:txBody>
          <a:bodyPr wrap="square" lIns="0" tIns="0" rIns="0" bIns="0" rtlCol="0" anchor="ctr"/>
          <a:lstStyle/>
          <a:p>
            <a:pPr>
              <a:lnSpc>
                <a:spcPct val="130000"/>
              </a:lnSpc>
            </a:pPr>
            <a:r>
              <a:rPr lang="en-US" sz="1125" b="1" dirty="0">
                <a:solidFill>
                  <a:srgbClr val="F8F9FA"/>
                </a:solidFill>
                <a:latin typeface="Liter" pitchFamily="34" charset="0"/>
                <a:ea typeface="Liter" pitchFamily="34" charset="-122"/>
                <a:cs typeface="Liter" pitchFamily="34" charset="-120"/>
              </a:rPr>
              <a:t>Modèle</a:t>
            </a:r>
            <a:endParaRPr lang="en-US" sz="1600" dirty="0"/>
          </a:p>
        </p:txBody>
      </p:sp>
      <p:sp>
        <p:nvSpPr>
          <p:cNvPr id="39" name="Text 37"/>
          <p:cNvSpPr/>
          <p:nvPr/>
        </p:nvSpPr>
        <p:spPr>
          <a:xfrm>
            <a:off x="6484938" y="3595688"/>
            <a:ext cx="5159375" cy="206375"/>
          </a:xfrm>
          <a:prstGeom prst="rect">
            <a:avLst/>
          </a:prstGeom>
          <a:noFill/>
          <a:ln/>
        </p:spPr>
        <p:txBody>
          <a:bodyPr wrap="square" lIns="0" tIns="0" rIns="0" bIns="0" rtlCol="0" anchor="ctr"/>
          <a:lstStyle/>
          <a:p>
            <a:pPr>
              <a:lnSpc>
                <a:spcPct val="140000"/>
              </a:lnSpc>
            </a:pPr>
            <a:r>
              <a:rPr lang="en-US" sz="1000" b="1" dirty="0">
                <a:solidFill>
                  <a:srgbClr val="F8F9FA">
                    <a:alpha val="90000"/>
                  </a:srgbClr>
                </a:solidFill>
                <a:latin typeface="Liter" pitchFamily="34" charset="0"/>
                <a:ea typeface="Liter" pitchFamily="34" charset="-122"/>
                <a:cs typeface="Liter" pitchFamily="34" charset="-120"/>
              </a:rPr>
              <a:t>Multiplicateur de revenus.</a:t>
            </a:r>
            <a:pPr>
              <a:lnSpc>
                <a:spcPct val="140000"/>
              </a:lnSpc>
            </a:pPr>
            <a:r>
              <a:rPr lang="en-US" sz="1000" dirty="0">
                <a:solidFill>
                  <a:srgbClr val="F8F9FA">
                    <a:alpha val="90000"/>
                  </a:srgbClr>
                </a:solidFill>
                <a:highlight>
                  <a:srgbClr val="C5A065">
                    <a:alpha val="30000"/>
                  </a:srgbClr>
                </a:highlight>
                <a:latin typeface="Liter" pitchFamily="34" charset="0"/>
                <a:ea typeface="Liter" pitchFamily="34" charset="-122"/>
                <a:cs typeface="Liter" pitchFamily="34" charset="-120"/>
              </a:rPr>
              <a:t> 2x par rapport au standard </a:t>
            </a:r>
            <a:pPr>
              <a:lnSpc>
                <a:spcPct val="140000"/>
              </a:lnSpc>
            </a:pPr>
            <a:r>
              <a:rPr lang="en-US" sz="1000" dirty="0">
                <a:solidFill>
                  <a:srgbClr val="F8F9FA">
                    <a:alpha val="90000"/>
                  </a:srgbClr>
                </a:solidFill>
                <a:latin typeface="Liter" pitchFamily="34" charset="0"/>
                <a:ea typeface="Liter" pitchFamily="34" charset="-122"/>
                <a:cs typeface="Liter" pitchFamily="34" charset="-120"/>
              </a:rPr>
              <a:t>avec marge nette supérieure.</a:t>
            </a:r>
            <a:endParaRPr lang="en-US" sz="1600" dirty="0"/>
          </a:p>
        </p:txBody>
      </p:sp>
      <p:sp>
        <p:nvSpPr>
          <p:cNvPr id="40" name="Shape 38"/>
          <p:cNvSpPr/>
          <p:nvPr/>
        </p:nvSpPr>
        <p:spPr>
          <a:xfrm>
            <a:off x="6357938" y="4056063"/>
            <a:ext cx="5349875" cy="952500"/>
          </a:xfrm>
          <a:custGeom>
            <a:avLst/>
            <a:gdLst/>
            <a:ahLst/>
            <a:cxnLst/>
            <a:rect l="l" t="t" r="r" b="b"/>
            <a:pathLst>
              <a:path w="5349875" h="952500">
                <a:moveTo>
                  <a:pt x="63503" y="0"/>
                </a:moveTo>
                <a:lnTo>
                  <a:pt x="5286372" y="0"/>
                </a:lnTo>
                <a:cubicBezTo>
                  <a:pt x="5321444" y="0"/>
                  <a:pt x="5349875" y="28431"/>
                  <a:pt x="5349875" y="63503"/>
                </a:cubicBezTo>
                <a:lnTo>
                  <a:pt x="5349875" y="888997"/>
                </a:lnTo>
                <a:cubicBezTo>
                  <a:pt x="5349875" y="924069"/>
                  <a:pt x="5321444" y="952500"/>
                  <a:pt x="5286372" y="952500"/>
                </a:cubicBezTo>
                <a:lnTo>
                  <a:pt x="63503" y="952500"/>
                </a:lnTo>
                <a:cubicBezTo>
                  <a:pt x="28431" y="952500"/>
                  <a:pt x="0" y="924069"/>
                  <a:pt x="0" y="888997"/>
                </a:cubicBezTo>
                <a:lnTo>
                  <a:pt x="0" y="63503"/>
                </a:lnTo>
                <a:cubicBezTo>
                  <a:pt x="0" y="28431"/>
                  <a:pt x="28431" y="0"/>
                  <a:pt x="63503" y="0"/>
                </a:cubicBezTo>
                <a:close/>
              </a:path>
            </a:pathLst>
          </a:custGeom>
          <a:solidFill>
            <a:srgbClr val="FFFFFF">
              <a:alpha val="10196"/>
            </a:srgbClr>
          </a:solidFill>
          <a:ln/>
        </p:spPr>
      </p:sp>
      <p:sp>
        <p:nvSpPr>
          <p:cNvPr id="41" name="Shape 39"/>
          <p:cNvSpPr/>
          <p:nvPr/>
        </p:nvSpPr>
        <p:spPr>
          <a:xfrm>
            <a:off x="6514703" y="4214813"/>
            <a:ext cx="138906" cy="158750"/>
          </a:xfrm>
          <a:custGeom>
            <a:avLst/>
            <a:gdLst/>
            <a:ahLst/>
            <a:cxnLst/>
            <a:rect l="l" t="t" r="r" b="b"/>
            <a:pathLst>
              <a:path w="138906" h="158750">
                <a:moveTo>
                  <a:pt x="89297" y="19844"/>
                </a:moveTo>
                <a:lnTo>
                  <a:pt x="109141" y="19844"/>
                </a:lnTo>
                <a:lnTo>
                  <a:pt x="109141" y="148828"/>
                </a:lnTo>
                <a:cubicBezTo>
                  <a:pt x="109141" y="154316"/>
                  <a:pt x="113574" y="158750"/>
                  <a:pt x="119062" y="158750"/>
                </a:cubicBezTo>
                <a:lnTo>
                  <a:pt x="128984" y="158750"/>
                </a:lnTo>
                <a:cubicBezTo>
                  <a:pt x="134472" y="158750"/>
                  <a:pt x="138906" y="154316"/>
                  <a:pt x="138906" y="148828"/>
                </a:cubicBezTo>
                <a:cubicBezTo>
                  <a:pt x="138906" y="143340"/>
                  <a:pt x="134472" y="138906"/>
                  <a:pt x="128984" y="138906"/>
                </a:cubicBezTo>
                <a:lnTo>
                  <a:pt x="128984" y="19844"/>
                </a:lnTo>
                <a:cubicBezTo>
                  <a:pt x="128984" y="8899"/>
                  <a:pt x="120086" y="0"/>
                  <a:pt x="109141" y="0"/>
                </a:cubicBezTo>
                <a:lnTo>
                  <a:pt x="79375" y="0"/>
                </a:lnTo>
                <a:lnTo>
                  <a:pt x="79375" y="0"/>
                </a:lnTo>
                <a:lnTo>
                  <a:pt x="29766" y="0"/>
                </a:lnTo>
                <a:cubicBezTo>
                  <a:pt x="18821" y="0"/>
                  <a:pt x="9922" y="8899"/>
                  <a:pt x="9922" y="19844"/>
                </a:cubicBezTo>
                <a:lnTo>
                  <a:pt x="9922" y="138906"/>
                </a:lnTo>
                <a:cubicBezTo>
                  <a:pt x="4434" y="138906"/>
                  <a:pt x="0" y="143340"/>
                  <a:pt x="0" y="148828"/>
                </a:cubicBezTo>
                <a:cubicBezTo>
                  <a:pt x="0" y="154316"/>
                  <a:pt x="4434" y="158750"/>
                  <a:pt x="9922" y="158750"/>
                </a:cubicBezTo>
                <a:lnTo>
                  <a:pt x="79375" y="158750"/>
                </a:lnTo>
                <a:cubicBezTo>
                  <a:pt x="84863" y="158750"/>
                  <a:pt x="89297" y="154316"/>
                  <a:pt x="89297" y="148828"/>
                </a:cubicBezTo>
                <a:lnTo>
                  <a:pt x="89297" y="19844"/>
                </a:lnTo>
                <a:close/>
                <a:moveTo>
                  <a:pt x="49609" y="79375"/>
                </a:moveTo>
                <a:cubicBezTo>
                  <a:pt x="49609" y="73899"/>
                  <a:pt x="54055" y="69453"/>
                  <a:pt x="59531" y="69453"/>
                </a:cubicBezTo>
                <a:cubicBezTo>
                  <a:pt x="65007" y="69453"/>
                  <a:pt x="69453" y="73899"/>
                  <a:pt x="69453" y="79375"/>
                </a:cubicBezTo>
                <a:cubicBezTo>
                  <a:pt x="69453" y="84851"/>
                  <a:pt x="65007" y="89297"/>
                  <a:pt x="59531" y="89297"/>
                </a:cubicBezTo>
                <a:cubicBezTo>
                  <a:pt x="54055" y="89297"/>
                  <a:pt x="49609" y="84851"/>
                  <a:pt x="49609" y="79375"/>
                </a:cubicBezTo>
                <a:close/>
              </a:path>
            </a:pathLst>
          </a:custGeom>
          <a:solidFill>
            <a:srgbClr val="C5A065"/>
          </a:solidFill>
          <a:ln/>
        </p:spPr>
      </p:sp>
      <p:sp>
        <p:nvSpPr>
          <p:cNvPr id="42" name="Text 40"/>
          <p:cNvSpPr/>
          <p:nvPr/>
        </p:nvSpPr>
        <p:spPr>
          <a:xfrm>
            <a:off x="6778625" y="4183063"/>
            <a:ext cx="349250" cy="222250"/>
          </a:xfrm>
          <a:prstGeom prst="rect">
            <a:avLst/>
          </a:prstGeom>
          <a:noFill/>
          <a:ln/>
        </p:spPr>
        <p:txBody>
          <a:bodyPr wrap="square" lIns="0" tIns="0" rIns="0" bIns="0" rtlCol="0" anchor="ctr"/>
          <a:lstStyle/>
          <a:p>
            <a:pPr>
              <a:lnSpc>
                <a:spcPct val="130000"/>
              </a:lnSpc>
            </a:pPr>
            <a:r>
              <a:rPr lang="en-US" sz="1125" b="1" dirty="0">
                <a:solidFill>
                  <a:srgbClr val="F8F9FA"/>
                </a:solidFill>
                <a:latin typeface="Liter" pitchFamily="34" charset="0"/>
                <a:ea typeface="Liter" pitchFamily="34" charset="-122"/>
                <a:cs typeface="Liter" pitchFamily="34" charset="-120"/>
              </a:rPr>
              <a:t>Rôle</a:t>
            </a:r>
            <a:endParaRPr lang="en-US" sz="1600" dirty="0"/>
          </a:p>
        </p:txBody>
      </p:sp>
      <p:sp>
        <p:nvSpPr>
          <p:cNvPr id="43" name="Text 41"/>
          <p:cNvSpPr/>
          <p:nvPr/>
        </p:nvSpPr>
        <p:spPr>
          <a:xfrm>
            <a:off x="6484938" y="4468813"/>
            <a:ext cx="5159375" cy="412750"/>
          </a:xfrm>
          <a:prstGeom prst="rect">
            <a:avLst/>
          </a:prstGeom>
          <a:noFill/>
          <a:ln/>
        </p:spPr>
        <p:txBody>
          <a:bodyPr wrap="square" lIns="0" tIns="0" rIns="0" bIns="0" rtlCol="0" anchor="ctr"/>
          <a:lstStyle/>
          <a:p>
            <a:pPr>
              <a:lnSpc>
                <a:spcPct val="140000"/>
              </a:lnSpc>
            </a:pPr>
            <a:r>
              <a:rPr lang="en-US" sz="1000" b="1" dirty="0">
                <a:solidFill>
                  <a:srgbClr val="F8F9FA">
                    <a:alpha val="90000"/>
                  </a:srgbClr>
                </a:solidFill>
                <a:latin typeface="Liter" pitchFamily="34" charset="0"/>
                <a:ea typeface="Liter" pitchFamily="34" charset="-122"/>
                <a:cs typeface="Liter" pitchFamily="34" charset="-120"/>
              </a:rPr>
              <a:t>Point d'entrée diagnostique obligatoire.</a:t>
            </a:r>
            <a:pPr>
              <a:lnSpc>
                <a:spcPct val="140000"/>
              </a:lnSpc>
            </a:pPr>
            <a:r>
              <a:rPr lang="en-US" sz="1000" dirty="0">
                <a:solidFill>
                  <a:srgbClr val="F8F9FA">
                    <a:alpha val="90000"/>
                  </a:srgbClr>
                </a:solidFill>
                <a:latin typeface="Liter" pitchFamily="34" charset="0"/>
                <a:ea typeface="Liter" pitchFamily="34" charset="-122"/>
                <a:cs typeface="Liter" pitchFamily="34" charset="-120"/>
              </a:rPr>
              <a:t> Chaque patient qEEG devient un lead qualifié pour les séances suivantes.</a:t>
            </a:r>
            <a:endParaRPr lang="en-US" sz="1600" dirty="0"/>
          </a:p>
        </p:txBody>
      </p:sp>
      <p:sp>
        <p:nvSpPr>
          <p:cNvPr id="44" name="Shape 42"/>
          <p:cNvSpPr/>
          <p:nvPr/>
        </p:nvSpPr>
        <p:spPr>
          <a:xfrm>
            <a:off x="6361906" y="5139531"/>
            <a:ext cx="5341938" cy="357188"/>
          </a:xfrm>
          <a:custGeom>
            <a:avLst/>
            <a:gdLst/>
            <a:ahLst/>
            <a:cxnLst/>
            <a:rect l="l" t="t" r="r" b="b"/>
            <a:pathLst>
              <a:path w="5341938" h="357188">
                <a:moveTo>
                  <a:pt x="63501" y="0"/>
                </a:moveTo>
                <a:lnTo>
                  <a:pt x="5278437" y="0"/>
                </a:lnTo>
                <a:cubicBezTo>
                  <a:pt x="5313507" y="0"/>
                  <a:pt x="5341938" y="28430"/>
                  <a:pt x="5341938" y="63501"/>
                </a:cubicBezTo>
                <a:lnTo>
                  <a:pt x="5341938" y="293687"/>
                </a:lnTo>
                <a:cubicBezTo>
                  <a:pt x="5341938" y="328757"/>
                  <a:pt x="5313507" y="357188"/>
                  <a:pt x="5278437" y="357188"/>
                </a:cubicBezTo>
                <a:lnTo>
                  <a:pt x="63501" y="357188"/>
                </a:lnTo>
                <a:cubicBezTo>
                  <a:pt x="28430" y="357188"/>
                  <a:pt x="0" y="328757"/>
                  <a:pt x="0" y="293687"/>
                </a:cubicBezTo>
                <a:lnTo>
                  <a:pt x="0" y="63501"/>
                </a:lnTo>
                <a:cubicBezTo>
                  <a:pt x="0" y="28454"/>
                  <a:pt x="28454" y="0"/>
                  <a:pt x="63501" y="0"/>
                </a:cubicBezTo>
                <a:close/>
              </a:path>
            </a:pathLst>
          </a:custGeom>
          <a:solidFill>
            <a:srgbClr val="00C950">
              <a:alpha val="20000"/>
            </a:srgbClr>
          </a:solidFill>
          <a:ln w="12700">
            <a:solidFill>
              <a:srgbClr val="00C950">
                <a:alpha val="40000"/>
              </a:srgbClr>
            </a:solidFill>
            <a:prstDash val="solid"/>
          </a:ln>
        </p:spPr>
      </p:sp>
      <p:sp>
        <p:nvSpPr>
          <p:cNvPr id="45" name="Shape 43"/>
          <p:cNvSpPr/>
          <p:nvPr/>
        </p:nvSpPr>
        <p:spPr>
          <a:xfrm>
            <a:off x="7659315" y="5262563"/>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73881" y="46165"/>
                </a:moveTo>
                <a:lnTo>
                  <a:pt x="56517" y="73946"/>
                </a:lnTo>
                <a:cubicBezTo>
                  <a:pt x="55606" y="75400"/>
                  <a:pt x="54043" y="76312"/>
                  <a:pt x="52329" y="76398"/>
                </a:cubicBezTo>
                <a:cubicBezTo>
                  <a:pt x="50614" y="76485"/>
                  <a:pt x="48964" y="75704"/>
                  <a:pt x="47944" y="74315"/>
                </a:cubicBezTo>
                <a:lnTo>
                  <a:pt x="37526" y="60424"/>
                </a:lnTo>
                <a:cubicBezTo>
                  <a:pt x="35790" y="58124"/>
                  <a:pt x="36268" y="54868"/>
                  <a:pt x="38568" y="53132"/>
                </a:cubicBezTo>
                <a:cubicBezTo>
                  <a:pt x="40869" y="51395"/>
                  <a:pt x="44124" y="51873"/>
                  <a:pt x="45861" y="54173"/>
                </a:cubicBezTo>
                <a:lnTo>
                  <a:pt x="51721" y="61987"/>
                </a:lnTo>
                <a:lnTo>
                  <a:pt x="65047" y="40652"/>
                </a:lnTo>
                <a:cubicBezTo>
                  <a:pt x="66566" y="38221"/>
                  <a:pt x="69779" y="37461"/>
                  <a:pt x="72231" y="39002"/>
                </a:cubicBezTo>
                <a:cubicBezTo>
                  <a:pt x="74684" y="40543"/>
                  <a:pt x="75422" y="43734"/>
                  <a:pt x="73881" y="46186"/>
                </a:cubicBezTo>
                <a:close/>
              </a:path>
            </a:pathLst>
          </a:custGeom>
          <a:solidFill>
            <a:srgbClr val="05DF72"/>
          </a:solidFill>
          <a:ln/>
        </p:spPr>
      </p:sp>
      <p:sp>
        <p:nvSpPr>
          <p:cNvPr id="46" name="Text 44"/>
          <p:cNvSpPr/>
          <p:nvPr/>
        </p:nvSpPr>
        <p:spPr>
          <a:xfrm>
            <a:off x="6615906" y="5238750"/>
            <a:ext cx="5016500" cy="158750"/>
          </a:xfrm>
          <a:prstGeom prst="rect">
            <a:avLst/>
          </a:prstGeom>
          <a:noFill/>
          <a:ln/>
        </p:spPr>
        <p:txBody>
          <a:bodyPr wrap="square" lIns="0" tIns="0" rIns="0" bIns="0" rtlCol="0" anchor="ctr"/>
          <a:lstStyle/>
          <a:p>
            <a:pPr algn="ctr">
              <a:lnSpc>
                <a:spcPct val="120000"/>
              </a:lnSpc>
            </a:pPr>
            <a:r>
              <a:rPr lang="en-US" sz="875" b="1" dirty="0">
                <a:solidFill>
                  <a:srgbClr val="F8F9FA">
                    <a:alpha val="80000"/>
                  </a:srgbClr>
                </a:solidFill>
                <a:latin typeface="Liter" pitchFamily="34" charset="0"/>
                <a:ea typeface="Liter" pitchFamily="34" charset="-122"/>
                <a:cs typeface="Liter" pitchFamily="34" charset="-120"/>
              </a:rPr>
              <a:t>ROI:</a:t>
            </a:r>
            <a:pPr algn="ctr">
              <a:lnSpc>
                <a:spcPct val="120000"/>
              </a:lnSpc>
            </a:pPr>
            <a:r>
              <a:rPr lang="en-US" sz="875" dirty="0">
                <a:solidFill>
                  <a:srgbClr val="F8F9FA">
                    <a:alpha val="80000"/>
                  </a:srgbClr>
                </a:solidFill>
                <a:latin typeface="Liter" pitchFamily="34" charset="0"/>
                <a:ea typeface="Liter" pitchFamily="34" charset="-122"/>
                <a:cs typeface="Liter" pitchFamily="34" charset="-120"/>
              </a:rPr>
              <a:t> Rentabilise immédiatement le coût d'acquisition</a:t>
            </a:r>
            <a:endParaRPr lang="en-US" sz="1600" dirty="0"/>
          </a:p>
        </p:txBody>
      </p:sp>
      <p:sp>
        <p:nvSpPr>
          <p:cNvPr id="47" name="Shape 45"/>
          <p:cNvSpPr/>
          <p:nvPr/>
        </p:nvSpPr>
        <p:spPr>
          <a:xfrm>
            <a:off x="317500" y="5794375"/>
            <a:ext cx="11557000" cy="952500"/>
          </a:xfrm>
          <a:custGeom>
            <a:avLst/>
            <a:gdLst/>
            <a:ahLst/>
            <a:cxnLst/>
            <a:rect l="l" t="t" r="r" b="b"/>
            <a:pathLst>
              <a:path w="11557000" h="952500">
                <a:moveTo>
                  <a:pt x="95250" y="0"/>
                </a:moveTo>
                <a:lnTo>
                  <a:pt x="11461750" y="0"/>
                </a:lnTo>
                <a:cubicBezTo>
                  <a:pt x="11514320" y="0"/>
                  <a:pt x="11557000" y="42680"/>
                  <a:pt x="11557000" y="95250"/>
                </a:cubicBezTo>
                <a:lnTo>
                  <a:pt x="11557000" y="857250"/>
                </a:lnTo>
                <a:cubicBezTo>
                  <a:pt x="11557000" y="909820"/>
                  <a:pt x="11514320" y="952500"/>
                  <a:pt x="11461750" y="952500"/>
                </a:cubicBezTo>
                <a:lnTo>
                  <a:pt x="95250" y="952500"/>
                </a:lnTo>
                <a:cubicBezTo>
                  <a:pt x="42680" y="952500"/>
                  <a:pt x="0" y="909820"/>
                  <a:pt x="0" y="857250"/>
                </a:cubicBezTo>
                <a:lnTo>
                  <a:pt x="0" y="95250"/>
                </a:lnTo>
                <a:cubicBezTo>
                  <a:pt x="0" y="42680"/>
                  <a:pt x="42680" y="0"/>
                  <a:pt x="95250" y="0"/>
                </a:cubicBezTo>
                <a:close/>
              </a:path>
            </a:pathLst>
          </a:custGeom>
          <a:solidFill>
            <a:srgbClr val="C5A065"/>
          </a:solidFill>
          <a:ln/>
        </p:spPr>
      </p:sp>
      <p:sp>
        <p:nvSpPr>
          <p:cNvPr id="48" name="Shape 46"/>
          <p:cNvSpPr/>
          <p:nvPr/>
        </p:nvSpPr>
        <p:spPr>
          <a:xfrm>
            <a:off x="506016" y="6151563"/>
            <a:ext cx="178594" cy="238125"/>
          </a:xfrm>
          <a:custGeom>
            <a:avLst/>
            <a:gdLst/>
            <a:ahLst/>
            <a:cxnLst/>
            <a:rect l="l" t="t" r="r" b="b"/>
            <a:pathLst>
              <a:path w="178594" h="238125">
                <a:moveTo>
                  <a:pt x="89297" y="-14883"/>
                </a:moveTo>
                <a:cubicBezTo>
                  <a:pt x="138596" y="-14883"/>
                  <a:pt x="178594" y="25115"/>
                  <a:pt x="178594" y="74414"/>
                </a:cubicBezTo>
                <a:lnTo>
                  <a:pt x="178594" y="136503"/>
                </a:lnTo>
                <a:cubicBezTo>
                  <a:pt x="178594" y="144410"/>
                  <a:pt x="175431" y="151944"/>
                  <a:pt x="169897" y="157525"/>
                </a:cubicBezTo>
                <a:lnTo>
                  <a:pt x="148828" y="178594"/>
                </a:lnTo>
                <a:lnTo>
                  <a:pt x="172455" y="202174"/>
                </a:lnTo>
                <a:cubicBezTo>
                  <a:pt x="176408" y="206127"/>
                  <a:pt x="178594" y="211475"/>
                  <a:pt x="178594" y="217057"/>
                </a:cubicBezTo>
                <a:cubicBezTo>
                  <a:pt x="178594" y="228684"/>
                  <a:pt x="169152" y="238078"/>
                  <a:pt x="157572" y="238125"/>
                </a:cubicBezTo>
                <a:lnTo>
                  <a:pt x="21068" y="238125"/>
                </a:lnTo>
                <a:cubicBezTo>
                  <a:pt x="9441" y="238125"/>
                  <a:pt x="47" y="228684"/>
                  <a:pt x="47" y="217057"/>
                </a:cubicBezTo>
                <a:cubicBezTo>
                  <a:pt x="47" y="211475"/>
                  <a:pt x="2279" y="206127"/>
                  <a:pt x="6186" y="202174"/>
                </a:cubicBezTo>
                <a:lnTo>
                  <a:pt x="29766" y="178594"/>
                </a:lnTo>
                <a:lnTo>
                  <a:pt x="29766" y="162502"/>
                </a:lnTo>
                <a:cubicBezTo>
                  <a:pt x="29766" y="153805"/>
                  <a:pt x="33579" y="145573"/>
                  <a:pt x="40137" y="139898"/>
                </a:cubicBezTo>
                <a:lnTo>
                  <a:pt x="81855" y="104180"/>
                </a:lnTo>
                <a:lnTo>
                  <a:pt x="59531" y="104180"/>
                </a:lnTo>
                <a:lnTo>
                  <a:pt x="53904" y="109807"/>
                </a:lnTo>
                <a:cubicBezTo>
                  <a:pt x="47997" y="115714"/>
                  <a:pt x="39951" y="119062"/>
                  <a:pt x="31579" y="119062"/>
                </a:cubicBezTo>
                <a:cubicBezTo>
                  <a:pt x="14139" y="119062"/>
                  <a:pt x="0" y="104924"/>
                  <a:pt x="0" y="87483"/>
                </a:cubicBezTo>
                <a:lnTo>
                  <a:pt x="0" y="83437"/>
                </a:lnTo>
                <a:cubicBezTo>
                  <a:pt x="0" y="72833"/>
                  <a:pt x="3814" y="62554"/>
                  <a:pt x="10744" y="54462"/>
                </a:cubicBezTo>
                <a:lnTo>
                  <a:pt x="44648" y="14883"/>
                </a:lnTo>
                <a:lnTo>
                  <a:pt x="44648" y="0"/>
                </a:lnTo>
                <a:cubicBezTo>
                  <a:pt x="44648" y="-8232"/>
                  <a:pt x="51299" y="-14883"/>
                  <a:pt x="59531" y="-14883"/>
                </a:cubicBezTo>
                <a:lnTo>
                  <a:pt x="89297" y="-14883"/>
                </a:lnTo>
                <a:close/>
                <a:moveTo>
                  <a:pt x="74414" y="33486"/>
                </a:moveTo>
                <a:cubicBezTo>
                  <a:pt x="68254" y="33486"/>
                  <a:pt x="63252" y="38488"/>
                  <a:pt x="63252" y="44648"/>
                </a:cubicBezTo>
                <a:cubicBezTo>
                  <a:pt x="63252" y="50809"/>
                  <a:pt x="68254" y="55811"/>
                  <a:pt x="74414" y="55811"/>
                </a:cubicBezTo>
                <a:cubicBezTo>
                  <a:pt x="80575" y="55811"/>
                  <a:pt x="85576" y="50809"/>
                  <a:pt x="85576" y="44648"/>
                </a:cubicBezTo>
                <a:cubicBezTo>
                  <a:pt x="85576" y="38488"/>
                  <a:pt x="80575" y="33486"/>
                  <a:pt x="74414" y="33486"/>
                </a:cubicBezTo>
                <a:close/>
              </a:path>
            </a:pathLst>
          </a:custGeom>
          <a:solidFill>
            <a:srgbClr val="FFFFFF"/>
          </a:solidFill>
          <a:ln/>
        </p:spPr>
      </p:sp>
      <p:sp>
        <p:nvSpPr>
          <p:cNvPr id="49" name="Text 47"/>
          <p:cNvSpPr/>
          <p:nvPr/>
        </p:nvSpPr>
        <p:spPr>
          <a:xfrm>
            <a:off x="869156" y="5921375"/>
            <a:ext cx="10961688"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La Stratégie</a:t>
            </a:r>
            <a:endParaRPr lang="en-US" sz="1600" dirty="0"/>
          </a:p>
        </p:txBody>
      </p:sp>
      <p:sp>
        <p:nvSpPr>
          <p:cNvPr id="50" name="Text 48"/>
          <p:cNvSpPr/>
          <p:nvPr/>
        </p:nvSpPr>
        <p:spPr>
          <a:xfrm>
            <a:off x="869156" y="6207125"/>
            <a:ext cx="10945813" cy="412750"/>
          </a:xfrm>
          <a:prstGeom prst="rect">
            <a:avLst/>
          </a:prstGeom>
          <a:noFill/>
          <a:ln/>
        </p:spPr>
        <p:txBody>
          <a:bodyPr wrap="square" lIns="0" tIns="0" rIns="0" bIns="0" rtlCol="0" anchor="ctr"/>
          <a:lstStyle/>
          <a:p>
            <a:pPr>
              <a:lnSpc>
                <a:spcPct val="140000"/>
              </a:lnSpc>
            </a:pPr>
            <a:r>
              <a:rPr lang="en-US" sz="1000" b="1" dirty="0">
                <a:solidFill>
                  <a:srgbClr val="FFFFFF">
                    <a:alpha val="90000"/>
                  </a:srgbClr>
                </a:solidFill>
                <a:latin typeface="Liter" pitchFamily="34" charset="0"/>
                <a:ea typeface="Liter" pitchFamily="34" charset="-122"/>
                <a:cs typeface="Liter" pitchFamily="34" charset="-120"/>
              </a:rPr>
              <a:t>Arrêter de promouvoir les séances standard.</a:t>
            </a:r>
            <a:pPr>
              <a:lnSpc>
                <a:spcPct val="140000"/>
              </a:lnSpc>
            </a:pPr>
            <a:r>
              <a:rPr lang="en-US" sz="1000" dirty="0">
                <a:solidFill>
                  <a:srgbClr val="FFFFFF">
                    <a:alpha val="90000"/>
                  </a:srgbClr>
                </a:solidFill>
                <a:latin typeface="Liter" pitchFamily="34" charset="0"/>
                <a:ea typeface="Liter" pitchFamily="34" charset="-122"/>
                <a:cs typeface="Liter" pitchFamily="34" charset="-120"/>
              </a:rPr>
              <a:t> Déployer le budget publicitaire (Google/Meta) exclusivement sur le qEEG à 300$ pour rentabiliser immédiatement le coût d'acquisition client et créer un pipeline de patients qualifiés.</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77754" y="377754"/>
            <a:ext cx="11502600" cy="188877"/>
          </a:xfrm>
          <a:prstGeom prst="rect">
            <a:avLst/>
          </a:prstGeom>
          <a:noFill/>
          <a:ln/>
        </p:spPr>
        <p:txBody>
          <a:bodyPr wrap="square" lIns="0" tIns="0" rIns="0" bIns="0" rtlCol="0" anchor="ctr"/>
          <a:lstStyle/>
          <a:p>
            <a:pPr>
              <a:lnSpc>
                <a:spcPct val="120000"/>
              </a:lnSpc>
            </a:pPr>
            <a:r>
              <a:rPr lang="en-US" sz="1041" b="1" spc="104" kern="0" dirty="0">
                <a:solidFill>
                  <a:srgbClr val="C5A065"/>
                </a:solidFill>
                <a:latin typeface="Liter" pitchFamily="34" charset="0"/>
                <a:ea typeface="Liter" pitchFamily="34" charset="-122"/>
                <a:cs typeface="Liter" pitchFamily="34" charset="-120"/>
              </a:rPr>
              <a:t>PROTOCOLE DE TRAITEMENT - PHASE 1</a:t>
            </a:r>
            <a:endParaRPr lang="en-US" sz="1600" dirty="0"/>
          </a:p>
        </p:txBody>
      </p:sp>
      <p:sp>
        <p:nvSpPr>
          <p:cNvPr id="3" name="Text 1"/>
          <p:cNvSpPr/>
          <p:nvPr/>
        </p:nvSpPr>
        <p:spPr>
          <a:xfrm>
            <a:off x="377754" y="642181"/>
            <a:ext cx="11606482" cy="377754"/>
          </a:xfrm>
          <a:prstGeom prst="rect">
            <a:avLst/>
          </a:prstGeom>
          <a:noFill/>
          <a:ln/>
        </p:spPr>
        <p:txBody>
          <a:bodyPr wrap="square" lIns="0" tIns="0" rIns="0" bIns="0" rtlCol="0" anchor="ctr"/>
          <a:lstStyle/>
          <a:p>
            <a:pPr>
              <a:lnSpc>
                <a:spcPct val="90000"/>
              </a:lnSpc>
            </a:pPr>
            <a:r>
              <a:rPr lang="en-US" sz="2677" b="1" dirty="0">
                <a:solidFill>
                  <a:srgbClr val="1A3A52"/>
                </a:solidFill>
                <a:latin typeface="Liter" pitchFamily="34" charset="0"/>
                <a:ea typeface="Liter" pitchFamily="34" charset="-122"/>
                <a:cs typeface="Liter" pitchFamily="34" charset="-120"/>
              </a:rPr>
              <a:t>Les Fondations</a:t>
            </a:r>
            <a:endParaRPr lang="en-US" sz="1600" dirty="0"/>
          </a:p>
        </p:txBody>
      </p:sp>
      <p:sp>
        <p:nvSpPr>
          <p:cNvPr id="4" name="Text 2"/>
          <p:cNvSpPr/>
          <p:nvPr/>
        </p:nvSpPr>
        <p:spPr>
          <a:xfrm>
            <a:off x="377754" y="1095486"/>
            <a:ext cx="11521487" cy="264428"/>
          </a:xfrm>
          <a:prstGeom prst="rect">
            <a:avLst/>
          </a:prstGeom>
          <a:noFill/>
          <a:ln/>
        </p:spPr>
        <p:txBody>
          <a:bodyPr wrap="square" lIns="0" tIns="0" rIns="0" bIns="0" rtlCol="0" anchor="ctr"/>
          <a:lstStyle/>
          <a:p>
            <a:pPr>
              <a:lnSpc>
                <a:spcPct val="130000"/>
              </a:lnSpc>
            </a:pPr>
            <a:r>
              <a:rPr lang="en-US" sz="1339" dirty="0">
                <a:solidFill>
                  <a:srgbClr val="6C757D"/>
                </a:solidFill>
                <a:latin typeface="Liter" pitchFamily="34" charset="0"/>
                <a:ea typeface="Liter" pitchFamily="34" charset="-122"/>
                <a:cs typeface="Liter" pitchFamily="34" charset="-120"/>
              </a:rPr>
              <a:t>Sécuriser et fluidifier le système nerveux digital</a:t>
            </a:r>
            <a:endParaRPr lang="en-US" sz="1600" dirty="0"/>
          </a:p>
        </p:txBody>
      </p:sp>
      <p:sp>
        <p:nvSpPr>
          <p:cNvPr id="5" name="Shape 3"/>
          <p:cNvSpPr/>
          <p:nvPr/>
        </p:nvSpPr>
        <p:spPr>
          <a:xfrm>
            <a:off x="377754" y="1511015"/>
            <a:ext cx="5600198" cy="4476381"/>
          </a:xfrm>
          <a:custGeom>
            <a:avLst/>
            <a:gdLst/>
            <a:ahLst/>
            <a:cxnLst/>
            <a:rect l="l" t="t" r="r" b="b"/>
            <a:pathLst>
              <a:path w="5600198" h="4476381">
                <a:moveTo>
                  <a:pt x="113342" y="0"/>
                </a:moveTo>
                <a:lnTo>
                  <a:pt x="5486856" y="0"/>
                </a:lnTo>
                <a:cubicBezTo>
                  <a:pt x="5549453" y="0"/>
                  <a:pt x="5600198" y="50745"/>
                  <a:pt x="5600198" y="113342"/>
                </a:cubicBezTo>
                <a:lnTo>
                  <a:pt x="5600198" y="4363039"/>
                </a:lnTo>
                <a:cubicBezTo>
                  <a:pt x="5600198" y="4425636"/>
                  <a:pt x="5549453" y="4476381"/>
                  <a:pt x="5486856" y="4476381"/>
                </a:cubicBezTo>
                <a:lnTo>
                  <a:pt x="113342" y="4476381"/>
                </a:lnTo>
                <a:cubicBezTo>
                  <a:pt x="50745" y="4476381"/>
                  <a:pt x="0" y="4425636"/>
                  <a:pt x="0" y="4363039"/>
                </a:cubicBezTo>
                <a:lnTo>
                  <a:pt x="0" y="113342"/>
                </a:lnTo>
                <a:cubicBezTo>
                  <a:pt x="0" y="50745"/>
                  <a:pt x="50745" y="0"/>
                  <a:pt x="113342" y="0"/>
                </a:cubicBezTo>
                <a:close/>
              </a:path>
            </a:pathLst>
          </a:custGeom>
          <a:solidFill>
            <a:srgbClr val="FFFFFF"/>
          </a:solidFill>
          <a:ln/>
          <a:effectLst>
            <a:outerShdw sx="100000" sy="100000" kx="0" ky="0" algn="bl" rotWithShape="0" blurRad="141658" dist="94438" dir="5400000">
              <a:srgbClr val="000000">
                <a:alpha val="10196"/>
              </a:srgbClr>
            </a:outerShdw>
          </a:effectLst>
        </p:spPr>
      </p:sp>
      <p:sp>
        <p:nvSpPr>
          <p:cNvPr id="6" name="Shape 4"/>
          <p:cNvSpPr/>
          <p:nvPr/>
        </p:nvSpPr>
        <p:spPr>
          <a:xfrm>
            <a:off x="377754" y="1511015"/>
            <a:ext cx="5600198" cy="982160"/>
          </a:xfrm>
          <a:custGeom>
            <a:avLst/>
            <a:gdLst/>
            <a:ahLst/>
            <a:cxnLst/>
            <a:rect l="l" t="t" r="r" b="b"/>
            <a:pathLst>
              <a:path w="5600198" h="982160">
                <a:moveTo>
                  <a:pt x="0" y="0"/>
                </a:moveTo>
                <a:lnTo>
                  <a:pt x="5600198" y="0"/>
                </a:lnTo>
                <a:lnTo>
                  <a:pt x="5600198" y="982160"/>
                </a:lnTo>
                <a:lnTo>
                  <a:pt x="0" y="982160"/>
                </a:lnTo>
                <a:lnTo>
                  <a:pt x="0" y="0"/>
                </a:lnTo>
                <a:close/>
              </a:path>
            </a:pathLst>
          </a:custGeom>
          <a:solidFill>
            <a:srgbClr val="1A3A52"/>
          </a:solidFill>
          <a:ln/>
        </p:spPr>
      </p:sp>
      <p:sp>
        <p:nvSpPr>
          <p:cNvPr id="7" name="Shape 5"/>
          <p:cNvSpPr/>
          <p:nvPr/>
        </p:nvSpPr>
        <p:spPr>
          <a:xfrm>
            <a:off x="566631" y="1737667"/>
            <a:ext cx="528855" cy="528855"/>
          </a:xfrm>
          <a:custGeom>
            <a:avLst/>
            <a:gdLst/>
            <a:ahLst/>
            <a:cxnLst/>
            <a:rect l="l" t="t" r="r" b="b"/>
            <a:pathLst>
              <a:path w="528855" h="528855">
                <a:moveTo>
                  <a:pt x="264428" y="0"/>
                </a:moveTo>
                <a:lnTo>
                  <a:pt x="264428" y="0"/>
                </a:lnTo>
                <a:cubicBezTo>
                  <a:pt x="410369" y="0"/>
                  <a:pt x="528855" y="118486"/>
                  <a:pt x="528855" y="264428"/>
                </a:cubicBezTo>
                <a:lnTo>
                  <a:pt x="528855" y="264428"/>
                </a:lnTo>
                <a:cubicBezTo>
                  <a:pt x="528855" y="410369"/>
                  <a:pt x="410369" y="528855"/>
                  <a:pt x="264428" y="528855"/>
                </a:cubicBezTo>
                <a:lnTo>
                  <a:pt x="264428" y="528855"/>
                </a:lnTo>
                <a:cubicBezTo>
                  <a:pt x="118486" y="528855"/>
                  <a:pt x="0" y="410369"/>
                  <a:pt x="0" y="264428"/>
                </a:cubicBezTo>
                <a:lnTo>
                  <a:pt x="0" y="264428"/>
                </a:lnTo>
                <a:cubicBezTo>
                  <a:pt x="0" y="118486"/>
                  <a:pt x="118486" y="0"/>
                  <a:pt x="264428" y="0"/>
                </a:cubicBezTo>
                <a:close/>
              </a:path>
            </a:pathLst>
          </a:custGeom>
          <a:solidFill>
            <a:srgbClr val="C5A065"/>
          </a:solidFill>
          <a:ln/>
        </p:spPr>
      </p:sp>
      <p:sp>
        <p:nvSpPr>
          <p:cNvPr id="8" name="Shape 6"/>
          <p:cNvSpPr/>
          <p:nvPr/>
        </p:nvSpPr>
        <p:spPr>
          <a:xfrm>
            <a:off x="731898" y="1888768"/>
            <a:ext cx="198321" cy="226652"/>
          </a:xfrm>
          <a:custGeom>
            <a:avLst/>
            <a:gdLst/>
            <a:ahLst/>
            <a:cxnLst/>
            <a:rect l="l" t="t" r="r" b="b"/>
            <a:pathLst>
              <a:path w="198321" h="226652">
                <a:moveTo>
                  <a:pt x="28332" y="14166"/>
                </a:moveTo>
                <a:cubicBezTo>
                  <a:pt x="12705" y="14166"/>
                  <a:pt x="0" y="26871"/>
                  <a:pt x="0" y="42497"/>
                </a:cubicBezTo>
                <a:lnTo>
                  <a:pt x="0" y="70829"/>
                </a:lnTo>
                <a:cubicBezTo>
                  <a:pt x="0" y="86455"/>
                  <a:pt x="12705" y="99160"/>
                  <a:pt x="28332" y="99160"/>
                </a:cubicBezTo>
                <a:lnTo>
                  <a:pt x="169989" y="99160"/>
                </a:lnTo>
                <a:cubicBezTo>
                  <a:pt x="185616" y="99160"/>
                  <a:pt x="198321" y="86455"/>
                  <a:pt x="198321" y="70829"/>
                </a:cubicBezTo>
                <a:lnTo>
                  <a:pt x="198321" y="42497"/>
                </a:lnTo>
                <a:cubicBezTo>
                  <a:pt x="198321" y="26871"/>
                  <a:pt x="185616" y="14166"/>
                  <a:pt x="169989" y="14166"/>
                </a:cubicBezTo>
                <a:lnTo>
                  <a:pt x="28332" y="14166"/>
                </a:lnTo>
                <a:close/>
                <a:moveTo>
                  <a:pt x="123950" y="46039"/>
                </a:moveTo>
                <a:cubicBezTo>
                  <a:pt x="129814" y="46039"/>
                  <a:pt x="134575" y="50799"/>
                  <a:pt x="134575" y="56663"/>
                </a:cubicBezTo>
                <a:cubicBezTo>
                  <a:pt x="134575" y="62527"/>
                  <a:pt x="129814" y="67287"/>
                  <a:pt x="123950" y="67287"/>
                </a:cubicBezTo>
                <a:cubicBezTo>
                  <a:pt x="118087" y="67287"/>
                  <a:pt x="113326" y="62527"/>
                  <a:pt x="113326" y="56663"/>
                </a:cubicBezTo>
                <a:cubicBezTo>
                  <a:pt x="113326" y="50799"/>
                  <a:pt x="118087" y="46039"/>
                  <a:pt x="123950" y="46039"/>
                </a:cubicBezTo>
                <a:close/>
                <a:moveTo>
                  <a:pt x="148741" y="56663"/>
                </a:moveTo>
                <a:cubicBezTo>
                  <a:pt x="148741" y="50799"/>
                  <a:pt x="153501" y="46039"/>
                  <a:pt x="159365" y="46039"/>
                </a:cubicBezTo>
                <a:cubicBezTo>
                  <a:pt x="165229" y="46039"/>
                  <a:pt x="169989" y="50799"/>
                  <a:pt x="169989" y="56663"/>
                </a:cubicBezTo>
                <a:cubicBezTo>
                  <a:pt x="169989" y="62527"/>
                  <a:pt x="165229" y="67287"/>
                  <a:pt x="159365" y="67287"/>
                </a:cubicBezTo>
                <a:cubicBezTo>
                  <a:pt x="153501" y="67287"/>
                  <a:pt x="148741" y="62527"/>
                  <a:pt x="148741" y="56663"/>
                </a:cubicBezTo>
                <a:close/>
                <a:moveTo>
                  <a:pt x="28332" y="127492"/>
                </a:moveTo>
                <a:cubicBezTo>
                  <a:pt x="12705" y="127492"/>
                  <a:pt x="0" y="140197"/>
                  <a:pt x="0" y="155823"/>
                </a:cubicBezTo>
                <a:lnTo>
                  <a:pt x="0" y="184155"/>
                </a:lnTo>
                <a:cubicBezTo>
                  <a:pt x="0" y="199782"/>
                  <a:pt x="12705" y="212486"/>
                  <a:pt x="28332" y="212486"/>
                </a:cubicBezTo>
                <a:lnTo>
                  <a:pt x="169989" y="212486"/>
                </a:lnTo>
                <a:cubicBezTo>
                  <a:pt x="185616" y="212486"/>
                  <a:pt x="198321" y="199782"/>
                  <a:pt x="198321" y="184155"/>
                </a:cubicBezTo>
                <a:lnTo>
                  <a:pt x="198321" y="155823"/>
                </a:lnTo>
                <a:cubicBezTo>
                  <a:pt x="198321" y="140197"/>
                  <a:pt x="185616" y="127492"/>
                  <a:pt x="169989" y="127492"/>
                </a:cubicBezTo>
                <a:lnTo>
                  <a:pt x="28332" y="127492"/>
                </a:lnTo>
                <a:close/>
                <a:moveTo>
                  <a:pt x="123950" y="159365"/>
                </a:moveTo>
                <a:cubicBezTo>
                  <a:pt x="129814" y="159365"/>
                  <a:pt x="134575" y="164125"/>
                  <a:pt x="134575" y="169989"/>
                </a:cubicBezTo>
                <a:cubicBezTo>
                  <a:pt x="134575" y="175853"/>
                  <a:pt x="129814" y="180613"/>
                  <a:pt x="123950" y="180613"/>
                </a:cubicBezTo>
                <a:cubicBezTo>
                  <a:pt x="118087" y="180613"/>
                  <a:pt x="113326" y="175853"/>
                  <a:pt x="113326" y="169989"/>
                </a:cubicBezTo>
                <a:cubicBezTo>
                  <a:pt x="113326" y="164125"/>
                  <a:pt x="118087" y="159365"/>
                  <a:pt x="123950" y="159365"/>
                </a:cubicBezTo>
                <a:close/>
                <a:moveTo>
                  <a:pt x="148741" y="169989"/>
                </a:moveTo>
                <a:cubicBezTo>
                  <a:pt x="148741" y="164125"/>
                  <a:pt x="153501" y="159365"/>
                  <a:pt x="159365" y="159365"/>
                </a:cubicBezTo>
                <a:cubicBezTo>
                  <a:pt x="165229" y="159365"/>
                  <a:pt x="169989" y="164125"/>
                  <a:pt x="169989" y="169989"/>
                </a:cubicBezTo>
                <a:cubicBezTo>
                  <a:pt x="169989" y="175853"/>
                  <a:pt x="165229" y="180613"/>
                  <a:pt x="159365" y="180613"/>
                </a:cubicBezTo>
                <a:cubicBezTo>
                  <a:pt x="153501" y="180613"/>
                  <a:pt x="148741" y="175853"/>
                  <a:pt x="148741" y="169989"/>
                </a:cubicBezTo>
                <a:close/>
              </a:path>
            </a:pathLst>
          </a:custGeom>
          <a:solidFill>
            <a:srgbClr val="FFFFFF"/>
          </a:solidFill>
          <a:ln/>
        </p:spPr>
      </p:sp>
      <p:sp>
        <p:nvSpPr>
          <p:cNvPr id="9" name="Shape 7"/>
          <p:cNvSpPr/>
          <p:nvPr/>
        </p:nvSpPr>
        <p:spPr>
          <a:xfrm>
            <a:off x="1246587" y="1699892"/>
            <a:ext cx="689400" cy="264428"/>
          </a:xfrm>
          <a:custGeom>
            <a:avLst/>
            <a:gdLst/>
            <a:ahLst/>
            <a:cxnLst/>
            <a:rect l="l" t="t" r="r" b="b"/>
            <a:pathLst>
              <a:path w="689400" h="264428">
                <a:moveTo>
                  <a:pt x="132214" y="0"/>
                </a:moveTo>
                <a:lnTo>
                  <a:pt x="557187" y="0"/>
                </a:lnTo>
                <a:cubicBezTo>
                  <a:pt x="630206" y="0"/>
                  <a:pt x="689400" y="59194"/>
                  <a:pt x="689400" y="132214"/>
                </a:cubicBezTo>
                <a:lnTo>
                  <a:pt x="689400" y="132214"/>
                </a:lnTo>
                <a:cubicBezTo>
                  <a:pt x="689400" y="205233"/>
                  <a:pt x="630206" y="264428"/>
                  <a:pt x="557187" y="264428"/>
                </a:cubicBezTo>
                <a:lnTo>
                  <a:pt x="132214" y="264428"/>
                </a:lnTo>
                <a:cubicBezTo>
                  <a:pt x="59243" y="264428"/>
                  <a:pt x="0" y="205185"/>
                  <a:pt x="0" y="132214"/>
                </a:cubicBezTo>
                <a:lnTo>
                  <a:pt x="0" y="132214"/>
                </a:lnTo>
                <a:cubicBezTo>
                  <a:pt x="0" y="59243"/>
                  <a:pt x="59243" y="0"/>
                  <a:pt x="132214" y="0"/>
                </a:cubicBezTo>
                <a:close/>
              </a:path>
            </a:pathLst>
          </a:custGeom>
          <a:solidFill>
            <a:srgbClr val="C5A065"/>
          </a:solidFill>
          <a:ln/>
        </p:spPr>
      </p:sp>
      <p:sp>
        <p:nvSpPr>
          <p:cNvPr id="10" name="Text 8"/>
          <p:cNvSpPr/>
          <p:nvPr/>
        </p:nvSpPr>
        <p:spPr>
          <a:xfrm>
            <a:off x="1246587" y="1699892"/>
            <a:ext cx="755507" cy="264428"/>
          </a:xfrm>
          <a:prstGeom prst="rect">
            <a:avLst/>
          </a:prstGeom>
          <a:noFill/>
          <a:ln/>
        </p:spPr>
        <p:txBody>
          <a:bodyPr wrap="square" lIns="113326" tIns="37775" rIns="113326" bIns="37775" rtlCol="0" anchor="ctr"/>
          <a:lstStyle/>
          <a:p>
            <a:pPr>
              <a:lnSpc>
                <a:spcPct val="120000"/>
              </a:lnSpc>
            </a:pPr>
            <a:r>
              <a:rPr lang="en-US" sz="1041" b="1" dirty="0">
                <a:solidFill>
                  <a:srgbClr val="FFFFFF"/>
                </a:solidFill>
                <a:latin typeface="Liter" pitchFamily="34" charset="0"/>
                <a:ea typeface="Liter" pitchFamily="34" charset="-122"/>
                <a:cs typeface="Liter" pitchFamily="34" charset="-120"/>
              </a:rPr>
              <a:t>Action 1</a:t>
            </a:r>
            <a:endParaRPr lang="en-US" sz="1600" dirty="0"/>
          </a:p>
        </p:txBody>
      </p:sp>
      <p:sp>
        <p:nvSpPr>
          <p:cNvPr id="11" name="Text 9"/>
          <p:cNvSpPr/>
          <p:nvPr/>
        </p:nvSpPr>
        <p:spPr>
          <a:xfrm>
            <a:off x="1246587" y="2002095"/>
            <a:ext cx="2918147" cy="302203"/>
          </a:xfrm>
          <a:prstGeom prst="rect">
            <a:avLst/>
          </a:prstGeom>
          <a:noFill/>
          <a:ln/>
        </p:spPr>
        <p:txBody>
          <a:bodyPr wrap="square" lIns="0" tIns="0" rIns="0" bIns="0" rtlCol="0" anchor="ctr"/>
          <a:lstStyle/>
          <a:p>
            <a:pPr>
              <a:lnSpc>
                <a:spcPct val="110000"/>
              </a:lnSpc>
            </a:pPr>
            <a:r>
              <a:rPr lang="en-US" sz="1785" b="1" dirty="0">
                <a:solidFill>
                  <a:srgbClr val="F8F9FA"/>
                </a:solidFill>
                <a:latin typeface="Liter" pitchFamily="34" charset="0"/>
                <a:ea typeface="Liter" pitchFamily="34" charset="-122"/>
                <a:cs typeface="Liter" pitchFamily="34" charset="-120"/>
              </a:rPr>
              <a:t>Réparer l'Infrastructure DNS</a:t>
            </a:r>
            <a:endParaRPr lang="en-US" sz="1600" dirty="0"/>
          </a:p>
        </p:txBody>
      </p:sp>
      <p:sp>
        <p:nvSpPr>
          <p:cNvPr id="12" name="Shape 10"/>
          <p:cNvSpPr/>
          <p:nvPr/>
        </p:nvSpPr>
        <p:spPr>
          <a:xfrm>
            <a:off x="566631" y="2682051"/>
            <a:ext cx="5222445" cy="1001047"/>
          </a:xfrm>
          <a:custGeom>
            <a:avLst/>
            <a:gdLst/>
            <a:ahLst/>
            <a:cxnLst/>
            <a:rect l="l" t="t" r="r" b="b"/>
            <a:pathLst>
              <a:path w="5222445" h="1001047">
                <a:moveTo>
                  <a:pt x="75549" y="0"/>
                </a:moveTo>
                <a:lnTo>
                  <a:pt x="5146896" y="0"/>
                </a:lnTo>
                <a:cubicBezTo>
                  <a:pt x="5188620" y="0"/>
                  <a:pt x="5222445" y="33824"/>
                  <a:pt x="5222445" y="75549"/>
                </a:cubicBezTo>
                <a:lnTo>
                  <a:pt x="5222445" y="925498"/>
                </a:lnTo>
                <a:cubicBezTo>
                  <a:pt x="5222445" y="967223"/>
                  <a:pt x="5188620" y="1001047"/>
                  <a:pt x="5146896" y="1001047"/>
                </a:cubicBezTo>
                <a:lnTo>
                  <a:pt x="75549" y="1001047"/>
                </a:lnTo>
                <a:cubicBezTo>
                  <a:pt x="33824" y="1001047"/>
                  <a:pt x="0" y="967223"/>
                  <a:pt x="0" y="925498"/>
                </a:cubicBezTo>
                <a:lnTo>
                  <a:pt x="0" y="75549"/>
                </a:lnTo>
                <a:cubicBezTo>
                  <a:pt x="0" y="33852"/>
                  <a:pt x="33852" y="0"/>
                  <a:pt x="75549" y="0"/>
                </a:cubicBezTo>
                <a:close/>
              </a:path>
            </a:pathLst>
          </a:custGeom>
          <a:solidFill>
            <a:srgbClr val="1A3A52">
              <a:alpha val="5098"/>
            </a:srgbClr>
          </a:solidFill>
          <a:ln/>
        </p:spPr>
      </p:sp>
      <p:sp>
        <p:nvSpPr>
          <p:cNvPr id="13" name="Shape 11"/>
          <p:cNvSpPr/>
          <p:nvPr/>
        </p:nvSpPr>
        <p:spPr>
          <a:xfrm>
            <a:off x="741342" y="2870928"/>
            <a:ext cx="188877" cy="188877"/>
          </a:xfrm>
          <a:custGeom>
            <a:avLst/>
            <a:gdLst/>
            <a:ahLst/>
            <a:cxnLst/>
            <a:rect l="l" t="t" r="r" b="b"/>
            <a:pathLst>
              <a:path w="188877" h="188877">
                <a:moveTo>
                  <a:pt x="94438" y="188877"/>
                </a:moveTo>
                <a:cubicBezTo>
                  <a:pt x="146560" y="188877"/>
                  <a:pt x="188877" y="146560"/>
                  <a:pt x="188877" y="94438"/>
                </a:cubicBezTo>
                <a:cubicBezTo>
                  <a:pt x="188877" y="42316"/>
                  <a:pt x="146560" y="0"/>
                  <a:pt x="94438" y="0"/>
                </a:cubicBezTo>
                <a:cubicBezTo>
                  <a:pt x="42316" y="0"/>
                  <a:pt x="0" y="42316"/>
                  <a:pt x="0" y="94438"/>
                </a:cubicBezTo>
                <a:cubicBezTo>
                  <a:pt x="0" y="146560"/>
                  <a:pt x="42316" y="188877"/>
                  <a:pt x="94438" y="188877"/>
                </a:cubicBezTo>
                <a:close/>
                <a:moveTo>
                  <a:pt x="125574" y="78465"/>
                </a:moveTo>
                <a:lnTo>
                  <a:pt x="96062" y="125684"/>
                </a:lnTo>
                <a:cubicBezTo>
                  <a:pt x="94512" y="128156"/>
                  <a:pt x="91856" y="129705"/>
                  <a:pt x="88942" y="129853"/>
                </a:cubicBezTo>
                <a:cubicBezTo>
                  <a:pt x="86027" y="130000"/>
                  <a:pt x="83224" y="128672"/>
                  <a:pt x="81490" y="126311"/>
                </a:cubicBezTo>
                <a:lnTo>
                  <a:pt x="63783" y="102702"/>
                </a:lnTo>
                <a:cubicBezTo>
                  <a:pt x="60832" y="98791"/>
                  <a:pt x="61643" y="93258"/>
                  <a:pt x="65554" y="90307"/>
                </a:cubicBezTo>
                <a:cubicBezTo>
                  <a:pt x="69464" y="87356"/>
                  <a:pt x="74997" y="88167"/>
                  <a:pt x="77949" y="92077"/>
                </a:cubicBezTo>
                <a:lnTo>
                  <a:pt x="87909" y="105358"/>
                </a:lnTo>
                <a:lnTo>
                  <a:pt x="110559" y="69095"/>
                </a:lnTo>
                <a:cubicBezTo>
                  <a:pt x="113142" y="64963"/>
                  <a:pt x="118601" y="63672"/>
                  <a:pt x="122770" y="66291"/>
                </a:cubicBezTo>
                <a:cubicBezTo>
                  <a:pt x="126939" y="68911"/>
                  <a:pt x="128193" y="74333"/>
                  <a:pt x="125574" y="78502"/>
                </a:cubicBezTo>
                <a:close/>
              </a:path>
            </a:pathLst>
          </a:custGeom>
          <a:solidFill>
            <a:srgbClr val="00A63E"/>
          </a:solidFill>
          <a:ln/>
        </p:spPr>
      </p:sp>
      <p:sp>
        <p:nvSpPr>
          <p:cNvPr id="14" name="Text 12"/>
          <p:cNvSpPr/>
          <p:nvPr/>
        </p:nvSpPr>
        <p:spPr>
          <a:xfrm>
            <a:off x="1067154" y="2833153"/>
            <a:ext cx="4646370" cy="226652"/>
          </a:xfrm>
          <a:prstGeom prst="rect">
            <a:avLst/>
          </a:prstGeom>
          <a:noFill/>
          <a:ln/>
        </p:spPr>
        <p:txBody>
          <a:bodyPr wrap="square" lIns="0" tIns="0" rIns="0" bIns="0" rtlCol="0" anchor="ctr"/>
          <a:lstStyle/>
          <a:p>
            <a:pPr>
              <a:lnSpc>
                <a:spcPct val="130000"/>
              </a:lnSpc>
            </a:pPr>
            <a:r>
              <a:rPr lang="en-US" sz="1190" b="1" dirty="0">
                <a:solidFill>
                  <a:srgbClr val="1A3A52"/>
                </a:solidFill>
                <a:latin typeface="Liter" pitchFamily="34" charset="0"/>
                <a:ea typeface="Liter" pitchFamily="34" charset="-122"/>
                <a:cs typeface="Liter" pitchFamily="34" charset="-120"/>
              </a:rPr>
              <a:t>Tâche: Configurer l'enregistrement SPF</a:t>
            </a:r>
            <a:endParaRPr lang="en-US" sz="1600" dirty="0"/>
          </a:p>
        </p:txBody>
      </p:sp>
      <p:sp>
        <p:nvSpPr>
          <p:cNvPr id="15" name="Text 13"/>
          <p:cNvSpPr/>
          <p:nvPr/>
        </p:nvSpPr>
        <p:spPr>
          <a:xfrm>
            <a:off x="1067154" y="3097580"/>
            <a:ext cx="4636926" cy="434417"/>
          </a:xfrm>
          <a:prstGeom prst="rect">
            <a:avLst/>
          </a:prstGeom>
          <a:noFill/>
          <a:ln/>
        </p:spPr>
        <p:txBody>
          <a:bodyPr wrap="square" lIns="0" tIns="0" rIns="0" bIns="0" rtlCol="0" anchor="ctr"/>
          <a:lstStyle/>
          <a:p>
            <a:pPr>
              <a:lnSpc>
                <a:spcPct val="140000"/>
              </a:lnSpc>
            </a:pPr>
            <a:r>
              <a:rPr lang="en-US" sz="1041" dirty="0">
                <a:solidFill>
                  <a:srgbClr val="6C757D"/>
                </a:solidFill>
                <a:latin typeface="Liter" pitchFamily="34" charset="0"/>
                <a:ea typeface="Liter" pitchFamily="34" charset="-122"/>
                <a:cs typeface="Liter" pitchFamily="34" charset="-120"/>
              </a:rPr>
              <a:t>Implémenter le Sender Policy Framework (SPF) pour authentifier les emails envoyés depuis le domaine de la clinique.</a:t>
            </a:r>
            <a:endParaRPr lang="en-US" sz="1600" dirty="0"/>
          </a:p>
        </p:txBody>
      </p:sp>
      <p:sp>
        <p:nvSpPr>
          <p:cNvPr id="16" name="Shape 14"/>
          <p:cNvSpPr/>
          <p:nvPr/>
        </p:nvSpPr>
        <p:spPr>
          <a:xfrm>
            <a:off x="585518" y="3867253"/>
            <a:ext cx="151101" cy="151101"/>
          </a:xfrm>
          <a:custGeom>
            <a:avLst/>
            <a:gdLst/>
            <a:ahLst/>
            <a:cxnLst/>
            <a:rect l="l" t="t" r="r" b="b"/>
            <a:pathLst>
              <a:path w="151101" h="151101">
                <a:moveTo>
                  <a:pt x="132214" y="75551"/>
                </a:moveTo>
                <a:cubicBezTo>
                  <a:pt x="132214" y="44278"/>
                  <a:pt x="106824" y="18888"/>
                  <a:pt x="75551" y="18888"/>
                </a:cubicBezTo>
                <a:cubicBezTo>
                  <a:pt x="44278" y="18888"/>
                  <a:pt x="18888" y="44278"/>
                  <a:pt x="18888" y="75551"/>
                </a:cubicBezTo>
                <a:cubicBezTo>
                  <a:pt x="18888" y="106824"/>
                  <a:pt x="44278" y="132214"/>
                  <a:pt x="75551" y="132214"/>
                </a:cubicBezTo>
                <a:cubicBezTo>
                  <a:pt x="106824" y="132214"/>
                  <a:pt x="132214" y="106824"/>
                  <a:pt x="132214" y="75551"/>
                </a:cubicBezTo>
                <a:close/>
                <a:moveTo>
                  <a:pt x="0" y="75551"/>
                </a:moveTo>
                <a:cubicBezTo>
                  <a:pt x="0" y="33853"/>
                  <a:pt x="33853" y="0"/>
                  <a:pt x="75551" y="0"/>
                </a:cubicBezTo>
                <a:cubicBezTo>
                  <a:pt x="117248" y="0"/>
                  <a:pt x="151101" y="33853"/>
                  <a:pt x="151101" y="75551"/>
                </a:cubicBezTo>
                <a:cubicBezTo>
                  <a:pt x="151101" y="117248"/>
                  <a:pt x="117248" y="151101"/>
                  <a:pt x="75551" y="151101"/>
                </a:cubicBezTo>
                <a:cubicBezTo>
                  <a:pt x="33853" y="151101"/>
                  <a:pt x="0" y="117248"/>
                  <a:pt x="0" y="75551"/>
                </a:cubicBezTo>
                <a:close/>
                <a:moveTo>
                  <a:pt x="75551" y="99160"/>
                </a:moveTo>
                <a:cubicBezTo>
                  <a:pt x="88581" y="99160"/>
                  <a:pt x="99160" y="88581"/>
                  <a:pt x="99160" y="75551"/>
                </a:cubicBezTo>
                <a:cubicBezTo>
                  <a:pt x="99160" y="62520"/>
                  <a:pt x="88581" y="51941"/>
                  <a:pt x="75551" y="51941"/>
                </a:cubicBezTo>
                <a:cubicBezTo>
                  <a:pt x="62520" y="51941"/>
                  <a:pt x="51941" y="62520"/>
                  <a:pt x="51941" y="75551"/>
                </a:cubicBezTo>
                <a:cubicBezTo>
                  <a:pt x="51941" y="88581"/>
                  <a:pt x="62520" y="99160"/>
                  <a:pt x="75551" y="99160"/>
                </a:cubicBezTo>
                <a:close/>
                <a:moveTo>
                  <a:pt x="75551" y="33053"/>
                </a:moveTo>
                <a:cubicBezTo>
                  <a:pt x="99006" y="33053"/>
                  <a:pt x="118048" y="52096"/>
                  <a:pt x="118048" y="75551"/>
                </a:cubicBezTo>
                <a:cubicBezTo>
                  <a:pt x="118048" y="99006"/>
                  <a:pt x="99006" y="118048"/>
                  <a:pt x="75551" y="118048"/>
                </a:cubicBezTo>
                <a:cubicBezTo>
                  <a:pt x="52096" y="118048"/>
                  <a:pt x="33053" y="99006"/>
                  <a:pt x="33053" y="75551"/>
                </a:cubicBezTo>
                <a:cubicBezTo>
                  <a:pt x="33053" y="52096"/>
                  <a:pt x="52096" y="33053"/>
                  <a:pt x="75551" y="33053"/>
                </a:cubicBezTo>
                <a:close/>
                <a:moveTo>
                  <a:pt x="66107" y="75551"/>
                </a:moveTo>
                <a:cubicBezTo>
                  <a:pt x="66107" y="70339"/>
                  <a:pt x="70339" y="66107"/>
                  <a:pt x="75551" y="66107"/>
                </a:cubicBezTo>
                <a:cubicBezTo>
                  <a:pt x="80763" y="66107"/>
                  <a:pt x="84995" y="70339"/>
                  <a:pt x="84995" y="75551"/>
                </a:cubicBezTo>
                <a:cubicBezTo>
                  <a:pt x="84995" y="80763"/>
                  <a:pt x="80763" y="84995"/>
                  <a:pt x="75551" y="84995"/>
                </a:cubicBezTo>
                <a:cubicBezTo>
                  <a:pt x="70339" y="84995"/>
                  <a:pt x="66107" y="80763"/>
                  <a:pt x="66107" y="75551"/>
                </a:cubicBezTo>
                <a:close/>
              </a:path>
            </a:pathLst>
          </a:custGeom>
          <a:solidFill>
            <a:srgbClr val="C5A065"/>
          </a:solidFill>
          <a:ln/>
        </p:spPr>
      </p:sp>
      <p:sp>
        <p:nvSpPr>
          <p:cNvPr id="17" name="Text 15"/>
          <p:cNvSpPr/>
          <p:nvPr/>
        </p:nvSpPr>
        <p:spPr>
          <a:xfrm>
            <a:off x="755507" y="3829478"/>
            <a:ext cx="5109119" cy="226652"/>
          </a:xfrm>
          <a:prstGeom prst="rect">
            <a:avLst/>
          </a:prstGeom>
          <a:noFill/>
          <a:ln/>
        </p:spPr>
        <p:txBody>
          <a:bodyPr wrap="square" lIns="0" tIns="0" rIns="0" bIns="0" rtlCol="0" anchor="ctr"/>
          <a:lstStyle/>
          <a:p>
            <a:pPr>
              <a:lnSpc>
                <a:spcPct val="130000"/>
              </a:lnSpc>
            </a:pPr>
            <a:r>
              <a:rPr lang="en-US" sz="1190" b="1" dirty="0">
                <a:solidFill>
                  <a:srgbClr val="1A3A52"/>
                </a:solidFill>
                <a:latin typeface="Liter" pitchFamily="34" charset="0"/>
                <a:ea typeface="Liter" pitchFamily="34" charset="-122"/>
                <a:cs typeface="Liter" pitchFamily="34" charset="-120"/>
              </a:rPr>
              <a:t>Impact attendu:</a:t>
            </a:r>
            <a:endParaRPr lang="en-US" sz="1600" dirty="0"/>
          </a:p>
        </p:txBody>
      </p:sp>
      <p:sp>
        <p:nvSpPr>
          <p:cNvPr id="18" name="Shape 16"/>
          <p:cNvSpPr/>
          <p:nvPr/>
        </p:nvSpPr>
        <p:spPr>
          <a:xfrm>
            <a:off x="585518" y="4207232"/>
            <a:ext cx="132214" cy="132214"/>
          </a:xfrm>
          <a:custGeom>
            <a:avLst/>
            <a:gdLst/>
            <a:ahLst/>
            <a:cxnLst/>
            <a:rect l="l" t="t" r="r" b="b"/>
            <a:pathLst>
              <a:path w="132214" h="132214">
                <a:moveTo>
                  <a:pt x="66107" y="0"/>
                </a:moveTo>
                <a:cubicBezTo>
                  <a:pt x="67295" y="0"/>
                  <a:pt x="68483" y="258"/>
                  <a:pt x="69567" y="749"/>
                </a:cubicBezTo>
                <a:lnTo>
                  <a:pt x="118218" y="21381"/>
                </a:lnTo>
                <a:cubicBezTo>
                  <a:pt x="123899" y="23783"/>
                  <a:pt x="128134" y="29387"/>
                  <a:pt x="128108" y="36152"/>
                </a:cubicBezTo>
                <a:cubicBezTo>
                  <a:pt x="127979" y="61769"/>
                  <a:pt x="117443" y="108637"/>
                  <a:pt x="72950" y="129941"/>
                </a:cubicBezTo>
                <a:cubicBezTo>
                  <a:pt x="68638" y="132007"/>
                  <a:pt x="63628" y="132007"/>
                  <a:pt x="59315" y="129941"/>
                </a:cubicBezTo>
                <a:cubicBezTo>
                  <a:pt x="14797" y="108637"/>
                  <a:pt x="4287" y="61769"/>
                  <a:pt x="4158" y="36152"/>
                </a:cubicBezTo>
                <a:cubicBezTo>
                  <a:pt x="4132" y="29387"/>
                  <a:pt x="8367" y="23783"/>
                  <a:pt x="14048" y="21381"/>
                </a:cubicBezTo>
                <a:lnTo>
                  <a:pt x="62672" y="749"/>
                </a:lnTo>
                <a:cubicBezTo>
                  <a:pt x="63757" y="258"/>
                  <a:pt x="64919" y="0"/>
                  <a:pt x="66107" y="0"/>
                </a:cubicBezTo>
                <a:close/>
                <a:moveTo>
                  <a:pt x="66107" y="17250"/>
                </a:moveTo>
                <a:lnTo>
                  <a:pt x="66107" y="114887"/>
                </a:lnTo>
                <a:cubicBezTo>
                  <a:pt x="101743" y="97637"/>
                  <a:pt x="111323" y="59419"/>
                  <a:pt x="111555" y="36540"/>
                </a:cubicBezTo>
                <a:lnTo>
                  <a:pt x="66107" y="17276"/>
                </a:lnTo>
                <a:lnTo>
                  <a:pt x="66107" y="17276"/>
                </a:lnTo>
                <a:close/>
              </a:path>
            </a:pathLst>
          </a:custGeom>
          <a:solidFill>
            <a:srgbClr val="00A63E"/>
          </a:solidFill>
          <a:ln/>
        </p:spPr>
      </p:sp>
      <p:sp>
        <p:nvSpPr>
          <p:cNvPr id="19" name="Text 17"/>
          <p:cNvSpPr/>
          <p:nvPr/>
        </p:nvSpPr>
        <p:spPr>
          <a:xfrm>
            <a:off x="807448" y="4169456"/>
            <a:ext cx="3616991" cy="188877"/>
          </a:xfrm>
          <a:prstGeom prst="rect">
            <a:avLst/>
          </a:prstGeom>
          <a:noFill/>
          <a:ln/>
        </p:spPr>
        <p:txBody>
          <a:bodyPr wrap="square" lIns="0" tIns="0" rIns="0" bIns="0" rtlCol="0" anchor="ctr"/>
          <a:lstStyle/>
          <a:p>
            <a:pPr>
              <a:lnSpc>
                <a:spcPct val="120000"/>
              </a:lnSpc>
            </a:pPr>
            <a:r>
              <a:rPr lang="en-US" sz="1041" b="1" dirty="0">
                <a:solidFill>
                  <a:srgbClr val="212529"/>
                </a:solidFill>
                <a:latin typeface="Liter" pitchFamily="34" charset="0"/>
                <a:ea typeface="Liter" pitchFamily="34" charset="-122"/>
                <a:cs typeface="Liter" pitchFamily="34" charset="-120"/>
              </a:rPr>
              <a:t>Sécurise les communications</a:t>
            </a:r>
            <a:pPr>
              <a:lnSpc>
                <a:spcPct val="120000"/>
              </a:lnSpc>
            </a:pPr>
            <a:r>
              <a:rPr lang="en-US" sz="1041" dirty="0">
                <a:solidFill>
                  <a:srgbClr val="212529"/>
                </a:solidFill>
                <a:latin typeface="Liter" pitchFamily="34" charset="0"/>
                <a:ea typeface="Liter" pitchFamily="34" charset="-122"/>
                <a:cs typeface="Liter" pitchFamily="34" charset="-120"/>
              </a:rPr>
              <a:t> de la clinique contre le spoofing</a:t>
            </a:r>
            <a:endParaRPr lang="en-US" sz="1600" dirty="0"/>
          </a:p>
        </p:txBody>
      </p:sp>
      <p:sp>
        <p:nvSpPr>
          <p:cNvPr id="20" name="Shape 18"/>
          <p:cNvSpPr/>
          <p:nvPr/>
        </p:nvSpPr>
        <p:spPr>
          <a:xfrm>
            <a:off x="585518" y="4471659"/>
            <a:ext cx="132214" cy="132214"/>
          </a:xfrm>
          <a:custGeom>
            <a:avLst/>
            <a:gdLst/>
            <a:ahLst/>
            <a:cxnLst/>
            <a:rect l="l" t="t" r="r" b="b"/>
            <a:pathLst>
              <a:path w="132214" h="132214">
                <a:moveTo>
                  <a:pt x="12395" y="16527"/>
                </a:moveTo>
                <a:cubicBezTo>
                  <a:pt x="5552" y="16527"/>
                  <a:pt x="0" y="22079"/>
                  <a:pt x="0" y="28922"/>
                </a:cubicBezTo>
                <a:cubicBezTo>
                  <a:pt x="0" y="32821"/>
                  <a:pt x="1833" y="36488"/>
                  <a:pt x="4958" y="38838"/>
                </a:cubicBezTo>
                <a:lnTo>
                  <a:pt x="58670" y="79122"/>
                </a:lnTo>
                <a:cubicBezTo>
                  <a:pt x="63086" y="82427"/>
                  <a:pt x="69128" y="82427"/>
                  <a:pt x="73544" y="79122"/>
                </a:cubicBezTo>
                <a:lnTo>
                  <a:pt x="127256" y="38838"/>
                </a:lnTo>
                <a:cubicBezTo>
                  <a:pt x="130380" y="36488"/>
                  <a:pt x="132214" y="32821"/>
                  <a:pt x="132214" y="28922"/>
                </a:cubicBezTo>
                <a:cubicBezTo>
                  <a:pt x="132214" y="22079"/>
                  <a:pt x="126662" y="16527"/>
                  <a:pt x="119819" y="16527"/>
                </a:cubicBezTo>
                <a:lnTo>
                  <a:pt x="12395" y="16527"/>
                </a:lnTo>
                <a:close/>
                <a:moveTo>
                  <a:pt x="0" y="50613"/>
                </a:moveTo>
                <a:lnTo>
                  <a:pt x="0" y="99160"/>
                </a:lnTo>
                <a:cubicBezTo>
                  <a:pt x="0" y="108276"/>
                  <a:pt x="7411" y="115687"/>
                  <a:pt x="16527" y="115687"/>
                </a:cubicBezTo>
                <a:lnTo>
                  <a:pt x="115687" y="115687"/>
                </a:lnTo>
                <a:cubicBezTo>
                  <a:pt x="124803" y="115687"/>
                  <a:pt x="132214" y="108276"/>
                  <a:pt x="132214" y="99160"/>
                </a:cubicBezTo>
                <a:lnTo>
                  <a:pt x="132214" y="50613"/>
                </a:lnTo>
                <a:lnTo>
                  <a:pt x="80981" y="89038"/>
                </a:lnTo>
                <a:cubicBezTo>
                  <a:pt x="72175" y="95648"/>
                  <a:pt x="60038" y="95648"/>
                  <a:pt x="51233" y="89038"/>
                </a:cubicBezTo>
                <a:lnTo>
                  <a:pt x="0" y="50613"/>
                </a:lnTo>
                <a:close/>
              </a:path>
            </a:pathLst>
          </a:custGeom>
          <a:solidFill>
            <a:srgbClr val="00A63E"/>
          </a:solidFill>
          <a:ln/>
        </p:spPr>
      </p:sp>
      <p:sp>
        <p:nvSpPr>
          <p:cNvPr id="21" name="Text 19"/>
          <p:cNvSpPr/>
          <p:nvPr/>
        </p:nvSpPr>
        <p:spPr>
          <a:xfrm>
            <a:off x="807448" y="4433884"/>
            <a:ext cx="4325280" cy="188877"/>
          </a:xfrm>
          <a:prstGeom prst="rect">
            <a:avLst/>
          </a:prstGeom>
          <a:noFill/>
          <a:ln/>
        </p:spPr>
        <p:txBody>
          <a:bodyPr wrap="square" lIns="0" tIns="0" rIns="0" bIns="0" rtlCol="0" anchor="ctr"/>
          <a:lstStyle/>
          <a:p>
            <a:pPr>
              <a:lnSpc>
                <a:spcPct val="120000"/>
              </a:lnSpc>
            </a:pPr>
            <a:r>
              <a:rPr lang="en-US" sz="1041" b="1" dirty="0">
                <a:solidFill>
                  <a:srgbClr val="212529"/>
                </a:solidFill>
                <a:latin typeface="Liter" pitchFamily="34" charset="0"/>
                <a:ea typeface="Liter" pitchFamily="34" charset="-122"/>
                <a:cs typeface="Liter" pitchFamily="34" charset="-120"/>
              </a:rPr>
              <a:t>Garantit la délivrabilité</a:t>
            </a:r>
            <a:pPr>
              <a:lnSpc>
                <a:spcPct val="120000"/>
              </a:lnSpc>
            </a:pPr>
            <a:r>
              <a:rPr lang="en-US" sz="1041" dirty="0">
                <a:solidFill>
                  <a:srgbClr val="212529"/>
                </a:solidFill>
                <a:latin typeface="Liter" pitchFamily="34" charset="0"/>
                <a:ea typeface="Liter" pitchFamily="34" charset="-122"/>
                <a:cs typeface="Liter" pitchFamily="34" charset="-120"/>
              </a:rPr>
              <a:t> des emails aux patients (85-95% inbox placement)</a:t>
            </a:r>
            <a:endParaRPr lang="en-US" sz="1600" dirty="0"/>
          </a:p>
        </p:txBody>
      </p:sp>
      <p:sp>
        <p:nvSpPr>
          <p:cNvPr id="22" name="Shape 20"/>
          <p:cNvSpPr/>
          <p:nvPr/>
        </p:nvSpPr>
        <p:spPr>
          <a:xfrm>
            <a:off x="602045" y="4736087"/>
            <a:ext cx="99160" cy="132214"/>
          </a:xfrm>
          <a:custGeom>
            <a:avLst/>
            <a:gdLst/>
            <a:ahLst/>
            <a:cxnLst/>
            <a:rect l="l" t="t" r="r" b="b"/>
            <a:pathLst>
              <a:path w="99160" h="132214">
                <a:moveTo>
                  <a:pt x="33053" y="24790"/>
                </a:moveTo>
                <a:lnTo>
                  <a:pt x="33053" y="41317"/>
                </a:lnTo>
                <a:lnTo>
                  <a:pt x="66107" y="41317"/>
                </a:lnTo>
                <a:lnTo>
                  <a:pt x="66107" y="24790"/>
                </a:lnTo>
                <a:cubicBezTo>
                  <a:pt x="66107" y="15675"/>
                  <a:pt x="58696" y="8263"/>
                  <a:pt x="49580" y="8263"/>
                </a:cubicBezTo>
                <a:cubicBezTo>
                  <a:pt x="40465" y="8263"/>
                  <a:pt x="33053" y="15675"/>
                  <a:pt x="33053" y="24790"/>
                </a:cubicBezTo>
                <a:close/>
                <a:moveTo>
                  <a:pt x="16527" y="41317"/>
                </a:moveTo>
                <a:lnTo>
                  <a:pt x="16527" y="24790"/>
                </a:lnTo>
                <a:cubicBezTo>
                  <a:pt x="16527" y="6533"/>
                  <a:pt x="31323" y="-8263"/>
                  <a:pt x="49580" y="-8263"/>
                </a:cubicBezTo>
                <a:cubicBezTo>
                  <a:pt x="67837" y="-8263"/>
                  <a:pt x="82634" y="6533"/>
                  <a:pt x="82634" y="24790"/>
                </a:cubicBezTo>
                <a:lnTo>
                  <a:pt x="82634" y="41317"/>
                </a:lnTo>
                <a:cubicBezTo>
                  <a:pt x="91749" y="41317"/>
                  <a:pt x="99160" y="48728"/>
                  <a:pt x="99160" y="57844"/>
                </a:cubicBezTo>
                <a:lnTo>
                  <a:pt x="99160" y="115687"/>
                </a:lnTo>
                <a:cubicBezTo>
                  <a:pt x="99160" y="124803"/>
                  <a:pt x="91749" y="132214"/>
                  <a:pt x="82634" y="132214"/>
                </a:cubicBezTo>
                <a:lnTo>
                  <a:pt x="16527" y="132214"/>
                </a:lnTo>
                <a:cubicBezTo>
                  <a:pt x="7411" y="132214"/>
                  <a:pt x="0" y="124803"/>
                  <a:pt x="0" y="115687"/>
                </a:cubicBezTo>
                <a:lnTo>
                  <a:pt x="0" y="57844"/>
                </a:lnTo>
                <a:cubicBezTo>
                  <a:pt x="0" y="48728"/>
                  <a:pt x="7411" y="41317"/>
                  <a:pt x="16527" y="41317"/>
                </a:cubicBezTo>
                <a:close/>
              </a:path>
            </a:pathLst>
          </a:custGeom>
          <a:solidFill>
            <a:srgbClr val="00A63E"/>
          </a:solidFill>
          <a:ln/>
        </p:spPr>
      </p:sp>
      <p:sp>
        <p:nvSpPr>
          <p:cNvPr id="23" name="Text 21"/>
          <p:cNvSpPr/>
          <p:nvPr/>
        </p:nvSpPr>
        <p:spPr>
          <a:xfrm>
            <a:off x="807448" y="4698311"/>
            <a:ext cx="2993698" cy="188877"/>
          </a:xfrm>
          <a:prstGeom prst="rect">
            <a:avLst/>
          </a:prstGeom>
          <a:noFill/>
          <a:ln/>
        </p:spPr>
        <p:txBody>
          <a:bodyPr wrap="square" lIns="0" tIns="0" rIns="0" bIns="0" rtlCol="0" anchor="ctr"/>
          <a:lstStyle/>
          <a:p>
            <a:pPr>
              <a:lnSpc>
                <a:spcPct val="120000"/>
              </a:lnSpc>
            </a:pPr>
            <a:r>
              <a:rPr lang="en-US" sz="1041" b="1" dirty="0">
                <a:solidFill>
                  <a:srgbClr val="212529"/>
                </a:solidFill>
                <a:latin typeface="Liter" pitchFamily="34" charset="0"/>
                <a:ea typeface="Liter" pitchFamily="34" charset="-122"/>
                <a:cs typeface="Liter" pitchFamily="34" charset="-120"/>
              </a:rPr>
              <a:t>Empêche le piratage/spam</a:t>
            </a:r>
            <a:pPr>
              <a:lnSpc>
                <a:spcPct val="120000"/>
              </a:lnSpc>
            </a:pPr>
            <a:r>
              <a:rPr lang="en-US" sz="1041" dirty="0">
                <a:solidFill>
                  <a:srgbClr val="212529"/>
                </a:solidFill>
                <a:latin typeface="Liter" pitchFamily="34" charset="0"/>
                <a:ea typeface="Liter" pitchFamily="34" charset="-122"/>
                <a:cs typeface="Liter" pitchFamily="34" charset="-120"/>
              </a:rPr>
              <a:t> et protège la réputation</a:t>
            </a:r>
            <a:endParaRPr lang="en-US" sz="1600" dirty="0"/>
          </a:p>
        </p:txBody>
      </p:sp>
      <p:sp>
        <p:nvSpPr>
          <p:cNvPr id="24" name="Shape 22"/>
          <p:cNvSpPr/>
          <p:nvPr/>
        </p:nvSpPr>
        <p:spPr>
          <a:xfrm>
            <a:off x="571352" y="5368824"/>
            <a:ext cx="5213001" cy="424973"/>
          </a:xfrm>
          <a:custGeom>
            <a:avLst/>
            <a:gdLst/>
            <a:ahLst/>
            <a:cxnLst/>
            <a:rect l="l" t="t" r="r" b="b"/>
            <a:pathLst>
              <a:path w="5213001" h="424973">
                <a:moveTo>
                  <a:pt x="75552" y="0"/>
                </a:moveTo>
                <a:lnTo>
                  <a:pt x="5137449" y="0"/>
                </a:lnTo>
                <a:cubicBezTo>
                  <a:pt x="5179175" y="0"/>
                  <a:pt x="5213001" y="33826"/>
                  <a:pt x="5213001" y="75552"/>
                </a:cubicBezTo>
                <a:lnTo>
                  <a:pt x="5213001" y="349421"/>
                </a:lnTo>
                <a:cubicBezTo>
                  <a:pt x="5213001" y="391147"/>
                  <a:pt x="5179175" y="424973"/>
                  <a:pt x="5137449" y="424973"/>
                </a:cubicBezTo>
                <a:lnTo>
                  <a:pt x="75552" y="424973"/>
                </a:lnTo>
                <a:cubicBezTo>
                  <a:pt x="33826" y="424973"/>
                  <a:pt x="0" y="391147"/>
                  <a:pt x="0" y="349421"/>
                </a:cubicBezTo>
                <a:lnTo>
                  <a:pt x="0" y="75552"/>
                </a:lnTo>
                <a:cubicBezTo>
                  <a:pt x="0" y="33854"/>
                  <a:pt x="33854" y="0"/>
                  <a:pt x="75552" y="0"/>
                </a:cubicBezTo>
                <a:close/>
              </a:path>
            </a:pathLst>
          </a:custGeom>
          <a:solidFill>
            <a:srgbClr val="F0FDF4"/>
          </a:solidFill>
          <a:ln w="12700">
            <a:solidFill>
              <a:srgbClr val="B9F8CF"/>
            </a:solidFill>
            <a:prstDash val="solid"/>
          </a:ln>
        </p:spPr>
      </p:sp>
      <p:sp>
        <p:nvSpPr>
          <p:cNvPr id="25" name="Shape 23"/>
          <p:cNvSpPr/>
          <p:nvPr/>
        </p:nvSpPr>
        <p:spPr>
          <a:xfrm>
            <a:off x="1617332" y="5515204"/>
            <a:ext cx="132214" cy="132214"/>
          </a:xfrm>
          <a:custGeom>
            <a:avLst/>
            <a:gdLst/>
            <a:ahLst/>
            <a:cxnLst/>
            <a:rect l="l" t="t" r="r" b="b"/>
            <a:pathLst>
              <a:path w="132214" h="132214">
                <a:moveTo>
                  <a:pt x="16527" y="16527"/>
                </a:moveTo>
                <a:cubicBezTo>
                  <a:pt x="16527" y="11956"/>
                  <a:pt x="12834" y="8263"/>
                  <a:pt x="8263" y="8263"/>
                </a:cubicBezTo>
                <a:cubicBezTo>
                  <a:pt x="3693" y="8263"/>
                  <a:pt x="0" y="11956"/>
                  <a:pt x="0" y="16527"/>
                </a:cubicBezTo>
                <a:lnTo>
                  <a:pt x="0" y="103292"/>
                </a:lnTo>
                <a:cubicBezTo>
                  <a:pt x="0" y="114706"/>
                  <a:pt x="9245" y="123950"/>
                  <a:pt x="20658" y="123950"/>
                </a:cubicBezTo>
                <a:lnTo>
                  <a:pt x="123950" y="123950"/>
                </a:lnTo>
                <a:cubicBezTo>
                  <a:pt x="128521" y="123950"/>
                  <a:pt x="132214" y="120258"/>
                  <a:pt x="132214" y="115687"/>
                </a:cubicBezTo>
                <a:cubicBezTo>
                  <a:pt x="132214" y="111116"/>
                  <a:pt x="128521" y="107424"/>
                  <a:pt x="123950" y="107424"/>
                </a:cubicBezTo>
                <a:lnTo>
                  <a:pt x="20658" y="107424"/>
                </a:lnTo>
                <a:cubicBezTo>
                  <a:pt x="18386" y="107424"/>
                  <a:pt x="16527" y="105564"/>
                  <a:pt x="16527" y="103292"/>
                </a:cubicBezTo>
                <a:lnTo>
                  <a:pt x="16527" y="16527"/>
                </a:lnTo>
                <a:close/>
                <a:moveTo>
                  <a:pt x="121523" y="38889"/>
                </a:moveTo>
                <a:cubicBezTo>
                  <a:pt x="124751" y="35662"/>
                  <a:pt x="124751" y="30420"/>
                  <a:pt x="121523" y="27192"/>
                </a:cubicBezTo>
                <a:cubicBezTo>
                  <a:pt x="118295" y="23964"/>
                  <a:pt x="113053" y="23964"/>
                  <a:pt x="109825" y="27192"/>
                </a:cubicBezTo>
                <a:lnTo>
                  <a:pt x="82634" y="54409"/>
                </a:lnTo>
                <a:lnTo>
                  <a:pt x="67811" y="39612"/>
                </a:lnTo>
                <a:cubicBezTo>
                  <a:pt x="64583" y="36385"/>
                  <a:pt x="59341" y="36385"/>
                  <a:pt x="56113" y="39612"/>
                </a:cubicBezTo>
                <a:lnTo>
                  <a:pt x="31323" y="64403"/>
                </a:lnTo>
                <a:cubicBezTo>
                  <a:pt x="28095" y="67630"/>
                  <a:pt x="28095" y="72873"/>
                  <a:pt x="31323" y="76100"/>
                </a:cubicBezTo>
                <a:cubicBezTo>
                  <a:pt x="34551" y="79328"/>
                  <a:pt x="39793" y="79328"/>
                  <a:pt x="43021" y="76100"/>
                </a:cubicBezTo>
                <a:lnTo>
                  <a:pt x="61975" y="57146"/>
                </a:lnTo>
                <a:lnTo>
                  <a:pt x="76798" y="71969"/>
                </a:lnTo>
                <a:cubicBezTo>
                  <a:pt x="80025" y="75197"/>
                  <a:pt x="85268" y="75197"/>
                  <a:pt x="88495" y="71969"/>
                </a:cubicBezTo>
                <a:lnTo>
                  <a:pt x="121549" y="38915"/>
                </a:lnTo>
                <a:close/>
              </a:path>
            </a:pathLst>
          </a:custGeom>
          <a:solidFill>
            <a:srgbClr val="016630"/>
          </a:solidFill>
          <a:ln/>
        </p:spPr>
      </p:sp>
      <p:sp>
        <p:nvSpPr>
          <p:cNvPr id="26" name="Text 24"/>
          <p:cNvSpPr/>
          <p:nvPr/>
        </p:nvSpPr>
        <p:spPr>
          <a:xfrm>
            <a:off x="882516" y="5486872"/>
            <a:ext cx="4816842" cy="188877"/>
          </a:xfrm>
          <a:prstGeom prst="rect">
            <a:avLst/>
          </a:prstGeom>
          <a:noFill/>
          <a:ln/>
        </p:spPr>
        <p:txBody>
          <a:bodyPr wrap="square" lIns="0" tIns="0" rIns="0" bIns="0" rtlCol="0" anchor="ctr"/>
          <a:lstStyle/>
          <a:p>
            <a:pPr algn="ctr">
              <a:lnSpc>
                <a:spcPct val="120000"/>
              </a:lnSpc>
            </a:pPr>
            <a:r>
              <a:rPr lang="en-US" sz="1041" b="1" dirty="0">
                <a:solidFill>
                  <a:srgbClr val="016630"/>
                </a:solidFill>
                <a:latin typeface="Liter" pitchFamily="34" charset="0"/>
                <a:ea typeface="Liter" pitchFamily="34" charset="-122"/>
                <a:cs typeface="Liter" pitchFamily="34" charset="-120"/>
              </a:rPr>
              <a:t>+8.3 points</a:t>
            </a:r>
            <a:pPr algn="ctr">
              <a:lnSpc>
                <a:spcPct val="120000"/>
              </a:lnSpc>
            </a:pPr>
            <a:r>
              <a:rPr lang="en-US" sz="1041" dirty="0">
                <a:solidFill>
                  <a:srgbClr val="016630"/>
                </a:solidFill>
                <a:latin typeface="Liter" pitchFamily="34" charset="0"/>
                <a:ea typeface="Liter" pitchFamily="34" charset="-122"/>
                <a:cs typeface="Liter" pitchFamily="34" charset="-120"/>
              </a:rPr>
              <a:t> d'inbox placement avec SPF configuré</a:t>
            </a:r>
            <a:endParaRPr lang="en-US" sz="1600" dirty="0"/>
          </a:p>
        </p:txBody>
      </p:sp>
      <p:sp>
        <p:nvSpPr>
          <p:cNvPr id="27" name="Shape 25"/>
          <p:cNvSpPr/>
          <p:nvPr/>
        </p:nvSpPr>
        <p:spPr>
          <a:xfrm>
            <a:off x="6207703" y="1511015"/>
            <a:ext cx="5600198" cy="4476381"/>
          </a:xfrm>
          <a:custGeom>
            <a:avLst/>
            <a:gdLst/>
            <a:ahLst/>
            <a:cxnLst/>
            <a:rect l="l" t="t" r="r" b="b"/>
            <a:pathLst>
              <a:path w="5600198" h="4476381">
                <a:moveTo>
                  <a:pt x="113342" y="0"/>
                </a:moveTo>
                <a:lnTo>
                  <a:pt x="5486856" y="0"/>
                </a:lnTo>
                <a:cubicBezTo>
                  <a:pt x="5549453" y="0"/>
                  <a:pt x="5600198" y="50745"/>
                  <a:pt x="5600198" y="113342"/>
                </a:cubicBezTo>
                <a:lnTo>
                  <a:pt x="5600198" y="4363039"/>
                </a:lnTo>
                <a:cubicBezTo>
                  <a:pt x="5600198" y="4425636"/>
                  <a:pt x="5549453" y="4476381"/>
                  <a:pt x="5486856" y="4476381"/>
                </a:cubicBezTo>
                <a:lnTo>
                  <a:pt x="113342" y="4476381"/>
                </a:lnTo>
                <a:cubicBezTo>
                  <a:pt x="50745" y="4476381"/>
                  <a:pt x="0" y="4425636"/>
                  <a:pt x="0" y="4363039"/>
                </a:cubicBezTo>
                <a:lnTo>
                  <a:pt x="0" y="113342"/>
                </a:lnTo>
                <a:cubicBezTo>
                  <a:pt x="0" y="50745"/>
                  <a:pt x="50745" y="0"/>
                  <a:pt x="113342" y="0"/>
                </a:cubicBezTo>
                <a:close/>
              </a:path>
            </a:pathLst>
          </a:custGeom>
          <a:solidFill>
            <a:srgbClr val="FFFFFF"/>
          </a:solidFill>
          <a:ln/>
          <a:effectLst>
            <a:outerShdw sx="100000" sy="100000" kx="0" ky="0" algn="bl" rotWithShape="0" blurRad="141658" dist="94438" dir="5400000">
              <a:srgbClr val="000000">
                <a:alpha val="10196"/>
              </a:srgbClr>
            </a:outerShdw>
          </a:effectLst>
        </p:spPr>
      </p:sp>
      <p:sp>
        <p:nvSpPr>
          <p:cNvPr id="28" name="Shape 26"/>
          <p:cNvSpPr/>
          <p:nvPr/>
        </p:nvSpPr>
        <p:spPr>
          <a:xfrm>
            <a:off x="6207703" y="1511015"/>
            <a:ext cx="5600198" cy="982160"/>
          </a:xfrm>
          <a:custGeom>
            <a:avLst/>
            <a:gdLst/>
            <a:ahLst/>
            <a:cxnLst/>
            <a:rect l="l" t="t" r="r" b="b"/>
            <a:pathLst>
              <a:path w="5600198" h="982160">
                <a:moveTo>
                  <a:pt x="0" y="0"/>
                </a:moveTo>
                <a:lnTo>
                  <a:pt x="5600198" y="0"/>
                </a:lnTo>
                <a:lnTo>
                  <a:pt x="5600198" y="982160"/>
                </a:lnTo>
                <a:lnTo>
                  <a:pt x="0" y="982160"/>
                </a:lnTo>
                <a:lnTo>
                  <a:pt x="0" y="0"/>
                </a:lnTo>
                <a:close/>
              </a:path>
            </a:pathLst>
          </a:custGeom>
          <a:solidFill>
            <a:srgbClr val="C5A065"/>
          </a:solidFill>
          <a:ln/>
        </p:spPr>
      </p:sp>
      <p:sp>
        <p:nvSpPr>
          <p:cNvPr id="29" name="Shape 27"/>
          <p:cNvSpPr/>
          <p:nvPr/>
        </p:nvSpPr>
        <p:spPr>
          <a:xfrm>
            <a:off x="6396580" y="1737667"/>
            <a:ext cx="528855" cy="528855"/>
          </a:xfrm>
          <a:custGeom>
            <a:avLst/>
            <a:gdLst/>
            <a:ahLst/>
            <a:cxnLst/>
            <a:rect l="l" t="t" r="r" b="b"/>
            <a:pathLst>
              <a:path w="528855" h="528855">
                <a:moveTo>
                  <a:pt x="264428" y="0"/>
                </a:moveTo>
                <a:lnTo>
                  <a:pt x="264428" y="0"/>
                </a:lnTo>
                <a:cubicBezTo>
                  <a:pt x="410369" y="0"/>
                  <a:pt x="528855" y="118486"/>
                  <a:pt x="528855" y="264428"/>
                </a:cubicBezTo>
                <a:lnTo>
                  <a:pt x="528855" y="264428"/>
                </a:lnTo>
                <a:cubicBezTo>
                  <a:pt x="528855" y="410369"/>
                  <a:pt x="410369" y="528855"/>
                  <a:pt x="264428" y="528855"/>
                </a:cubicBezTo>
                <a:lnTo>
                  <a:pt x="264428" y="528855"/>
                </a:lnTo>
                <a:cubicBezTo>
                  <a:pt x="118486" y="528855"/>
                  <a:pt x="0" y="410369"/>
                  <a:pt x="0" y="264428"/>
                </a:cubicBezTo>
                <a:lnTo>
                  <a:pt x="0" y="264428"/>
                </a:lnTo>
                <a:cubicBezTo>
                  <a:pt x="0" y="118486"/>
                  <a:pt x="118486" y="0"/>
                  <a:pt x="264428" y="0"/>
                </a:cubicBezTo>
                <a:close/>
              </a:path>
            </a:pathLst>
          </a:custGeom>
          <a:solidFill>
            <a:srgbClr val="FFFFFF"/>
          </a:solidFill>
          <a:ln/>
        </p:spPr>
      </p:sp>
      <p:sp>
        <p:nvSpPr>
          <p:cNvPr id="30" name="Shape 28"/>
          <p:cNvSpPr/>
          <p:nvPr/>
        </p:nvSpPr>
        <p:spPr>
          <a:xfrm>
            <a:off x="6547681" y="1888768"/>
            <a:ext cx="226652" cy="226652"/>
          </a:xfrm>
          <a:custGeom>
            <a:avLst/>
            <a:gdLst/>
            <a:ahLst/>
            <a:cxnLst/>
            <a:rect l="l" t="t" r="r" b="b"/>
            <a:pathLst>
              <a:path w="226652" h="226652">
                <a:moveTo>
                  <a:pt x="0" y="113326"/>
                </a:moveTo>
                <a:cubicBezTo>
                  <a:pt x="0" y="50780"/>
                  <a:pt x="50780" y="0"/>
                  <a:pt x="113326" y="0"/>
                </a:cubicBezTo>
                <a:cubicBezTo>
                  <a:pt x="175872" y="0"/>
                  <a:pt x="226652" y="50780"/>
                  <a:pt x="226652" y="113326"/>
                </a:cubicBezTo>
                <a:cubicBezTo>
                  <a:pt x="226652" y="175872"/>
                  <a:pt x="175872" y="226652"/>
                  <a:pt x="113326" y="226652"/>
                </a:cubicBezTo>
                <a:cubicBezTo>
                  <a:pt x="50780" y="226652"/>
                  <a:pt x="0" y="175872"/>
                  <a:pt x="0" y="113326"/>
                </a:cubicBezTo>
                <a:close/>
                <a:moveTo>
                  <a:pt x="127492" y="42497"/>
                </a:moveTo>
                <a:cubicBezTo>
                  <a:pt x="127492" y="34679"/>
                  <a:pt x="121144" y="28332"/>
                  <a:pt x="113326" y="28332"/>
                </a:cubicBezTo>
                <a:cubicBezTo>
                  <a:pt x="105508" y="28332"/>
                  <a:pt x="99160" y="34679"/>
                  <a:pt x="99160" y="42497"/>
                </a:cubicBezTo>
                <a:cubicBezTo>
                  <a:pt x="99160" y="50316"/>
                  <a:pt x="105508" y="56663"/>
                  <a:pt x="113326" y="56663"/>
                </a:cubicBezTo>
                <a:cubicBezTo>
                  <a:pt x="121144" y="56663"/>
                  <a:pt x="127492" y="50316"/>
                  <a:pt x="127492" y="42497"/>
                </a:cubicBezTo>
                <a:close/>
                <a:moveTo>
                  <a:pt x="113326" y="184155"/>
                </a:moveTo>
                <a:cubicBezTo>
                  <a:pt x="128953" y="184155"/>
                  <a:pt x="141658" y="171450"/>
                  <a:pt x="141658" y="155823"/>
                </a:cubicBezTo>
                <a:cubicBezTo>
                  <a:pt x="141658" y="148652"/>
                  <a:pt x="139002" y="142056"/>
                  <a:pt x="134575" y="137098"/>
                </a:cubicBezTo>
                <a:lnTo>
                  <a:pt x="165341" y="75610"/>
                </a:lnTo>
                <a:cubicBezTo>
                  <a:pt x="167953" y="70342"/>
                  <a:pt x="165828" y="63967"/>
                  <a:pt x="160604" y="61355"/>
                </a:cubicBezTo>
                <a:cubicBezTo>
                  <a:pt x="155381" y="58744"/>
                  <a:pt x="148962" y="60869"/>
                  <a:pt x="146350" y="66092"/>
                </a:cubicBezTo>
                <a:lnTo>
                  <a:pt x="115584" y="127580"/>
                </a:lnTo>
                <a:cubicBezTo>
                  <a:pt x="114831" y="127536"/>
                  <a:pt x="114079" y="127492"/>
                  <a:pt x="113326" y="127492"/>
                </a:cubicBezTo>
                <a:cubicBezTo>
                  <a:pt x="97699" y="127492"/>
                  <a:pt x="84995" y="140197"/>
                  <a:pt x="84995" y="155823"/>
                </a:cubicBezTo>
                <a:cubicBezTo>
                  <a:pt x="84995" y="171450"/>
                  <a:pt x="97699" y="184155"/>
                  <a:pt x="113326" y="184155"/>
                </a:cubicBezTo>
                <a:close/>
                <a:moveTo>
                  <a:pt x="77912" y="63746"/>
                </a:moveTo>
                <a:cubicBezTo>
                  <a:pt x="77912" y="55928"/>
                  <a:pt x="71564" y="49580"/>
                  <a:pt x="63746" y="49580"/>
                </a:cubicBezTo>
                <a:cubicBezTo>
                  <a:pt x="55928" y="49580"/>
                  <a:pt x="49580" y="55928"/>
                  <a:pt x="49580" y="63746"/>
                </a:cubicBezTo>
                <a:cubicBezTo>
                  <a:pt x="49580" y="71564"/>
                  <a:pt x="55928" y="77912"/>
                  <a:pt x="63746" y="77912"/>
                </a:cubicBezTo>
                <a:cubicBezTo>
                  <a:pt x="71564" y="77912"/>
                  <a:pt x="77912" y="71564"/>
                  <a:pt x="77912" y="63746"/>
                </a:cubicBezTo>
                <a:close/>
                <a:moveTo>
                  <a:pt x="42497" y="127492"/>
                </a:moveTo>
                <a:cubicBezTo>
                  <a:pt x="50316" y="127492"/>
                  <a:pt x="56663" y="121144"/>
                  <a:pt x="56663" y="113326"/>
                </a:cubicBezTo>
                <a:cubicBezTo>
                  <a:pt x="56663" y="105508"/>
                  <a:pt x="50316" y="99160"/>
                  <a:pt x="42497" y="99160"/>
                </a:cubicBezTo>
                <a:cubicBezTo>
                  <a:pt x="34679" y="99160"/>
                  <a:pt x="28332" y="105508"/>
                  <a:pt x="28332" y="113326"/>
                </a:cubicBezTo>
                <a:cubicBezTo>
                  <a:pt x="28332" y="121144"/>
                  <a:pt x="34679" y="127492"/>
                  <a:pt x="42497" y="127492"/>
                </a:cubicBezTo>
                <a:close/>
                <a:moveTo>
                  <a:pt x="198321" y="113326"/>
                </a:moveTo>
                <a:cubicBezTo>
                  <a:pt x="198321" y="105508"/>
                  <a:pt x="191973" y="99160"/>
                  <a:pt x="184155" y="99160"/>
                </a:cubicBezTo>
                <a:cubicBezTo>
                  <a:pt x="176337" y="99160"/>
                  <a:pt x="169989" y="105508"/>
                  <a:pt x="169989" y="113326"/>
                </a:cubicBezTo>
                <a:cubicBezTo>
                  <a:pt x="169989" y="121144"/>
                  <a:pt x="176337" y="127492"/>
                  <a:pt x="184155" y="127492"/>
                </a:cubicBezTo>
                <a:cubicBezTo>
                  <a:pt x="191973" y="127492"/>
                  <a:pt x="198321" y="121144"/>
                  <a:pt x="198321" y="113326"/>
                </a:cubicBezTo>
                <a:close/>
              </a:path>
            </a:pathLst>
          </a:custGeom>
          <a:solidFill>
            <a:srgbClr val="C5A065"/>
          </a:solidFill>
          <a:ln/>
        </p:spPr>
      </p:sp>
      <p:sp>
        <p:nvSpPr>
          <p:cNvPr id="31" name="Shape 29"/>
          <p:cNvSpPr/>
          <p:nvPr/>
        </p:nvSpPr>
        <p:spPr>
          <a:xfrm>
            <a:off x="7076536" y="1699892"/>
            <a:ext cx="708288" cy="264428"/>
          </a:xfrm>
          <a:custGeom>
            <a:avLst/>
            <a:gdLst/>
            <a:ahLst/>
            <a:cxnLst/>
            <a:rect l="l" t="t" r="r" b="b"/>
            <a:pathLst>
              <a:path w="708288" h="264428">
                <a:moveTo>
                  <a:pt x="132214" y="0"/>
                </a:moveTo>
                <a:lnTo>
                  <a:pt x="576074" y="0"/>
                </a:lnTo>
                <a:cubicBezTo>
                  <a:pt x="649094" y="0"/>
                  <a:pt x="708288" y="59194"/>
                  <a:pt x="708288" y="132214"/>
                </a:cubicBezTo>
                <a:lnTo>
                  <a:pt x="708288" y="132214"/>
                </a:lnTo>
                <a:cubicBezTo>
                  <a:pt x="708288" y="205233"/>
                  <a:pt x="649094" y="264428"/>
                  <a:pt x="576074" y="264428"/>
                </a:cubicBezTo>
                <a:lnTo>
                  <a:pt x="132214" y="264428"/>
                </a:lnTo>
                <a:cubicBezTo>
                  <a:pt x="59243" y="264428"/>
                  <a:pt x="0" y="205185"/>
                  <a:pt x="0" y="132214"/>
                </a:cubicBezTo>
                <a:lnTo>
                  <a:pt x="0" y="132214"/>
                </a:lnTo>
                <a:cubicBezTo>
                  <a:pt x="0" y="59243"/>
                  <a:pt x="59243" y="0"/>
                  <a:pt x="132214" y="0"/>
                </a:cubicBezTo>
                <a:close/>
              </a:path>
            </a:pathLst>
          </a:custGeom>
          <a:solidFill>
            <a:srgbClr val="FFFFFF"/>
          </a:solidFill>
          <a:ln/>
        </p:spPr>
      </p:sp>
      <p:sp>
        <p:nvSpPr>
          <p:cNvPr id="32" name="Text 30"/>
          <p:cNvSpPr/>
          <p:nvPr/>
        </p:nvSpPr>
        <p:spPr>
          <a:xfrm>
            <a:off x="7076536" y="1699892"/>
            <a:ext cx="774395" cy="264428"/>
          </a:xfrm>
          <a:prstGeom prst="rect">
            <a:avLst/>
          </a:prstGeom>
          <a:noFill/>
          <a:ln/>
        </p:spPr>
        <p:txBody>
          <a:bodyPr wrap="square" lIns="113326" tIns="37775" rIns="113326" bIns="37775" rtlCol="0" anchor="ctr"/>
          <a:lstStyle/>
          <a:p>
            <a:pPr>
              <a:lnSpc>
                <a:spcPct val="120000"/>
              </a:lnSpc>
            </a:pPr>
            <a:r>
              <a:rPr lang="en-US" sz="1041" b="1" dirty="0">
                <a:solidFill>
                  <a:srgbClr val="C5A065"/>
                </a:solidFill>
                <a:latin typeface="Liter" pitchFamily="34" charset="0"/>
                <a:ea typeface="Liter" pitchFamily="34" charset="-122"/>
                <a:cs typeface="Liter" pitchFamily="34" charset="-120"/>
              </a:rPr>
              <a:t>Action 2</a:t>
            </a:r>
            <a:endParaRPr lang="en-US" sz="1600" dirty="0"/>
          </a:p>
        </p:txBody>
      </p:sp>
      <p:sp>
        <p:nvSpPr>
          <p:cNvPr id="33" name="Text 31"/>
          <p:cNvSpPr/>
          <p:nvPr/>
        </p:nvSpPr>
        <p:spPr>
          <a:xfrm>
            <a:off x="7076536" y="2002095"/>
            <a:ext cx="1860437" cy="302203"/>
          </a:xfrm>
          <a:prstGeom prst="rect">
            <a:avLst/>
          </a:prstGeom>
          <a:noFill/>
          <a:ln/>
        </p:spPr>
        <p:txBody>
          <a:bodyPr wrap="square" lIns="0" tIns="0" rIns="0" bIns="0" rtlCol="0" anchor="ctr"/>
          <a:lstStyle/>
          <a:p>
            <a:pPr>
              <a:lnSpc>
                <a:spcPct val="110000"/>
              </a:lnSpc>
            </a:pPr>
            <a:r>
              <a:rPr lang="en-US" sz="1785" b="1" dirty="0">
                <a:solidFill>
                  <a:srgbClr val="FFFFFF"/>
                </a:solidFill>
                <a:latin typeface="Liter" pitchFamily="34" charset="0"/>
                <a:ea typeface="Liter" pitchFamily="34" charset="-122"/>
                <a:cs typeface="Liter" pitchFamily="34" charset="-120"/>
              </a:rPr>
              <a:t>Optimiser le CMS</a:t>
            </a:r>
            <a:endParaRPr lang="en-US" sz="1600" dirty="0"/>
          </a:p>
        </p:txBody>
      </p:sp>
      <p:sp>
        <p:nvSpPr>
          <p:cNvPr id="34" name="Shape 32"/>
          <p:cNvSpPr/>
          <p:nvPr/>
        </p:nvSpPr>
        <p:spPr>
          <a:xfrm>
            <a:off x="6396580" y="2682051"/>
            <a:ext cx="5222445" cy="604406"/>
          </a:xfrm>
          <a:custGeom>
            <a:avLst/>
            <a:gdLst/>
            <a:ahLst/>
            <a:cxnLst/>
            <a:rect l="l" t="t" r="r" b="b"/>
            <a:pathLst>
              <a:path w="5222445" h="604406">
                <a:moveTo>
                  <a:pt x="75551" y="0"/>
                </a:moveTo>
                <a:lnTo>
                  <a:pt x="5146894" y="0"/>
                </a:lnTo>
                <a:cubicBezTo>
                  <a:pt x="5188619" y="0"/>
                  <a:pt x="5222445" y="33825"/>
                  <a:pt x="5222445" y="75551"/>
                </a:cubicBezTo>
                <a:lnTo>
                  <a:pt x="5222445" y="528855"/>
                </a:lnTo>
                <a:cubicBezTo>
                  <a:pt x="5222445" y="570581"/>
                  <a:pt x="5188619" y="604406"/>
                  <a:pt x="5146894" y="604406"/>
                </a:cubicBezTo>
                <a:lnTo>
                  <a:pt x="75551" y="604406"/>
                </a:lnTo>
                <a:cubicBezTo>
                  <a:pt x="33853" y="604406"/>
                  <a:pt x="0" y="570553"/>
                  <a:pt x="0" y="528855"/>
                </a:cubicBezTo>
                <a:lnTo>
                  <a:pt x="0" y="75551"/>
                </a:lnTo>
                <a:cubicBezTo>
                  <a:pt x="0" y="33825"/>
                  <a:pt x="33825" y="0"/>
                  <a:pt x="75551" y="0"/>
                </a:cubicBezTo>
                <a:close/>
              </a:path>
            </a:pathLst>
          </a:custGeom>
          <a:solidFill>
            <a:srgbClr val="C5A065">
              <a:alpha val="10196"/>
            </a:srgbClr>
          </a:solidFill>
          <a:ln/>
        </p:spPr>
      </p:sp>
      <p:sp>
        <p:nvSpPr>
          <p:cNvPr id="35" name="Shape 33"/>
          <p:cNvSpPr/>
          <p:nvPr/>
        </p:nvSpPr>
        <p:spPr>
          <a:xfrm>
            <a:off x="6544140" y="2833153"/>
            <a:ext cx="148741" cy="169989"/>
          </a:xfrm>
          <a:custGeom>
            <a:avLst/>
            <a:gdLst/>
            <a:ahLst/>
            <a:cxnLst/>
            <a:rect l="l" t="t" r="r" b="b"/>
            <a:pathLst>
              <a:path w="148741" h="169989">
                <a:moveTo>
                  <a:pt x="21249" y="10624"/>
                </a:moveTo>
                <a:cubicBezTo>
                  <a:pt x="9529" y="10624"/>
                  <a:pt x="0" y="20153"/>
                  <a:pt x="0" y="31873"/>
                </a:cubicBezTo>
                <a:lnTo>
                  <a:pt x="0" y="138116"/>
                </a:lnTo>
                <a:cubicBezTo>
                  <a:pt x="0" y="149836"/>
                  <a:pt x="9529" y="159365"/>
                  <a:pt x="21249" y="159365"/>
                </a:cubicBezTo>
                <a:lnTo>
                  <a:pt x="127492" y="159365"/>
                </a:lnTo>
                <a:cubicBezTo>
                  <a:pt x="139212" y="159365"/>
                  <a:pt x="148741" y="149836"/>
                  <a:pt x="148741" y="138116"/>
                </a:cubicBezTo>
                <a:lnTo>
                  <a:pt x="148741" y="31873"/>
                </a:lnTo>
                <a:cubicBezTo>
                  <a:pt x="148741" y="20153"/>
                  <a:pt x="139212" y="10624"/>
                  <a:pt x="127492" y="10624"/>
                </a:cubicBezTo>
                <a:lnTo>
                  <a:pt x="21249" y="10624"/>
                </a:lnTo>
                <a:close/>
                <a:moveTo>
                  <a:pt x="42497" y="37185"/>
                </a:moveTo>
                <a:cubicBezTo>
                  <a:pt x="51293" y="37185"/>
                  <a:pt x="58434" y="44326"/>
                  <a:pt x="58434" y="53122"/>
                </a:cubicBezTo>
                <a:cubicBezTo>
                  <a:pt x="58434" y="61917"/>
                  <a:pt x="51293" y="69058"/>
                  <a:pt x="42497" y="69058"/>
                </a:cubicBezTo>
                <a:cubicBezTo>
                  <a:pt x="33702" y="69058"/>
                  <a:pt x="26561" y="61917"/>
                  <a:pt x="26561" y="53122"/>
                </a:cubicBezTo>
                <a:cubicBezTo>
                  <a:pt x="26561" y="44326"/>
                  <a:pt x="33702" y="37185"/>
                  <a:pt x="42497" y="37185"/>
                </a:cubicBezTo>
                <a:close/>
                <a:moveTo>
                  <a:pt x="90307" y="74370"/>
                </a:moveTo>
                <a:cubicBezTo>
                  <a:pt x="93096" y="74370"/>
                  <a:pt x="95652" y="75831"/>
                  <a:pt x="97113" y="78188"/>
                </a:cubicBezTo>
                <a:lnTo>
                  <a:pt x="126330" y="125998"/>
                </a:lnTo>
                <a:cubicBezTo>
                  <a:pt x="127824" y="128455"/>
                  <a:pt x="127890" y="131542"/>
                  <a:pt x="126496" y="134066"/>
                </a:cubicBezTo>
                <a:cubicBezTo>
                  <a:pt x="125101" y="136589"/>
                  <a:pt x="122412" y="138116"/>
                  <a:pt x="119524" y="138116"/>
                </a:cubicBezTo>
                <a:lnTo>
                  <a:pt x="29217" y="138116"/>
                </a:lnTo>
                <a:cubicBezTo>
                  <a:pt x="26262" y="138116"/>
                  <a:pt x="23506" y="136456"/>
                  <a:pt x="22145" y="133833"/>
                </a:cubicBezTo>
                <a:cubicBezTo>
                  <a:pt x="20784" y="131210"/>
                  <a:pt x="20983" y="128023"/>
                  <a:pt x="22676" y="125599"/>
                </a:cubicBezTo>
                <a:lnTo>
                  <a:pt x="41269" y="99039"/>
                </a:lnTo>
                <a:cubicBezTo>
                  <a:pt x="42763" y="96914"/>
                  <a:pt x="45187" y="95652"/>
                  <a:pt x="47809" y="95652"/>
                </a:cubicBezTo>
                <a:cubicBezTo>
                  <a:pt x="50432" y="95652"/>
                  <a:pt x="52856" y="96914"/>
                  <a:pt x="54350" y="99039"/>
                </a:cubicBezTo>
                <a:lnTo>
                  <a:pt x="63115" y="111589"/>
                </a:lnTo>
                <a:lnTo>
                  <a:pt x="83501" y="78222"/>
                </a:lnTo>
                <a:cubicBezTo>
                  <a:pt x="84961" y="75864"/>
                  <a:pt x="87518" y="74403"/>
                  <a:pt x="90307" y="74403"/>
                </a:cubicBezTo>
                <a:close/>
              </a:path>
            </a:pathLst>
          </a:custGeom>
          <a:solidFill>
            <a:srgbClr val="C5A065"/>
          </a:solidFill>
          <a:ln/>
        </p:spPr>
      </p:sp>
      <p:sp>
        <p:nvSpPr>
          <p:cNvPr id="36" name="Text 34"/>
          <p:cNvSpPr/>
          <p:nvPr/>
        </p:nvSpPr>
        <p:spPr>
          <a:xfrm>
            <a:off x="6835718" y="2795377"/>
            <a:ext cx="2880372" cy="188877"/>
          </a:xfrm>
          <a:prstGeom prst="rect">
            <a:avLst/>
          </a:prstGeom>
          <a:noFill/>
          <a:ln/>
        </p:spPr>
        <p:txBody>
          <a:bodyPr wrap="square" lIns="0" tIns="0" rIns="0" bIns="0" rtlCol="0" anchor="ctr"/>
          <a:lstStyle/>
          <a:p>
            <a:pPr>
              <a:lnSpc>
                <a:spcPct val="120000"/>
              </a:lnSpc>
            </a:pPr>
            <a:r>
              <a:rPr lang="en-US" sz="1041" b="1" dirty="0">
                <a:solidFill>
                  <a:srgbClr val="1A3A52"/>
                </a:solidFill>
                <a:latin typeface="Liter" pitchFamily="34" charset="0"/>
                <a:ea typeface="Liter" pitchFamily="34" charset="-122"/>
                <a:cs typeface="Liter" pitchFamily="34" charset="-120"/>
              </a:rPr>
              <a:t>Tâche 1: Compresser les images lourdes</a:t>
            </a:r>
            <a:endParaRPr lang="en-US" sz="1600" dirty="0"/>
          </a:p>
        </p:txBody>
      </p:sp>
      <p:sp>
        <p:nvSpPr>
          <p:cNvPr id="37" name="Text 35"/>
          <p:cNvSpPr/>
          <p:nvPr/>
        </p:nvSpPr>
        <p:spPr>
          <a:xfrm>
            <a:off x="6835718" y="3022029"/>
            <a:ext cx="2870928" cy="151101"/>
          </a:xfrm>
          <a:prstGeom prst="rect">
            <a:avLst/>
          </a:prstGeom>
          <a:noFill/>
          <a:ln/>
        </p:spPr>
        <p:txBody>
          <a:bodyPr wrap="square" lIns="0" tIns="0" rIns="0" bIns="0" rtlCol="0" anchor="ctr"/>
          <a:lstStyle/>
          <a:p>
            <a:pPr>
              <a:lnSpc>
                <a:spcPct val="110000"/>
              </a:lnSpc>
            </a:pPr>
            <a:r>
              <a:rPr lang="en-US" sz="892" dirty="0">
                <a:solidFill>
                  <a:srgbClr val="6C757D"/>
                </a:solidFill>
                <a:latin typeface="Liter" pitchFamily="34" charset="0"/>
                <a:ea typeface="Liter" pitchFamily="34" charset="-122"/>
                <a:cs typeface="Liter" pitchFamily="34" charset="-120"/>
              </a:rPr>
              <a:t>Convertir en WebP/AVIF, réduire logosmall.png (334 Ko)</a:t>
            </a:r>
            <a:endParaRPr lang="en-US" sz="1600" dirty="0"/>
          </a:p>
        </p:txBody>
      </p:sp>
      <p:sp>
        <p:nvSpPr>
          <p:cNvPr id="38" name="Shape 36"/>
          <p:cNvSpPr/>
          <p:nvPr/>
        </p:nvSpPr>
        <p:spPr>
          <a:xfrm>
            <a:off x="6396580" y="3399783"/>
            <a:ext cx="5222445" cy="604406"/>
          </a:xfrm>
          <a:custGeom>
            <a:avLst/>
            <a:gdLst/>
            <a:ahLst/>
            <a:cxnLst/>
            <a:rect l="l" t="t" r="r" b="b"/>
            <a:pathLst>
              <a:path w="5222445" h="604406">
                <a:moveTo>
                  <a:pt x="75551" y="0"/>
                </a:moveTo>
                <a:lnTo>
                  <a:pt x="5146894" y="0"/>
                </a:lnTo>
                <a:cubicBezTo>
                  <a:pt x="5188619" y="0"/>
                  <a:pt x="5222445" y="33825"/>
                  <a:pt x="5222445" y="75551"/>
                </a:cubicBezTo>
                <a:lnTo>
                  <a:pt x="5222445" y="528855"/>
                </a:lnTo>
                <a:cubicBezTo>
                  <a:pt x="5222445" y="570581"/>
                  <a:pt x="5188619" y="604406"/>
                  <a:pt x="5146894" y="604406"/>
                </a:cubicBezTo>
                <a:lnTo>
                  <a:pt x="75551" y="604406"/>
                </a:lnTo>
                <a:cubicBezTo>
                  <a:pt x="33853" y="604406"/>
                  <a:pt x="0" y="570553"/>
                  <a:pt x="0" y="528855"/>
                </a:cubicBezTo>
                <a:lnTo>
                  <a:pt x="0" y="75551"/>
                </a:lnTo>
                <a:cubicBezTo>
                  <a:pt x="0" y="33825"/>
                  <a:pt x="33825" y="0"/>
                  <a:pt x="75551" y="0"/>
                </a:cubicBezTo>
                <a:close/>
              </a:path>
            </a:pathLst>
          </a:custGeom>
          <a:solidFill>
            <a:srgbClr val="C5A065">
              <a:alpha val="10196"/>
            </a:srgbClr>
          </a:solidFill>
          <a:ln/>
        </p:spPr>
      </p:sp>
      <p:sp>
        <p:nvSpPr>
          <p:cNvPr id="39" name="Shape 37"/>
          <p:cNvSpPr/>
          <p:nvPr/>
        </p:nvSpPr>
        <p:spPr>
          <a:xfrm>
            <a:off x="6522891" y="3550885"/>
            <a:ext cx="191238" cy="169989"/>
          </a:xfrm>
          <a:custGeom>
            <a:avLst/>
            <a:gdLst/>
            <a:ahLst/>
            <a:cxnLst/>
            <a:rect l="l" t="t" r="r" b="b"/>
            <a:pathLst>
              <a:path w="191238" h="169989">
                <a:moveTo>
                  <a:pt x="13612" y="-8267"/>
                </a:moveTo>
                <a:cubicBezTo>
                  <a:pt x="10492" y="-11388"/>
                  <a:pt x="5445" y="-11388"/>
                  <a:pt x="2357" y="-8267"/>
                </a:cubicBezTo>
                <a:cubicBezTo>
                  <a:pt x="-730" y="-5146"/>
                  <a:pt x="-764" y="-100"/>
                  <a:pt x="2324" y="3021"/>
                </a:cubicBezTo>
                <a:lnTo>
                  <a:pt x="177625" y="178323"/>
                </a:lnTo>
                <a:cubicBezTo>
                  <a:pt x="180746" y="181444"/>
                  <a:pt x="185793" y="181444"/>
                  <a:pt x="188881" y="178323"/>
                </a:cubicBezTo>
                <a:cubicBezTo>
                  <a:pt x="191968" y="175202"/>
                  <a:pt x="192001" y="170155"/>
                  <a:pt x="188881" y="167067"/>
                </a:cubicBezTo>
                <a:lnTo>
                  <a:pt x="148375" y="126562"/>
                </a:lnTo>
                <a:cubicBezTo>
                  <a:pt x="149770" y="125433"/>
                  <a:pt x="151131" y="124205"/>
                  <a:pt x="152393" y="122943"/>
                </a:cubicBezTo>
                <a:lnTo>
                  <a:pt x="175999" y="99337"/>
                </a:lnTo>
                <a:cubicBezTo>
                  <a:pt x="185726" y="89610"/>
                  <a:pt x="191205" y="76396"/>
                  <a:pt x="191205" y="62617"/>
                </a:cubicBezTo>
                <a:cubicBezTo>
                  <a:pt x="191205" y="33931"/>
                  <a:pt x="167964" y="10658"/>
                  <a:pt x="139245" y="10658"/>
                </a:cubicBezTo>
                <a:cubicBezTo>
                  <a:pt x="126861" y="10658"/>
                  <a:pt x="114975" y="15073"/>
                  <a:pt x="105612" y="23008"/>
                </a:cubicBezTo>
                <a:cubicBezTo>
                  <a:pt x="112352" y="26362"/>
                  <a:pt x="118461" y="30811"/>
                  <a:pt x="123707" y="36123"/>
                </a:cubicBezTo>
                <a:cubicBezTo>
                  <a:pt x="128388" y="33367"/>
                  <a:pt x="133734" y="31906"/>
                  <a:pt x="139245" y="31906"/>
                </a:cubicBezTo>
                <a:cubicBezTo>
                  <a:pt x="156211" y="31906"/>
                  <a:pt x="169956" y="45651"/>
                  <a:pt x="169956" y="62617"/>
                </a:cubicBezTo>
                <a:cubicBezTo>
                  <a:pt x="169956" y="70751"/>
                  <a:pt x="166735" y="78554"/>
                  <a:pt x="160958" y="84331"/>
                </a:cubicBezTo>
                <a:lnTo>
                  <a:pt x="137353" y="107936"/>
                </a:lnTo>
                <a:cubicBezTo>
                  <a:pt x="136058" y="109231"/>
                  <a:pt x="134663" y="110393"/>
                  <a:pt x="133169" y="111423"/>
                </a:cubicBezTo>
                <a:lnTo>
                  <a:pt x="117399" y="95652"/>
                </a:lnTo>
                <a:cubicBezTo>
                  <a:pt x="122877" y="95353"/>
                  <a:pt x="127259" y="90871"/>
                  <a:pt x="127425" y="85327"/>
                </a:cubicBezTo>
                <a:cubicBezTo>
                  <a:pt x="127425" y="84895"/>
                  <a:pt x="127425" y="84463"/>
                  <a:pt x="127425" y="84032"/>
                </a:cubicBezTo>
                <a:cubicBezTo>
                  <a:pt x="127425" y="55379"/>
                  <a:pt x="104218" y="31939"/>
                  <a:pt x="75466" y="31939"/>
                </a:cubicBezTo>
                <a:cubicBezTo>
                  <a:pt x="69091" y="31939"/>
                  <a:pt x="62883" y="33101"/>
                  <a:pt x="57039" y="35326"/>
                </a:cubicBezTo>
                <a:lnTo>
                  <a:pt x="13612" y="-8267"/>
                </a:lnTo>
                <a:close/>
                <a:moveTo>
                  <a:pt x="75001" y="53122"/>
                </a:moveTo>
                <a:cubicBezTo>
                  <a:pt x="75200" y="53122"/>
                  <a:pt x="75366" y="53122"/>
                  <a:pt x="75565" y="53122"/>
                </a:cubicBezTo>
                <a:cubicBezTo>
                  <a:pt x="80579" y="53122"/>
                  <a:pt x="85360" y="54350"/>
                  <a:pt x="89543" y="56508"/>
                </a:cubicBezTo>
                <a:cubicBezTo>
                  <a:pt x="90141" y="56907"/>
                  <a:pt x="90738" y="57272"/>
                  <a:pt x="91369" y="57537"/>
                </a:cubicBezTo>
                <a:cubicBezTo>
                  <a:pt x="100267" y="62949"/>
                  <a:pt x="106243" y="72777"/>
                  <a:pt x="106243" y="83965"/>
                </a:cubicBezTo>
                <a:cubicBezTo>
                  <a:pt x="106243" y="84098"/>
                  <a:pt x="106243" y="84231"/>
                  <a:pt x="106243" y="84364"/>
                </a:cubicBezTo>
                <a:lnTo>
                  <a:pt x="75001" y="53122"/>
                </a:lnTo>
                <a:close/>
                <a:moveTo>
                  <a:pt x="114942" y="138116"/>
                </a:moveTo>
                <a:lnTo>
                  <a:pt x="63746" y="86920"/>
                </a:lnTo>
                <a:cubicBezTo>
                  <a:pt x="64144" y="115008"/>
                  <a:pt x="86854" y="137685"/>
                  <a:pt x="114909" y="138083"/>
                </a:cubicBezTo>
                <a:close/>
                <a:moveTo>
                  <a:pt x="46382" y="69556"/>
                </a:moveTo>
                <a:lnTo>
                  <a:pt x="31342" y="54516"/>
                </a:lnTo>
                <a:lnTo>
                  <a:pt x="15206" y="70652"/>
                </a:lnTo>
                <a:cubicBezTo>
                  <a:pt x="5478" y="80380"/>
                  <a:pt x="0" y="93594"/>
                  <a:pt x="0" y="107372"/>
                </a:cubicBezTo>
                <a:cubicBezTo>
                  <a:pt x="0" y="136058"/>
                  <a:pt x="23241" y="159332"/>
                  <a:pt x="51960" y="159332"/>
                </a:cubicBezTo>
                <a:cubicBezTo>
                  <a:pt x="64310" y="159332"/>
                  <a:pt x="76230" y="154916"/>
                  <a:pt x="85592" y="146981"/>
                </a:cubicBezTo>
                <a:cubicBezTo>
                  <a:pt x="78852" y="143628"/>
                  <a:pt x="72710" y="139179"/>
                  <a:pt x="67464" y="133866"/>
                </a:cubicBezTo>
                <a:cubicBezTo>
                  <a:pt x="62816" y="136589"/>
                  <a:pt x="57471" y="138050"/>
                  <a:pt x="51960" y="138050"/>
                </a:cubicBezTo>
                <a:cubicBezTo>
                  <a:pt x="34994" y="138050"/>
                  <a:pt x="21249" y="124305"/>
                  <a:pt x="21249" y="107339"/>
                </a:cubicBezTo>
                <a:cubicBezTo>
                  <a:pt x="21249" y="99205"/>
                  <a:pt x="24469" y="91402"/>
                  <a:pt x="30246" y="85625"/>
                </a:cubicBezTo>
                <a:lnTo>
                  <a:pt x="46382" y="69490"/>
                </a:lnTo>
                <a:close/>
              </a:path>
            </a:pathLst>
          </a:custGeom>
          <a:solidFill>
            <a:srgbClr val="C5A065"/>
          </a:solidFill>
          <a:ln/>
        </p:spPr>
      </p:sp>
      <p:sp>
        <p:nvSpPr>
          <p:cNvPr id="40" name="Text 38"/>
          <p:cNvSpPr/>
          <p:nvPr/>
        </p:nvSpPr>
        <p:spPr>
          <a:xfrm>
            <a:off x="6835718" y="3513109"/>
            <a:ext cx="2332629" cy="188877"/>
          </a:xfrm>
          <a:prstGeom prst="rect">
            <a:avLst/>
          </a:prstGeom>
          <a:noFill/>
          <a:ln/>
        </p:spPr>
        <p:txBody>
          <a:bodyPr wrap="square" lIns="0" tIns="0" rIns="0" bIns="0" rtlCol="0" anchor="ctr"/>
          <a:lstStyle/>
          <a:p>
            <a:pPr>
              <a:lnSpc>
                <a:spcPct val="120000"/>
              </a:lnSpc>
            </a:pPr>
            <a:r>
              <a:rPr lang="en-US" sz="1041" b="1" dirty="0">
                <a:solidFill>
                  <a:srgbClr val="1A3A52"/>
                </a:solidFill>
                <a:latin typeface="Liter" pitchFamily="34" charset="0"/>
                <a:ea typeface="Liter" pitchFamily="34" charset="-122"/>
                <a:cs typeface="Liter" pitchFamily="34" charset="-120"/>
              </a:rPr>
              <a:t>Tâche 2: Créer page 404 personnalisée</a:t>
            </a:r>
            <a:endParaRPr lang="en-US" sz="1600" dirty="0"/>
          </a:p>
        </p:txBody>
      </p:sp>
      <p:sp>
        <p:nvSpPr>
          <p:cNvPr id="41" name="Text 39"/>
          <p:cNvSpPr/>
          <p:nvPr/>
        </p:nvSpPr>
        <p:spPr>
          <a:xfrm>
            <a:off x="6835718" y="3739761"/>
            <a:ext cx="2323185" cy="151101"/>
          </a:xfrm>
          <a:prstGeom prst="rect">
            <a:avLst/>
          </a:prstGeom>
          <a:noFill/>
          <a:ln/>
        </p:spPr>
        <p:txBody>
          <a:bodyPr wrap="square" lIns="0" tIns="0" rIns="0" bIns="0" rtlCol="0" anchor="ctr"/>
          <a:lstStyle/>
          <a:p>
            <a:pPr>
              <a:lnSpc>
                <a:spcPct val="110000"/>
              </a:lnSpc>
            </a:pPr>
            <a:r>
              <a:rPr lang="en-US" sz="892" dirty="0">
                <a:solidFill>
                  <a:srgbClr val="6C757D"/>
                </a:solidFill>
                <a:latin typeface="Liter" pitchFamily="34" charset="0"/>
                <a:ea typeface="Liter" pitchFamily="34" charset="-122"/>
                <a:cs typeface="Liter" pitchFamily="34" charset="-120"/>
              </a:rPr>
              <a:t>Avec liens de redirection vers réservation</a:t>
            </a:r>
            <a:endParaRPr lang="en-US" sz="1600" dirty="0"/>
          </a:p>
        </p:txBody>
      </p:sp>
      <p:sp>
        <p:nvSpPr>
          <p:cNvPr id="42" name="Shape 40"/>
          <p:cNvSpPr/>
          <p:nvPr/>
        </p:nvSpPr>
        <p:spPr>
          <a:xfrm>
            <a:off x="6415467" y="4193066"/>
            <a:ext cx="151101" cy="151101"/>
          </a:xfrm>
          <a:custGeom>
            <a:avLst/>
            <a:gdLst/>
            <a:ahLst/>
            <a:cxnLst/>
            <a:rect l="l" t="t" r="r" b="b"/>
            <a:pathLst>
              <a:path w="151101" h="151101">
                <a:moveTo>
                  <a:pt x="132214" y="75551"/>
                </a:moveTo>
                <a:cubicBezTo>
                  <a:pt x="132214" y="44278"/>
                  <a:pt x="106824" y="18888"/>
                  <a:pt x="75551" y="18888"/>
                </a:cubicBezTo>
                <a:cubicBezTo>
                  <a:pt x="44278" y="18888"/>
                  <a:pt x="18888" y="44278"/>
                  <a:pt x="18888" y="75551"/>
                </a:cubicBezTo>
                <a:cubicBezTo>
                  <a:pt x="18888" y="106824"/>
                  <a:pt x="44278" y="132214"/>
                  <a:pt x="75551" y="132214"/>
                </a:cubicBezTo>
                <a:cubicBezTo>
                  <a:pt x="106824" y="132214"/>
                  <a:pt x="132214" y="106824"/>
                  <a:pt x="132214" y="75551"/>
                </a:cubicBezTo>
                <a:close/>
                <a:moveTo>
                  <a:pt x="0" y="75551"/>
                </a:moveTo>
                <a:cubicBezTo>
                  <a:pt x="0" y="33853"/>
                  <a:pt x="33853" y="0"/>
                  <a:pt x="75551" y="0"/>
                </a:cubicBezTo>
                <a:cubicBezTo>
                  <a:pt x="117248" y="0"/>
                  <a:pt x="151101" y="33853"/>
                  <a:pt x="151101" y="75551"/>
                </a:cubicBezTo>
                <a:cubicBezTo>
                  <a:pt x="151101" y="117248"/>
                  <a:pt x="117248" y="151101"/>
                  <a:pt x="75551" y="151101"/>
                </a:cubicBezTo>
                <a:cubicBezTo>
                  <a:pt x="33853" y="151101"/>
                  <a:pt x="0" y="117248"/>
                  <a:pt x="0" y="75551"/>
                </a:cubicBezTo>
                <a:close/>
                <a:moveTo>
                  <a:pt x="75551" y="99160"/>
                </a:moveTo>
                <a:cubicBezTo>
                  <a:pt x="88581" y="99160"/>
                  <a:pt x="99160" y="88581"/>
                  <a:pt x="99160" y="75551"/>
                </a:cubicBezTo>
                <a:cubicBezTo>
                  <a:pt x="99160" y="62520"/>
                  <a:pt x="88581" y="51941"/>
                  <a:pt x="75551" y="51941"/>
                </a:cubicBezTo>
                <a:cubicBezTo>
                  <a:pt x="62520" y="51941"/>
                  <a:pt x="51941" y="62520"/>
                  <a:pt x="51941" y="75551"/>
                </a:cubicBezTo>
                <a:cubicBezTo>
                  <a:pt x="51941" y="88581"/>
                  <a:pt x="62520" y="99160"/>
                  <a:pt x="75551" y="99160"/>
                </a:cubicBezTo>
                <a:close/>
                <a:moveTo>
                  <a:pt x="75551" y="33053"/>
                </a:moveTo>
                <a:cubicBezTo>
                  <a:pt x="99006" y="33053"/>
                  <a:pt x="118048" y="52096"/>
                  <a:pt x="118048" y="75551"/>
                </a:cubicBezTo>
                <a:cubicBezTo>
                  <a:pt x="118048" y="99006"/>
                  <a:pt x="99006" y="118048"/>
                  <a:pt x="75551" y="118048"/>
                </a:cubicBezTo>
                <a:cubicBezTo>
                  <a:pt x="52096" y="118048"/>
                  <a:pt x="33053" y="99006"/>
                  <a:pt x="33053" y="75551"/>
                </a:cubicBezTo>
                <a:cubicBezTo>
                  <a:pt x="33053" y="52096"/>
                  <a:pt x="52096" y="33053"/>
                  <a:pt x="75551" y="33053"/>
                </a:cubicBezTo>
                <a:close/>
                <a:moveTo>
                  <a:pt x="66107" y="75551"/>
                </a:moveTo>
                <a:cubicBezTo>
                  <a:pt x="66107" y="70339"/>
                  <a:pt x="70339" y="66107"/>
                  <a:pt x="75551" y="66107"/>
                </a:cubicBezTo>
                <a:cubicBezTo>
                  <a:pt x="80763" y="66107"/>
                  <a:pt x="84995" y="70339"/>
                  <a:pt x="84995" y="75551"/>
                </a:cubicBezTo>
                <a:cubicBezTo>
                  <a:pt x="84995" y="80763"/>
                  <a:pt x="80763" y="84995"/>
                  <a:pt x="75551" y="84995"/>
                </a:cubicBezTo>
                <a:cubicBezTo>
                  <a:pt x="70339" y="84995"/>
                  <a:pt x="66107" y="80763"/>
                  <a:pt x="66107" y="75551"/>
                </a:cubicBezTo>
                <a:close/>
              </a:path>
            </a:pathLst>
          </a:custGeom>
          <a:solidFill>
            <a:srgbClr val="C5A065"/>
          </a:solidFill>
          <a:ln/>
        </p:spPr>
      </p:sp>
      <p:sp>
        <p:nvSpPr>
          <p:cNvPr id="43" name="Text 41"/>
          <p:cNvSpPr/>
          <p:nvPr/>
        </p:nvSpPr>
        <p:spPr>
          <a:xfrm>
            <a:off x="6585457" y="4155290"/>
            <a:ext cx="5109119" cy="226652"/>
          </a:xfrm>
          <a:prstGeom prst="rect">
            <a:avLst/>
          </a:prstGeom>
          <a:noFill/>
          <a:ln/>
        </p:spPr>
        <p:txBody>
          <a:bodyPr wrap="square" lIns="0" tIns="0" rIns="0" bIns="0" rtlCol="0" anchor="ctr"/>
          <a:lstStyle/>
          <a:p>
            <a:pPr>
              <a:lnSpc>
                <a:spcPct val="130000"/>
              </a:lnSpc>
            </a:pPr>
            <a:r>
              <a:rPr lang="en-US" sz="1190" b="1" dirty="0">
                <a:solidFill>
                  <a:srgbClr val="1A3A52"/>
                </a:solidFill>
                <a:latin typeface="Liter" pitchFamily="34" charset="0"/>
                <a:ea typeface="Liter" pitchFamily="34" charset="-122"/>
                <a:cs typeface="Liter" pitchFamily="34" charset="-120"/>
              </a:rPr>
              <a:t>Impact attendu:</a:t>
            </a:r>
            <a:endParaRPr lang="en-US" sz="1600" dirty="0"/>
          </a:p>
        </p:txBody>
      </p:sp>
      <p:sp>
        <p:nvSpPr>
          <p:cNvPr id="44" name="Shape 42"/>
          <p:cNvSpPr/>
          <p:nvPr/>
        </p:nvSpPr>
        <p:spPr>
          <a:xfrm>
            <a:off x="6423731" y="4533044"/>
            <a:ext cx="115687" cy="132214"/>
          </a:xfrm>
          <a:custGeom>
            <a:avLst/>
            <a:gdLst/>
            <a:ahLst/>
            <a:cxnLst/>
            <a:rect l="l" t="t" r="r" b="b"/>
            <a:pathLst>
              <a:path w="115687" h="132214">
                <a:moveTo>
                  <a:pt x="87488" y="-2556"/>
                </a:moveTo>
                <a:cubicBezTo>
                  <a:pt x="90561" y="-336"/>
                  <a:pt x="91697" y="3693"/>
                  <a:pt x="90303" y="7205"/>
                </a:cubicBezTo>
                <a:lnTo>
                  <a:pt x="70058" y="57844"/>
                </a:lnTo>
                <a:lnTo>
                  <a:pt x="107424" y="57844"/>
                </a:lnTo>
                <a:cubicBezTo>
                  <a:pt x="110910" y="57844"/>
                  <a:pt x="114009" y="60013"/>
                  <a:pt x="115196" y="63292"/>
                </a:cubicBezTo>
                <a:cubicBezTo>
                  <a:pt x="116384" y="66572"/>
                  <a:pt x="115377" y="70239"/>
                  <a:pt x="112717" y="72459"/>
                </a:cubicBezTo>
                <a:lnTo>
                  <a:pt x="38347" y="134435"/>
                </a:lnTo>
                <a:cubicBezTo>
                  <a:pt x="35429" y="136862"/>
                  <a:pt x="31272" y="136991"/>
                  <a:pt x="28199" y="134770"/>
                </a:cubicBezTo>
                <a:cubicBezTo>
                  <a:pt x="25126" y="132549"/>
                  <a:pt x="23990" y="128521"/>
                  <a:pt x="25384" y="125009"/>
                </a:cubicBezTo>
                <a:lnTo>
                  <a:pt x="45629" y="74370"/>
                </a:lnTo>
                <a:lnTo>
                  <a:pt x="8263" y="74370"/>
                </a:lnTo>
                <a:cubicBezTo>
                  <a:pt x="4777" y="74370"/>
                  <a:pt x="1678" y="72201"/>
                  <a:pt x="491" y="68922"/>
                </a:cubicBezTo>
                <a:cubicBezTo>
                  <a:pt x="-697" y="65642"/>
                  <a:pt x="310" y="61975"/>
                  <a:pt x="2970" y="59754"/>
                </a:cubicBezTo>
                <a:lnTo>
                  <a:pt x="77340" y="-2221"/>
                </a:lnTo>
                <a:cubicBezTo>
                  <a:pt x="80258" y="-4648"/>
                  <a:pt x="84415" y="-4777"/>
                  <a:pt x="87488" y="-2556"/>
                </a:cubicBezTo>
                <a:close/>
              </a:path>
            </a:pathLst>
          </a:custGeom>
          <a:solidFill>
            <a:srgbClr val="C5A065"/>
          </a:solidFill>
          <a:ln/>
        </p:spPr>
      </p:sp>
      <p:sp>
        <p:nvSpPr>
          <p:cNvPr id="45" name="Text 43"/>
          <p:cNvSpPr/>
          <p:nvPr/>
        </p:nvSpPr>
        <p:spPr>
          <a:xfrm>
            <a:off x="6637398" y="4495269"/>
            <a:ext cx="2833153" cy="188877"/>
          </a:xfrm>
          <a:prstGeom prst="rect">
            <a:avLst/>
          </a:prstGeom>
          <a:noFill/>
          <a:ln/>
        </p:spPr>
        <p:txBody>
          <a:bodyPr wrap="square" lIns="0" tIns="0" rIns="0" bIns="0" rtlCol="0" anchor="ctr"/>
          <a:lstStyle/>
          <a:p>
            <a:pPr>
              <a:lnSpc>
                <a:spcPct val="120000"/>
              </a:lnSpc>
            </a:pPr>
            <a:r>
              <a:rPr lang="en-US" sz="1041" b="1" dirty="0">
                <a:solidFill>
                  <a:srgbClr val="212529"/>
                </a:solidFill>
                <a:latin typeface="Liter" pitchFamily="34" charset="0"/>
                <a:ea typeface="Liter" pitchFamily="34" charset="-122"/>
                <a:cs typeface="Liter" pitchFamily="34" charset="-120"/>
              </a:rPr>
              <a:t>Réduit le LCP sous 2.5s</a:t>
            </a:r>
            <a:pPr>
              <a:lnSpc>
                <a:spcPct val="120000"/>
              </a:lnSpc>
            </a:pPr>
            <a:r>
              <a:rPr lang="en-US" sz="1041" dirty="0">
                <a:solidFill>
                  <a:srgbClr val="212529"/>
                </a:solidFill>
                <a:latin typeface="Liter" pitchFamily="34" charset="0"/>
                <a:ea typeface="Liter" pitchFamily="34" charset="-122"/>
                <a:cs typeface="Liter" pitchFamily="34" charset="-120"/>
              </a:rPr>
              <a:t>, seuil critique de Google</a:t>
            </a:r>
            <a:endParaRPr lang="en-US" sz="1600" dirty="0"/>
          </a:p>
        </p:txBody>
      </p:sp>
      <p:sp>
        <p:nvSpPr>
          <p:cNvPr id="46" name="Shape 44"/>
          <p:cNvSpPr/>
          <p:nvPr/>
        </p:nvSpPr>
        <p:spPr>
          <a:xfrm>
            <a:off x="6398941" y="4797472"/>
            <a:ext cx="165267" cy="132214"/>
          </a:xfrm>
          <a:custGeom>
            <a:avLst/>
            <a:gdLst/>
            <a:ahLst/>
            <a:cxnLst/>
            <a:rect l="l" t="t" r="r" b="b"/>
            <a:pathLst>
              <a:path w="165267" h="132214">
                <a:moveTo>
                  <a:pt x="35119" y="33053"/>
                </a:moveTo>
                <a:cubicBezTo>
                  <a:pt x="35119" y="15951"/>
                  <a:pt x="49004" y="2066"/>
                  <a:pt x="66107" y="2066"/>
                </a:cubicBezTo>
                <a:cubicBezTo>
                  <a:pt x="83209" y="2066"/>
                  <a:pt x="97095" y="15951"/>
                  <a:pt x="97095" y="33053"/>
                </a:cubicBezTo>
                <a:cubicBezTo>
                  <a:pt x="97095" y="50156"/>
                  <a:pt x="83209" y="64041"/>
                  <a:pt x="66107" y="64041"/>
                </a:cubicBezTo>
                <a:cubicBezTo>
                  <a:pt x="49004" y="64041"/>
                  <a:pt x="35119" y="50156"/>
                  <a:pt x="35119" y="33053"/>
                </a:cubicBezTo>
                <a:close/>
                <a:moveTo>
                  <a:pt x="12395" y="124544"/>
                </a:moveTo>
                <a:cubicBezTo>
                  <a:pt x="12395" y="99109"/>
                  <a:pt x="33002" y="78502"/>
                  <a:pt x="58437" y="78502"/>
                </a:cubicBezTo>
                <a:lnTo>
                  <a:pt x="73776" y="78502"/>
                </a:lnTo>
                <a:cubicBezTo>
                  <a:pt x="99212" y="78502"/>
                  <a:pt x="119819" y="99109"/>
                  <a:pt x="119819" y="124544"/>
                </a:cubicBezTo>
                <a:cubicBezTo>
                  <a:pt x="119819" y="128779"/>
                  <a:pt x="116384" y="132214"/>
                  <a:pt x="112149" y="132214"/>
                </a:cubicBezTo>
                <a:lnTo>
                  <a:pt x="20064" y="132214"/>
                </a:lnTo>
                <a:cubicBezTo>
                  <a:pt x="15830" y="132214"/>
                  <a:pt x="12395" y="128779"/>
                  <a:pt x="12395" y="124544"/>
                </a:cubicBezTo>
                <a:close/>
                <a:moveTo>
                  <a:pt x="158140" y="34267"/>
                </a:moveTo>
                <a:lnTo>
                  <a:pt x="137482" y="67321"/>
                </a:lnTo>
                <a:cubicBezTo>
                  <a:pt x="136397" y="69051"/>
                  <a:pt x="134538" y="70135"/>
                  <a:pt x="132498" y="70239"/>
                </a:cubicBezTo>
                <a:cubicBezTo>
                  <a:pt x="130458" y="70342"/>
                  <a:pt x="128495" y="69412"/>
                  <a:pt x="127282" y="67760"/>
                </a:cubicBezTo>
                <a:lnTo>
                  <a:pt x="114887" y="51233"/>
                </a:lnTo>
                <a:cubicBezTo>
                  <a:pt x="112821" y="48496"/>
                  <a:pt x="113389" y="44622"/>
                  <a:pt x="116126" y="42556"/>
                </a:cubicBezTo>
                <a:cubicBezTo>
                  <a:pt x="118863" y="40490"/>
                  <a:pt x="122737" y="41059"/>
                  <a:pt x="124803" y="43796"/>
                </a:cubicBezTo>
                <a:lnTo>
                  <a:pt x="131775" y="53092"/>
                </a:lnTo>
                <a:lnTo>
                  <a:pt x="147630" y="27708"/>
                </a:lnTo>
                <a:cubicBezTo>
                  <a:pt x="149438" y="24816"/>
                  <a:pt x="153260" y="23912"/>
                  <a:pt x="156178" y="25746"/>
                </a:cubicBezTo>
                <a:cubicBezTo>
                  <a:pt x="159096" y="27579"/>
                  <a:pt x="159974" y="31375"/>
                  <a:pt x="158140" y="34293"/>
                </a:cubicBezTo>
                <a:close/>
              </a:path>
            </a:pathLst>
          </a:custGeom>
          <a:solidFill>
            <a:srgbClr val="C5A065"/>
          </a:solidFill>
          <a:ln/>
        </p:spPr>
      </p:sp>
      <p:sp>
        <p:nvSpPr>
          <p:cNvPr id="47" name="Text 45"/>
          <p:cNvSpPr/>
          <p:nvPr/>
        </p:nvSpPr>
        <p:spPr>
          <a:xfrm>
            <a:off x="6637398" y="4759696"/>
            <a:ext cx="2455399" cy="188877"/>
          </a:xfrm>
          <a:prstGeom prst="rect">
            <a:avLst/>
          </a:prstGeom>
          <a:noFill/>
          <a:ln/>
        </p:spPr>
        <p:txBody>
          <a:bodyPr wrap="square" lIns="0" tIns="0" rIns="0" bIns="0" rtlCol="0" anchor="ctr"/>
          <a:lstStyle/>
          <a:p>
            <a:pPr>
              <a:lnSpc>
                <a:spcPct val="120000"/>
              </a:lnSpc>
            </a:pPr>
            <a:r>
              <a:rPr lang="en-US" sz="1041" b="1" dirty="0">
                <a:solidFill>
                  <a:srgbClr val="212529"/>
                </a:solidFill>
                <a:latin typeface="Liter" pitchFamily="34" charset="0"/>
                <a:ea typeface="Liter" pitchFamily="34" charset="-122"/>
                <a:cs typeface="Liter" pitchFamily="34" charset="-120"/>
              </a:rPr>
              <a:t>Retient l'attention</a:t>
            </a:r>
            <a:pPr>
              <a:lnSpc>
                <a:spcPct val="120000"/>
              </a:lnSpc>
            </a:pPr>
            <a:r>
              <a:rPr lang="en-US" sz="1041" dirty="0">
                <a:solidFill>
                  <a:srgbClr val="212529"/>
                </a:solidFill>
                <a:latin typeface="Liter" pitchFamily="34" charset="0"/>
                <a:ea typeface="Liter" pitchFamily="34" charset="-122"/>
                <a:cs typeface="Liter" pitchFamily="34" charset="-120"/>
              </a:rPr>
              <a:t> des patients sur mobile</a:t>
            </a:r>
            <a:endParaRPr lang="en-US" sz="1600" dirty="0"/>
          </a:p>
        </p:txBody>
      </p:sp>
      <p:sp>
        <p:nvSpPr>
          <p:cNvPr id="48" name="Shape 46"/>
          <p:cNvSpPr/>
          <p:nvPr/>
        </p:nvSpPr>
        <p:spPr>
          <a:xfrm>
            <a:off x="6415467" y="5061899"/>
            <a:ext cx="132214" cy="132214"/>
          </a:xfrm>
          <a:custGeom>
            <a:avLst/>
            <a:gdLst/>
            <a:ahLst/>
            <a:cxnLst/>
            <a:rect l="l" t="t" r="r" b="b"/>
            <a:pathLst>
              <a:path w="132214" h="132214">
                <a:moveTo>
                  <a:pt x="112769" y="19290"/>
                </a:moveTo>
                <a:lnTo>
                  <a:pt x="115687" y="22053"/>
                </a:lnTo>
                <a:lnTo>
                  <a:pt x="115687" y="8263"/>
                </a:lnTo>
                <a:cubicBezTo>
                  <a:pt x="115687" y="3693"/>
                  <a:pt x="119380" y="0"/>
                  <a:pt x="123950" y="0"/>
                </a:cubicBezTo>
                <a:cubicBezTo>
                  <a:pt x="128521" y="0"/>
                  <a:pt x="132214" y="3693"/>
                  <a:pt x="132214" y="8263"/>
                </a:cubicBezTo>
                <a:lnTo>
                  <a:pt x="132214" y="41317"/>
                </a:lnTo>
                <a:cubicBezTo>
                  <a:pt x="132214" y="45887"/>
                  <a:pt x="128521" y="49580"/>
                  <a:pt x="123950" y="49580"/>
                </a:cubicBezTo>
                <a:lnTo>
                  <a:pt x="90897" y="49580"/>
                </a:lnTo>
                <a:cubicBezTo>
                  <a:pt x="86326" y="49580"/>
                  <a:pt x="82634" y="45887"/>
                  <a:pt x="82634" y="41317"/>
                </a:cubicBezTo>
                <a:cubicBezTo>
                  <a:pt x="82634" y="36746"/>
                  <a:pt x="86326" y="33053"/>
                  <a:pt x="90897" y="33053"/>
                </a:cubicBezTo>
                <a:lnTo>
                  <a:pt x="103266" y="33053"/>
                </a:lnTo>
                <a:lnTo>
                  <a:pt x="101304" y="31194"/>
                </a:lnTo>
                <a:cubicBezTo>
                  <a:pt x="101252" y="31143"/>
                  <a:pt x="101200" y="31091"/>
                  <a:pt x="101149" y="31039"/>
                </a:cubicBezTo>
                <a:cubicBezTo>
                  <a:pt x="81781" y="11672"/>
                  <a:pt x="50407" y="11672"/>
                  <a:pt x="31039" y="31039"/>
                </a:cubicBezTo>
                <a:cubicBezTo>
                  <a:pt x="11672" y="50407"/>
                  <a:pt x="11672" y="81781"/>
                  <a:pt x="31039" y="101149"/>
                </a:cubicBezTo>
                <a:cubicBezTo>
                  <a:pt x="50407" y="120516"/>
                  <a:pt x="81781" y="120516"/>
                  <a:pt x="101149" y="101149"/>
                </a:cubicBezTo>
                <a:cubicBezTo>
                  <a:pt x="103266" y="99031"/>
                  <a:pt x="105151" y="96785"/>
                  <a:pt x="106804" y="94409"/>
                </a:cubicBezTo>
                <a:cubicBezTo>
                  <a:pt x="109412" y="90665"/>
                  <a:pt x="114577" y="89761"/>
                  <a:pt x="118321" y="92369"/>
                </a:cubicBezTo>
                <a:cubicBezTo>
                  <a:pt x="122065" y="94977"/>
                  <a:pt x="122969" y="100142"/>
                  <a:pt x="120361" y="103886"/>
                </a:cubicBezTo>
                <a:cubicBezTo>
                  <a:pt x="118166" y="107036"/>
                  <a:pt x="115661" y="110032"/>
                  <a:pt x="112847" y="112847"/>
                </a:cubicBezTo>
                <a:cubicBezTo>
                  <a:pt x="87024" y="138670"/>
                  <a:pt x="45164" y="138670"/>
                  <a:pt x="19367" y="112847"/>
                </a:cubicBezTo>
                <a:cubicBezTo>
                  <a:pt x="-6430" y="87024"/>
                  <a:pt x="-6456" y="45190"/>
                  <a:pt x="19367" y="19367"/>
                </a:cubicBezTo>
                <a:cubicBezTo>
                  <a:pt x="45164" y="-6430"/>
                  <a:pt x="86946" y="-6456"/>
                  <a:pt x="112769" y="19290"/>
                </a:cubicBezTo>
                <a:close/>
              </a:path>
            </a:pathLst>
          </a:custGeom>
          <a:solidFill>
            <a:srgbClr val="C5A065"/>
          </a:solidFill>
          <a:ln/>
        </p:spPr>
      </p:sp>
      <p:sp>
        <p:nvSpPr>
          <p:cNvPr id="49" name="Text 47"/>
          <p:cNvSpPr/>
          <p:nvPr/>
        </p:nvSpPr>
        <p:spPr>
          <a:xfrm>
            <a:off x="6637398" y="5024124"/>
            <a:ext cx="3258125" cy="188877"/>
          </a:xfrm>
          <a:prstGeom prst="rect">
            <a:avLst/>
          </a:prstGeom>
          <a:noFill/>
          <a:ln/>
        </p:spPr>
        <p:txBody>
          <a:bodyPr wrap="square" lIns="0" tIns="0" rIns="0" bIns="0" rtlCol="0" anchor="ctr"/>
          <a:lstStyle/>
          <a:p>
            <a:pPr>
              <a:lnSpc>
                <a:spcPct val="120000"/>
              </a:lnSpc>
            </a:pPr>
            <a:r>
              <a:rPr lang="en-US" sz="1041" b="1" dirty="0">
                <a:solidFill>
                  <a:srgbClr val="212529"/>
                </a:solidFill>
                <a:latin typeface="Liter" pitchFamily="34" charset="0"/>
                <a:ea typeface="Liter" pitchFamily="34" charset="-122"/>
                <a:cs typeface="Liter" pitchFamily="34" charset="-120"/>
              </a:rPr>
              <a:t>Transforme clics perdus</a:t>
            </a:r>
            <a:pPr>
              <a:lnSpc>
                <a:spcPct val="120000"/>
              </a:lnSpc>
            </a:pPr>
            <a:r>
              <a:rPr lang="en-US" sz="1041" dirty="0">
                <a:solidFill>
                  <a:srgbClr val="212529"/>
                </a:solidFill>
                <a:latin typeface="Liter" pitchFamily="34" charset="0"/>
                <a:ea typeface="Liter" pitchFamily="34" charset="-122"/>
                <a:cs typeface="Liter" pitchFamily="34" charset="-120"/>
              </a:rPr>
              <a:t> en opportunités de conversion</a:t>
            </a:r>
            <a:endParaRPr lang="en-US" sz="1600" dirty="0"/>
          </a:p>
        </p:txBody>
      </p:sp>
      <p:sp>
        <p:nvSpPr>
          <p:cNvPr id="50" name="Shape 48"/>
          <p:cNvSpPr/>
          <p:nvPr/>
        </p:nvSpPr>
        <p:spPr>
          <a:xfrm>
            <a:off x="6401302" y="5368824"/>
            <a:ext cx="5213001" cy="424973"/>
          </a:xfrm>
          <a:custGeom>
            <a:avLst/>
            <a:gdLst/>
            <a:ahLst/>
            <a:cxnLst/>
            <a:rect l="l" t="t" r="r" b="b"/>
            <a:pathLst>
              <a:path w="5213001" h="424973">
                <a:moveTo>
                  <a:pt x="75552" y="0"/>
                </a:moveTo>
                <a:lnTo>
                  <a:pt x="5137449" y="0"/>
                </a:lnTo>
                <a:cubicBezTo>
                  <a:pt x="5179175" y="0"/>
                  <a:pt x="5213001" y="33826"/>
                  <a:pt x="5213001" y="75552"/>
                </a:cubicBezTo>
                <a:lnTo>
                  <a:pt x="5213001" y="349421"/>
                </a:lnTo>
                <a:cubicBezTo>
                  <a:pt x="5213001" y="391147"/>
                  <a:pt x="5179175" y="424973"/>
                  <a:pt x="5137449" y="424973"/>
                </a:cubicBezTo>
                <a:lnTo>
                  <a:pt x="75552" y="424973"/>
                </a:lnTo>
                <a:cubicBezTo>
                  <a:pt x="33826" y="424973"/>
                  <a:pt x="0" y="391147"/>
                  <a:pt x="0" y="349421"/>
                </a:cubicBezTo>
                <a:lnTo>
                  <a:pt x="0" y="75552"/>
                </a:lnTo>
                <a:cubicBezTo>
                  <a:pt x="0" y="33854"/>
                  <a:pt x="33854" y="0"/>
                  <a:pt x="75552" y="0"/>
                </a:cubicBezTo>
                <a:close/>
              </a:path>
            </a:pathLst>
          </a:custGeom>
          <a:solidFill>
            <a:srgbClr val="C5A065">
              <a:alpha val="20000"/>
            </a:srgbClr>
          </a:solidFill>
          <a:ln w="12700">
            <a:solidFill>
              <a:srgbClr val="C5A065">
                <a:alpha val="40000"/>
              </a:srgbClr>
            </a:solidFill>
            <a:prstDash val="solid"/>
          </a:ln>
        </p:spPr>
      </p:sp>
      <p:sp>
        <p:nvSpPr>
          <p:cNvPr id="51" name="Shape 49"/>
          <p:cNvSpPr/>
          <p:nvPr/>
        </p:nvSpPr>
        <p:spPr>
          <a:xfrm>
            <a:off x="7692083" y="5515204"/>
            <a:ext cx="132214" cy="132214"/>
          </a:xfrm>
          <a:custGeom>
            <a:avLst/>
            <a:gdLst/>
            <a:ahLst/>
            <a:cxnLst/>
            <a:rect l="l" t="t" r="r" b="b"/>
            <a:pathLst>
              <a:path w="132214" h="132214">
                <a:moveTo>
                  <a:pt x="16527" y="16527"/>
                </a:moveTo>
                <a:cubicBezTo>
                  <a:pt x="16527" y="11956"/>
                  <a:pt x="12834" y="8263"/>
                  <a:pt x="8263" y="8263"/>
                </a:cubicBezTo>
                <a:cubicBezTo>
                  <a:pt x="3693" y="8263"/>
                  <a:pt x="0" y="11956"/>
                  <a:pt x="0" y="16527"/>
                </a:cubicBezTo>
                <a:lnTo>
                  <a:pt x="0" y="103292"/>
                </a:lnTo>
                <a:cubicBezTo>
                  <a:pt x="0" y="114706"/>
                  <a:pt x="9245" y="123950"/>
                  <a:pt x="20658" y="123950"/>
                </a:cubicBezTo>
                <a:lnTo>
                  <a:pt x="123950" y="123950"/>
                </a:lnTo>
                <a:cubicBezTo>
                  <a:pt x="128521" y="123950"/>
                  <a:pt x="132214" y="120258"/>
                  <a:pt x="132214" y="115687"/>
                </a:cubicBezTo>
                <a:cubicBezTo>
                  <a:pt x="132214" y="111116"/>
                  <a:pt x="128521" y="107424"/>
                  <a:pt x="123950" y="107424"/>
                </a:cubicBezTo>
                <a:lnTo>
                  <a:pt x="20658" y="107424"/>
                </a:lnTo>
                <a:cubicBezTo>
                  <a:pt x="18386" y="107424"/>
                  <a:pt x="16527" y="105564"/>
                  <a:pt x="16527" y="103292"/>
                </a:cubicBezTo>
                <a:lnTo>
                  <a:pt x="16527" y="16527"/>
                </a:lnTo>
                <a:close/>
                <a:moveTo>
                  <a:pt x="121523" y="38889"/>
                </a:moveTo>
                <a:cubicBezTo>
                  <a:pt x="124751" y="35662"/>
                  <a:pt x="124751" y="30420"/>
                  <a:pt x="121523" y="27192"/>
                </a:cubicBezTo>
                <a:cubicBezTo>
                  <a:pt x="118295" y="23964"/>
                  <a:pt x="113053" y="23964"/>
                  <a:pt x="109825" y="27192"/>
                </a:cubicBezTo>
                <a:lnTo>
                  <a:pt x="82634" y="54409"/>
                </a:lnTo>
                <a:lnTo>
                  <a:pt x="67811" y="39612"/>
                </a:lnTo>
                <a:cubicBezTo>
                  <a:pt x="64583" y="36385"/>
                  <a:pt x="59341" y="36385"/>
                  <a:pt x="56113" y="39612"/>
                </a:cubicBezTo>
                <a:lnTo>
                  <a:pt x="31323" y="64403"/>
                </a:lnTo>
                <a:cubicBezTo>
                  <a:pt x="28095" y="67630"/>
                  <a:pt x="28095" y="72873"/>
                  <a:pt x="31323" y="76100"/>
                </a:cubicBezTo>
                <a:cubicBezTo>
                  <a:pt x="34551" y="79328"/>
                  <a:pt x="39793" y="79328"/>
                  <a:pt x="43021" y="76100"/>
                </a:cubicBezTo>
                <a:lnTo>
                  <a:pt x="61975" y="57146"/>
                </a:lnTo>
                <a:lnTo>
                  <a:pt x="76798" y="71969"/>
                </a:lnTo>
                <a:cubicBezTo>
                  <a:pt x="80025" y="75197"/>
                  <a:pt x="85268" y="75197"/>
                  <a:pt x="88495" y="71969"/>
                </a:cubicBezTo>
                <a:lnTo>
                  <a:pt x="121549" y="38915"/>
                </a:lnTo>
                <a:close/>
              </a:path>
            </a:pathLst>
          </a:custGeom>
          <a:solidFill>
            <a:srgbClr val="C5A065"/>
          </a:solidFill>
          <a:ln/>
        </p:spPr>
      </p:sp>
      <p:sp>
        <p:nvSpPr>
          <p:cNvPr id="52" name="Text 50"/>
          <p:cNvSpPr/>
          <p:nvPr/>
        </p:nvSpPr>
        <p:spPr>
          <a:xfrm>
            <a:off x="6712466" y="5486872"/>
            <a:ext cx="4816842" cy="188877"/>
          </a:xfrm>
          <a:prstGeom prst="rect">
            <a:avLst/>
          </a:prstGeom>
          <a:noFill/>
          <a:ln/>
        </p:spPr>
        <p:txBody>
          <a:bodyPr wrap="square" lIns="0" tIns="0" rIns="0" bIns="0" rtlCol="0" anchor="ctr"/>
          <a:lstStyle/>
          <a:p>
            <a:pPr algn="ctr">
              <a:lnSpc>
                <a:spcPct val="120000"/>
              </a:lnSpc>
            </a:pPr>
            <a:r>
              <a:rPr lang="en-US" sz="1041" b="1" dirty="0">
                <a:solidFill>
                  <a:srgbClr val="1A3A52"/>
                </a:solidFill>
                <a:latin typeface="Liter" pitchFamily="34" charset="0"/>
                <a:ea typeface="Liter" pitchFamily="34" charset="-122"/>
                <a:cs typeface="Liter" pitchFamily="34" charset="-120"/>
              </a:rPr>
              <a:t>12-18%</a:t>
            </a:r>
            <a:pPr algn="ctr">
              <a:lnSpc>
                <a:spcPct val="120000"/>
              </a:lnSpc>
            </a:pPr>
            <a:r>
              <a:rPr lang="en-US" sz="1041" dirty="0">
                <a:solidFill>
                  <a:srgbClr val="1A3A52"/>
                </a:solidFill>
                <a:latin typeface="Liter" pitchFamily="34" charset="0"/>
                <a:ea typeface="Liter" pitchFamily="34" charset="-122"/>
                <a:cs typeface="Liter" pitchFamily="34" charset="-120"/>
              </a:rPr>
              <a:t> de conversion sur 404 optimisées</a:t>
            </a:r>
            <a:endParaRPr lang="en-US" sz="1600" dirty="0"/>
          </a:p>
        </p:txBody>
      </p:sp>
      <p:sp>
        <p:nvSpPr>
          <p:cNvPr id="53" name="Shape 51"/>
          <p:cNvSpPr/>
          <p:nvPr/>
        </p:nvSpPr>
        <p:spPr>
          <a:xfrm>
            <a:off x="377754" y="6138497"/>
            <a:ext cx="11436493" cy="717732"/>
          </a:xfrm>
          <a:custGeom>
            <a:avLst/>
            <a:gdLst/>
            <a:ahLst/>
            <a:cxnLst/>
            <a:rect l="l" t="t" r="r" b="b"/>
            <a:pathLst>
              <a:path w="11436493" h="717732">
                <a:moveTo>
                  <a:pt x="113323" y="0"/>
                </a:moveTo>
                <a:lnTo>
                  <a:pt x="11323170" y="0"/>
                </a:lnTo>
                <a:cubicBezTo>
                  <a:pt x="11385756" y="0"/>
                  <a:pt x="11436493" y="50736"/>
                  <a:pt x="11436493" y="113323"/>
                </a:cubicBezTo>
                <a:lnTo>
                  <a:pt x="11436493" y="604409"/>
                </a:lnTo>
                <a:cubicBezTo>
                  <a:pt x="11436493" y="666996"/>
                  <a:pt x="11385756" y="717732"/>
                  <a:pt x="11323170" y="717732"/>
                </a:cubicBezTo>
                <a:lnTo>
                  <a:pt x="113323" y="717732"/>
                </a:lnTo>
                <a:cubicBezTo>
                  <a:pt x="50736" y="717732"/>
                  <a:pt x="0" y="666996"/>
                  <a:pt x="0" y="604409"/>
                </a:cubicBezTo>
                <a:lnTo>
                  <a:pt x="0" y="113323"/>
                </a:lnTo>
                <a:cubicBezTo>
                  <a:pt x="0" y="50736"/>
                  <a:pt x="50736" y="0"/>
                  <a:pt x="113323" y="0"/>
                </a:cubicBezTo>
                <a:close/>
              </a:path>
            </a:pathLst>
          </a:custGeom>
          <a:solidFill>
            <a:srgbClr val="1A3A52">
              <a:alpha val="5098"/>
            </a:srgbClr>
          </a:solidFill>
          <a:ln/>
        </p:spPr>
      </p:sp>
      <p:sp>
        <p:nvSpPr>
          <p:cNvPr id="54" name="Shape 52"/>
          <p:cNvSpPr/>
          <p:nvPr/>
        </p:nvSpPr>
        <p:spPr>
          <a:xfrm>
            <a:off x="557187" y="6384037"/>
            <a:ext cx="226652" cy="226652"/>
          </a:xfrm>
          <a:custGeom>
            <a:avLst/>
            <a:gdLst/>
            <a:ahLst/>
            <a:cxnLst/>
            <a:rect l="l" t="t" r="r" b="b"/>
            <a:pathLst>
              <a:path w="226652" h="226652">
                <a:moveTo>
                  <a:pt x="113326" y="0"/>
                </a:moveTo>
                <a:cubicBezTo>
                  <a:pt x="175872" y="0"/>
                  <a:pt x="226652" y="50780"/>
                  <a:pt x="226652" y="113326"/>
                </a:cubicBezTo>
                <a:cubicBezTo>
                  <a:pt x="226652" y="175872"/>
                  <a:pt x="175872" y="226652"/>
                  <a:pt x="113326" y="226652"/>
                </a:cubicBezTo>
                <a:cubicBezTo>
                  <a:pt x="50780" y="226652"/>
                  <a:pt x="0" y="175872"/>
                  <a:pt x="0" y="113326"/>
                </a:cubicBezTo>
                <a:cubicBezTo>
                  <a:pt x="0" y="50780"/>
                  <a:pt x="50780" y="0"/>
                  <a:pt x="113326" y="0"/>
                </a:cubicBezTo>
                <a:close/>
                <a:moveTo>
                  <a:pt x="102702" y="53122"/>
                </a:moveTo>
                <a:lnTo>
                  <a:pt x="102702" y="113326"/>
                </a:lnTo>
                <a:cubicBezTo>
                  <a:pt x="102702" y="116868"/>
                  <a:pt x="104473" y="120188"/>
                  <a:pt x="107438" y="122180"/>
                </a:cubicBezTo>
                <a:lnTo>
                  <a:pt x="149936" y="150511"/>
                </a:lnTo>
                <a:cubicBezTo>
                  <a:pt x="154805" y="153787"/>
                  <a:pt x="161401" y="152459"/>
                  <a:pt x="164677" y="147545"/>
                </a:cubicBezTo>
                <a:cubicBezTo>
                  <a:pt x="167953" y="142632"/>
                  <a:pt x="166625" y="136080"/>
                  <a:pt x="161711" y="132804"/>
                </a:cubicBezTo>
                <a:lnTo>
                  <a:pt x="123950" y="107660"/>
                </a:lnTo>
                <a:lnTo>
                  <a:pt x="123950" y="53122"/>
                </a:lnTo>
                <a:cubicBezTo>
                  <a:pt x="123950" y="47234"/>
                  <a:pt x="119214" y="42497"/>
                  <a:pt x="113326" y="42497"/>
                </a:cubicBezTo>
                <a:cubicBezTo>
                  <a:pt x="107438" y="42497"/>
                  <a:pt x="102702" y="47234"/>
                  <a:pt x="102702" y="53122"/>
                </a:cubicBezTo>
                <a:close/>
              </a:path>
            </a:pathLst>
          </a:custGeom>
          <a:solidFill>
            <a:srgbClr val="C5A065"/>
          </a:solidFill>
          <a:ln/>
        </p:spPr>
      </p:sp>
      <p:sp>
        <p:nvSpPr>
          <p:cNvPr id="55" name="Text 53"/>
          <p:cNvSpPr/>
          <p:nvPr/>
        </p:nvSpPr>
        <p:spPr>
          <a:xfrm>
            <a:off x="963272" y="6289599"/>
            <a:ext cx="2247634" cy="226652"/>
          </a:xfrm>
          <a:prstGeom prst="rect">
            <a:avLst/>
          </a:prstGeom>
          <a:noFill/>
          <a:ln/>
        </p:spPr>
        <p:txBody>
          <a:bodyPr wrap="square" lIns="0" tIns="0" rIns="0" bIns="0" rtlCol="0" anchor="ctr"/>
          <a:lstStyle/>
          <a:p>
            <a:pPr>
              <a:lnSpc>
                <a:spcPct val="130000"/>
              </a:lnSpc>
            </a:pPr>
            <a:r>
              <a:rPr lang="en-US" sz="1190" b="1" dirty="0">
                <a:solidFill>
                  <a:srgbClr val="1A3A52"/>
                </a:solidFill>
                <a:latin typeface="Liter" pitchFamily="34" charset="0"/>
                <a:ea typeface="Liter" pitchFamily="34" charset="-122"/>
                <a:cs typeface="Liter" pitchFamily="34" charset="-120"/>
              </a:rPr>
              <a:t>Délai d'implémentation</a:t>
            </a:r>
            <a:endParaRPr lang="en-US" sz="1600" dirty="0"/>
          </a:p>
        </p:txBody>
      </p:sp>
      <p:sp>
        <p:nvSpPr>
          <p:cNvPr id="56" name="Text 54"/>
          <p:cNvSpPr/>
          <p:nvPr/>
        </p:nvSpPr>
        <p:spPr>
          <a:xfrm>
            <a:off x="963272" y="6516251"/>
            <a:ext cx="2238191" cy="188877"/>
          </a:xfrm>
          <a:prstGeom prst="rect">
            <a:avLst/>
          </a:prstGeom>
          <a:noFill/>
          <a:ln/>
        </p:spPr>
        <p:txBody>
          <a:bodyPr wrap="square" lIns="0" tIns="0" rIns="0" bIns="0" rtlCol="0" anchor="ctr"/>
          <a:lstStyle/>
          <a:p>
            <a:pPr>
              <a:lnSpc>
                <a:spcPct val="120000"/>
              </a:lnSpc>
            </a:pPr>
            <a:r>
              <a:rPr lang="en-US" sz="1041" dirty="0">
                <a:solidFill>
                  <a:srgbClr val="6C757D"/>
                </a:solidFill>
                <a:latin typeface="Liter" pitchFamily="34" charset="0"/>
                <a:ea typeface="Liter" pitchFamily="34" charset="-122"/>
                <a:cs typeface="Liter" pitchFamily="34" charset="-120"/>
              </a:rPr>
              <a:t>5-7 jours ouvrés pour les deux actions</a:t>
            </a:r>
            <a:endParaRPr lang="en-US" sz="1600" dirty="0"/>
          </a:p>
        </p:txBody>
      </p:sp>
      <p:sp>
        <p:nvSpPr>
          <p:cNvPr id="57" name="Text 55"/>
          <p:cNvSpPr/>
          <p:nvPr/>
        </p:nvSpPr>
        <p:spPr>
          <a:xfrm>
            <a:off x="9914411" y="6289599"/>
            <a:ext cx="1747111" cy="226652"/>
          </a:xfrm>
          <a:prstGeom prst="rect">
            <a:avLst/>
          </a:prstGeom>
          <a:noFill/>
          <a:ln/>
        </p:spPr>
        <p:txBody>
          <a:bodyPr wrap="square" lIns="0" tIns="0" rIns="0" bIns="0" rtlCol="0" anchor="ctr"/>
          <a:lstStyle/>
          <a:p>
            <a:pPr algn="r">
              <a:lnSpc>
                <a:spcPct val="130000"/>
              </a:lnSpc>
            </a:pPr>
            <a:r>
              <a:rPr lang="en-US" sz="1190" b="1" dirty="0">
                <a:solidFill>
                  <a:srgbClr val="1A3A52"/>
                </a:solidFill>
                <a:latin typeface="Liter" pitchFamily="34" charset="0"/>
                <a:ea typeface="Liter" pitchFamily="34" charset="-122"/>
                <a:cs typeface="Liter" pitchFamily="34" charset="-120"/>
              </a:rPr>
              <a:t>Coût estimé</a:t>
            </a:r>
            <a:endParaRPr lang="en-US" sz="1600" dirty="0"/>
          </a:p>
        </p:txBody>
      </p:sp>
      <p:sp>
        <p:nvSpPr>
          <p:cNvPr id="58" name="Text 56"/>
          <p:cNvSpPr/>
          <p:nvPr/>
        </p:nvSpPr>
        <p:spPr>
          <a:xfrm>
            <a:off x="9923855" y="6516251"/>
            <a:ext cx="1737667" cy="188877"/>
          </a:xfrm>
          <a:prstGeom prst="rect">
            <a:avLst/>
          </a:prstGeom>
          <a:noFill/>
          <a:ln/>
        </p:spPr>
        <p:txBody>
          <a:bodyPr wrap="square" lIns="0" tIns="0" rIns="0" bIns="0" rtlCol="0" anchor="ctr"/>
          <a:lstStyle/>
          <a:p>
            <a:pPr algn="r">
              <a:lnSpc>
                <a:spcPct val="120000"/>
              </a:lnSpc>
            </a:pPr>
            <a:r>
              <a:rPr lang="en-US" sz="1041" dirty="0">
                <a:solidFill>
                  <a:srgbClr val="6C757D"/>
                </a:solidFill>
                <a:latin typeface="Liter" pitchFamily="34" charset="0"/>
                <a:ea typeface="Liter" pitchFamily="34" charset="-122"/>
                <a:cs typeface="Liter" pitchFamily="34" charset="-120"/>
              </a:rPr>
              <a:t>500-800$ (développement)</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A52"/>
        </a:solidFill>
      </p:bgPr>
    </p:bg>
    <p:spTree>
      <p:nvGrpSpPr>
        <p:cNvPr id="1" name=""/>
        <p:cNvGrpSpPr/>
        <p:nvPr/>
      </p:nvGrpSpPr>
      <p:grpSpPr>
        <a:xfrm>
          <a:off x="0" y="0"/>
          <a:ext cx="0" cy="0"/>
          <a:chOff x="0" y="0"/>
          <a:chExt cx="0" cy="0"/>
        </a:xfrm>
      </p:grpSpPr>
      <p:sp>
        <p:nvSpPr>
          <p:cNvPr id="2" name="Text 0"/>
          <p:cNvSpPr/>
          <p:nvPr/>
        </p:nvSpPr>
        <p:spPr>
          <a:xfrm>
            <a:off x="379813" y="379813"/>
            <a:ext cx="11498841" cy="189907"/>
          </a:xfrm>
          <a:prstGeom prst="rect">
            <a:avLst/>
          </a:prstGeom>
          <a:noFill/>
          <a:ln/>
        </p:spPr>
        <p:txBody>
          <a:bodyPr wrap="square" lIns="0" tIns="0" rIns="0" bIns="0" rtlCol="0" anchor="ctr"/>
          <a:lstStyle/>
          <a:p>
            <a:pPr>
              <a:lnSpc>
                <a:spcPct val="120000"/>
              </a:lnSpc>
            </a:pPr>
            <a:r>
              <a:rPr lang="en-US" sz="1047" b="1" spc="105" kern="0" dirty="0">
                <a:solidFill>
                  <a:srgbClr val="C5A065"/>
                </a:solidFill>
                <a:latin typeface="Liter" pitchFamily="34" charset="0"/>
                <a:ea typeface="Liter" pitchFamily="34" charset="-122"/>
                <a:cs typeface="Liter" pitchFamily="34" charset="-120"/>
              </a:rPr>
              <a:t>PROTOCOLE DE TRAITEMENT - PHASE 2</a:t>
            </a:r>
            <a:endParaRPr lang="en-US" sz="1600" dirty="0"/>
          </a:p>
        </p:txBody>
      </p:sp>
      <p:sp>
        <p:nvSpPr>
          <p:cNvPr id="3" name="Text 1"/>
          <p:cNvSpPr/>
          <p:nvPr/>
        </p:nvSpPr>
        <p:spPr>
          <a:xfrm>
            <a:off x="379813" y="645682"/>
            <a:ext cx="11603290" cy="379813"/>
          </a:xfrm>
          <a:prstGeom prst="rect">
            <a:avLst/>
          </a:prstGeom>
          <a:noFill/>
          <a:ln/>
        </p:spPr>
        <p:txBody>
          <a:bodyPr wrap="square" lIns="0" tIns="0" rIns="0" bIns="0" rtlCol="0" anchor="ctr"/>
          <a:lstStyle/>
          <a:p>
            <a:pPr>
              <a:lnSpc>
                <a:spcPct val="90000"/>
              </a:lnSpc>
            </a:pPr>
            <a:r>
              <a:rPr lang="en-US" sz="2692" b="1" dirty="0">
                <a:solidFill>
                  <a:srgbClr val="F8F9FA"/>
                </a:solidFill>
                <a:latin typeface="Liter" pitchFamily="34" charset="0"/>
                <a:ea typeface="Liter" pitchFamily="34" charset="-122"/>
                <a:cs typeface="Liter" pitchFamily="34" charset="-120"/>
              </a:rPr>
              <a:t>La Croissance</a:t>
            </a:r>
            <a:endParaRPr lang="en-US" sz="1600" dirty="0"/>
          </a:p>
        </p:txBody>
      </p:sp>
      <p:sp>
        <p:nvSpPr>
          <p:cNvPr id="4" name="Text 2"/>
          <p:cNvSpPr/>
          <p:nvPr/>
        </p:nvSpPr>
        <p:spPr>
          <a:xfrm>
            <a:off x="379813" y="1101458"/>
            <a:ext cx="11517832" cy="265869"/>
          </a:xfrm>
          <a:prstGeom prst="rect">
            <a:avLst/>
          </a:prstGeom>
          <a:noFill/>
          <a:ln/>
        </p:spPr>
        <p:txBody>
          <a:bodyPr wrap="square" lIns="0" tIns="0" rIns="0" bIns="0" rtlCol="0" anchor="ctr"/>
          <a:lstStyle/>
          <a:p>
            <a:pPr>
              <a:lnSpc>
                <a:spcPct val="130000"/>
              </a:lnSpc>
            </a:pPr>
            <a:r>
              <a:rPr lang="en-US" sz="1346" dirty="0">
                <a:solidFill>
                  <a:srgbClr val="F8F9FA">
                    <a:alpha val="70000"/>
                  </a:srgbClr>
                </a:solidFill>
                <a:latin typeface="Liter" pitchFamily="34" charset="0"/>
                <a:ea typeface="Liter" pitchFamily="34" charset="-122"/>
                <a:cs typeface="Liter" pitchFamily="34" charset="-120"/>
              </a:rPr>
              <a:t>Déploiement des moteurs d'acquisition et de réactivation</a:t>
            </a:r>
            <a:endParaRPr lang="en-US" sz="1600" dirty="0"/>
          </a:p>
        </p:txBody>
      </p:sp>
      <p:sp>
        <p:nvSpPr>
          <p:cNvPr id="5" name="Shape 3"/>
          <p:cNvSpPr/>
          <p:nvPr/>
        </p:nvSpPr>
        <p:spPr>
          <a:xfrm>
            <a:off x="384561" y="1524000"/>
            <a:ext cx="11422879" cy="769121"/>
          </a:xfrm>
          <a:custGeom>
            <a:avLst/>
            <a:gdLst/>
            <a:ahLst/>
            <a:cxnLst/>
            <a:rect l="l" t="t" r="r" b="b"/>
            <a:pathLst>
              <a:path w="11422879" h="769121">
                <a:moveTo>
                  <a:pt x="113945" y="0"/>
                </a:moveTo>
                <a:lnTo>
                  <a:pt x="11308933" y="0"/>
                </a:lnTo>
                <a:cubicBezTo>
                  <a:pt x="11371863" y="0"/>
                  <a:pt x="11422879" y="51015"/>
                  <a:pt x="11422879" y="113945"/>
                </a:cubicBezTo>
                <a:lnTo>
                  <a:pt x="11422879" y="655176"/>
                </a:lnTo>
                <a:cubicBezTo>
                  <a:pt x="11422879" y="718106"/>
                  <a:pt x="11371863" y="769121"/>
                  <a:pt x="11308933" y="769121"/>
                </a:cubicBezTo>
                <a:lnTo>
                  <a:pt x="113945" y="769121"/>
                </a:lnTo>
                <a:cubicBezTo>
                  <a:pt x="51015" y="769121"/>
                  <a:pt x="0" y="718106"/>
                  <a:pt x="0" y="655176"/>
                </a:cubicBezTo>
                <a:lnTo>
                  <a:pt x="0" y="113945"/>
                </a:lnTo>
                <a:cubicBezTo>
                  <a:pt x="0" y="51057"/>
                  <a:pt x="51057" y="0"/>
                  <a:pt x="113945" y="0"/>
                </a:cubicBezTo>
                <a:close/>
              </a:path>
            </a:pathLst>
          </a:custGeom>
          <a:solidFill>
            <a:srgbClr val="FFFFFF">
              <a:alpha val="10196"/>
            </a:srgbClr>
          </a:solidFill>
          <a:ln w="12700">
            <a:solidFill>
              <a:srgbClr val="FFFFFF">
                <a:alpha val="20000"/>
              </a:srgbClr>
            </a:solidFill>
            <a:prstDash val="solid"/>
          </a:ln>
        </p:spPr>
      </p:sp>
      <p:sp>
        <p:nvSpPr>
          <p:cNvPr id="6" name="Shape 4"/>
          <p:cNvSpPr/>
          <p:nvPr/>
        </p:nvSpPr>
        <p:spPr>
          <a:xfrm>
            <a:off x="541234" y="1680673"/>
            <a:ext cx="455776" cy="455776"/>
          </a:xfrm>
          <a:custGeom>
            <a:avLst/>
            <a:gdLst/>
            <a:ahLst/>
            <a:cxnLst/>
            <a:rect l="l" t="t" r="r" b="b"/>
            <a:pathLst>
              <a:path w="455776" h="455776">
                <a:moveTo>
                  <a:pt x="227888" y="0"/>
                </a:moveTo>
                <a:lnTo>
                  <a:pt x="227888" y="0"/>
                </a:lnTo>
                <a:cubicBezTo>
                  <a:pt x="353663" y="0"/>
                  <a:pt x="455776" y="102113"/>
                  <a:pt x="455776" y="227888"/>
                </a:cubicBezTo>
                <a:lnTo>
                  <a:pt x="455776" y="227888"/>
                </a:lnTo>
                <a:cubicBezTo>
                  <a:pt x="455776" y="353663"/>
                  <a:pt x="353663" y="455776"/>
                  <a:pt x="227888" y="455776"/>
                </a:cubicBezTo>
                <a:lnTo>
                  <a:pt x="227888" y="455776"/>
                </a:lnTo>
                <a:cubicBezTo>
                  <a:pt x="102113" y="455776"/>
                  <a:pt x="0" y="353663"/>
                  <a:pt x="0" y="227888"/>
                </a:cubicBezTo>
                <a:lnTo>
                  <a:pt x="0" y="227888"/>
                </a:lnTo>
                <a:cubicBezTo>
                  <a:pt x="0" y="102113"/>
                  <a:pt x="102113" y="0"/>
                  <a:pt x="227888" y="0"/>
                </a:cubicBezTo>
                <a:close/>
              </a:path>
            </a:pathLst>
          </a:custGeom>
          <a:solidFill>
            <a:srgbClr val="6C757D">
              <a:alpha val="30196"/>
            </a:srgbClr>
          </a:solidFill>
          <a:ln/>
        </p:spPr>
      </p:sp>
      <p:sp>
        <p:nvSpPr>
          <p:cNvPr id="7" name="Shape 5"/>
          <p:cNvSpPr/>
          <p:nvPr/>
        </p:nvSpPr>
        <p:spPr>
          <a:xfrm>
            <a:off x="683664" y="1832598"/>
            <a:ext cx="170916" cy="151925"/>
          </a:xfrm>
          <a:custGeom>
            <a:avLst/>
            <a:gdLst/>
            <a:ahLst/>
            <a:cxnLst/>
            <a:rect l="l" t="t" r="r" b="b"/>
            <a:pathLst>
              <a:path w="170916" h="151925">
                <a:moveTo>
                  <a:pt x="9495" y="9495"/>
                </a:moveTo>
                <a:cubicBezTo>
                  <a:pt x="14747" y="9495"/>
                  <a:pt x="18991" y="13739"/>
                  <a:pt x="18991" y="18991"/>
                </a:cubicBezTo>
                <a:lnTo>
                  <a:pt x="18991" y="85458"/>
                </a:lnTo>
                <a:lnTo>
                  <a:pt x="85458" y="85458"/>
                </a:lnTo>
                <a:lnTo>
                  <a:pt x="85458" y="47477"/>
                </a:lnTo>
                <a:cubicBezTo>
                  <a:pt x="85458" y="42225"/>
                  <a:pt x="89701" y="37981"/>
                  <a:pt x="94953" y="37981"/>
                </a:cubicBezTo>
                <a:lnTo>
                  <a:pt x="142430" y="37981"/>
                </a:lnTo>
                <a:cubicBezTo>
                  <a:pt x="158157" y="37981"/>
                  <a:pt x="170916" y="50741"/>
                  <a:pt x="170916" y="66467"/>
                </a:cubicBezTo>
                <a:lnTo>
                  <a:pt x="170916" y="132935"/>
                </a:lnTo>
                <a:cubicBezTo>
                  <a:pt x="170916" y="138187"/>
                  <a:pt x="166673" y="142430"/>
                  <a:pt x="161421" y="142430"/>
                </a:cubicBezTo>
                <a:cubicBezTo>
                  <a:pt x="156168" y="142430"/>
                  <a:pt x="151925" y="138187"/>
                  <a:pt x="151925" y="132935"/>
                </a:cubicBezTo>
                <a:lnTo>
                  <a:pt x="151925" y="113944"/>
                </a:lnTo>
                <a:lnTo>
                  <a:pt x="18991" y="113944"/>
                </a:lnTo>
                <a:lnTo>
                  <a:pt x="18991" y="132935"/>
                </a:lnTo>
                <a:cubicBezTo>
                  <a:pt x="18991" y="138187"/>
                  <a:pt x="14747" y="142430"/>
                  <a:pt x="9495" y="142430"/>
                </a:cubicBezTo>
                <a:cubicBezTo>
                  <a:pt x="4243" y="142430"/>
                  <a:pt x="0" y="138187"/>
                  <a:pt x="0" y="132935"/>
                </a:cubicBezTo>
                <a:lnTo>
                  <a:pt x="0" y="18991"/>
                </a:lnTo>
                <a:cubicBezTo>
                  <a:pt x="0" y="13739"/>
                  <a:pt x="4243" y="9495"/>
                  <a:pt x="9495" y="9495"/>
                </a:cubicBezTo>
                <a:close/>
                <a:moveTo>
                  <a:pt x="33234" y="56972"/>
                </a:moveTo>
                <a:cubicBezTo>
                  <a:pt x="33234" y="46491"/>
                  <a:pt x="41743" y="37981"/>
                  <a:pt x="52224" y="37981"/>
                </a:cubicBezTo>
                <a:cubicBezTo>
                  <a:pt x="62706" y="37981"/>
                  <a:pt x="71215" y="46491"/>
                  <a:pt x="71215" y="56972"/>
                </a:cubicBezTo>
                <a:cubicBezTo>
                  <a:pt x="71215" y="67453"/>
                  <a:pt x="62706" y="75963"/>
                  <a:pt x="52224" y="75963"/>
                </a:cubicBezTo>
                <a:cubicBezTo>
                  <a:pt x="41743" y="75963"/>
                  <a:pt x="33234" y="67453"/>
                  <a:pt x="33234" y="56972"/>
                </a:cubicBezTo>
                <a:close/>
              </a:path>
            </a:pathLst>
          </a:custGeom>
          <a:solidFill>
            <a:srgbClr val="F8F9FA"/>
          </a:solidFill>
          <a:ln/>
        </p:spPr>
      </p:sp>
      <p:sp>
        <p:nvSpPr>
          <p:cNvPr id="8" name="Text 6"/>
          <p:cNvSpPr/>
          <p:nvPr/>
        </p:nvSpPr>
        <p:spPr>
          <a:xfrm>
            <a:off x="1110953" y="1699664"/>
            <a:ext cx="1158430" cy="189907"/>
          </a:xfrm>
          <a:prstGeom prst="rect">
            <a:avLst/>
          </a:prstGeom>
          <a:noFill/>
          <a:ln/>
        </p:spPr>
        <p:txBody>
          <a:bodyPr wrap="square" lIns="0" tIns="0" rIns="0" bIns="0" rtlCol="0" anchor="ctr"/>
          <a:lstStyle/>
          <a:p>
            <a:pPr>
              <a:lnSpc>
                <a:spcPct val="120000"/>
              </a:lnSpc>
            </a:pPr>
            <a:r>
              <a:rPr lang="en-US" sz="1047" dirty="0">
                <a:solidFill>
                  <a:srgbClr val="F8F9FA">
                    <a:alpha val="70000"/>
                  </a:srgbClr>
                </a:solidFill>
                <a:latin typeface="Liter" pitchFamily="34" charset="0"/>
                <a:ea typeface="Liter" pitchFamily="34" charset="-122"/>
                <a:cs typeface="Liter" pitchFamily="34" charset="-120"/>
              </a:rPr>
              <a:t>Étape 0</a:t>
            </a:r>
            <a:endParaRPr lang="en-US" sz="1600" dirty="0"/>
          </a:p>
        </p:txBody>
      </p:sp>
      <p:sp>
        <p:nvSpPr>
          <p:cNvPr id="9" name="Text 7"/>
          <p:cNvSpPr/>
          <p:nvPr/>
        </p:nvSpPr>
        <p:spPr>
          <a:xfrm>
            <a:off x="1110953" y="1889570"/>
            <a:ext cx="1167925" cy="227888"/>
          </a:xfrm>
          <a:prstGeom prst="rect">
            <a:avLst/>
          </a:prstGeom>
          <a:noFill/>
          <a:ln/>
        </p:spPr>
        <p:txBody>
          <a:bodyPr wrap="square" lIns="0" tIns="0" rIns="0" bIns="0" rtlCol="0" anchor="ctr"/>
          <a:lstStyle/>
          <a:p>
            <a:pPr>
              <a:lnSpc>
                <a:spcPct val="130000"/>
              </a:lnSpc>
            </a:pPr>
            <a:r>
              <a:rPr lang="en-US" sz="1196" b="1" dirty="0">
                <a:solidFill>
                  <a:srgbClr val="F8F9FA"/>
                </a:solidFill>
                <a:latin typeface="Liter" pitchFamily="34" charset="0"/>
                <a:ea typeface="Liter" pitchFamily="34" charset="-122"/>
                <a:cs typeface="Liter" pitchFamily="34" charset="-120"/>
              </a:rPr>
              <a:t>Patient Dormant</a:t>
            </a:r>
            <a:endParaRPr lang="en-US" sz="1600" dirty="0"/>
          </a:p>
        </p:txBody>
      </p:sp>
      <p:sp>
        <p:nvSpPr>
          <p:cNvPr id="10" name="Shape 8"/>
          <p:cNvSpPr/>
          <p:nvPr/>
        </p:nvSpPr>
        <p:spPr>
          <a:xfrm>
            <a:off x="3492055" y="1794617"/>
            <a:ext cx="227888" cy="227888"/>
          </a:xfrm>
          <a:custGeom>
            <a:avLst/>
            <a:gdLst/>
            <a:ahLst/>
            <a:cxnLst/>
            <a:rect l="l" t="t" r="r" b="b"/>
            <a:pathLst>
              <a:path w="227888" h="227888">
                <a:moveTo>
                  <a:pt x="223704" y="124003"/>
                </a:moveTo>
                <a:cubicBezTo>
                  <a:pt x="229268" y="118439"/>
                  <a:pt x="229268" y="109404"/>
                  <a:pt x="223704" y="103840"/>
                </a:cubicBezTo>
                <a:lnTo>
                  <a:pt x="152489" y="32625"/>
                </a:lnTo>
                <a:cubicBezTo>
                  <a:pt x="146925" y="27062"/>
                  <a:pt x="137890" y="27062"/>
                  <a:pt x="132326" y="32625"/>
                </a:cubicBezTo>
                <a:cubicBezTo>
                  <a:pt x="126763" y="38189"/>
                  <a:pt x="126763" y="47224"/>
                  <a:pt x="132326" y="52788"/>
                </a:cubicBezTo>
                <a:lnTo>
                  <a:pt x="179239" y="99701"/>
                </a:lnTo>
                <a:lnTo>
                  <a:pt x="14243" y="99701"/>
                </a:lnTo>
                <a:cubicBezTo>
                  <a:pt x="6365" y="99701"/>
                  <a:pt x="0" y="106066"/>
                  <a:pt x="0" y="113944"/>
                </a:cubicBezTo>
                <a:cubicBezTo>
                  <a:pt x="0" y="121822"/>
                  <a:pt x="6365" y="128187"/>
                  <a:pt x="14243" y="128187"/>
                </a:cubicBezTo>
                <a:lnTo>
                  <a:pt x="179239" y="128187"/>
                </a:lnTo>
                <a:lnTo>
                  <a:pt x="132326" y="175100"/>
                </a:lnTo>
                <a:cubicBezTo>
                  <a:pt x="126763" y="180663"/>
                  <a:pt x="126763" y="189699"/>
                  <a:pt x="132326" y="195262"/>
                </a:cubicBezTo>
                <a:cubicBezTo>
                  <a:pt x="137890" y="200826"/>
                  <a:pt x="146925" y="200826"/>
                  <a:pt x="152489" y="195262"/>
                </a:cubicBezTo>
                <a:lnTo>
                  <a:pt x="223704" y="124048"/>
                </a:lnTo>
                <a:close/>
              </a:path>
            </a:pathLst>
          </a:custGeom>
          <a:solidFill>
            <a:srgbClr val="C5A065"/>
          </a:solidFill>
          <a:ln/>
        </p:spPr>
      </p:sp>
      <p:sp>
        <p:nvSpPr>
          <p:cNvPr id="11" name="Shape 9"/>
          <p:cNvSpPr/>
          <p:nvPr/>
        </p:nvSpPr>
        <p:spPr>
          <a:xfrm>
            <a:off x="5012123" y="1680673"/>
            <a:ext cx="455776" cy="455776"/>
          </a:xfrm>
          <a:custGeom>
            <a:avLst/>
            <a:gdLst/>
            <a:ahLst/>
            <a:cxnLst/>
            <a:rect l="l" t="t" r="r" b="b"/>
            <a:pathLst>
              <a:path w="455776" h="455776">
                <a:moveTo>
                  <a:pt x="227888" y="0"/>
                </a:moveTo>
                <a:lnTo>
                  <a:pt x="227888" y="0"/>
                </a:lnTo>
                <a:cubicBezTo>
                  <a:pt x="353663" y="0"/>
                  <a:pt x="455776" y="102113"/>
                  <a:pt x="455776" y="227888"/>
                </a:cubicBezTo>
                <a:lnTo>
                  <a:pt x="455776" y="227888"/>
                </a:lnTo>
                <a:cubicBezTo>
                  <a:pt x="455776" y="353663"/>
                  <a:pt x="353663" y="455776"/>
                  <a:pt x="227888" y="455776"/>
                </a:cubicBezTo>
                <a:lnTo>
                  <a:pt x="227888" y="455776"/>
                </a:lnTo>
                <a:cubicBezTo>
                  <a:pt x="102113" y="455776"/>
                  <a:pt x="0" y="353663"/>
                  <a:pt x="0" y="227888"/>
                </a:cubicBezTo>
                <a:lnTo>
                  <a:pt x="0" y="227888"/>
                </a:lnTo>
                <a:cubicBezTo>
                  <a:pt x="0" y="102113"/>
                  <a:pt x="102113" y="0"/>
                  <a:pt x="227888" y="0"/>
                </a:cubicBezTo>
                <a:close/>
              </a:path>
            </a:pathLst>
          </a:custGeom>
          <a:solidFill>
            <a:srgbClr val="C5A065"/>
          </a:solidFill>
          <a:ln/>
        </p:spPr>
      </p:sp>
      <p:sp>
        <p:nvSpPr>
          <p:cNvPr id="12" name="Shape 10"/>
          <p:cNvSpPr/>
          <p:nvPr/>
        </p:nvSpPr>
        <p:spPr>
          <a:xfrm>
            <a:off x="5145058" y="1832598"/>
            <a:ext cx="189907" cy="151925"/>
          </a:xfrm>
          <a:custGeom>
            <a:avLst/>
            <a:gdLst/>
            <a:ahLst/>
            <a:cxnLst/>
            <a:rect l="l" t="t" r="r" b="b"/>
            <a:pathLst>
              <a:path w="189907" h="151925">
                <a:moveTo>
                  <a:pt x="104449" y="0"/>
                </a:moveTo>
                <a:cubicBezTo>
                  <a:pt x="104449" y="-5252"/>
                  <a:pt x="100205" y="-9495"/>
                  <a:pt x="94953" y="-9495"/>
                </a:cubicBezTo>
                <a:cubicBezTo>
                  <a:pt x="89701" y="-9495"/>
                  <a:pt x="85458" y="-5252"/>
                  <a:pt x="85458" y="0"/>
                </a:cubicBezTo>
                <a:lnTo>
                  <a:pt x="85458" y="18991"/>
                </a:lnTo>
                <a:lnTo>
                  <a:pt x="56972" y="18991"/>
                </a:lnTo>
                <a:cubicBezTo>
                  <a:pt x="41245" y="18991"/>
                  <a:pt x="28486" y="31750"/>
                  <a:pt x="28486" y="47477"/>
                </a:cubicBezTo>
                <a:lnTo>
                  <a:pt x="28486" y="113944"/>
                </a:lnTo>
                <a:cubicBezTo>
                  <a:pt x="28486" y="129671"/>
                  <a:pt x="41245" y="142430"/>
                  <a:pt x="56972" y="142430"/>
                </a:cubicBezTo>
                <a:lnTo>
                  <a:pt x="132935" y="142430"/>
                </a:lnTo>
                <a:cubicBezTo>
                  <a:pt x="148661" y="142430"/>
                  <a:pt x="161421" y="129671"/>
                  <a:pt x="161421" y="113944"/>
                </a:cubicBezTo>
                <a:lnTo>
                  <a:pt x="161421" y="47477"/>
                </a:lnTo>
                <a:cubicBezTo>
                  <a:pt x="161421" y="31750"/>
                  <a:pt x="148661" y="18991"/>
                  <a:pt x="132935" y="18991"/>
                </a:cubicBezTo>
                <a:lnTo>
                  <a:pt x="104449" y="18991"/>
                </a:lnTo>
                <a:lnTo>
                  <a:pt x="104449" y="0"/>
                </a:lnTo>
                <a:close/>
                <a:moveTo>
                  <a:pt x="47477" y="109196"/>
                </a:moveTo>
                <a:cubicBezTo>
                  <a:pt x="47477" y="105250"/>
                  <a:pt x="50652" y="102075"/>
                  <a:pt x="54598" y="102075"/>
                </a:cubicBezTo>
                <a:lnTo>
                  <a:pt x="64093" y="102075"/>
                </a:lnTo>
                <a:cubicBezTo>
                  <a:pt x="68040" y="102075"/>
                  <a:pt x="71215" y="105250"/>
                  <a:pt x="71215" y="109196"/>
                </a:cubicBezTo>
                <a:cubicBezTo>
                  <a:pt x="71215" y="113143"/>
                  <a:pt x="68040" y="116318"/>
                  <a:pt x="64093" y="116318"/>
                </a:cubicBezTo>
                <a:lnTo>
                  <a:pt x="54598" y="116318"/>
                </a:lnTo>
                <a:cubicBezTo>
                  <a:pt x="50652" y="116318"/>
                  <a:pt x="47477" y="113143"/>
                  <a:pt x="47477" y="109196"/>
                </a:cubicBezTo>
                <a:close/>
                <a:moveTo>
                  <a:pt x="83084" y="109196"/>
                </a:moveTo>
                <a:cubicBezTo>
                  <a:pt x="83084" y="105250"/>
                  <a:pt x="86259" y="102075"/>
                  <a:pt x="90206" y="102075"/>
                </a:cubicBezTo>
                <a:lnTo>
                  <a:pt x="99701" y="102075"/>
                </a:lnTo>
                <a:cubicBezTo>
                  <a:pt x="103647" y="102075"/>
                  <a:pt x="106822" y="105250"/>
                  <a:pt x="106822" y="109196"/>
                </a:cubicBezTo>
                <a:cubicBezTo>
                  <a:pt x="106822" y="113143"/>
                  <a:pt x="103647" y="116318"/>
                  <a:pt x="99701" y="116318"/>
                </a:cubicBezTo>
                <a:lnTo>
                  <a:pt x="90206" y="116318"/>
                </a:lnTo>
                <a:cubicBezTo>
                  <a:pt x="86259" y="116318"/>
                  <a:pt x="83084" y="113143"/>
                  <a:pt x="83084" y="109196"/>
                </a:cubicBezTo>
                <a:close/>
                <a:moveTo>
                  <a:pt x="118692" y="109196"/>
                </a:moveTo>
                <a:cubicBezTo>
                  <a:pt x="118692" y="105250"/>
                  <a:pt x="121867" y="102075"/>
                  <a:pt x="125813" y="102075"/>
                </a:cubicBezTo>
                <a:lnTo>
                  <a:pt x="135308" y="102075"/>
                </a:lnTo>
                <a:cubicBezTo>
                  <a:pt x="139255" y="102075"/>
                  <a:pt x="142430" y="105250"/>
                  <a:pt x="142430" y="109196"/>
                </a:cubicBezTo>
                <a:cubicBezTo>
                  <a:pt x="142430" y="113143"/>
                  <a:pt x="139255" y="116318"/>
                  <a:pt x="135308" y="116318"/>
                </a:cubicBezTo>
                <a:lnTo>
                  <a:pt x="125813" y="116318"/>
                </a:lnTo>
                <a:cubicBezTo>
                  <a:pt x="121867" y="116318"/>
                  <a:pt x="118692" y="113143"/>
                  <a:pt x="118692" y="109196"/>
                </a:cubicBezTo>
                <a:close/>
                <a:moveTo>
                  <a:pt x="66467" y="52224"/>
                </a:moveTo>
                <a:cubicBezTo>
                  <a:pt x="74328" y="52224"/>
                  <a:pt x="80710" y="58606"/>
                  <a:pt x="80710" y="66467"/>
                </a:cubicBezTo>
                <a:cubicBezTo>
                  <a:pt x="80710" y="74328"/>
                  <a:pt x="74328" y="80710"/>
                  <a:pt x="66467" y="80710"/>
                </a:cubicBezTo>
                <a:cubicBezTo>
                  <a:pt x="58606" y="80710"/>
                  <a:pt x="52224" y="74328"/>
                  <a:pt x="52224" y="66467"/>
                </a:cubicBezTo>
                <a:cubicBezTo>
                  <a:pt x="52224" y="58606"/>
                  <a:pt x="58606" y="52224"/>
                  <a:pt x="66467" y="52224"/>
                </a:cubicBezTo>
                <a:close/>
                <a:moveTo>
                  <a:pt x="109196" y="66467"/>
                </a:moveTo>
                <a:cubicBezTo>
                  <a:pt x="109196" y="58606"/>
                  <a:pt x="115578" y="52224"/>
                  <a:pt x="123439" y="52224"/>
                </a:cubicBezTo>
                <a:cubicBezTo>
                  <a:pt x="131300" y="52224"/>
                  <a:pt x="137682" y="58606"/>
                  <a:pt x="137682" y="66467"/>
                </a:cubicBezTo>
                <a:cubicBezTo>
                  <a:pt x="137682" y="74328"/>
                  <a:pt x="131300" y="80710"/>
                  <a:pt x="123439" y="80710"/>
                </a:cubicBezTo>
                <a:cubicBezTo>
                  <a:pt x="115578" y="80710"/>
                  <a:pt x="109196" y="74328"/>
                  <a:pt x="109196" y="66467"/>
                </a:cubicBezTo>
                <a:close/>
                <a:moveTo>
                  <a:pt x="18991" y="66467"/>
                </a:moveTo>
                <a:cubicBezTo>
                  <a:pt x="18991" y="61215"/>
                  <a:pt x="14747" y="56972"/>
                  <a:pt x="9495" y="56972"/>
                </a:cubicBezTo>
                <a:cubicBezTo>
                  <a:pt x="4243" y="56972"/>
                  <a:pt x="0" y="61215"/>
                  <a:pt x="0" y="66467"/>
                </a:cubicBezTo>
                <a:lnTo>
                  <a:pt x="0" y="94953"/>
                </a:lnTo>
                <a:cubicBezTo>
                  <a:pt x="0" y="100205"/>
                  <a:pt x="4243" y="104449"/>
                  <a:pt x="9495" y="104449"/>
                </a:cubicBezTo>
                <a:cubicBezTo>
                  <a:pt x="14747" y="104449"/>
                  <a:pt x="18991" y="100205"/>
                  <a:pt x="18991" y="94953"/>
                </a:cubicBezTo>
                <a:lnTo>
                  <a:pt x="18991" y="66467"/>
                </a:lnTo>
                <a:close/>
                <a:moveTo>
                  <a:pt x="180411" y="56972"/>
                </a:moveTo>
                <a:cubicBezTo>
                  <a:pt x="175159" y="56972"/>
                  <a:pt x="170916" y="61215"/>
                  <a:pt x="170916" y="66467"/>
                </a:cubicBezTo>
                <a:lnTo>
                  <a:pt x="170916" y="94953"/>
                </a:lnTo>
                <a:cubicBezTo>
                  <a:pt x="170916" y="100205"/>
                  <a:pt x="175159" y="104449"/>
                  <a:pt x="180411" y="104449"/>
                </a:cubicBezTo>
                <a:cubicBezTo>
                  <a:pt x="185663" y="104449"/>
                  <a:pt x="189907" y="100205"/>
                  <a:pt x="189907" y="94953"/>
                </a:cubicBezTo>
                <a:lnTo>
                  <a:pt x="189907" y="66467"/>
                </a:lnTo>
                <a:cubicBezTo>
                  <a:pt x="189907" y="61215"/>
                  <a:pt x="185663" y="56972"/>
                  <a:pt x="180411" y="56972"/>
                </a:cubicBezTo>
                <a:close/>
              </a:path>
            </a:pathLst>
          </a:custGeom>
          <a:solidFill>
            <a:srgbClr val="FFFFFF"/>
          </a:solidFill>
          <a:ln/>
        </p:spPr>
      </p:sp>
      <p:sp>
        <p:nvSpPr>
          <p:cNvPr id="13" name="Text 11"/>
          <p:cNvSpPr/>
          <p:nvPr/>
        </p:nvSpPr>
        <p:spPr>
          <a:xfrm>
            <a:off x="5581843" y="1699664"/>
            <a:ext cx="1547738" cy="189907"/>
          </a:xfrm>
          <a:prstGeom prst="rect">
            <a:avLst/>
          </a:prstGeom>
          <a:noFill/>
          <a:ln/>
        </p:spPr>
        <p:txBody>
          <a:bodyPr wrap="square" lIns="0" tIns="0" rIns="0" bIns="0" rtlCol="0" anchor="ctr"/>
          <a:lstStyle/>
          <a:p>
            <a:pPr>
              <a:lnSpc>
                <a:spcPct val="120000"/>
              </a:lnSpc>
            </a:pPr>
            <a:r>
              <a:rPr lang="en-US" sz="1047" dirty="0">
                <a:solidFill>
                  <a:srgbClr val="F8F9FA">
                    <a:alpha val="70000"/>
                  </a:srgbClr>
                </a:solidFill>
                <a:latin typeface="Liter" pitchFamily="34" charset="0"/>
                <a:ea typeface="Liter" pitchFamily="34" charset="-122"/>
                <a:cs typeface="Liter" pitchFamily="34" charset="-120"/>
              </a:rPr>
              <a:t>Automatisation</a:t>
            </a:r>
            <a:endParaRPr lang="en-US" sz="1600" dirty="0"/>
          </a:p>
        </p:txBody>
      </p:sp>
      <p:sp>
        <p:nvSpPr>
          <p:cNvPr id="14" name="Text 12"/>
          <p:cNvSpPr/>
          <p:nvPr/>
        </p:nvSpPr>
        <p:spPr>
          <a:xfrm>
            <a:off x="5581843" y="1889570"/>
            <a:ext cx="1557234" cy="227888"/>
          </a:xfrm>
          <a:prstGeom prst="rect">
            <a:avLst/>
          </a:prstGeom>
          <a:noFill/>
          <a:ln/>
        </p:spPr>
        <p:txBody>
          <a:bodyPr wrap="square" lIns="0" tIns="0" rIns="0" bIns="0" rtlCol="0" anchor="ctr"/>
          <a:lstStyle/>
          <a:p>
            <a:pPr>
              <a:lnSpc>
                <a:spcPct val="130000"/>
              </a:lnSpc>
            </a:pPr>
            <a:r>
              <a:rPr lang="en-US" sz="1196" b="1" dirty="0">
                <a:solidFill>
                  <a:srgbClr val="F8F9FA"/>
                </a:solidFill>
                <a:latin typeface="Liter" pitchFamily="34" charset="0"/>
                <a:ea typeface="Liter" pitchFamily="34" charset="-122"/>
                <a:cs typeface="Liter" pitchFamily="34" charset="-120"/>
              </a:rPr>
              <a:t>API WhatsApp &amp; CRM</a:t>
            </a:r>
            <a:endParaRPr lang="en-US" sz="1600" dirty="0"/>
          </a:p>
        </p:txBody>
      </p:sp>
      <p:sp>
        <p:nvSpPr>
          <p:cNvPr id="15" name="Shape 13"/>
          <p:cNvSpPr/>
          <p:nvPr/>
        </p:nvSpPr>
        <p:spPr>
          <a:xfrm>
            <a:off x="8359820" y="1794617"/>
            <a:ext cx="227888" cy="227888"/>
          </a:xfrm>
          <a:custGeom>
            <a:avLst/>
            <a:gdLst/>
            <a:ahLst/>
            <a:cxnLst/>
            <a:rect l="l" t="t" r="r" b="b"/>
            <a:pathLst>
              <a:path w="227888" h="227888">
                <a:moveTo>
                  <a:pt x="223704" y="124003"/>
                </a:moveTo>
                <a:cubicBezTo>
                  <a:pt x="229268" y="118439"/>
                  <a:pt x="229268" y="109404"/>
                  <a:pt x="223704" y="103840"/>
                </a:cubicBezTo>
                <a:lnTo>
                  <a:pt x="152489" y="32625"/>
                </a:lnTo>
                <a:cubicBezTo>
                  <a:pt x="146925" y="27062"/>
                  <a:pt x="137890" y="27062"/>
                  <a:pt x="132326" y="32625"/>
                </a:cubicBezTo>
                <a:cubicBezTo>
                  <a:pt x="126763" y="38189"/>
                  <a:pt x="126763" y="47224"/>
                  <a:pt x="132326" y="52788"/>
                </a:cubicBezTo>
                <a:lnTo>
                  <a:pt x="179239" y="99701"/>
                </a:lnTo>
                <a:lnTo>
                  <a:pt x="14243" y="99701"/>
                </a:lnTo>
                <a:cubicBezTo>
                  <a:pt x="6365" y="99701"/>
                  <a:pt x="0" y="106066"/>
                  <a:pt x="0" y="113944"/>
                </a:cubicBezTo>
                <a:cubicBezTo>
                  <a:pt x="0" y="121822"/>
                  <a:pt x="6365" y="128187"/>
                  <a:pt x="14243" y="128187"/>
                </a:cubicBezTo>
                <a:lnTo>
                  <a:pt x="179239" y="128187"/>
                </a:lnTo>
                <a:lnTo>
                  <a:pt x="132326" y="175100"/>
                </a:lnTo>
                <a:cubicBezTo>
                  <a:pt x="126763" y="180663"/>
                  <a:pt x="126763" y="189699"/>
                  <a:pt x="132326" y="195262"/>
                </a:cubicBezTo>
                <a:cubicBezTo>
                  <a:pt x="137890" y="200826"/>
                  <a:pt x="146925" y="200826"/>
                  <a:pt x="152489" y="195262"/>
                </a:cubicBezTo>
                <a:lnTo>
                  <a:pt x="223704" y="124048"/>
                </a:lnTo>
                <a:close/>
              </a:path>
            </a:pathLst>
          </a:custGeom>
          <a:solidFill>
            <a:srgbClr val="C5A065"/>
          </a:solidFill>
          <a:ln/>
        </p:spPr>
      </p:sp>
      <p:sp>
        <p:nvSpPr>
          <p:cNvPr id="16" name="Shape 14"/>
          <p:cNvSpPr/>
          <p:nvPr/>
        </p:nvSpPr>
        <p:spPr>
          <a:xfrm>
            <a:off x="9879888" y="1680673"/>
            <a:ext cx="455776" cy="455776"/>
          </a:xfrm>
          <a:custGeom>
            <a:avLst/>
            <a:gdLst/>
            <a:ahLst/>
            <a:cxnLst/>
            <a:rect l="l" t="t" r="r" b="b"/>
            <a:pathLst>
              <a:path w="455776" h="455776">
                <a:moveTo>
                  <a:pt x="227888" y="0"/>
                </a:moveTo>
                <a:lnTo>
                  <a:pt x="227888" y="0"/>
                </a:lnTo>
                <a:cubicBezTo>
                  <a:pt x="353663" y="0"/>
                  <a:pt x="455776" y="102113"/>
                  <a:pt x="455776" y="227888"/>
                </a:cubicBezTo>
                <a:lnTo>
                  <a:pt x="455776" y="227888"/>
                </a:lnTo>
                <a:cubicBezTo>
                  <a:pt x="455776" y="353663"/>
                  <a:pt x="353663" y="455776"/>
                  <a:pt x="227888" y="455776"/>
                </a:cubicBezTo>
                <a:lnTo>
                  <a:pt x="227888" y="455776"/>
                </a:lnTo>
                <a:cubicBezTo>
                  <a:pt x="102113" y="455776"/>
                  <a:pt x="0" y="353663"/>
                  <a:pt x="0" y="227888"/>
                </a:cubicBezTo>
                <a:lnTo>
                  <a:pt x="0" y="227888"/>
                </a:lnTo>
                <a:cubicBezTo>
                  <a:pt x="0" y="102113"/>
                  <a:pt x="102113" y="0"/>
                  <a:pt x="227888" y="0"/>
                </a:cubicBezTo>
                <a:close/>
              </a:path>
            </a:pathLst>
          </a:custGeom>
          <a:solidFill>
            <a:srgbClr val="00C950"/>
          </a:solidFill>
          <a:ln/>
        </p:spPr>
      </p:sp>
      <p:sp>
        <p:nvSpPr>
          <p:cNvPr id="17" name="Shape 15"/>
          <p:cNvSpPr/>
          <p:nvPr/>
        </p:nvSpPr>
        <p:spPr>
          <a:xfrm>
            <a:off x="10041308" y="1832598"/>
            <a:ext cx="132935" cy="151925"/>
          </a:xfrm>
          <a:custGeom>
            <a:avLst/>
            <a:gdLst/>
            <a:ahLst/>
            <a:cxnLst/>
            <a:rect l="l" t="t" r="r" b="b"/>
            <a:pathLst>
              <a:path w="132935" h="151925">
                <a:moveTo>
                  <a:pt x="37981" y="0"/>
                </a:moveTo>
                <a:cubicBezTo>
                  <a:pt x="43233" y="0"/>
                  <a:pt x="47477" y="4243"/>
                  <a:pt x="47477" y="9495"/>
                </a:cubicBezTo>
                <a:lnTo>
                  <a:pt x="47477" y="18991"/>
                </a:lnTo>
                <a:lnTo>
                  <a:pt x="85458" y="18991"/>
                </a:lnTo>
                <a:lnTo>
                  <a:pt x="85458" y="9495"/>
                </a:lnTo>
                <a:cubicBezTo>
                  <a:pt x="85458" y="4243"/>
                  <a:pt x="89701" y="0"/>
                  <a:pt x="94953" y="0"/>
                </a:cubicBezTo>
                <a:cubicBezTo>
                  <a:pt x="100205" y="0"/>
                  <a:pt x="104449" y="4243"/>
                  <a:pt x="104449" y="9495"/>
                </a:cubicBezTo>
                <a:lnTo>
                  <a:pt x="104449" y="18991"/>
                </a:lnTo>
                <a:lnTo>
                  <a:pt x="113944" y="18991"/>
                </a:lnTo>
                <a:cubicBezTo>
                  <a:pt x="124418" y="18991"/>
                  <a:pt x="132935" y="27507"/>
                  <a:pt x="132935" y="37981"/>
                </a:cubicBezTo>
                <a:lnTo>
                  <a:pt x="132935" y="123439"/>
                </a:lnTo>
                <a:cubicBezTo>
                  <a:pt x="132935" y="133914"/>
                  <a:pt x="124418" y="142430"/>
                  <a:pt x="113944" y="142430"/>
                </a:cubicBezTo>
                <a:lnTo>
                  <a:pt x="18991" y="142430"/>
                </a:lnTo>
                <a:cubicBezTo>
                  <a:pt x="8516" y="142430"/>
                  <a:pt x="0" y="133914"/>
                  <a:pt x="0" y="123439"/>
                </a:cubicBezTo>
                <a:lnTo>
                  <a:pt x="0" y="37981"/>
                </a:lnTo>
                <a:cubicBezTo>
                  <a:pt x="0" y="27507"/>
                  <a:pt x="8516" y="18991"/>
                  <a:pt x="18991" y="18991"/>
                </a:cubicBezTo>
                <a:lnTo>
                  <a:pt x="28486" y="18991"/>
                </a:lnTo>
                <a:lnTo>
                  <a:pt x="28486" y="9495"/>
                </a:lnTo>
                <a:cubicBezTo>
                  <a:pt x="28486" y="4243"/>
                  <a:pt x="32729" y="0"/>
                  <a:pt x="37981" y="0"/>
                </a:cubicBezTo>
                <a:close/>
                <a:moveTo>
                  <a:pt x="91511" y="67862"/>
                </a:moveTo>
                <a:cubicBezTo>
                  <a:pt x="93588" y="64539"/>
                  <a:pt x="92579" y="60147"/>
                  <a:pt x="89256" y="58040"/>
                </a:cubicBezTo>
                <a:cubicBezTo>
                  <a:pt x="85933" y="55933"/>
                  <a:pt x="81541" y="56972"/>
                  <a:pt x="79434" y="60295"/>
                </a:cubicBezTo>
                <a:lnTo>
                  <a:pt x="61215" y="89464"/>
                </a:lnTo>
                <a:lnTo>
                  <a:pt x="53204" y="78782"/>
                </a:lnTo>
                <a:cubicBezTo>
                  <a:pt x="50830" y="75636"/>
                  <a:pt x="46379" y="74983"/>
                  <a:pt x="43233" y="77357"/>
                </a:cubicBezTo>
                <a:cubicBezTo>
                  <a:pt x="40088" y="79731"/>
                  <a:pt x="39435" y="84182"/>
                  <a:pt x="41809" y="87327"/>
                </a:cubicBezTo>
                <a:lnTo>
                  <a:pt x="56052" y="106318"/>
                </a:lnTo>
                <a:cubicBezTo>
                  <a:pt x="57447" y="108187"/>
                  <a:pt x="59702" y="109256"/>
                  <a:pt x="62046" y="109167"/>
                </a:cubicBezTo>
                <a:cubicBezTo>
                  <a:pt x="64390" y="109078"/>
                  <a:pt x="66527" y="107831"/>
                  <a:pt x="67773" y="105814"/>
                </a:cubicBezTo>
                <a:lnTo>
                  <a:pt x="91511" y="67832"/>
                </a:lnTo>
                <a:close/>
              </a:path>
            </a:pathLst>
          </a:custGeom>
          <a:solidFill>
            <a:srgbClr val="FFFFFF"/>
          </a:solidFill>
          <a:ln/>
        </p:spPr>
      </p:sp>
      <p:sp>
        <p:nvSpPr>
          <p:cNvPr id="18" name="Text 16"/>
          <p:cNvSpPr/>
          <p:nvPr/>
        </p:nvSpPr>
        <p:spPr>
          <a:xfrm>
            <a:off x="10449607" y="1699664"/>
            <a:ext cx="1262879" cy="189907"/>
          </a:xfrm>
          <a:prstGeom prst="rect">
            <a:avLst/>
          </a:prstGeom>
          <a:noFill/>
          <a:ln/>
        </p:spPr>
        <p:txBody>
          <a:bodyPr wrap="square" lIns="0" tIns="0" rIns="0" bIns="0" rtlCol="0" anchor="ctr"/>
          <a:lstStyle/>
          <a:p>
            <a:pPr>
              <a:lnSpc>
                <a:spcPct val="120000"/>
              </a:lnSpc>
            </a:pPr>
            <a:r>
              <a:rPr lang="en-US" sz="1047" dirty="0">
                <a:solidFill>
                  <a:srgbClr val="F8F9FA">
                    <a:alpha val="70000"/>
                  </a:srgbClr>
                </a:solidFill>
                <a:latin typeface="Liter" pitchFamily="34" charset="0"/>
                <a:ea typeface="Liter" pitchFamily="34" charset="-122"/>
                <a:cs typeface="Liter" pitchFamily="34" charset="-120"/>
              </a:rPr>
              <a:t>Conversion</a:t>
            </a:r>
            <a:endParaRPr lang="en-US" sz="1600" dirty="0"/>
          </a:p>
        </p:txBody>
      </p:sp>
      <p:sp>
        <p:nvSpPr>
          <p:cNvPr id="19" name="Text 17"/>
          <p:cNvSpPr/>
          <p:nvPr/>
        </p:nvSpPr>
        <p:spPr>
          <a:xfrm>
            <a:off x="10449607" y="1889570"/>
            <a:ext cx="1272374" cy="227888"/>
          </a:xfrm>
          <a:prstGeom prst="rect">
            <a:avLst/>
          </a:prstGeom>
          <a:noFill/>
          <a:ln/>
        </p:spPr>
        <p:txBody>
          <a:bodyPr wrap="square" lIns="0" tIns="0" rIns="0" bIns="0" rtlCol="0" anchor="ctr"/>
          <a:lstStyle/>
          <a:p>
            <a:pPr>
              <a:lnSpc>
                <a:spcPct val="130000"/>
              </a:lnSpc>
            </a:pPr>
            <a:r>
              <a:rPr lang="en-US" sz="1196" b="1" dirty="0">
                <a:solidFill>
                  <a:srgbClr val="F8F9FA"/>
                </a:solidFill>
                <a:latin typeface="Liter" pitchFamily="34" charset="0"/>
                <a:ea typeface="Liter" pitchFamily="34" charset="-122"/>
                <a:cs typeface="Liter" pitchFamily="34" charset="-120"/>
              </a:rPr>
              <a:t>Réservation qEEG</a:t>
            </a:r>
            <a:endParaRPr lang="en-US" sz="1600" dirty="0"/>
          </a:p>
        </p:txBody>
      </p:sp>
      <p:sp>
        <p:nvSpPr>
          <p:cNvPr id="20" name="Shape 18"/>
          <p:cNvSpPr/>
          <p:nvPr/>
        </p:nvSpPr>
        <p:spPr>
          <a:xfrm>
            <a:off x="384561" y="2454542"/>
            <a:ext cx="3703178" cy="3446804"/>
          </a:xfrm>
          <a:custGeom>
            <a:avLst/>
            <a:gdLst/>
            <a:ahLst/>
            <a:cxnLst/>
            <a:rect l="l" t="t" r="r" b="b"/>
            <a:pathLst>
              <a:path w="3703178" h="3446804">
                <a:moveTo>
                  <a:pt x="113951" y="0"/>
                </a:moveTo>
                <a:lnTo>
                  <a:pt x="3589226" y="0"/>
                </a:lnTo>
                <a:cubicBezTo>
                  <a:pt x="3652160" y="0"/>
                  <a:pt x="3703178" y="51018"/>
                  <a:pt x="3703178" y="113951"/>
                </a:cubicBezTo>
                <a:lnTo>
                  <a:pt x="3703178" y="3332852"/>
                </a:lnTo>
                <a:cubicBezTo>
                  <a:pt x="3703178" y="3395786"/>
                  <a:pt x="3652160" y="3446804"/>
                  <a:pt x="3589226" y="3446804"/>
                </a:cubicBezTo>
                <a:lnTo>
                  <a:pt x="113951" y="3446804"/>
                </a:lnTo>
                <a:cubicBezTo>
                  <a:pt x="51018" y="3446804"/>
                  <a:pt x="0" y="3395786"/>
                  <a:pt x="0" y="3332852"/>
                </a:cubicBezTo>
                <a:lnTo>
                  <a:pt x="0" y="113951"/>
                </a:lnTo>
                <a:cubicBezTo>
                  <a:pt x="0" y="51060"/>
                  <a:pt x="51060" y="0"/>
                  <a:pt x="113951" y="0"/>
                </a:cubicBezTo>
                <a:close/>
              </a:path>
            </a:pathLst>
          </a:custGeom>
          <a:solidFill>
            <a:srgbClr val="FFFFFF">
              <a:alpha val="10196"/>
            </a:srgbClr>
          </a:solidFill>
          <a:ln w="12700">
            <a:solidFill>
              <a:srgbClr val="FFFFFF">
                <a:alpha val="20000"/>
              </a:srgbClr>
            </a:solidFill>
            <a:prstDash val="solid"/>
          </a:ln>
        </p:spPr>
      </p:sp>
      <p:sp>
        <p:nvSpPr>
          <p:cNvPr id="21" name="Shape 19"/>
          <p:cNvSpPr/>
          <p:nvPr/>
        </p:nvSpPr>
        <p:spPr>
          <a:xfrm>
            <a:off x="588710" y="2658692"/>
            <a:ext cx="436785" cy="436785"/>
          </a:xfrm>
          <a:custGeom>
            <a:avLst/>
            <a:gdLst/>
            <a:ahLst/>
            <a:cxnLst/>
            <a:rect l="l" t="t" r="r" b="b"/>
            <a:pathLst>
              <a:path w="436785" h="436785">
                <a:moveTo>
                  <a:pt x="218393" y="0"/>
                </a:moveTo>
                <a:lnTo>
                  <a:pt x="218393" y="0"/>
                </a:lnTo>
                <a:cubicBezTo>
                  <a:pt x="338927" y="0"/>
                  <a:pt x="436785" y="97858"/>
                  <a:pt x="436785" y="218393"/>
                </a:cubicBezTo>
                <a:lnTo>
                  <a:pt x="436785" y="218393"/>
                </a:lnTo>
                <a:cubicBezTo>
                  <a:pt x="436785" y="338927"/>
                  <a:pt x="338927" y="436785"/>
                  <a:pt x="218393" y="436785"/>
                </a:cubicBezTo>
                <a:lnTo>
                  <a:pt x="218393" y="436785"/>
                </a:lnTo>
                <a:cubicBezTo>
                  <a:pt x="97858" y="436785"/>
                  <a:pt x="0" y="338927"/>
                  <a:pt x="0" y="218393"/>
                </a:cubicBezTo>
                <a:lnTo>
                  <a:pt x="0" y="218393"/>
                </a:lnTo>
                <a:cubicBezTo>
                  <a:pt x="0" y="97858"/>
                  <a:pt x="97858" y="0"/>
                  <a:pt x="218393" y="0"/>
                </a:cubicBezTo>
                <a:close/>
              </a:path>
            </a:pathLst>
          </a:custGeom>
          <a:solidFill>
            <a:srgbClr val="1A3A52"/>
          </a:solidFill>
          <a:ln w="25400">
            <a:solidFill>
              <a:srgbClr val="C5A065"/>
            </a:solidFill>
            <a:prstDash val="solid"/>
          </a:ln>
        </p:spPr>
      </p:sp>
      <p:sp>
        <p:nvSpPr>
          <p:cNvPr id="22" name="Text 20"/>
          <p:cNvSpPr/>
          <p:nvPr/>
        </p:nvSpPr>
        <p:spPr>
          <a:xfrm>
            <a:off x="769121" y="2744150"/>
            <a:ext cx="170916" cy="265869"/>
          </a:xfrm>
          <a:prstGeom prst="rect">
            <a:avLst/>
          </a:prstGeom>
          <a:noFill/>
          <a:ln/>
        </p:spPr>
        <p:txBody>
          <a:bodyPr wrap="square" lIns="0" tIns="0" rIns="0" bIns="0" rtlCol="0" anchor="ctr"/>
          <a:lstStyle/>
          <a:p>
            <a:pPr>
              <a:lnSpc>
                <a:spcPct val="120000"/>
              </a:lnSpc>
            </a:pPr>
            <a:r>
              <a:rPr lang="en-US" sz="1495" b="1" dirty="0">
                <a:solidFill>
                  <a:srgbClr val="C5A065"/>
                </a:solidFill>
                <a:latin typeface="Liter" pitchFamily="34" charset="0"/>
                <a:ea typeface="Liter" pitchFamily="34" charset="-122"/>
                <a:cs typeface="Liter" pitchFamily="34" charset="-120"/>
              </a:rPr>
              <a:t>1</a:t>
            </a:r>
            <a:endParaRPr lang="en-US" sz="1600" dirty="0"/>
          </a:p>
        </p:txBody>
      </p:sp>
      <p:sp>
        <p:nvSpPr>
          <p:cNvPr id="23" name="Text 21"/>
          <p:cNvSpPr/>
          <p:nvPr/>
        </p:nvSpPr>
        <p:spPr>
          <a:xfrm>
            <a:off x="1148935" y="2744150"/>
            <a:ext cx="2820112" cy="265869"/>
          </a:xfrm>
          <a:prstGeom prst="rect">
            <a:avLst/>
          </a:prstGeom>
          <a:noFill/>
          <a:ln/>
        </p:spPr>
        <p:txBody>
          <a:bodyPr wrap="square" lIns="0" tIns="0" rIns="0" bIns="0" rtlCol="0" anchor="ctr"/>
          <a:lstStyle/>
          <a:p>
            <a:pPr>
              <a:lnSpc>
                <a:spcPct val="120000"/>
              </a:lnSpc>
            </a:pPr>
            <a:r>
              <a:rPr lang="en-US" sz="1495" b="1" dirty="0">
                <a:solidFill>
                  <a:srgbClr val="F8F9FA"/>
                </a:solidFill>
                <a:latin typeface="Liter" pitchFamily="34" charset="0"/>
                <a:ea typeface="Liter" pitchFamily="34" charset="-122"/>
                <a:cs typeface="Liter" pitchFamily="34" charset="-120"/>
              </a:rPr>
              <a:t>Implémentation CRM &amp; Tracking</a:t>
            </a:r>
            <a:endParaRPr lang="en-US" sz="1600" dirty="0"/>
          </a:p>
        </p:txBody>
      </p:sp>
      <p:sp>
        <p:nvSpPr>
          <p:cNvPr id="24" name="Text 22"/>
          <p:cNvSpPr/>
          <p:nvPr/>
        </p:nvSpPr>
        <p:spPr>
          <a:xfrm>
            <a:off x="579215" y="3256897"/>
            <a:ext cx="3389832" cy="1006505"/>
          </a:xfrm>
          <a:prstGeom prst="rect">
            <a:avLst/>
          </a:prstGeom>
          <a:noFill/>
          <a:ln/>
        </p:spPr>
        <p:txBody>
          <a:bodyPr wrap="square" lIns="0" tIns="0" rIns="0" bIns="0" rtlCol="0" anchor="ctr"/>
          <a:lstStyle/>
          <a:p>
            <a:pPr>
              <a:lnSpc>
                <a:spcPct val="140000"/>
              </a:lnSpc>
            </a:pPr>
            <a:r>
              <a:rPr lang="en-US" sz="1196" b="1" dirty="0">
                <a:solidFill>
                  <a:srgbClr val="F8F9FA">
                    <a:alpha val="90000"/>
                  </a:srgbClr>
                </a:solidFill>
                <a:latin typeface="Liter" pitchFamily="34" charset="0"/>
                <a:ea typeface="Liter" pitchFamily="34" charset="-122"/>
                <a:cs typeface="Liter" pitchFamily="34" charset="-120"/>
              </a:rPr>
              <a:t>Mise en place d'un système centralisé</a:t>
            </a:r>
            <a:pPr>
              <a:lnSpc>
                <a:spcPct val="140000"/>
              </a:lnSpc>
            </a:pPr>
            <a:r>
              <a:rPr lang="en-US" sz="1196" dirty="0">
                <a:solidFill>
                  <a:srgbClr val="F8F9FA">
                    <a:alpha val="90000"/>
                  </a:srgbClr>
                </a:solidFill>
                <a:latin typeface="Liter" pitchFamily="34" charset="0"/>
                <a:ea typeface="Liter" pitchFamily="34" charset="-122"/>
                <a:cs typeface="Liter" pitchFamily="34" charset="-120"/>
              </a:rPr>
              <a:t> pour suivre chaque lead par ville (Casablanca, Marrakech, Agadir) et par pathologie (Stress, TDAH, Sommeil).</a:t>
            </a:r>
            <a:endParaRPr lang="en-US" sz="1600" dirty="0"/>
          </a:p>
        </p:txBody>
      </p:sp>
      <p:sp>
        <p:nvSpPr>
          <p:cNvPr id="25" name="Shape 23"/>
          <p:cNvSpPr/>
          <p:nvPr/>
        </p:nvSpPr>
        <p:spPr>
          <a:xfrm>
            <a:off x="606514" y="4443813"/>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C5A065"/>
          </a:solidFill>
          <a:ln/>
        </p:spPr>
      </p:sp>
      <p:sp>
        <p:nvSpPr>
          <p:cNvPr id="26" name="Text 24"/>
          <p:cNvSpPr/>
          <p:nvPr/>
        </p:nvSpPr>
        <p:spPr>
          <a:xfrm>
            <a:off x="821346" y="4415327"/>
            <a:ext cx="1728150"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Segmentation géographique</a:t>
            </a:r>
            <a:endParaRPr lang="en-US" sz="1600" dirty="0"/>
          </a:p>
        </p:txBody>
      </p:sp>
      <p:sp>
        <p:nvSpPr>
          <p:cNvPr id="27" name="Shape 25"/>
          <p:cNvSpPr/>
          <p:nvPr/>
        </p:nvSpPr>
        <p:spPr>
          <a:xfrm>
            <a:off x="606514" y="4709682"/>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C5A065"/>
          </a:solidFill>
          <a:ln/>
        </p:spPr>
      </p:sp>
      <p:sp>
        <p:nvSpPr>
          <p:cNvPr id="28" name="Text 26"/>
          <p:cNvSpPr/>
          <p:nvPr/>
        </p:nvSpPr>
        <p:spPr>
          <a:xfrm>
            <a:off x="821346" y="4681196"/>
            <a:ext cx="1443290"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Tracking par pathologie</a:t>
            </a:r>
            <a:endParaRPr lang="en-US" sz="1600" dirty="0"/>
          </a:p>
        </p:txBody>
      </p:sp>
      <p:sp>
        <p:nvSpPr>
          <p:cNvPr id="29" name="Shape 27"/>
          <p:cNvSpPr/>
          <p:nvPr/>
        </p:nvSpPr>
        <p:spPr>
          <a:xfrm>
            <a:off x="606514" y="4975551"/>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C5A065"/>
          </a:solidFill>
          <a:ln/>
        </p:spPr>
      </p:sp>
      <p:sp>
        <p:nvSpPr>
          <p:cNvPr id="30" name="Text 28"/>
          <p:cNvSpPr/>
          <p:nvPr/>
        </p:nvSpPr>
        <p:spPr>
          <a:xfrm>
            <a:off x="821346" y="4947065"/>
            <a:ext cx="1272374"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Attribution complète</a:t>
            </a:r>
            <a:endParaRPr lang="en-US" sz="1600" dirty="0"/>
          </a:p>
        </p:txBody>
      </p:sp>
      <p:sp>
        <p:nvSpPr>
          <p:cNvPr id="31" name="Shape 29"/>
          <p:cNvSpPr/>
          <p:nvPr/>
        </p:nvSpPr>
        <p:spPr>
          <a:xfrm>
            <a:off x="579215" y="5288897"/>
            <a:ext cx="3313869" cy="417794"/>
          </a:xfrm>
          <a:custGeom>
            <a:avLst/>
            <a:gdLst/>
            <a:ahLst/>
            <a:cxnLst/>
            <a:rect l="l" t="t" r="r" b="b"/>
            <a:pathLst>
              <a:path w="3313869" h="417794">
                <a:moveTo>
                  <a:pt x="75963" y="0"/>
                </a:moveTo>
                <a:lnTo>
                  <a:pt x="3237906" y="0"/>
                </a:lnTo>
                <a:cubicBezTo>
                  <a:pt x="3279859" y="0"/>
                  <a:pt x="3313869" y="34010"/>
                  <a:pt x="3313869" y="75963"/>
                </a:cubicBezTo>
                <a:lnTo>
                  <a:pt x="3313869" y="341831"/>
                </a:lnTo>
                <a:cubicBezTo>
                  <a:pt x="3313869" y="383784"/>
                  <a:pt x="3279859" y="417794"/>
                  <a:pt x="3237906" y="417794"/>
                </a:cubicBezTo>
                <a:lnTo>
                  <a:pt x="75963" y="417794"/>
                </a:lnTo>
                <a:cubicBezTo>
                  <a:pt x="34038" y="417794"/>
                  <a:pt x="0" y="383756"/>
                  <a:pt x="0" y="341831"/>
                </a:cubicBezTo>
                <a:lnTo>
                  <a:pt x="0" y="75963"/>
                </a:lnTo>
                <a:cubicBezTo>
                  <a:pt x="0" y="34038"/>
                  <a:pt x="34038" y="0"/>
                  <a:pt x="75963" y="0"/>
                </a:cubicBezTo>
                <a:close/>
              </a:path>
            </a:pathLst>
          </a:custGeom>
          <a:solidFill>
            <a:srgbClr val="C5A065">
              <a:alpha val="20000"/>
            </a:srgbClr>
          </a:solidFill>
          <a:ln/>
        </p:spPr>
      </p:sp>
      <p:sp>
        <p:nvSpPr>
          <p:cNvPr id="32" name="Text 30"/>
          <p:cNvSpPr/>
          <p:nvPr/>
        </p:nvSpPr>
        <p:spPr>
          <a:xfrm>
            <a:off x="659925" y="5402841"/>
            <a:ext cx="3152449" cy="189907"/>
          </a:xfrm>
          <a:prstGeom prst="rect">
            <a:avLst/>
          </a:prstGeom>
          <a:noFill/>
          <a:ln/>
        </p:spPr>
        <p:txBody>
          <a:bodyPr wrap="square" lIns="0" tIns="0" rIns="0" bIns="0" rtlCol="0" anchor="ctr"/>
          <a:lstStyle/>
          <a:p>
            <a:pPr algn="ctr">
              <a:lnSpc>
                <a:spcPct val="120000"/>
              </a:lnSpc>
            </a:pPr>
            <a:r>
              <a:rPr lang="en-US" sz="1047" b="1" dirty="0">
                <a:solidFill>
                  <a:srgbClr val="F8F9FA">
                    <a:alpha val="80000"/>
                  </a:srgbClr>
                </a:solidFill>
                <a:latin typeface="Liter" pitchFamily="34" charset="0"/>
                <a:ea typeface="Liter" pitchFamily="34" charset="-122"/>
                <a:cs typeface="Liter" pitchFamily="34" charset="-120"/>
              </a:rPr>
              <a:t>Outils:</a:t>
            </a:r>
            <a:pPr algn="ctr">
              <a:lnSpc>
                <a:spcPct val="120000"/>
              </a:lnSpc>
            </a:pPr>
            <a:r>
              <a:rPr lang="en-US" sz="1047" dirty="0">
                <a:solidFill>
                  <a:srgbClr val="F8F9FA">
                    <a:alpha val="80000"/>
                  </a:srgbClr>
                </a:solidFill>
                <a:latin typeface="Liter" pitchFamily="34" charset="0"/>
                <a:ea typeface="Liter" pitchFamily="34" charset="-122"/>
                <a:cs typeface="Liter" pitchFamily="34" charset="-120"/>
              </a:rPr>
              <a:t> HubSpot, Salesforce, ou Zoho CRM</a:t>
            </a:r>
            <a:endParaRPr lang="en-US" sz="1600" dirty="0"/>
          </a:p>
        </p:txBody>
      </p:sp>
      <p:sp>
        <p:nvSpPr>
          <p:cNvPr id="33" name="Shape 31"/>
          <p:cNvSpPr/>
          <p:nvPr/>
        </p:nvSpPr>
        <p:spPr>
          <a:xfrm>
            <a:off x="4244560" y="2454542"/>
            <a:ext cx="3703178" cy="3446804"/>
          </a:xfrm>
          <a:custGeom>
            <a:avLst/>
            <a:gdLst/>
            <a:ahLst/>
            <a:cxnLst/>
            <a:rect l="l" t="t" r="r" b="b"/>
            <a:pathLst>
              <a:path w="3703178" h="3446804">
                <a:moveTo>
                  <a:pt x="113951" y="0"/>
                </a:moveTo>
                <a:lnTo>
                  <a:pt x="3589226" y="0"/>
                </a:lnTo>
                <a:cubicBezTo>
                  <a:pt x="3652160" y="0"/>
                  <a:pt x="3703178" y="51018"/>
                  <a:pt x="3703178" y="113951"/>
                </a:cubicBezTo>
                <a:lnTo>
                  <a:pt x="3703178" y="3332852"/>
                </a:lnTo>
                <a:cubicBezTo>
                  <a:pt x="3703178" y="3395786"/>
                  <a:pt x="3652160" y="3446804"/>
                  <a:pt x="3589226" y="3446804"/>
                </a:cubicBezTo>
                <a:lnTo>
                  <a:pt x="113951" y="3446804"/>
                </a:lnTo>
                <a:cubicBezTo>
                  <a:pt x="51018" y="3446804"/>
                  <a:pt x="0" y="3395786"/>
                  <a:pt x="0" y="3332852"/>
                </a:cubicBezTo>
                <a:lnTo>
                  <a:pt x="0" y="113951"/>
                </a:lnTo>
                <a:cubicBezTo>
                  <a:pt x="0" y="51060"/>
                  <a:pt x="51060" y="0"/>
                  <a:pt x="113951" y="0"/>
                </a:cubicBezTo>
                <a:close/>
              </a:path>
            </a:pathLst>
          </a:custGeom>
          <a:solidFill>
            <a:srgbClr val="C5A065">
              <a:alpha val="20000"/>
            </a:srgbClr>
          </a:solidFill>
          <a:ln w="12700">
            <a:solidFill>
              <a:srgbClr val="C5A065">
                <a:alpha val="40000"/>
              </a:srgbClr>
            </a:solidFill>
            <a:prstDash val="solid"/>
          </a:ln>
        </p:spPr>
      </p:sp>
      <p:sp>
        <p:nvSpPr>
          <p:cNvPr id="34" name="Shape 32"/>
          <p:cNvSpPr/>
          <p:nvPr/>
        </p:nvSpPr>
        <p:spPr>
          <a:xfrm>
            <a:off x="4439214" y="2649196"/>
            <a:ext cx="455776" cy="455776"/>
          </a:xfrm>
          <a:custGeom>
            <a:avLst/>
            <a:gdLst/>
            <a:ahLst/>
            <a:cxnLst/>
            <a:rect l="l" t="t" r="r" b="b"/>
            <a:pathLst>
              <a:path w="455776" h="455776">
                <a:moveTo>
                  <a:pt x="227888" y="0"/>
                </a:moveTo>
                <a:lnTo>
                  <a:pt x="227888" y="0"/>
                </a:lnTo>
                <a:cubicBezTo>
                  <a:pt x="353663" y="0"/>
                  <a:pt x="455776" y="102113"/>
                  <a:pt x="455776" y="227888"/>
                </a:cubicBezTo>
                <a:lnTo>
                  <a:pt x="455776" y="227888"/>
                </a:lnTo>
                <a:cubicBezTo>
                  <a:pt x="455776" y="353663"/>
                  <a:pt x="353663" y="455776"/>
                  <a:pt x="227888" y="455776"/>
                </a:cubicBezTo>
                <a:lnTo>
                  <a:pt x="227888" y="455776"/>
                </a:lnTo>
                <a:cubicBezTo>
                  <a:pt x="102113" y="455776"/>
                  <a:pt x="0" y="353663"/>
                  <a:pt x="0" y="227888"/>
                </a:cubicBezTo>
                <a:lnTo>
                  <a:pt x="0" y="227888"/>
                </a:lnTo>
                <a:cubicBezTo>
                  <a:pt x="0" y="102113"/>
                  <a:pt x="102113" y="0"/>
                  <a:pt x="227888" y="0"/>
                </a:cubicBezTo>
                <a:close/>
              </a:path>
            </a:pathLst>
          </a:custGeom>
          <a:solidFill>
            <a:srgbClr val="C5A065"/>
          </a:solidFill>
          <a:ln/>
        </p:spPr>
      </p:sp>
      <p:sp>
        <p:nvSpPr>
          <p:cNvPr id="35" name="Text 33"/>
          <p:cNvSpPr/>
          <p:nvPr/>
        </p:nvSpPr>
        <p:spPr>
          <a:xfrm>
            <a:off x="4611910" y="2744150"/>
            <a:ext cx="208897" cy="265869"/>
          </a:xfrm>
          <a:prstGeom prst="rect">
            <a:avLst/>
          </a:prstGeom>
          <a:noFill/>
          <a:ln/>
        </p:spPr>
        <p:txBody>
          <a:bodyPr wrap="square" lIns="0" tIns="0" rIns="0" bIns="0" rtlCol="0" anchor="ctr"/>
          <a:lstStyle/>
          <a:p>
            <a:pPr>
              <a:lnSpc>
                <a:spcPct val="120000"/>
              </a:lnSpc>
            </a:pPr>
            <a:r>
              <a:rPr lang="en-US" sz="1495" b="1" dirty="0">
                <a:solidFill>
                  <a:srgbClr val="FFFFFF"/>
                </a:solidFill>
                <a:latin typeface="Liter" pitchFamily="34" charset="0"/>
                <a:ea typeface="Liter" pitchFamily="34" charset="-122"/>
                <a:cs typeface="Liter" pitchFamily="34" charset="-120"/>
              </a:rPr>
              <a:t>2</a:t>
            </a:r>
            <a:endParaRPr lang="en-US" sz="1600" dirty="0"/>
          </a:p>
        </p:txBody>
      </p:sp>
      <p:sp>
        <p:nvSpPr>
          <p:cNvPr id="36" name="Text 34"/>
          <p:cNvSpPr/>
          <p:nvPr/>
        </p:nvSpPr>
        <p:spPr>
          <a:xfrm>
            <a:off x="5008933" y="2744150"/>
            <a:ext cx="1994019" cy="265869"/>
          </a:xfrm>
          <a:prstGeom prst="rect">
            <a:avLst/>
          </a:prstGeom>
          <a:noFill/>
          <a:ln/>
        </p:spPr>
        <p:txBody>
          <a:bodyPr wrap="square" lIns="0" tIns="0" rIns="0" bIns="0" rtlCol="0" anchor="ctr"/>
          <a:lstStyle/>
          <a:p>
            <a:pPr>
              <a:lnSpc>
                <a:spcPct val="120000"/>
              </a:lnSpc>
            </a:pPr>
            <a:r>
              <a:rPr lang="en-US" sz="1495" b="1" dirty="0">
                <a:solidFill>
                  <a:srgbClr val="F8F9FA"/>
                </a:solidFill>
                <a:latin typeface="Liter" pitchFamily="34" charset="0"/>
                <a:ea typeface="Liter" pitchFamily="34" charset="-122"/>
                <a:cs typeface="Liter" pitchFamily="34" charset="-120"/>
              </a:rPr>
              <a:t>Boucle de Réactivation</a:t>
            </a:r>
            <a:endParaRPr lang="en-US" sz="1600" dirty="0"/>
          </a:p>
        </p:txBody>
      </p:sp>
      <p:sp>
        <p:nvSpPr>
          <p:cNvPr id="37" name="Text 35"/>
          <p:cNvSpPr/>
          <p:nvPr/>
        </p:nvSpPr>
        <p:spPr>
          <a:xfrm>
            <a:off x="4439214" y="3256897"/>
            <a:ext cx="3389832" cy="1006505"/>
          </a:xfrm>
          <a:prstGeom prst="rect">
            <a:avLst/>
          </a:prstGeom>
          <a:noFill/>
          <a:ln/>
        </p:spPr>
        <p:txBody>
          <a:bodyPr wrap="square" lIns="0" tIns="0" rIns="0" bIns="0" rtlCol="0" anchor="ctr"/>
          <a:lstStyle/>
          <a:p>
            <a:pPr>
              <a:lnSpc>
                <a:spcPct val="140000"/>
              </a:lnSpc>
            </a:pPr>
            <a:r>
              <a:rPr lang="en-US" sz="1196" b="1" dirty="0">
                <a:solidFill>
                  <a:srgbClr val="F8F9FA">
                    <a:alpha val="90000"/>
                  </a:srgbClr>
                </a:solidFill>
                <a:latin typeface="Liter" pitchFamily="34" charset="0"/>
                <a:ea typeface="Liter" pitchFamily="34" charset="-122"/>
                <a:cs typeface="Liter" pitchFamily="34" charset="-120"/>
              </a:rPr>
              <a:t>Lancement campagne Win-back automatisée.</a:t>
            </a:r>
            <a:pPr>
              <a:lnSpc>
                <a:spcPct val="140000"/>
              </a:lnSpc>
            </a:pPr>
            <a:r>
              <a:rPr lang="en-US" sz="1196" dirty="0">
                <a:solidFill>
                  <a:srgbClr val="F8F9FA">
                    <a:alpha val="90000"/>
                  </a:srgbClr>
                </a:solidFill>
                <a:latin typeface="Liter" pitchFamily="34" charset="0"/>
                <a:ea typeface="Liter" pitchFamily="34" charset="-122"/>
                <a:cs typeface="Liter" pitchFamily="34" charset="-120"/>
              </a:rPr>
              <a:t> Ciblage des patients inactifs depuis plus de 6 mois avec message WhatsApp personnalisé pour générer des réservations à coût nul.</a:t>
            </a:r>
            <a:endParaRPr lang="en-US" sz="1600" dirty="0"/>
          </a:p>
        </p:txBody>
      </p:sp>
      <p:sp>
        <p:nvSpPr>
          <p:cNvPr id="38" name="Shape 36"/>
          <p:cNvSpPr/>
          <p:nvPr/>
        </p:nvSpPr>
        <p:spPr>
          <a:xfrm>
            <a:off x="4466513" y="4443813"/>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C5A065"/>
          </a:solidFill>
          <a:ln/>
        </p:spPr>
      </p:sp>
      <p:sp>
        <p:nvSpPr>
          <p:cNvPr id="39" name="Text 37"/>
          <p:cNvSpPr/>
          <p:nvPr/>
        </p:nvSpPr>
        <p:spPr>
          <a:xfrm>
            <a:off x="4681345" y="4415327"/>
            <a:ext cx="1310355"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98% taux d'ouverture</a:t>
            </a:r>
            <a:endParaRPr lang="en-US" sz="1600" dirty="0"/>
          </a:p>
        </p:txBody>
      </p:sp>
      <p:sp>
        <p:nvSpPr>
          <p:cNvPr id="40" name="Shape 38"/>
          <p:cNvSpPr/>
          <p:nvPr/>
        </p:nvSpPr>
        <p:spPr>
          <a:xfrm>
            <a:off x="4466513" y="4709682"/>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C5A065"/>
          </a:solidFill>
          <a:ln/>
        </p:spPr>
      </p:sp>
      <p:sp>
        <p:nvSpPr>
          <p:cNvPr id="41" name="Text 39"/>
          <p:cNvSpPr/>
          <p:nvPr/>
        </p:nvSpPr>
        <p:spPr>
          <a:xfrm>
            <a:off x="4681345" y="4681196"/>
            <a:ext cx="1376822"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-40% taux de no-show</a:t>
            </a:r>
            <a:endParaRPr lang="en-US" sz="1600" dirty="0"/>
          </a:p>
        </p:txBody>
      </p:sp>
      <p:sp>
        <p:nvSpPr>
          <p:cNvPr id="42" name="Shape 40"/>
          <p:cNvSpPr/>
          <p:nvPr/>
        </p:nvSpPr>
        <p:spPr>
          <a:xfrm>
            <a:off x="4466513" y="4975551"/>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C5A065"/>
          </a:solidFill>
          <a:ln/>
        </p:spPr>
      </p:sp>
      <p:sp>
        <p:nvSpPr>
          <p:cNvPr id="43" name="Text 41"/>
          <p:cNvSpPr/>
          <p:nvPr/>
        </p:nvSpPr>
        <p:spPr>
          <a:xfrm>
            <a:off x="4681345" y="4947065"/>
            <a:ext cx="1500262"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Messages personnalisés</a:t>
            </a:r>
            <a:endParaRPr lang="en-US" sz="1600" dirty="0"/>
          </a:p>
        </p:txBody>
      </p:sp>
      <p:sp>
        <p:nvSpPr>
          <p:cNvPr id="44" name="Shape 42"/>
          <p:cNvSpPr/>
          <p:nvPr/>
        </p:nvSpPr>
        <p:spPr>
          <a:xfrm>
            <a:off x="4439214" y="5288897"/>
            <a:ext cx="3313869" cy="417794"/>
          </a:xfrm>
          <a:custGeom>
            <a:avLst/>
            <a:gdLst/>
            <a:ahLst/>
            <a:cxnLst/>
            <a:rect l="l" t="t" r="r" b="b"/>
            <a:pathLst>
              <a:path w="3313869" h="417794">
                <a:moveTo>
                  <a:pt x="75963" y="0"/>
                </a:moveTo>
                <a:lnTo>
                  <a:pt x="3237906" y="0"/>
                </a:lnTo>
                <a:cubicBezTo>
                  <a:pt x="3279859" y="0"/>
                  <a:pt x="3313869" y="34010"/>
                  <a:pt x="3313869" y="75963"/>
                </a:cubicBezTo>
                <a:lnTo>
                  <a:pt x="3313869" y="341831"/>
                </a:lnTo>
                <a:cubicBezTo>
                  <a:pt x="3313869" y="383784"/>
                  <a:pt x="3279859" y="417794"/>
                  <a:pt x="3237906" y="417794"/>
                </a:cubicBezTo>
                <a:lnTo>
                  <a:pt x="75963" y="417794"/>
                </a:lnTo>
                <a:cubicBezTo>
                  <a:pt x="34038" y="417794"/>
                  <a:pt x="0" y="383756"/>
                  <a:pt x="0" y="341831"/>
                </a:cubicBezTo>
                <a:lnTo>
                  <a:pt x="0" y="75963"/>
                </a:lnTo>
                <a:cubicBezTo>
                  <a:pt x="0" y="34038"/>
                  <a:pt x="34038" y="0"/>
                  <a:pt x="75963" y="0"/>
                </a:cubicBezTo>
                <a:close/>
              </a:path>
            </a:pathLst>
          </a:custGeom>
          <a:solidFill>
            <a:srgbClr val="FFFFFF">
              <a:alpha val="10196"/>
            </a:srgbClr>
          </a:solidFill>
          <a:ln/>
        </p:spPr>
      </p:sp>
      <p:sp>
        <p:nvSpPr>
          <p:cNvPr id="45" name="Text 43"/>
          <p:cNvSpPr/>
          <p:nvPr/>
        </p:nvSpPr>
        <p:spPr>
          <a:xfrm>
            <a:off x="4519924" y="5402841"/>
            <a:ext cx="3152449" cy="189907"/>
          </a:xfrm>
          <a:prstGeom prst="rect">
            <a:avLst/>
          </a:prstGeom>
          <a:noFill/>
          <a:ln/>
        </p:spPr>
        <p:txBody>
          <a:bodyPr wrap="square" lIns="0" tIns="0" rIns="0" bIns="0" rtlCol="0" anchor="ctr"/>
          <a:lstStyle/>
          <a:p>
            <a:pPr algn="ctr">
              <a:lnSpc>
                <a:spcPct val="120000"/>
              </a:lnSpc>
            </a:pPr>
            <a:r>
              <a:rPr lang="en-US" sz="1047" b="1" dirty="0">
                <a:solidFill>
                  <a:srgbClr val="F8F9FA">
                    <a:alpha val="80000"/>
                  </a:srgbClr>
                </a:solidFill>
                <a:latin typeface="Liter" pitchFamily="34" charset="0"/>
                <a:ea typeface="Liter" pitchFamily="34" charset="-122"/>
                <a:cs typeface="Liter" pitchFamily="34" charset="-120"/>
              </a:rPr>
              <a:t>WhatsApp vs Email:</a:t>
            </a:r>
            <a:pPr algn="ctr">
              <a:lnSpc>
                <a:spcPct val="120000"/>
              </a:lnSpc>
            </a:pPr>
            <a:r>
              <a:rPr lang="en-US" sz="1047" dirty="0">
                <a:solidFill>
                  <a:srgbClr val="F8F9FA">
                    <a:alpha val="80000"/>
                  </a:srgbClr>
                </a:solidFill>
                <a:latin typeface="Liter" pitchFamily="34" charset="0"/>
                <a:ea typeface="Liter" pitchFamily="34" charset="-122"/>
                <a:cs typeface="Liter" pitchFamily="34" charset="-120"/>
              </a:rPr>
              <a:t> 98% vs 20-30% ouverture</a:t>
            </a:r>
            <a:endParaRPr lang="en-US" sz="1600" dirty="0"/>
          </a:p>
        </p:txBody>
      </p:sp>
      <p:sp>
        <p:nvSpPr>
          <p:cNvPr id="46" name="Shape 44"/>
          <p:cNvSpPr/>
          <p:nvPr/>
        </p:nvSpPr>
        <p:spPr>
          <a:xfrm>
            <a:off x="8104558" y="2454542"/>
            <a:ext cx="3703178" cy="3446804"/>
          </a:xfrm>
          <a:custGeom>
            <a:avLst/>
            <a:gdLst/>
            <a:ahLst/>
            <a:cxnLst/>
            <a:rect l="l" t="t" r="r" b="b"/>
            <a:pathLst>
              <a:path w="3703178" h="3446804">
                <a:moveTo>
                  <a:pt x="113951" y="0"/>
                </a:moveTo>
                <a:lnTo>
                  <a:pt x="3589226" y="0"/>
                </a:lnTo>
                <a:cubicBezTo>
                  <a:pt x="3652160" y="0"/>
                  <a:pt x="3703178" y="51018"/>
                  <a:pt x="3703178" y="113951"/>
                </a:cubicBezTo>
                <a:lnTo>
                  <a:pt x="3703178" y="3332852"/>
                </a:lnTo>
                <a:cubicBezTo>
                  <a:pt x="3703178" y="3395786"/>
                  <a:pt x="3652160" y="3446804"/>
                  <a:pt x="3589226" y="3446804"/>
                </a:cubicBezTo>
                <a:lnTo>
                  <a:pt x="113951" y="3446804"/>
                </a:lnTo>
                <a:cubicBezTo>
                  <a:pt x="51018" y="3446804"/>
                  <a:pt x="0" y="3395786"/>
                  <a:pt x="0" y="3332852"/>
                </a:cubicBezTo>
                <a:lnTo>
                  <a:pt x="0" y="113951"/>
                </a:lnTo>
                <a:cubicBezTo>
                  <a:pt x="0" y="51060"/>
                  <a:pt x="51060" y="0"/>
                  <a:pt x="113951" y="0"/>
                </a:cubicBezTo>
                <a:close/>
              </a:path>
            </a:pathLst>
          </a:custGeom>
          <a:solidFill>
            <a:srgbClr val="FFFFFF">
              <a:alpha val="10196"/>
            </a:srgbClr>
          </a:solidFill>
          <a:ln w="12700">
            <a:solidFill>
              <a:srgbClr val="FFFFFF">
                <a:alpha val="20000"/>
              </a:srgbClr>
            </a:solidFill>
            <a:prstDash val="solid"/>
          </a:ln>
        </p:spPr>
      </p:sp>
      <p:sp>
        <p:nvSpPr>
          <p:cNvPr id="47" name="Shape 45"/>
          <p:cNvSpPr/>
          <p:nvPr/>
        </p:nvSpPr>
        <p:spPr>
          <a:xfrm>
            <a:off x="8299213" y="2649196"/>
            <a:ext cx="455776" cy="455776"/>
          </a:xfrm>
          <a:custGeom>
            <a:avLst/>
            <a:gdLst/>
            <a:ahLst/>
            <a:cxnLst/>
            <a:rect l="l" t="t" r="r" b="b"/>
            <a:pathLst>
              <a:path w="455776" h="455776">
                <a:moveTo>
                  <a:pt x="227888" y="0"/>
                </a:moveTo>
                <a:lnTo>
                  <a:pt x="227888" y="0"/>
                </a:lnTo>
                <a:cubicBezTo>
                  <a:pt x="353663" y="0"/>
                  <a:pt x="455776" y="102113"/>
                  <a:pt x="455776" y="227888"/>
                </a:cubicBezTo>
                <a:lnTo>
                  <a:pt x="455776" y="227888"/>
                </a:lnTo>
                <a:cubicBezTo>
                  <a:pt x="455776" y="353663"/>
                  <a:pt x="353663" y="455776"/>
                  <a:pt x="227888" y="455776"/>
                </a:cubicBezTo>
                <a:lnTo>
                  <a:pt x="227888" y="455776"/>
                </a:lnTo>
                <a:cubicBezTo>
                  <a:pt x="102113" y="455776"/>
                  <a:pt x="0" y="353663"/>
                  <a:pt x="0" y="227888"/>
                </a:cubicBezTo>
                <a:lnTo>
                  <a:pt x="0" y="227888"/>
                </a:lnTo>
                <a:cubicBezTo>
                  <a:pt x="0" y="102113"/>
                  <a:pt x="102113" y="0"/>
                  <a:pt x="227888" y="0"/>
                </a:cubicBezTo>
                <a:close/>
              </a:path>
            </a:pathLst>
          </a:custGeom>
          <a:solidFill>
            <a:srgbClr val="00A63E"/>
          </a:solidFill>
          <a:ln/>
        </p:spPr>
      </p:sp>
      <p:sp>
        <p:nvSpPr>
          <p:cNvPr id="48" name="Text 46"/>
          <p:cNvSpPr/>
          <p:nvPr/>
        </p:nvSpPr>
        <p:spPr>
          <a:xfrm>
            <a:off x="8471019" y="2744150"/>
            <a:ext cx="208897" cy="265869"/>
          </a:xfrm>
          <a:prstGeom prst="rect">
            <a:avLst/>
          </a:prstGeom>
          <a:noFill/>
          <a:ln/>
        </p:spPr>
        <p:txBody>
          <a:bodyPr wrap="square" lIns="0" tIns="0" rIns="0" bIns="0" rtlCol="0" anchor="ctr"/>
          <a:lstStyle/>
          <a:p>
            <a:pPr>
              <a:lnSpc>
                <a:spcPct val="120000"/>
              </a:lnSpc>
            </a:pPr>
            <a:r>
              <a:rPr lang="en-US" sz="1495" b="1" dirty="0">
                <a:solidFill>
                  <a:srgbClr val="FFFFFF"/>
                </a:solidFill>
                <a:latin typeface="Liter" pitchFamily="34" charset="0"/>
                <a:ea typeface="Liter" pitchFamily="34" charset="-122"/>
                <a:cs typeface="Liter" pitchFamily="34" charset="-120"/>
              </a:rPr>
              <a:t>3</a:t>
            </a:r>
            <a:endParaRPr lang="en-US" sz="1600" dirty="0"/>
          </a:p>
        </p:txBody>
      </p:sp>
      <p:sp>
        <p:nvSpPr>
          <p:cNvPr id="49" name="Text 47"/>
          <p:cNvSpPr/>
          <p:nvPr/>
        </p:nvSpPr>
        <p:spPr>
          <a:xfrm>
            <a:off x="8868932" y="2744150"/>
            <a:ext cx="2658692" cy="265869"/>
          </a:xfrm>
          <a:prstGeom prst="rect">
            <a:avLst/>
          </a:prstGeom>
          <a:noFill/>
          <a:ln/>
        </p:spPr>
        <p:txBody>
          <a:bodyPr wrap="square" lIns="0" tIns="0" rIns="0" bIns="0" rtlCol="0" anchor="ctr"/>
          <a:lstStyle/>
          <a:p>
            <a:pPr>
              <a:lnSpc>
                <a:spcPct val="120000"/>
              </a:lnSpc>
            </a:pPr>
            <a:r>
              <a:rPr lang="en-US" sz="1495" b="1" dirty="0">
                <a:solidFill>
                  <a:srgbClr val="F8F9FA"/>
                </a:solidFill>
                <a:latin typeface="Liter" pitchFamily="34" charset="0"/>
                <a:ea typeface="Liter" pitchFamily="34" charset="-122"/>
                <a:cs typeface="Liter" pitchFamily="34" charset="-120"/>
              </a:rPr>
              <a:t>Déploiement Ads Haute Marge</a:t>
            </a:r>
            <a:endParaRPr lang="en-US" sz="1600" dirty="0"/>
          </a:p>
        </p:txBody>
      </p:sp>
      <p:sp>
        <p:nvSpPr>
          <p:cNvPr id="50" name="Text 48"/>
          <p:cNvSpPr/>
          <p:nvPr/>
        </p:nvSpPr>
        <p:spPr>
          <a:xfrm>
            <a:off x="8299213" y="3256897"/>
            <a:ext cx="3389832" cy="987514"/>
          </a:xfrm>
          <a:prstGeom prst="rect">
            <a:avLst/>
          </a:prstGeom>
          <a:noFill/>
          <a:ln/>
        </p:spPr>
        <p:txBody>
          <a:bodyPr wrap="square" lIns="0" tIns="0" rIns="0" bIns="0" rtlCol="0" anchor="ctr"/>
          <a:lstStyle/>
          <a:p>
            <a:pPr>
              <a:lnSpc>
                <a:spcPct val="140000"/>
              </a:lnSpc>
            </a:pPr>
            <a:r>
              <a:rPr lang="en-US" sz="1196" b="1" dirty="0">
                <a:solidFill>
                  <a:srgbClr val="F8F9FA">
                    <a:alpha val="90000"/>
                  </a:srgbClr>
                </a:solidFill>
                <a:latin typeface="Liter" pitchFamily="34" charset="0"/>
                <a:ea typeface="Liter" pitchFamily="34" charset="-122"/>
                <a:cs typeface="Liter" pitchFamily="34" charset="-120"/>
              </a:rPr>
              <a:t>Campagnes publicitaires ciblées</a:t>
            </a:r>
            <a:pPr>
              <a:lnSpc>
                <a:spcPct val="140000"/>
              </a:lnSpc>
            </a:pPr>
            <a:r>
              <a:rPr lang="en-US" sz="1196" dirty="0">
                <a:solidFill>
                  <a:srgbClr val="F8F9FA">
                    <a:alpha val="90000"/>
                  </a:srgbClr>
                </a:solidFill>
                <a:latin typeface="Liter" pitchFamily="34" charset="0"/>
                <a:ea typeface="Liter" pitchFamily="34" charset="-122"/>
                <a:cs typeface="Liter" pitchFamily="34" charset="-120"/>
              </a:rPr>
              <a:t> spécifiquement sur l'évaluation qEEG à 350$ pour financer l'écosystème global et rentabiliser immédiatement l'acquisition.</a:t>
            </a:r>
            <a:endParaRPr lang="en-US" sz="1600" dirty="0"/>
          </a:p>
        </p:txBody>
      </p:sp>
      <p:sp>
        <p:nvSpPr>
          <p:cNvPr id="51" name="Shape 49"/>
          <p:cNvSpPr/>
          <p:nvPr/>
        </p:nvSpPr>
        <p:spPr>
          <a:xfrm>
            <a:off x="8326512" y="4424822"/>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05DF72"/>
          </a:solidFill>
          <a:ln/>
        </p:spPr>
      </p:sp>
      <p:sp>
        <p:nvSpPr>
          <p:cNvPr id="52" name="Text 50"/>
          <p:cNvSpPr/>
          <p:nvPr/>
        </p:nvSpPr>
        <p:spPr>
          <a:xfrm>
            <a:off x="8541343" y="4396336"/>
            <a:ext cx="1177421"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Google Ads Search</a:t>
            </a:r>
            <a:endParaRPr lang="en-US" sz="1600" dirty="0"/>
          </a:p>
        </p:txBody>
      </p:sp>
      <p:sp>
        <p:nvSpPr>
          <p:cNvPr id="53" name="Shape 51"/>
          <p:cNvSpPr/>
          <p:nvPr/>
        </p:nvSpPr>
        <p:spPr>
          <a:xfrm>
            <a:off x="8326512" y="4690692"/>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05DF72"/>
          </a:solidFill>
          <a:ln/>
        </p:spPr>
      </p:sp>
      <p:sp>
        <p:nvSpPr>
          <p:cNvPr id="54" name="Text 52"/>
          <p:cNvSpPr/>
          <p:nvPr/>
        </p:nvSpPr>
        <p:spPr>
          <a:xfrm>
            <a:off x="8541343" y="4662206"/>
            <a:ext cx="1509757"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Meta Ads (Facebook/IG)</a:t>
            </a:r>
            <a:endParaRPr lang="en-US" sz="1600" dirty="0"/>
          </a:p>
        </p:txBody>
      </p:sp>
      <p:sp>
        <p:nvSpPr>
          <p:cNvPr id="55" name="Shape 53"/>
          <p:cNvSpPr/>
          <p:nvPr/>
        </p:nvSpPr>
        <p:spPr>
          <a:xfrm>
            <a:off x="8326512" y="4956561"/>
            <a:ext cx="116318" cy="132935"/>
          </a:xfrm>
          <a:custGeom>
            <a:avLst/>
            <a:gdLst/>
            <a:ahLst/>
            <a:cxnLst/>
            <a:rect l="l" t="t" r="r" b="b"/>
            <a:pathLst>
              <a:path w="116318" h="132935">
                <a:moveTo>
                  <a:pt x="112891" y="18201"/>
                </a:moveTo>
                <a:cubicBezTo>
                  <a:pt x="116603" y="20901"/>
                  <a:pt x="117434" y="26094"/>
                  <a:pt x="114734" y="29806"/>
                </a:cubicBezTo>
                <a:lnTo>
                  <a:pt x="48267" y="121199"/>
                </a:lnTo>
                <a:cubicBezTo>
                  <a:pt x="46839" y="123172"/>
                  <a:pt x="44632" y="124392"/>
                  <a:pt x="42191" y="124600"/>
                </a:cubicBezTo>
                <a:cubicBezTo>
                  <a:pt x="39751" y="124808"/>
                  <a:pt x="37388" y="123899"/>
                  <a:pt x="35674" y="122186"/>
                </a:cubicBezTo>
                <a:lnTo>
                  <a:pt x="2441" y="88952"/>
                </a:lnTo>
                <a:cubicBezTo>
                  <a:pt x="-805" y="85706"/>
                  <a:pt x="-805" y="80436"/>
                  <a:pt x="2441" y="77190"/>
                </a:cubicBezTo>
                <a:cubicBezTo>
                  <a:pt x="5686" y="73945"/>
                  <a:pt x="10957" y="73945"/>
                  <a:pt x="14202" y="77190"/>
                </a:cubicBezTo>
                <a:lnTo>
                  <a:pt x="40555" y="103544"/>
                </a:lnTo>
                <a:lnTo>
                  <a:pt x="101311" y="20018"/>
                </a:lnTo>
                <a:cubicBezTo>
                  <a:pt x="104011" y="16305"/>
                  <a:pt x="109204" y="15474"/>
                  <a:pt x="112917" y="18175"/>
                </a:cubicBezTo>
                <a:close/>
              </a:path>
            </a:pathLst>
          </a:custGeom>
          <a:solidFill>
            <a:srgbClr val="05DF72"/>
          </a:solidFill>
          <a:ln/>
        </p:spPr>
      </p:sp>
      <p:sp>
        <p:nvSpPr>
          <p:cNvPr id="56" name="Text 54"/>
          <p:cNvSpPr/>
          <p:nvPr/>
        </p:nvSpPr>
        <p:spPr>
          <a:xfrm>
            <a:off x="8541343" y="4928075"/>
            <a:ext cx="1272374" cy="189907"/>
          </a:xfrm>
          <a:prstGeom prst="rect">
            <a:avLst/>
          </a:prstGeom>
          <a:noFill/>
          <a:ln/>
        </p:spPr>
        <p:txBody>
          <a:bodyPr wrap="square" lIns="0" tIns="0" rIns="0" bIns="0" rtlCol="0" anchor="ctr"/>
          <a:lstStyle/>
          <a:p>
            <a:pPr>
              <a:lnSpc>
                <a:spcPct val="120000"/>
              </a:lnSpc>
            </a:pPr>
            <a:r>
              <a:rPr lang="en-US" sz="1047" dirty="0">
                <a:solidFill>
                  <a:srgbClr val="F8F9FA">
                    <a:alpha val="80000"/>
                  </a:srgbClr>
                </a:solidFill>
                <a:latin typeface="Liter" pitchFamily="34" charset="0"/>
                <a:ea typeface="Liter" pitchFamily="34" charset="-122"/>
                <a:cs typeface="Liter" pitchFamily="34" charset="-120"/>
              </a:rPr>
              <a:t>Retargeting visiteurs</a:t>
            </a:r>
            <a:endParaRPr lang="en-US" sz="1600" dirty="0"/>
          </a:p>
        </p:txBody>
      </p:sp>
      <p:sp>
        <p:nvSpPr>
          <p:cNvPr id="57" name="Shape 55"/>
          <p:cNvSpPr/>
          <p:nvPr/>
        </p:nvSpPr>
        <p:spPr>
          <a:xfrm>
            <a:off x="8303960" y="5274654"/>
            <a:ext cx="3304374" cy="427290"/>
          </a:xfrm>
          <a:custGeom>
            <a:avLst/>
            <a:gdLst/>
            <a:ahLst/>
            <a:cxnLst/>
            <a:rect l="l" t="t" r="r" b="b"/>
            <a:pathLst>
              <a:path w="3304374" h="427290">
                <a:moveTo>
                  <a:pt x="75964" y="0"/>
                </a:moveTo>
                <a:lnTo>
                  <a:pt x="3228410" y="0"/>
                </a:lnTo>
                <a:cubicBezTo>
                  <a:pt x="3270364" y="0"/>
                  <a:pt x="3304374" y="34010"/>
                  <a:pt x="3304374" y="75964"/>
                </a:cubicBezTo>
                <a:lnTo>
                  <a:pt x="3304374" y="351326"/>
                </a:lnTo>
                <a:cubicBezTo>
                  <a:pt x="3304374" y="393280"/>
                  <a:pt x="3270364" y="427290"/>
                  <a:pt x="3228410" y="427290"/>
                </a:cubicBezTo>
                <a:lnTo>
                  <a:pt x="75964" y="427290"/>
                </a:lnTo>
                <a:cubicBezTo>
                  <a:pt x="34010" y="427290"/>
                  <a:pt x="0" y="393280"/>
                  <a:pt x="0" y="351326"/>
                </a:cubicBezTo>
                <a:lnTo>
                  <a:pt x="0" y="75964"/>
                </a:lnTo>
                <a:cubicBezTo>
                  <a:pt x="0" y="34038"/>
                  <a:pt x="34038" y="0"/>
                  <a:pt x="75964" y="0"/>
                </a:cubicBezTo>
                <a:close/>
              </a:path>
            </a:pathLst>
          </a:custGeom>
          <a:solidFill>
            <a:srgbClr val="00C950">
              <a:alpha val="20000"/>
            </a:srgbClr>
          </a:solidFill>
          <a:ln w="12700">
            <a:solidFill>
              <a:srgbClr val="00C950">
                <a:alpha val="40000"/>
              </a:srgbClr>
            </a:solidFill>
            <a:prstDash val="solid"/>
          </a:ln>
        </p:spPr>
      </p:sp>
      <p:sp>
        <p:nvSpPr>
          <p:cNvPr id="58" name="Text 56"/>
          <p:cNvSpPr/>
          <p:nvPr/>
        </p:nvSpPr>
        <p:spPr>
          <a:xfrm>
            <a:off x="8389418" y="5393346"/>
            <a:ext cx="3133458" cy="189907"/>
          </a:xfrm>
          <a:prstGeom prst="rect">
            <a:avLst/>
          </a:prstGeom>
          <a:noFill/>
          <a:ln/>
        </p:spPr>
        <p:txBody>
          <a:bodyPr wrap="square" lIns="0" tIns="0" rIns="0" bIns="0" rtlCol="0" anchor="ctr"/>
          <a:lstStyle/>
          <a:p>
            <a:pPr algn="ctr">
              <a:lnSpc>
                <a:spcPct val="120000"/>
              </a:lnSpc>
            </a:pPr>
            <a:r>
              <a:rPr lang="en-US" sz="1047" b="1" dirty="0">
                <a:solidFill>
                  <a:srgbClr val="F8F9FA">
                    <a:alpha val="80000"/>
                  </a:srgbClr>
                </a:solidFill>
                <a:latin typeface="Liter" pitchFamily="34" charset="0"/>
                <a:ea typeface="Liter" pitchFamily="34" charset="-122"/>
                <a:cs typeface="Liter" pitchFamily="34" charset="-120"/>
              </a:rPr>
              <a:t>CPL Healthcare:</a:t>
            </a:r>
            <a:pPr algn="ctr">
              <a:lnSpc>
                <a:spcPct val="120000"/>
              </a:lnSpc>
            </a:pPr>
            <a:r>
              <a:rPr lang="en-US" sz="1047" dirty="0">
                <a:solidFill>
                  <a:srgbClr val="F8F9FA">
                    <a:alpha val="80000"/>
                  </a:srgbClr>
                </a:solidFill>
                <a:latin typeface="Liter" pitchFamily="34" charset="0"/>
                <a:ea typeface="Liter" pitchFamily="34" charset="-122"/>
                <a:cs typeface="Liter" pitchFamily="34" charset="-120"/>
              </a:rPr>
              <a:t> 50-80$ | </a:t>
            </a:r>
            <a:pPr algn="ctr">
              <a:lnSpc>
                <a:spcPct val="120000"/>
              </a:lnSpc>
            </a:pPr>
            <a:r>
              <a:rPr lang="en-US" sz="1047" b="1" dirty="0">
                <a:solidFill>
                  <a:srgbClr val="F8F9FA">
                    <a:alpha val="80000"/>
                  </a:srgbClr>
                </a:solidFill>
                <a:latin typeface="Liter" pitchFamily="34" charset="0"/>
                <a:ea typeface="Liter" pitchFamily="34" charset="-122"/>
                <a:cs typeface="Liter" pitchFamily="34" charset="-120"/>
              </a:rPr>
              <a:t>ROI qEEG:</a:t>
            </a:r>
            <a:pPr algn="ctr">
              <a:lnSpc>
                <a:spcPct val="120000"/>
              </a:lnSpc>
            </a:pPr>
            <a:r>
              <a:rPr lang="en-US" sz="1047" dirty="0">
                <a:solidFill>
                  <a:srgbClr val="F8F9FA">
                    <a:alpha val="80000"/>
                  </a:srgbClr>
                </a:solidFill>
                <a:latin typeface="Liter" pitchFamily="34" charset="0"/>
                <a:ea typeface="Liter" pitchFamily="34" charset="-122"/>
                <a:cs typeface="Liter" pitchFamily="34" charset="-120"/>
              </a:rPr>
              <a:t> 4-6x</a:t>
            </a:r>
            <a:endParaRPr lang="en-US" sz="1600" dirty="0"/>
          </a:p>
        </p:txBody>
      </p:sp>
      <p:sp>
        <p:nvSpPr>
          <p:cNvPr id="59" name="Shape 57"/>
          <p:cNvSpPr/>
          <p:nvPr/>
        </p:nvSpPr>
        <p:spPr>
          <a:xfrm>
            <a:off x="379813" y="6058019"/>
            <a:ext cx="11432374" cy="797607"/>
          </a:xfrm>
          <a:custGeom>
            <a:avLst/>
            <a:gdLst/>
            <a:ahLst/>
            <a:cxnLst/>
            <a:rect l="l" t="t" r="r" b="b"/>
            <a:pathLst>
              <a:path w="11432374" h="797607">
                <a:moveTo>
                  <a:pt x="113946" y="0"/>
                </a:moveTo>
                <a:lnTo>
                  <a:pt x="11318428" y="0"/>
                </a:lnTo>
                <a:cubicBezTo>
                  <a:pt x="11381358" y="0"/>
                  <a:pt x="11432374" y="51015"/>
                  <a:pt x="11432374" y="113946"/>
                </a:cubicBezTo>
                <a:lnTo>
                  <a:pt x="11432374" y="683661"/>
                </a:lnTo>
                <a:cubicBezTo>
                  <a:pt x="11432374" y="746592"/>
                  <a:pt x="11381358" y="797607"/>
                  <a:pt x="11318428" y="797607"/>
                </a:cubicBezTo>
                <a:lnTo>
                  <a:pt x="113946" y="797607"/>
                </a:lnTo>
                <a:cubicBezTo>
                  <a:pt x="51058" y="797607"/>
                  <a:pt x="0" y="746550"/>
                  <a:pt x="0" y="683661"/>
                </a:cubicBezTo>
                <a:lnTo>
                  <a:pt x="0" y="113946"/>
                </a:lnTo>
                <a:cubicBezTo>
                  <a:pt x="0" y="51058"/>
                  <a:pt x="51058" y="0"/>
                  <a:pt x="113946" y="0"/>
                </a:cubicBezTo>
                <a:close/>
              </a:path>
            </a:pathLst>
          </a:custGeom>
          <a:solidFill>
            <a:srgbClr val="C5A065"/>
          </a:solidFill>
          <a:ln/>
        </p:spPr>
      </p:sp>
      <p:sp>
        <p:nvSpPr>
          <p:cNvPr id="60" name="Shape 58"/>
          <p:cNvSpPr/>
          <p:nvPr/>
        </p:nvSpPr>
        <p:spPr>
          <a:xfrm>
            <a:off x="560224" y="6342879"/>
            <a:ext cx="227888" cy="227888"/>
          </a:xfrm>
          <a:custGeom>
            <a:avLst/>
            <a:gdLst/>
            <a:ahLst/>
            <a:cxnLst/>
            <a:rect l="l" t="t" r="r" b="b"/>
            <a:pathLst>
              <a:path w="227888" h="227888">
                <a:moveTo>
                  <a:pt x="213689" y="85458"/>
                </a:moveTo>
                <a:lnTo>
                  <a:pt x="217206" y="85458"/>
                </a:lnTo>
                <a:cubicBezTo>
                  <a:pt x="223125" y="85458"/>
                  <a:pt x="227888" y="80695"/>
                  <a:pt x="227888" y="74776"/>
                </a:cubicBezTo>
                <a:lnTo>
                  <a:pt x="227888" y="10682"/>
                </a:lnTo>
                <a:cubicBezTo>
                  <a:pt x="227888" y="6365"/>
                  <a:pt x="225306" y="2448"/>
                  <a:pt x="221300" y="801"/>
                </a:cubicBezTo>
                <a:cubicBezTo>
                  <a:pt x="217295" y="-846"/>
                  <a:pt x="212710" y="89"/>
                  <a:pt x="209639" y="3116"/>
                </a:cubicBezTo>
                <a:lnTo>
                  <a:pt x="186628" y="26171"/>
                </a:lnTo>
                <a:cubicBezTo>
                  <a:pt x="166910" y="9837"/>
                  <a:pt x="141540" y="0"/>
                  <a:pt x="113944" y="0"/>
                </a:cubicBezTo>
                <a:cubicBezTo>
                  <a:pt x="56527" y="0"/>
                  <a:pt x="9035" y="42462"/>
                  <a:pt x="1157" y="97698"/>
                </a:cubicBezTo>
                <a:cubicBezTo>
                  <a:pt x="45" y="105487"/>
                  <a:pt x="5430" y="112698"/>
                  <a:pt x="13219" y="113810"/>
                </a:cubicBezTo>
                <a:cubicBezTo>
                  <a:pt x="21008" y="114923"/>
                  <a:pt x="28219" y="109493"/>
                  <a:pt x="29332" y="101748"/>
                </a:cubicBezTo>
                <a:cubicBezTo>
                  <a:pt x="35251" y="60310"/>
                  <a:pt x="70903" y="28486"/>
                  <a:pt x="113944" y="28486"/>
                </a:cubicBezTo>
                <a:cubicBezTo>
                  <a:pt x="133706" y="28486"/>
                  <a:pt x="151866" y="35162"/>
                  <a:pt x="166331" y="46423"/>
                </a:cubicBezTo>
                <a:lnTo>
                  <a:pt x="145546" y="67209"/>
                </a:lnTo>
                <a:cubicBezTo>
                  <a:pt x="142474" y="70280"/>
                  <a:pt x="141584" y="74865"/>
                  <a:pt x="143231" y="78871"/>
                </a:cubicBezTo>
                <a:cubicBezTo>
                  <a:pt x="144878" y="82876"/>
                  <a:pt x="148795" y="85458"/>
                  <a:pt x="153112" y="85458"/>
                </a:cubicBezTo>
                <a:lnTo>
                  <a:pt x="213689" y="85458"/>
                </a:lnTo>
                <a:close/>
                <a:moveTo>
                  <a:pt x="226775" y="130190"/>
                </a:moveTo>
                <a:cubicBezTo>
                  <a:pt x="227888" y="122401"/>
                  <a:pt x="222458" y="115190"/>
                  <a:pt x="214713" y="114077"/>
                </a:cubicBezTo>
                <a:cubicBezTo>
                  <a:pt x="206968" y="112965"/>
                  <a:pt x="199713" y="118395"/>
                  <a:pt x="198601" y="126139"/>
                </a:cubicBezTo>
                <a:cubicBezTo>
                  <a:pt x="192681" y="167533"/>
                  <a:pt x="157029" y="199357"/>
                  <a:pt x="113988" y="199357"/>
                </a:cubicBezTo>
                <a:cubicBezTo>
                  <a:pt x="94226" y="199357"/>
                  <a:pt x="76066" y="192681"/>
                  <a:pt x="61601" y="181420"/>
                </a:cubicBezTo>
                <a:lnTo>
                  <a:pt x="82342" y="160679"/>
                </a:lnTo>
                <a:cubicBezTo>
                  <a:pt x="85413" y="157608"/>
                  <a:pt x="86304" y="153023"/>
                  <a:pt x="84657" y="149017"/>
                </a:cubicBezTo>
                <a:cubicBezTo>
                  <a:pt x="83010" y="145011"/>
                  <a:pt x="79093" y="142430"/>
                  <a:pt x="74776" y="142430"/>
                </a:cubicBezTo>
                <a:lnTo>
                  <a:pt x="10682" y="142430"/>
                </a:lnTo>
                <a:cubicBezTo>
                  <a:pt x="4763" y="142430"/>
                  <a:pt x="0" y="147192"/>
                  <a:pt x="0" y="153112"/>
                </a:cubicBezTo>
                <a:lnTo>
                  <a:pt x="0" y="217206"/>
                </a:lnTo>
                <a:cubicBezTo>
                  <a:pt x="0" y="221523"/>
                  <a:pt x="2582" y="225440"/>
                  <a:pt x="6587" y="227087"/>
                </a:cubicBezTo>
                <a:cubicBezTo>
                  <a:pt x="10593" y="228734"/>
                  <a:pt x="15178" y="227799"/>
                  <a:pt x="18249" y="224772"/>
                </a:cubicBezTo>
                <a:lnTo>
                  <a:pt x="41305" y="201716"/>
                </a:lnTo>
                <a:cubicBezTo>
                  <a:pt x="60978" y="218051"/>
                  <a:pt x="86348" y="227888"/>
                  <a:pt x="113944" y="227888"/>
                </a:cubicBezTo>
                <a:cubicBezTo>
                  <a:pt x="171361" y="227888"/>
                  <a:pt x="218852" y="185426"/>
                  <a:pt x="226731" y="130190"/>
                </a:cubicBezTo>
                <a:close/>
              </a:path>
            </a:pathLst>
          </a:custGeom>
          <a:solidFill>
            <a:srgbClr val="FFFFFF"/>
          </a:solidFill>
          <a:ln/>
        </p:spPr>
      </p:sp>
      <p:sp>
        <p:nvSpPr>
          <p:cNvPr id="61" name="Text 59"/>
          <p:cNvSpPr/>
          <p:nvPr/>
        </p:nvSpPr>
        <p:spPr>
          <a:xfrm>
            <a:off x="968523" y="6209944"/>
            <a:ext cx="10767701" cy="493757"/>
          </a:xfrm>
          <a:prstGeom prst="rect">
            <a:avLst/>
          </a:prstGeom>
          <a:noFill/>
          <a:ln/>
        </p:spPr>
        <p:txBody>
          <a:bodyPr wrap="square" lIns="0" tIns="0" rIns="0" bIns="0" rtlCol="0" anchor="ctr"/>
          <a:lstStyle/>
          <a:p>
            <a:pPr>
              <a:lnSpc>
                <a:spcPct val="140000"/>
              </a:lnSpc>
            </a:pPr>
            <a:r>
              <a:rPr lang="en-US" sz="1196" b="1" dirty="0">
                <a:solidFill>
                  <a:srgbClr val="FFFFFF">
                    <a:alpha val="90000"/>
                  </a:srgbClr>
                </a:solidFill>
                <a:latin typeface="Liter" pitchFamily="34" charset="0"/>
                <a:ea typeface="Liter" pitchFamily="34" charset="-122"/>
                <a:cs typeface="Liter" pitchFamily="34" charset="-120"/>
              </a:rPr>
              <a:t>Le cycle vertueux:</a:t>
            </a:r>
            <a:pPr>
              <a:lnSpc>
                <a:spcPct val="140000"/>
              </a:lnSpc>
            </a:pPr>
            <a:r>
              <a:rPr lang="en-US" sz="1196" dirty="0">
                <a:solidFill>
                  <a:srgbClr val="FFFFFF">
                    <a:alpha val="90000"/>
                  </a:srgbClr>
                </a:solidFill>
                <a:latin typeface="Liter" pitchFamily="34" charset="0"/>
                <a:ea typeface="Liter" pitchFamily="34" charset="-122"/>
                <a:cs typeface="Liter" pitchFamily="34" charset="-120"/>
              </a:rPr>
              <a:t> Chaque patient qEEG à 300$ génère un lead qualifié pour les séances de biofeedback à 150$, créant un pipeline de revenus prévisible et rentable.</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3A52"/>
        </a:solidFill>
      </p:bgPr>
    </p:bg>
    <p:spTree>
      <p:nvGrpSpPr>
        <p:cNvPr id="1" name=""/>
        <p:cNvGrpSpPr/>
        <p:nvPr/>
      </p:nvGrpSpPr>
      <p:grpSpPr>
        <a:xfrm>
          <a:off x="0" y="0"/>
          <a:ext cx="0" cy="0"/>
          <a:chOff x="0" y="0"/>
          <a:chExt cx="0" cy="0"/>
        </a:xfrm>
      </p:grpSpPr>
      <p:pic>
        <p:nvPicPr>
          <p:cNvPr id="2" name="Image 0" descr="https://kimi-web-img.moonshot.cn/img/thumbs.dreamstime.com/8cd145d813a17ab6d203064c395af2ac2c34ef21.jpg">    </p:cNvPr>
          <p:cNvPicPr>
            <a:picLocks noChangeAspect="1"/>
          </p:cNvPicPr>
          <p:nvPr/>
        </p:nvPicPr>
        <p:blipFill>
          <a:blip r:embed="rId1">
            <a:alphaModFix amt="20000"/>
          </a:blip>
          <a:srcRect l="1444" r="1444"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3A52">
                  <a:alpha val="95000"/>
                </a:srgbClr>
              </a:gs>
              <a:gs pos="50000">
                <a:srgbClr val="1A3A52">
                  <a:alpha val="90000"/>
                </a:srgbClr>
              </a:gs>
              <a:gs pos="100000">
                <a:srgbClr val="1A3A52">
                  <a:alpha val="85000"/>
                </a:srgbClr>
              </a:gs>
            </a:gsLst>
            <a:lin ang="2700000" scaled="1"/>
          </a:gradFill>
          <a:ln/>
        </p:spPr>
      </p:sp>
      <p:sp>
        <p:nvSpPr>
          <p:cNvPr id="4" name="Text 1"/>
          <p:cNvSpPr/>
          <p:nvPr/>
        </p:nvSpPr>
        <p:spPr>
          <a:xfrm>
            <a:off x="371707" y="371707"/>
            <a:ext cx="11513634" cy="185854"/>
          </a:xfrm>
          <a:prstGeom prst="rect">
            <a:avLst/>
          </a:prstGeom>
          <a:noFill/>
          <a:ln/>
        </p:spPr>
        <p:txBody>
          <a:bodyPr wrap="square" lIns="0" tIns="0" rIns="0" bIns="0" rtlCol="0" anchor="ctr"/>
          <a:lstStyle/>
          <a:p>
            <a:pPr>
              <a:lnSpc>
                <a:spcPct val="120000"/>
              </a:lnSpc>
            </a:pPr>
            <a:r>
              <a:rPr lang="en-US" sz="1024" b="1" spc="102" kern="0" dirty="0">
                <a:solidFill>
                  <a:srgbClr val="C5A065"/>
                </a:solidFill>
                <a:latin typeface="Liter" pitchFamily="34" charset="0"/>
                <a:ea typeface="Liter" pitchFamily="34" charset="-122"/>
                <a:cs typeface="Liter" pitchFamily="34" charset="-120"/>
              </a:rPr>
              <a:t>OBJECTIF FINAL</a:t>
            </a:r>
            <a:endParaRPr lang="en-US" sz="1600" dirty="0"/>
          </a:p>
        </p:txBody>
      </p:sp>
      <p:sp>
        <p:nvSpPr>
          <p:cNvPr id="5" name="Text 2"/>
          <p:cNvSpPr/>
          <p:nvPr/>
        </p:nvSpPr>
        <p:spPr>
          <a:xfrm>
            <a:off x="371707" y="631902"/>
            <a:ext cx="11615854" cy="371707"/>
          </a:xfrm>
          <a:prstGeom prst="rect">
            <a:avLst/>
          </a:prstGeom>
          <a:noFill/>
          <a:ln/>
        </p:spPr>
        <p:txBody>
          <a:bodyPr wrap="square" lIns="0" tIns="0" rIns="0" bIns="0" rtlCol="0" anchor="ctr"/>
          <a:lstStyle/>
          <a:p>
            <a:pPr>
              <a:lnSpc>
                <a:spcPct val="90000"/>
              </a:lnSpc>
            </a:pPr>
            <a:r>
              <a:rPr lang="en-US" sz="2634" b="1" dirty="0">
                <a:solidFill>
                  <a:srgbClr val="F8F9FA"/>
                </a:solidFill>
                <a:latin typeface="Liter" pitchFamily="34" charset="0"/>
                <a:ea typeface="Liter" pitchFamily="34" charset="-122"/>
                <a:cs typeface="Liter" pitchFamily="34" charset="-120"/>
              </a:rPr>
              <a:t>Un Écosystème Prédictible</a:t>
            </a:r>
            <a:endParaRPr lang="en-US" sz="1600" dirty="0"/>
          </a:p>
        </p:txBody>
      </p:sp>
      <p:sp>
        <p:nvSpPr>
          <p:cNvPr id="6" name="Text 3"/>
          <p:cNvSpPr/>
          <p:nvPr/>
        </p:nvSpPr>
        <p:spPr>
          <a:xfrm>
            <a:off x="371707" y="1077951"/>
            <a:ext cx="11532220" cy="260195"/>
          </a:xfrm>
          <a:prstGeom prst="rect">
            <a:avLst/>
          </a:prstGeom>
          <a:noFill/>
          <a:ln/>
        </p:spPr>
        <p:txBody>
          <a:bodyPr wrap="square" lIns="0" tIns="0" rIns="0" bIns="0" rtlCol="0" anchor="ctr"/>
          <a:lstStyle/>
          <a:p>
            <a:pPr>
              <a:lnSpc>
                <a:spcPct val="130000"/>
              </a:lnSpc>
            </a:pPr>
            <a:r>
              <a:rPr lang="en-US" sz="1317" dirty="0">
                <a:solidFill>
                  <a:srgbClr val="F8F9FA">
                    <a:alpha val="70000"/>
                  </a:srgbClr>
                </a:solidFill>
                <a:latin typeface="Liter" pitchFamily="34" charset="0"/>
                <a:ea typeface="Liter" pitchFamily="34" charset="-122"/>
                <a:cs typeface="Liter" pitchFamily="34" charset="-120"/>
              </a:rPr>
              <a:t>De la friction technique à l'acquisition chirurgicale</a:t>
            </a:r>
            <a:endParaRPr lang="en-US" sz="1600" dirty="0"/>
          </a:p>
        </p:txBody>
      </p:sp>
      <p:sp>
        <p:nvSpPr>
          <p:cNvPr id="7" name="Shape 4"/>
          <p:cNvSpPr/>
          <p:nvPr/>
        </p:nvSpPr>
        <p:spPr>
          <a:xfrm>
            <a:off x="376354" y="1491476"/>
            <a:ext cx="5603488" cy="2202366"/>
          </a:xfrm>
          <a:custGeom>
            <a:avLst/>
            <a:gdLst/>
            <a:ahLst/>
            <a:cxnLst/>
            <a:rect l="l" t="t" r="r" b="b"/>
            <a:pathLst>
              <a:path w="5603488" h="2202366">
                <a:moveTo>
                  <a:pt x="111506" y="0"/>
                </a:moveTo>
                <a:lnTo>
                  <a:pt x="5491982" y="0"/>
                </a:lnTo>
                <a:cubicBezTo>
                  <a:pt x="5553565" y="0"/>
                  <a:pt x="5603488" y="49923"/>
                  <a:pt x="5603488" y="111506"/>
                </a:cubicBezTo>
                <a:lnTo>
                  <a:pt x="5603488" y="2090860"/>
                </a:lnTo>
                <a:cubicBezTo>
                  <a:pt x="5603488" y="2152443"/>
                  <a:pt x="5553565" y="2202366"/>
                  <a:pt x="5491982" y="2202366"/>
                </a:cubicBezTo>
                <a:lnTo>
                  <a:pt x="111506" y="2202366"/>
                </a:lnTo>
                <a:cubicBezTo>
                  <a:pt x="49923" y="2202366"/>
                  <a:pt x="0" y="2152443"/>
                  <a:pt x="0" y="2090860"/>
                </a:cubicBezTo>
                <a:lnTo>
                  <a:pt x="0" y="111506"/>
                </a:lnTo>
                <a:cubicBezTo>
                  <a:pt x="0" y="49964"/>
                  <a:pt x="49964" y="0"/>
                  <a:pt x="111506" y="0"/>
                </a:cubicBezTo>
                <a:close/>
              </a:path>
            </a:pathLst>
          </a:custGeom>
          <a:solidFill>
            <a:srgbClr val="FFFFFF">
              <a:alpha val="10196"/>
            </a:srgbClr>
          </a:solidFill>
          <a:ln w="12700">
            <a:solidFill>
              <a:srgbClr val="FFFFFF">
                <a:alpha val="20000"/>
              </a:srgbClr>
            </a:solidFill>
            <a:prstDash val="solid"/>
          </a:ln>
        </p:spPr>
      </p:sp>
      <p:sp>
        <p:nvSpPr>
          <p:cNvPr id="8" name="Shape 5"/>
          <p:cNvSpPr/>
          <p:nvPr/>
        </p:nvSpPr>
        <p:spPr>
          <a:xfrm>
            <a:off x="566854" y="1681976"/>
            <a:ext cx="446049" cy="446049"/>
          </a:xfrm>
          <a:custGeom>
            <a:avLst/>
            <a:gdLst/>
            <a:ahLst/>
            <a:cxnLst/>
            <a:rect l="l" t="t" r="r" b="b"/>
            <a:pathLst>
              <a:path w="446049" h="446049">
                <a:moveTo>
                  <a:pt x="223024" y="0"/>
                </a:moveTo>
                <a:lnTo>
                  <a:pt x="223024" y="0"/>
                </a:lnTo>
                <a:cubicBezTo>
                  <a:pt x="346197" y="0"/>
                  <a:pt x="446049" y="99851"/>
                  <a:pt x="446049" y="223024"/>
                </a:cubicBezTo>
                <a:lnTo>
                  <a:pt x="446049" y="223024"/>
                </a:lnTo>
                <a:cubicBezTo>
                  <a:pt x="446049" y="346197"/>
                  <a:pt x="346197" y="446049"/>
                  <a:pt x="223024" y="446049"/>
                </a:cubicBezTo>
                <a:lnTo>
                  <a:pt x="223024" y="446049"/>
                </a:lnTo>
                <a:cubicBezTo>
                  <a:pt x="99851" y="446049"/>
                  <a:pt x="0" y="346197"/>
                  <a:pt x="0" y="223024"/>
                </a:cubicBezTo>
                <a:lnTo>
                  <a:pt x="0" y="223024"/>
                </a:lnTo>
                <a:cubicBezTo>
                  <a:pt x="0" y="99851"/>
                  <a:pt x="99851" y="0"/>
                  <a:pt x="223024" y="0"/>
                </a:cubicBezTo>
                <a:close/>
              </a:path>
            </a:pathLst>
          </a:custGeom>
          <a:solidFill>
            <a:srgbClr val="6C757D">
              <a:alpha val="30196"/>
            </a:srgbClr>
          </a:solidFill>
          <a:ln/>
        </p:spPr>
      </p:sp>
      <p:sp>
        <p:nvSpPr>
          <p:cNvPr id="9" name="Shape 6"/>
          <p:cNvSpPr/>
          <p:nvPr/>
        </p:nvSpPr>
        <p:spPr>
          <a:xfrm>
            <a:off x="720183" y="1812073"/>
            <a:ext cx="139390" cy="185854"/>
          </a:xfrm>
          <a:custGeom>
            <a:avLst/>
            <a:gdLst/>
            <a:ahLst/>
            <a:cxnLst/>
            <a:rect l="l" t="t" r="r" b="b"/>
            <a:pathLst>
              <a:path w="139390" h="185854">
                <a:moveTo>
                  <a:pt x="20001" y="26644"/>
                </a:moveTo>
                <a:cubicBezTo>
                  <a:pt x="15464" y="22106"/>
                  <a:pt x="8095" y="22106"/>
                  <a:pt x="3557" y="26644"/>
                </a:cubicBezTo>
                <a:cubicBezTo>
                  <a:pt x="-980" y="31181"/>
                  <a:pt x="-980" y="38550"/>
                  <a:pt x="3557" y="43088"/>
                </a:cubicBezTo>
                <a:lnTo>
                  <a:pt x="53433" y="92927"/>
                </a:lnTo>
                <a:lnTo>
                  <a:pt x="3594" y="142802"/>
                </a:lnTo>
                <a:cubicBezTo>
                  <a:pt x="-944" y="147340"/>
                  <a:pt x="-944" y="154709"/>
                  <a:pt x="3594" y="159246"/>
                </a:cubicBezTo>
                <a:cubicBezTo>
                  <a:pt x="8131" y="163784"/>
                  <a:pt x="15500" y="163784"/>
                  <a:pt x="20037" y="159246"/>
                </a:cubicBezTo>
                <a:lnTo>
                  <a:pt x="69877" y="109371"/>
                </a:lnTo>
                <a:lnTo>
                  <a:pt x="119752" y="159210"/>
                </a:lnTo>
                <a:cubicBezTo>
                  <a:pt x="124290" y="163747"/>
                  <a:pt x="131658" y="163747"/>
                  <a:pt x="136196" y="159210"/>
                </a:cubicBezTo>
                <a:cubicBezTo>
                  <a:pt x="140733" y="154672"/>
                  <a:pt x="140733" y="147304"/>
                  <a:pt x="136196" y="142766"/>
                </a:cubicBezTo>
                <a:lnTo>
                  <a:pt x="86320" y="92927"/>
                </a:lnTo>
                <a:lnTo>
                  <a:pt x="136160" y="43051"/>
                </a:lnTo>
                <a:cubicBezTo>
                  <a:pt x="140697" y="38514"/>
                  <a:pt x="140697" y="31145"/>
                  <a:pt x="136160" y="26608"/>
                </a:cubicBezTo>
                <a:cubicBezTo>
                  <a:pt x="131622" y="22070"/>
                  <a:pt x="124253" y="22070"/>
                  <a:pt x="119716" y="26608"/>
                </a:cubicBezTo>
                <a:lnTo>
                  <a:pt x="69877" y="76483"/>
                </a:lnTo>
                <a:lnTo>
                  <a:pt x="20001" y="26644"/>
                </a:lnTo>
                <a:close/>
              </a:path>
            </a:pathLst>
          </a:custGeom>
          <a:solidFill>
            <a:srgbClr val="6C757D"/>
          </a:solidFill>
          <a:ln/>
        </p:spPr>
      </p:sp>
      <p:sp>
        <p:nvSpPr>
          <p:cNvPr id="10" name="Text 7"/>
          <p:cNvSpPr/>
          <p:nvPr/>
        </p:nvSpPr>
        <p:spPr>
          <a:xfrm>
            <a:off x="1124415" y="1756317"/>
            <a:ext cx="687659" cy="297366"/>
          </a:xfrm>
          <a:prstGeom prst="rect">
            <a:avLst/>
          </a:prstGeom>
          <a:noFill/>
          <a:ln/>
        </p:spPr>
        <p:txBody>
          <a:bodyPr wrap="square" lIns="0" tIns="0" rIns="0" bIns="0" rtlCol="0" anchor="ctr"/>
          <a:lstStyle/>
          <a:p>
            <a:pPr>
              <a:lnSpc>
                <a:spcPct val="110000"/>
              </a:lnSpc>
            </a:pPr>
            <a:r>
              <a:rPr lang="en-US" sz="1756" b="1" dirty="0">
                <a:solidFill>
                  <a:srgbClr val="6C757D"/>
                </a:solidFill>
                <a:latin typeface="Liter" pitchFamily="34" charset="0"/>
                <a:ea typeface="Liter" pitchFamily="34" charset="-122"/>
                <a:cs typeface="Liter" pitchFamily="34" charset="-120"/>
              </a:rPr>
              <a:t>Avant</a:t>
            </a:r>
            <a:endParaRPr lang="en-US" sz="1600" dirty="0"/>
          </a:p>
        </p:txBody>
      </p:sp>
      <p:sp>
        <p:nvSpPr>
          <p:cNvPr id="11" name="Shape 8"/>
          <p:cNvSpPr/>
          <p:nvPr/>
        </p:nvSpPr>
        <p:spPr>
          <a:xfrm>
            <a:off x="576146" y="2313878"/>
            <a:ext cx="167268" cy="148683"/>
          </a:xfrm>
          <a:custGeom>
            <a:avLst/>
            <a:gdLst/>
            <a:ahLst/>
            <a:cxnLst/>
            <a:rect l="l" t="t" r="r" b="b"/>
            <a:pathLst>
              <a:path w="167268" h="148683">
                <a:moveTo>
                  <a:pt x="55756" y="27878"/>
                </a:moveTo>
                <a:cubicBezTo>
                  <a:pt x="55756" y="12487"/>
                  <a:pt x="68243" y="0"/>
                  <a:pt x="83634" y="0"/>
                </a:cubicBezTo>
                <a:cubicBezTo>
                  <a:pt x="99025" y="0"/>
                  <a:pt x="111512" y="12487"/>
                  <a:pt x="111512" y="27878"/>
                </a:cubicBezTo>
                <a:lnTo>
                  <a:pt x="111512" y="28923"/>
                </a:lnTo>
                <a:cubicBezTo>
                  <a:pt x="111512" y="33483"/>
                  <a:pt x="107824" y="37171"/>
                  <a:pt x="103265" y="37171"/>
                </a:cubicBezTo>
                <a:lnTo>
                  <a:pt x="64032" y="37171"/>
                </a:lnTo>
                <a:cubicBezTo>
                  <a:pt x="59473" y="37171"/>
                  <a:pt x="55785" y="33483"/>
                  <a:pt x="55785" y="28923"/>
                </a:cubicBezTo>
                <a:lnTo>
                  <a:pt x="55785" y="27878"/>
                </a:lnTo>
                <a:close/>
                <a:moveTo>
                  <a:pt x="156117" y="31595"/>
                </a:moveTo>
                <a:cubicBezTo>
                  <a:pt x="159195" y="35690"/>
                  <a:pt x="158353" y="41527"/>
                  <a:pt x="154259" y="44605"/>
                </a:cubicBezTo>
                <a:lnTo>
                  <a:pt x="125858" y="65891"/>
                </a:lnTo>
                <a:cubicBezTo>
                  <a:pt x="127397" y="68475"/>
                  <a:pt x="128558" y="71321"/>
                  <a:pt x="129284" y="74341"/>
                </a:cubicBezTo>
                <a:lnTo>
                  <a:pt x="157976" y="74341"/>
                </a:lnTo>
                <a:cubicBezTo>
                  <a:pt x="163116" y="74341"/>
                  <a:pt x="167268" y="78494"/>
                  <a:pt x="167268" y="83634"/>
                </a:cubicBezTo>
                <a:cubicBezTo>
                  <a:pt x="167268" y="88774"/>
                  <a:pt x="163116" y="92927"/>
                  <a:pt x="157976" y="92927"/>
                </a:cubicBezTo>
                <a:lnTo>
                  <a:pt x="130098" y="92927"/>
                </a:lnTo>
                <a:lnTo>
                  <a:pt x="130098" y="102220"/>
                </a:lnTo>
                <a:cubicBezTo>
                  <a:pt x="130098" y="102975"/>
                  <a:pt x="130069" y="103759"/>
                  <a:pt x="130039" y="104514"/>
                </a:cubicBezTo>
                <a:lnTo>
                  <a:pt x="154259" y="122663"/>
                </a:lnTo>
                <a:cubicBezTo>
                  <a:pt x="158353" y="125742"/>
                  <a:pt x="159195" y="131579"/>
                  <a:pt x="156117" y="135673"/>
                </a:cubicBezTo>
                <a:cubicBezTo>
                  <a:pt x="153039" y="139768"/>
                  <a:pt x="147202" y="140610"/>
                  <a:pt x="143107" y="137532"/>
                </a:cubicBezTo>
                <a:lnTo>
                  <a:pt x="124783" y="123796"/>
                </a:lnTo>
                <a:cubicBezTo>
                  <a:pt x="118046" y="136631"/>
                  <a:pt x="105472" y="145924"/>
                  <a:pt x="90604" y="148160"/>
                </a:cubicBezTo>
                <a:lnTo>
                  <a:pt x="90604" y="81311"/>
                </a:lnTo>
                <a:cubicBezTo>
                  <a:pt x="90604" y="77449"/>
                  <a:pt x="87496" y="74341"/>
                  <a:pt x="83634" y="74341"/>
                </a:cubicBezTo>
                <a:cubicBezTo>
                  <a:pt x="79772" y="74341"/>
                  <a:pt x="76665" y="77449"/>
                  <a:pt x="76665" y="81311"/>
                </a:cubicBezTo>
                <a:lnTo>
                  <a:pt x="76665" y="148160"/>
                </a:lnTo>
                <a:cubicBezTo>
                  <a:pt x="61796" y="145924"/>
                  <a:pt x="49222" y="136631"/>
                  <a:pt x="42485" y="123796"/>
                </a:cubicBezTo>
                <a:lnTo>
                  <a:pt x="24161" y="137532"/>
                </a:lnTo>
                <a:cubicBezTo>
                  <a:pt x="20066" y="140610"/>
                  <a:pt x="14229" y="139768"/>
                  <a:pt x="11151" y="135673"/>
                </a:cubicBezTo>
                <a:cubicBezTo>
                  <a:pt x="8073" y="131579"/>
                  <a:pt x="8915" y="125742"/>
                  <a:pt x="13010" y="122663"/>
                </a:cubicBezTo>
                <a:lnTo>
                  <a:pt x="37229" y="104514"/>
                </a:lnTo>
                <a:cubicBezTo>
                  <a:pt x="37200" y="103759"/>
                  <a:pt x="37171" y="103004"/>
                  <a:pt x="37171" y="102220"/>
                </a:cubicBezTo>
                <a:lnTo>
                  <a:pt x="37171" y="92927"/>
                </a:lnTo>
                <a:lnTo>
                  <a:pt x="9293" y="92927"/>
                </a:lnTo>
                <a:cubicBezTo>
                  <a:pt x="4153" y="92927"/>
                  <a:pt x="0" y="88774"/>
                  <a:pt x="0" y="83634"/>
                </a:cubicBezTo>
                <a:cubicBezTo>
                  <a:pt x="0" y="78494"/>
                  <a:pt x="4153" y="74341"/>
                  <a:pt x="9293" y="74341"/>
                </a:cubicBezTo>
                <a:lnTo>
                  <a:pt x="37984" y="74341"/>
                </a:lnTo>
                <a:cubicBezTo>
                  <a:pt x="38710" y="71321"/>
                  <a:pt x="39871" y="68475"/>
                  <a:pt x="41411" y="65891"/>
                </a:cubicBezTo>
                <a:lnTo>
                  <a:pt x="13010" y="44605"/>
                </a:lnTo>
                <a:cubicBezTo>
                  <a:pt x="8915" y="41527"/>
                  <a:pt x="8073" y="35690"/>
                  <a:pt x="11151" y="31595"/>
                </a:cubicBezTo>
                <a:cubicBezTo>
                  <a:pt x="14229" y="27501"/>
                  <a:pt x="20066" y="26658"/>
                  <a:pt x="24161" y="29737"/>
                </a:cubicBezTo>
                <a:lnTo>
                  <a:pt x="55756" y="53433"/>
                </a:lnTo>
                <a:cubicBezTo>
                  <a:pt x="59328" y="51952"/>
                  <a:pt x="63248" y="51110"/>
                  <a:pt x="67372" y="51110"/>
                </a:cubicBezTo>
                <a:lnTo>
                  <a:pt x="99896" y="51110"/>
                </a:lnTo>
                <a:cubicBezTo>
                  <a:pt x="104020" y="51110"/>
                  <a:pt x="107940" y="51923"/>
                  <a:pt x="111512" y="53433"/>
                </a:cubicBezTo>
                <a:lnTo>
                  <a:pt x="143107" y="29737"/>
                </a:lnTo>
                <a:cubicBezTo>
                  <a:pt x="147202" y="26658"/>
                  <a:pt x="153039" y="27501"/>
                  <a:pt x="156117" y="31595"/>
                </a:cubicBezTo>
                <a:close/>
              </a:path>
            </a:pathLst>
          </a:custGeom>
          <a:solidFill>
            <a:srgbClr val="FF6467"/>
          </a:solidFill>
          <a:ln/>
        </p:spPr>
      </p:sp>
      <p:sp>
        <p:nvSpPr>
          <p:cNvPr id="12" name="Text 9"/>
          <p:cNvSpPr/>
          <p:nvPr/>
        </p:nvSpPr>
        <p:spPr>
          <a:xfrm>
            <a:off x="864220" y="2276707"/>
            <a:ext cx="4014439"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Fuites techniques multiples (LCP 3.13s, SPF manquant, 404)</a:t>
            </a:r>
            <a:endParaRPr lang="en-US" sz="1600" dirty="0"/>
          </a:p>
        </p:txBody>
      </p:sp>
      <p:sp>
        <p:nvSpPr>
          <p:cNvPr id="13" name="Shape 10"/>
          <p:cNvSpPr/>
          <p:nvPr/>
        </p:nvSpPr>
        <p:spPr>
          <a:xfrm>
            <a:off x="576146" y="2648415"/>
            <a:ext cx="167268" cy="148683"/>
          </a:xfrm>
          <a:custGeom>
            <a:avLst/>
            <a:gdLst/>
            <a:ahLst/>
            <a:cxnLst/>
            <a:rect l="l" t="t" r="r" b="b"/>
            <a:pathLst>
              <a:path w="167268" h="148683">
                <a:moveTo>
                  <a:pt x="11906" y="-7231"/>
                </a:moveTo>
                <a:cubicBezTo>
                  <a:pt x="9177" y="-9961"/>
                  <a:pt x="4762" y="-9961"/>
                  <a:pt x="2062" y="-7231"/>
                </a:cubicBezTo>
                <a:cubicBezTo>
                  <a:pt x="-639" y="-4501"/>
                  <a:pt x="-668" y="-87"/>
                  <a:pt x="2033" y="2643"/>
                </a:cubicBezTo>
                <a:lnTo>
                  <a:pt x="155362" y="155972"/>
                </a:lnTo>
                <a:cubicBezTo>
                  <a:pt x="158092" y="158702"/>
                  <a:pt x="162506" y="158702"/>
                  <a:pt x="165206" y="155972"/>
                </a:cubicBezTo>
                <a:cubicBezTo>
                  <a:pt x="167907" y="153242"/>
                  <a:pt x="167936" y="148828"/>
                  <a:pt x="165206" y="146127"/>
                </a:cubicBezTo>
                <a:lnTo>
                  <a:pt x="137212" y="118133"/>
                </a:lnTo>
                <a:cubicBezTo>
                  <a:pt x="137996" y="117436"/>
                  <a:pt x="138780" y="116739"/>
                  <a:pt x="139535" y="116042"/>
                </a:cubicBezTo>
                <a:cubicBezTo>
                  <a:pt x="153126" y="103410"/>
                  <a:pt x="162215" y="88339"/>
                  <a:pt x="166542" y="77971"/>
                </a:cubicBezTo>
                <a:cubicBezTo>
                  <a:pt x="167501" y="75677"/>
                  <a:pt x="167501" y="73122"/>
                  <a:pt x="166542" y="70828"/>
                </a:cubicBezTo>
                <a:cubicBezTo>
                  <a:pt x="162215" y="60461"/>
                  <a:pt x="153126" y="45360"/>
                  <a:pt x="139535" y="32757"/>
                </a:cubicBezTo>
                <a:cubicBezTo>
                  <a:pt x="125858" y="20066"/>
                  <a:pt x="107069" y="9351"/>
                  <a:pt x="83605" y="9351"/>
                </a:cubicBezTo>
                <a:cubicBezTo>
                  <a:pt x="67111" y="9351"/>
                  <a:pt x="52939" y="14636"/>
                  <a:pt x="41207" y="22186"/>
                </a:cubicBezTo>
                <a:lnTo>
                  <a:pt x="11906" y="-7231"/>
                </a:lnTo>
                <a:close/>
                <a:moveTo>
                  <a:pt x="59386" y="40278"/>
                </a:moveTo>
                <a:cubicBezTo>
                  <a:pt x="66210" y="35399"/>
                  <a:pt x="74603" y="32524"/>
                  <a:pt x="83634" y="32524"/>
                </a:cubicBezTo>
                <a:cubicBezTo>
                  <a:pt x="106721" y="32524"/>
                  <a:pt x="125451" y="51255"/>
                  <a:pt x="125451" y="74341"/>
                </a:cubicBezTo>
                <a:cubicBezTo>
                  <a:pt x="125451" y="83373"/>
                  <a:pt x="122576" y="91736"/>
                  <a:pt x="117698" y="98590"/>
                </a:cubicBezTo>
                <a:lnTo>
                  <a:pt x="107621" y="88513"/>
                </a:lnTo>
                <a:cubicBezTo>
                  <a:pt x="111309" y="82298"/>
                  <a:pt x="112558" y="74661"/>
                  <a:pt x="110554" y="67111"/>
                </a:cubicBezTo>
                <a:cubicBezTo>
                  <a:pt x="106575" y="52242"/>
                  <a:pt x="91272" y="43414"/>
                  <a:pt x="76403" y="47393"/>
                </a:cubicBezTo>
                <a:cubicBezTo>
                  <a:pt x="73906" y="48061"/>
                  <a:pt x="71554" y="49048"/>
                  <a:pt x="69434" y="50297"/>
                </a:cubicBezTo>
                <a:lnTo>
                  <a:pt x="59357" y="40220"/>
                </a:lnTo>
                <a:close/>
                <a:moveTo>
                  <a:pt x="94466" y="114736"/>
                </a:moveTo>
                <a:cubicBezTo>
                  <a:pt x="91010" y="115665"/>
                  <a:pt x="87380" y="116159"/>
                  <a:pt x="83634" y="116159"/>
                </a:cubicBezTo>
                <a:cubicBezTo>
                  <a:pt x="60548" y="116159"/>
                  <a:pt x="41817" y="97428"/>
                  <a:pt x="41817" y="74341"/>
                </a:cubicBezTo>
                <a:cubicBezTo>
                  <a:pt x="41817" y="70595"/>
                  <a:pt x="42311" y="66965"/>
                  <a:pt x="43240" y="63510"/>
                </a:cubicBezTo>
                <a:lnTo>
                  <a:pt x="20154" y="40423"/>
                </a:lnTo>
                <a:cubicBezTo>
                  <a:pt x="10687" y="51110"/>
                  <a:pt x="4182" y="62435"/>
                  <a:pt x="726" y="70770"/>
                </a:cubicBezTo>
                <a:cubicBezTo>
                  <a:pt x="-232" y="73064"/>
                  <a:pt x="-232" y="75619"/>
                  <a:pt x="726" y="77913"/>
                </a:cubicBezTo>
                <a:cubicBezTo>
                  <a:pt x="5053" y="88280"/>
                  <a:pt x="14142" y="103381"/>
                  <a:pt x="27733" y="115984"/>
                </a:cubicBezTo>
                <a:cubicBezTo>
                  <a:pt x="41411" y="128675"/>
                  <a:pt x="60199" y="139390"/>
                  <a:pt x="83663" y="139390"/>
                </a:cubicBezTo>
                <a:cubicBezTo>
                  <a:pt x="94495" y="139390"/>
                  <a:pt x="104339" y="137096"/>
                  <a:pt x="113138" y="133408"/>
                </a:cubicBezTo>
                <a:lnTo>
                  <a:pt x="94495" y="114765"/>
                </a:lnTo>
                <a:close/>
              </a:path>
            </a:pathLst>
          </a:custGeom>
          <a:solidFill>
            <a:srgbClr val="FF6467"/>
          </a:solidFill>
          <a:ln/>
        </p:spPr>
      </p:sp>
      <p:sp>
        <p:nvSpPr>
          <p:cNvPr id="14" name="Text 11"/>
          <p:cNvSpPr/>
          <p:nvPr/>
        </p:nvSpPr>
        <p:spPr>
          <a:xfrm>
            <a:off x="864220" y="2611244"/>
            <a:ext cx="3103756"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Angles morts SEO sur mots-clés commerciaux</a:t>
            </a:r>
            <a:endParaRPr lang="en-US" sz="1600" dirty="0"/>
          </a:p>
        </p:txBody>
      </p:sp>
      <p:sp>
        <p:nvSpPr>
          <p:cNvPr id="15" name="Shape 12"/>
          <p:cNvSpPr/>
          <p:nvPr/>
        </p:nvSpPr>
        <p:spPr>
          <a:xfrm>
            <a:off x="585439" y="2982951"/>
            <a:ext cx="148683" cy="148683"/>
          </a:xfrm>
          <a:custGeom>
            <a:avLst/>
            <a:gdLst/>
            <a:ahLst/>
            <a:cxnLst/>
            <a:rect l="l" t="t" r="r" b="b"/>
            <a:pathLst>
              <a:path w="148683" h="148683">
                <a:moveTo>
                  <a:pt x="117262" y="9990"/>
                </a:moveTo>
                <a:cubicBezTo>
                  <a:pt x="120747" y="8538"/>
                  <a:pt x="124725" y="9351"/>
                  <a:pt x="127397" y="11993"/>
                </a:cubicBezTo>
                <a:lnTo>
                  <a:pt x="145982" y="30579"/>
                </a:lnTo>
                <a:cubicBezTo>
                  <a:pt x="147725" y="32321"/>
                  <a:pt x="148712" y="34673"/>
                  <a:pt x="148712" y="37142"/>
                </a:cubicBezTo>
                <a:cubicBezTo>
                  <a:pt x="148712" y="39610"/>
                  <a:pt x="147725" y="41962"/>
                  <a:pt x="145982" y="43705"/>
                </a:cubicBezTo>
                <a:lnTo>
                  <a:pt x="127397" y="62290"/>
                </a:lnTo>
                <a:cubicBezTo>
                  <a:pt x="124725" y="64962"/>
                  <a:pt x="120747" y="65746"/>
                  <a:pt x="117262" y="64294"/>
                </a:cubicBezTo>
                <a:cubicBezTo>
                  <a:pt x="113777" y="62842"/>
                  <a:pt x="111512" y="59502"/>
                  <a:pt x="111512" y="55756"/>
                </a:cubicBezTo>
                <a:lnTo>
                  <a:pt x="111512" y="46463"/>
                </a:lnTo>
                <a:lnTo>
                  <a:pt x="102220" y="46463"/>
                </a:lnTo>
                <a:cubicBezTo>
                  <a:pt x="99287" y="46463"/>
                  <a:pt x="96528" y="47828"/>
                  <a:pt x="94785" y="50180"/>
                </a:cubicBezTo>
                <a:lnTo>
                  <a:pt x="85377" y="62726"/>
                </a:lnTo>
                <a:lnTo>
                  <a:pt x="73761" y="47247"/>
                </a:lnTo>
                <a:lnTo>
                  <a:pt x="79917" y="39029"/>
                </a:lnTo>
                <a:cubicBezTo>
                  <a:pt x="85173" y="32002"/>
                  <a:pt x="93450" y="27878"/>
                  <a:pt x="102220" y="27878"/>
                </a:cubicBezTo>
                <a:lnTo>
                  <a:pt x="111512" y="27878"/>
                </a:lnTo>
                <a:lnTo>
                  <a:pt x="111512" y="18585"/>
                </a:lnTo>
                <a:cubicBezTo>
                  <a:pt x="111512" y="14839"/>
                  <a:pt x="113777" y="11442"/>
                  <a:pt x="117262" y="9990"/>
                </a:cubicBezTo>
                <a:close/>
                <a:moveTo>
                  <a:pt x="44721" y="85957"/>
                </a:moveTo>
                <a:lnTo>
                  <a:pt x="56337" y="101435"/>
                </a:lnTo>
                <a:lnTo>
                  <a:pt x="50180" y="109654"/>
                </a:lnTo>
                <a:cubicBezTo>
                  <a:pt x="44924" y="116681"/>
                  <a:pt x="36648" y="120805"/>
                  <a:pt x="27878" y="120805"/>
                </a:cubicBezTo>
                <a:lnTo>
                  <a:pt x="9293" y="120805"/>
                </a:lnTo>
                <a:cubicBezTo>
                  <a:pt x="4153" y="120805"/>
                  <a:pt x="0" y="116652"/>
                  <a:pt x="0" y="111512"/>
                </a:cubicBezTo>
                <a:cubicBezTo>
                  <a:pt x="0" y="106372"/>
                  <a:pt x="4153" y="102220"/>
                  <a:pt x="9293" y="102220"/>
                </a:cubicBezTo>
                <a:lnTo>
                  <a:pt x="27878" y="102220"/>
                </a:lnTo>
                <a:cubicBezTo>
                  <a:pt x="30811" y="102220"/>
                  <a:pt x="33570" y="100855"/>
                  <a:pt x="35312" y="98502"/>
                </a:cubicBezTo>
                <a:lnTo>
                  <a:pt x="44721" y="85957"/>
                </a:lnTo>
                <a:close/>
                <a:moveTo>
                  <a:pt x="127368" y="136661"/>
                </a:moveTo>
                <a:cubicBezTo>
                  <a:pt x="124696" y="139332"/>
                  <a:pt x="120718" y="140116"/>
                  <a:pt x="117233" y="138664"/>
                </a:cubicBezTo>
                <a:cubicBezTo>
                  <a:pt x="113748" y="137212"/>
                  <a:pt x="111512" y="133844"/>
                  <a:pt x="111512" y="130098"/>
                </a:cubicBezTo>
                <a:lnTo>
                  <a:pt x="111512" y="120805"/>
                </a:lnTo>
                <a:lnTo>
                  <a:pt x="102220" y="120805"/>
                </a:lnTo>
                <a:cubicBezTo>
                  <a:pt x="93450" y="120805"/>
                  <a:pt x="85173" y="116681"/>
                  <a:pt x="79917" y="109654"/>
                </a:cubicBezTo>
                <a:lnTo>
                  <a:pt x="35312" y="50180"/>
                </a:lnTo>
                <a:cubicBezTo>
                  <a:pt x="33570" y="47828"/>
                  <a:pt x="30811" y="46463"/>
                  <a:pt x="27878" y="46463"/>
                </a:cubicBezTo>
                <a:lnTo>
                  <a:pt x="9293" y="46463"/>
                </a:lnTo>
                <a:cubicBezTo>
                  <a:pt x="4153" y="46463"/>
                  <a:pt x="0" y="42311"/>
                  <a:pt x="0" y="37171"/>
                </a:cubicBezTo>
                <a:cubicBezTo>
                  <a:pt x="0" y="32031"/>
                  <a:pt x="4153" y="27878"/>
                  <a:pt x="9293" y="27878"/>
                </a:cubicBezTo>
                <a:lnTo>
                  <a:pt x="27878" y="27878"/>
                </a:lnTo>
                <a:cubicBezTo>
                  <a:pt x="36648" y="27878"/>
                  <a:pt x="44924" y="32002"/>
                  <a:pt x="50180" y="39029"/>
                </a:cubicBezTo>
                <a:lnTo>
                  <a:pt x="94785" y="98502"/>
                </a:lnTo>
                <a:cubicBezTo>
                  <a:pt x="96528" y="100855"/>
                  <a:pt x="99287" y="102220"/>
                  <a:pt x="102220" y="102220"/>
                </a:cubicBezTo>
                <a:lnTo>
                  <a:pt x="111512" y="102220"/>
                </a:lnTo>
                <a:lnTo>
                  <a:pt x="111512" y="92927"/>
                </a:lnTo>
                <a:cubicBezTo>
                  <a:pt x="111512" y="89181"/>
                  <a:pt x="113777" y="85783"/>
                  <a:pt x="117262" y="84331"/>
                </a:cubicBezTo>
                <a:cubicBezTo>
                  <a:pt x="120747" y="82879"/>
                  <a:pt x="124725" y="83692"/>
                  <a:pt x="127397" y="86335"/>
                </a:cubicBezTo>
                <a:lnTo>
                  <a:pt x="145982" y="104920"/>
                </a:lnTo>
                <a:cubicBezTo>
                  <a:pt x="147725" y="106663"/>
                  <a:pt x="148712" y="109015"/>
                  <a:pt x="148712" y="111483"/>
                </a:cubicBezTo>
                <a:cubicBezTo>
                  <a:pt x="148712" y="113952"/>
                  <a:pt x="147725" y="116304"/>
                  <a:pt x="145982" y="118046"/>
                </a:cubicBezTo>
                <a:lnTo>
                  <a:pt x="127397" y="136631"/>
                </a:lnTo>
                <a:close/>
              </a:path>
            </a:pathLst>
          </a:custGeom>
          <a:solidFill>
            <a:srgbClr val="FF6467"/>
          </a:solidFill>
          <a:ln/>
        </p:spPr>
      </p:sp>
      <p:sp>
        <p:nvSpPr>
          <p:cNvPr id="16" name="Text 13"/>
          <p:cNvSpPr/>
          <p:nvPr/>
        </p:nvSpPr>
        <p:spPr>
          <a:xfrm>
            <a:off x="864220" y="2945780"/>
            <a:ext cx="2434683"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Acquisition coûteuse et imprévisible</a:t>
            </a:r>
            <a:endParaRPr lang="en-US" sz="1600" dirty="0"/>
          </a:p>
        </p:txBody>
      </p:sp>
      <p:sp>
        <p:nvSpPr>
          <p:cNvPr id="17" name="Shape 14"/>
          <p:cNvSpPr/>
          <p:nvPr/>
        </p:nvSpPr>
        <p:spPr>
          <a:xfrm>
            <a:off x="576146" y="3317488"/>
            <a:ext cx="167268" cy="148683"/>
          </a:xfrm>
          <a:custGeom>
            <a:avLst/>
            <a:gdLst/>
            <a:ahLst/>
            <a:cxnLst/>
            <a:rect l="l" t="t" r="r" b="b"/>
            <a:pathLst>
              <a:path w="167268" h="148683">
                <a:moveTo>
                  <a:pt x="11906" y="-7231"/>
                </a:moveTo>
                <a:cubicBezTo>
                  <a:pt x="9177" y="-9961"/>
                  <a:pt x="4762" y="-9961"/>
                  <a:pt x="2062" y="-7231"/>
                </a:cubicBezTo>
                <a:cubicBezTo>
                  <a:pt x="-639" y="-4501"/>
                  <a:pt x="-668" y="-87"/>
                  <a:pt x="2033" y="2643"/>
                </a:cubicBezTo>
                <a:lnTo>
                  <a:pt x="155362" y="155972"/>
                </a:lnTo>
                <a:cubicBezTo>
                  <a:pt x="158092" y="158702"/>
                  <a:pt x="162506" y="158702"/>
                  <a:pt x="165206" y="155972"/>
                </a:cubicBezTo>
                <a:cubicBezTo>
                  <a:pt x="167907" y="153242"/>
                  <a:pt x="167936" y="148828"/>
                  <a:pt x="165206" y="146127"/>
                </a:cubicBezTo>
                <a:lnTo>
                  <a:pt x="90458" y="71350"/>
                </a:lnTo>
                <a:cubicBezTo>
                  <a:pt x="106430" y="68185"/>
                  <a:pt x="118482" y="54072"/>
                  <a:pt x="118482" y="37171"/>
                </a:cubicBezTo>
                <a:cubicBezTo>
                  <a:pt x="118482" y="17917"/>
                  <a:pt x="102887" y="2323"/>
                  <a:pt x="83634" y="2323"/>
                </a:cubicBezTo>
                <a:cubicBezTo>
                  <a:pt x="66733" y="2323"/>
                  <a:pt x="52620" y="14375"/>
                  <a:pt x="49454" y="30346"/>
                </a:cubicBezTo>
                <a:lnTo>
                  <a:pt x="11906" y="-7231"/>
                </a:lnTo>
                <a:close/>
                <a:moveTo>
                  <a:pt x="68417" y="88687"/>
                </a:moveTo>
                <a:cubicBezTo>
                  <a:pt x="42950" y="91939"/>
                  <a:pt x="23232" y="113690"/>
                  <a:pt x="23232" y="140058"/>
                </a:cubicBezTo>
                <a:cubicBezTo>
                  <a:pt x="23232" y="144821"/>
                  <a:pt x="27094" y="148683"/>
                  <a:pt x="31856" y="148683"/>
                </a:cubicBezTo>
                <a:lnTo>
                  <a:pt x="128413" y="148683"/>
                </a:lnTo>
                <a:lnTo>
                  <a:pt x="68417" y="88687"/>
                </a:lnTo>
                <a:close/>
              </a:path>
            </a:pathLst>
          </a:custGeom>
          <a:solidFill>
            <a:srgbClr val="FF6467"/>
          </a:solidFill>
          <a:ln/>
        </p:spPr>
      </p:sp>
      <p:sp>
        <p:nvSpPr>
          <p:cNvPr id="18" name="Text 15"/>
          <p:cNvSpPr/>
          <p:nvPr/>
        </p:nvSpPr>
        <p:spPr>
          <a:xfrm>
            <a:off x="864220" y="3280317"/>
            <a:ext cx="2871439"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Perte silencieuse de patients à haute valeur</a:t>
            </a:r>
            <a:endParaRPr lang="en-US" sz="1600" dirty="0"/>
          </a:p>
        </p:txBody>
      </p:sp>
      <p:sp>
        <p:nvSpPr>
          <p:cNvPr id="19" name="Shape 16"/>
          <p:cNvSpPr/>
          <p:nvPr/>
        </p:nvSpPr>
        <p:spPr>
          <a:xfrm>
            <a:off x="6212159" y="1491476"/>
            <a:ext cx="5603488" cy="2202366"/>
          </a:xfrm>
          <a:custGeom>
            <a:avLst/>
            <a:gdLst/>
            <a:ahLst/>
            <a:cxnLst/>
            <a:rect l="l" t="t" r="r" b="b"/>
            <a:pathLst>
              <a:path w="5603488" h="2202366">
                <a:moveTo>
                  <a:pt x="111506" y="0"/>
                </a:moveTo>
                <a:lnTo>
                  <a:pt x="5491982" y="0"/>
                </a:lnTo>
                <a:cubicBezTo>
                  <a:pt x="5553565" y="0"/>
                  <a:pt x="5603488" y="49923"/>
                  <a:pt x="5603488" y="111506"/>
                </a:cubicBezTo>
                <a:lnTo>
                  <a:pt x="5603488" y="2090860"/>
                </a:lnTo>
                <a:cubicBezTo>
                  <a:pt x="5603488" y="2152443"/>
                  <a:pt x="5553565" y="2202366"/>
                  <a:pt x="5491982" y="2202366"/>
                </a:cubicBezTo>
                <a:lnTo>
                  <a:pt x="111506" y="2202366"/>
                </a:lnTo>
                <a:cubicBezTo>
                  <a:pt x="49923" y="2202366"/>
                  <a:pt x="0" y="2152443"/>
                  <a:pt x="0" y="2090860"/>
                </a:cubicBezTo>
                <a:lnTo>
                  <a:pt x="0" y="111506"/>
                </a:lnTo>
                <a:cubicBezTo>
                  <a:pt x="0" y="49964"/>
                  <a:pt x="49964" y="0"/>
                  <a:pt x="111506" y="0"/>
                </a:cubicBezTo>
                <a:close/>
              </a:path>
            </a:pathLst>
          </a:custGeom>
          <a:solidFill>
            <a:srgbClr val="C5A065">
              <a:alpha val="20000"/>
            </a:srgbClr>
          </a:solidFill>
          <a:ln w="12700">
            <a:solidFill>
              <a:srgbClr val="C5A065">
                <a:alpha val="40000"/>
              </a:srgbClr>
            </a:solidFill>
            <a:prstDash val="solid"/>
          </a:ln>
        </p:spPr>
      </p:sp>
      <p:sp>
        <p:nvSpPr>
          <p:cNvPr id="20" name="Shape 17"/>
          <p:cNvSpPr/>
          <p:nvPr/>
        </p:nvSpPr>
        <p:spPr>
          <a:xfrm>
            <a:off x="6402659" y="1681976"/>
            <a:ext cx="446049" cy="446049"/>
          </a:xfrm>
          <a:custGeom>
            <a:avLst/>
            <a:gdLst/>
            <a:ahLst/>
            <a:cxnLst/>
            <a:rect l="l" t="t" r="r" b="b"/>
            <a:pathLst>
              <a:path w="446049" h="446049">
                <a:moveTo>
                  <a:pt x="223024" y="0"/>
                </a:moveTo>
                <a:lnTo>
                  <a:pt x="223024" y="0"/>
                </a:lnTo>
                <a:cubicBezTo>
                  <a:pt x="346197" y="0"/>
                  <a:pt x="446049" y="99851"/>
                  <a:pt x="446049" y="223024"/>
                </a:cubicBezTo>
                <a:lnTo>
                  <a:pt x="446049" y="223024"/>
                </a:lnTo>
                <a:cubicBezTo>
                  <a:pt x="446049" y="346197"/>
                  <a:pt x="346197" y="446049"/>
                  <a:pt x="223024" y="446049"/>
                </a:cubicBezTo>
                <a:lnTo>
                  <a:pt x="223024" y="446049"/>
                </a:lnTo>
                <a:cubicBezTo>
                  <a:pt x="99851" y="446049"/>
                  <a:pt x="0" y="346197"/>
                  <a:pt x="0" y="223024"/>
                </a:cubicBezTo>
                <a:lnTo>
                  <a:pt x="0" y="223024"/>
                </a:lnTo>
                <a:cubicBezTo>
                  <a:pt x="0" y="99851"/>
                  <a:pt x="99851" y="0"/>
                  <a:pt x="223024" y="0"/>
                </a:cubicBezTo>
                <a:close/>
              </a:path>
            </a:pathLst>
          </a:custGeom>
          <a:solidFill>
            <a:srgbClr val="C5A065"/>
          </a:solidFill>
          <a:ln/>
        </p:spPr>
      </p:sp>
      <p:sp>
        <p:nvSpPr>
          <p:cNvPr id="21" name="Shape 18"/>
          <p:cNvSpPr/>
          <p:nvPr/>
        </p:nvSpPr>
        <p:spPr>
          <a:xfrm>
            <a:off x="6544372" y="1812073"/>
            <a:ext cx="162622" cy="185854"/>
          </a:xfrm>
          <a:custGeom>
            <a:avLst/>
            <a:gdLst/>
            <a:ahLst/>
            <a:cxnLst/>
            <a:rect l="l" t="t" r="r" b="b"/>
            <a:pathLst>
              <a:path w="162622" h="185854">
                <a:moveTo>
                  <a:pt x="157830" y="25446"/>
                </a:moveTo>
                <a:cubicBezTo>
                  <a:pt x="163021" y="29221"/>
                  <a:pt x="164183" y="36481"/>
                  <a:pt x="160408" y="41672"/>
                </a:cubicBezTo>
                <a:lnTo>
                  <a:pt x="67481" y="169446"/>
                </a:lnTo>
                <a:cubicBezTo>
                  <a:pt x="65484" y="172205"/>
                  <a:pt x="62399" y="173911"/>
                  <a:pt x="58987" y="174202"/>
                </a:cubicBezTo>
                <a:cubicBezTo>
                  <a:pt x="55575" y="174492"/>
                  <a:pt x="52271" y="173221"/>
                  <a:pt x="49876" y="170826"/>
                </a:cubicBezTo>
                <a:lnTo>
                  <a:pt x="3412" y="124362"/>
                </a:lnTo>
                <a:cubicBezTo>
                  <a:pt x="-1125" y="119825"/>
                  <a:pt x="-1125" y="112456"/>
                  <a:pt x="3412" y="107919"/>
                </a:cubicBezTo>
                <a:cubicBezTo>
                  <a:pt x="7950" y="103381"/>
                  <a:pt x="15318" y="103381"/>
                  <a:pt x="19856" y="107919"/>
                </a:cubicBezTo>
                <a:lnTo>
                  <a:pt x="56700" y="144763"/>
                </a:lnTo>
                <a:lnTo>
                  <a:pt x="141641" y="27987"/>
                </a:lnTo>
                <a:cubicBezTo>
                  <a:pt x="145416" y="22796"/>
                  <a:pt x="152676" y="21635"/>
                  <a:pt x="157867" y="25410"/>
                </a:cubicBezTo>
                <a:close/>
              </a:path>
            </a:pathLst>
          </a:custGeom>
          <a:solidFill>
            <a:srgbClr val="FFFFFF"/>
          </a:solidFill>
          <a:ln/>
        </p:spPr>
      </p:sp>
      <p:sp>
        <p:nvSpPr>
          <p:cNvPr id="22" name="Text 19"/>
          <p:cNvSpPr/>
          <p:nvPr/>
        </p:nvSpPr>
        <p:spPr>
          <a:xfrm>
            <a:off x="6960220" y="1756317"/>
            <a:ext cx="696951" cy="297366"/>
          </a:xfrm>
          <a:prstGeom prst="rect">
            <a:avLst/>
          </a:prstGeom>
          <a:noFill/>
          <a:ln/>
        </p:spPr>
        <p:txBody>
          <a:bodyPr wrap="square" lIns="0" tIns="0" rIns="0" bIns="0" rtlCol="0" anchor="ctr"/>
          <a:lstStyle/>
          <a:p>
            <a:pPr>
              <a:lnSpc>
                <a:spcPct val="110000"/>
              </a:lnSpc>
            </a:pPr>
            <a:r>
              <a:rPr lang="en-US" sz="1756" b="1" dirty="0">
                <a:solidFill>
                  <a:srgbClr val="F8F9FA"/>
                </a:solidFill>
                <a:latin typeface="Liter" pitchFamily="34" charset="0"/>
                <a:ea typeface="Liter" pitchFamily="34" charset="-122"/>
                <a:cs typeface="Liter" pitchFamily="34" charset="-120"/>
              </a:rPr>
              <a:t>Après</a:t>
            </a:r>
            <a:endParaRPr lang="en-US" sz="1600" dirty="0"/>
          </a:p>
        </p:txBody>
      </p:sp>
      <p:sp>
        <p:nvSpPr>
          <p:cNvPr id="23" name="Shape 20"/>
          <p:cNvSpPr/>
          <p:nvPr/>
        </p:nvSpPr>
        <p:spPr>
          <a:xfrm>
            <a:off x="6421244" y="2313878"/>
            <a:ext cx="148683" cy="148683"/>
          </a:xfrm>
          <a:custGeom>
            <a:avLst/>
            <a:gdLst/>
            <a:ahLst/>
            <a:cxnLst/>
            <a:rect l="l" t="t" r="r" b="b"/>
            <a:pathLst>
              <a:path w="148683" h="148683">
                <a:moveTo>
                  <a:pt x="74341" y="0"/>
                </a:moveTo>
                <a:cubicBezTo>
                  <a:pt x="75677" y="0"/>
                  <a:pt x="77013" y="290"/>
                  <a:pt x="78233" y="842"/>
                </a:cubicBezTo>
                <a:lnTo>
                  <a:pt x="132943" y="24045"/>
                </a:lnTo>
                <a:cubicBezTo>
                  <a:pt x="139332" y="26746"/>
                  <a:pt x="144095" y="33047"/>
                  <a:pt x="144066" y="40655"/>
                </a:cubicBezTo>
                <a:cubicBezTo>
                  <a:pt x="143920" y="69463"/>
                  <a:pt x="132072" y="122170"/>
                  <a:pt x="82037" y="146127"/>
                </a:cubicBezTo>
                <a:cubicBezTo>
                  <a:pt x="77187" y="148451"/>
                  <a:pt x="71554" y="148451"/>
                  <a:pt x="66704" y="146127"/>
                </a:cubicBezTo>
                <a:cubicBezTo>
                  <a:pt x="16640" y="122170"/>
                  <a:pt x="4821" y="69463"/>
                  <a:pt x="4675" y="40655"/>
                </a:cubicBezTo>
                <a:cubicBezTo>
                  <a:pt x="4646" y="33047"/>
                  <a:pt x="9409" y="26746"/>
                  <a:pt x="15798" y="24045"/>
                </a:cubicBezTo>
                <a:lnTo>
                  <a:pt x="70479" y="842"/>
                </a:lnTo>
                <a:cubicBezTo>
                  <a:pt x="71699" y="290"/>
                  <a:pt x="73006" y="0"/>
                  <a:pt x="74341" y="0"/>
                </a:cubicBezTo>
                <a:close/>
                <a:moveTo>
                  <a:pt x="74341" y="19398"/>
                </a:moveTo>
                <a:lnTo>
                  <a:pt x="74341" y="129197"/>
                </a:lnTo>
                <a:cubicBezTo>
                  <a:pt x="114416" y="109799"/>
                  <a:pt x="125190" y="66820"/>
                  <a:pt x="125451" y="41091"/>
                </a:cubicBezTo>
                <a:lnTo>
                  <a:pt x="74341" y="19428"/>
                </a:lnTo>
                <a:lnTo>
                  <a:pt x="74341" y="19428"/>
                </a:lnTo>
                <a:close/>
              </a:path>
            </a:pathLst>
          </a:custGeom>
          <a:solidFill>
            <a:srgbClr val="05DF72"/>
          </a:solidFill>
          <a:ln/>
        </p:spPr>
      </p:sp>
      <p:sp>
        <p:nvSpPr>
          <p:cNvPr id="24" name="Text 21"/>
          <p:cNvSpPr/>
          <p:nvPr/>
        </p:nvSpPr>
        <p:spPr>
          <a:xfrm>
            <a:off x="6700024" y="2276707"/>
            <a:ext cx="3280317"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Infrastructure sécurisée et optimisée (LCP &lt;2.5s)</a:t>
            </a:r>
            <a:endParaRPr lang="en-US" sz="1600" dirty="0"/>
          </a:p>
        </p:txBody>
      </p:sp>
      <p:sp>
        <p:nvSpPr>
          <p:cNvPr id="25" name="Shape 22"/>
          <p:cNvSpPr/>
          <p:nvPr/>
        </p:nvSpPr>
        <p:spPr>
          <a:xfrm>
            <a:off x="6411951" y="2648415"/>
            <a:ext cx="167268" cy="148683"/>
          </a:xfrm>
          <a:custGeom>
            <a:avLst/>
            <a:gdLst/>
            <a:ahLst/>
            <a:cxnLst/>
            <a:rect l="l" t="t" r="r" b="b"/>
            <a:pathLst>
              <a:path w="167268" h="148683">
                <a:moveTo>
                  <a:pt x="83634" y="9293"/>
                </a:moveTo>
                <a:cubicBezTo>
                  <a:pt x="60170" y="9293"/>
                  <a:pt x="41381" y="19979"/>
                  <a:pt x="27704" y="32699"/>
                </a:cubicBezTo>
                <a:cubicBezTo>
                  <a:pt x="14113" y="45331"/>
                  <a:pt x="5024" y="60402"/>
                  <a:pt x="697" y="70770"/>
                </a:cubicBezTo>
                <a:cubicBezTo>
                  <a:pt x="-261" y="73064"/>
                  <a:pt x="-261" y="75619"/>
                  <a:pt x="697" y="77913"/>
                </a:cubicBezTo>
                <a:cubicBezTo>
                  <a:pt x="5024" y="88280"/>
                  <a:pt x="14113" y="103381"/>
                  <a:pt x="27704" y="115984"/>
                </a:cubicBezTo>
                <a:cubicBezTo>
                  <a:pt x="41381" y="128675"/>
                  <a:pt x="60170" y="139390"/>
                  <a:pt x="83634" y="139390"/>
                </a:cubicBezTo>
                <a:cubicBezTo>
                  <a:pt x="107098" y="139390"/>
                  <a:pt x="125887" y="128704"/>
                  <a:pt x="139564" y="115984"/>
                </a:cubicBezTo>
                <a:cubicBezTo>
                  <a:pt x="153155" y="103352"/>
                  <a:pt x="162244" y="88280"/>
                  <a:pt x="166571" y="77913"/>
                </a:cubicBezTo>
                <a:cubicBezTo>
                  <a:pt x="167530" y="75619"/>
                  <a:pt x="167530" y="73064"/>
                  <a:pt x="166571" y="70770"/>
                </a:cubicBezTo>
                <a:cubicBezTo>
                  <a:pt x="162244" y="60402"/>
                  <a:pt x="153155" y="45302"/>
                  <a:pt x="139564" y="32699"/>
                </a:cubicBezTo>
                <a:cubicBezTo>
                  <a:pt x="125887" y="20008"/>
                  <a:pt x="107098" y="9293"/>
                  <a:pt x="83634" y="9293"/>
                </a:cubicBezTo>
                <a:close/>
                <a:moveTo>
                  <a:pt x="41817" y="74341"/>
                </a:moveTo>
                <a:cubicBezTo>
                  <a:pt x="41817" y="51262"/>
                  <a:pt x="60555" y="32524"/>
                  <a:pt x="83634" y="32524"/>
                </a:cubicBezTo>
                <a:cubicBezTo>
                  <a:pt x="106714" y="32524"/>
                  <a:pt x="125451" y="51262"/>
                  <a:pt x="125451" y="74341"/>
                </a:cubicBezTo>
                <a:cubicBezTo>
                  <a:pt x="125451" y="97421"/>
                  <a:pt x="106714" y="116159"/>
                  <a:pt x="83634" y="116159"/>
                </a:cubicBezTo>
                <a:cubicBezTo>
                  <a:pt x="60555" y="116159"/>
                  <a:pt x="41817" y="97421"/>
                  <a:pt x="41817" y="74341"/>
                </a:cubicBezTo>
                <a:close/>
                <a:moveTo>
                  <a:pt x="83634" y="55756"/>
                </a:moveTo>
                <a:cubicBezTo>
                  <a:pt x="83634" y="66007"/>
                  <a:pt x="75300" y="74341"/>
                  <a:pt x="65049" y="74341"/>
                </a:cubicBezTo>
                <a:cubicBezTo>
                  <a:pt x="61709" y="74341"/>
                  <a:pt x="58573" y="73470"/>
                  <a:pt x="55843" y="71902"/>
                </a:cubicBezTo>
                <a:cubicBezTo>
                  <a:pt x="55553" y="75067"/>
                  <a:pt x="55814" y="78320"/>
                  <a:pt x="56685" y="81543"/>
                </a:cubicBezTo>
                <a:cubicBezTo>
                  <a:pt x="60664" y="96412"/>
                  <a:pt x="75968" y="105240"/>
                  <a:pt x="90836" y="101261"/>
                </a:cubicBezTo>
                <a:cubicBezTo>
                  <a:pt x="105704" y="97283"/>
                  <a:pt x="114532" y="81979"/>
                  <a:pt x="110554" y="67111"/>
                </a:cubicBezTo>
                <a:cubicBezTo>
                  <a:pt x="107011" y="53839"/>
                  <a:pt x="94437" y="45389"/>
                  <a:pt x="81195" y="46551"/>
                </a:cubicBezTo>
                <a:cubicBezTo>
                  <a:pt x="82734" y="49251"/>
                  <a:pt x="83634" y="52388"/>
                  <a:pt x="83634" y="55756"/>
                </a:cubicBezTo>
                <a:close/>
              </a:path>
            </a:pathLst>
          </a:custGeom>
          <a:solidFill>
            <a:srgbClr val="05DF72"/>
          </a:solidFill>
          <a:ln/>
        </p:spPr>
      </p:sp>
      <p:sp>
        <p:nvSpPr>
          <p:cNvPr id="26" name="Text 23"/>
          <p:cNvSpPr/>
          <p:nvPr/>
        </p:nvSpPr>
        <p:spPr>
          <a:xfrm>
            <a:off x="6700024" y="2611244"/>
            <a:ext cx="3410415"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Visibilité SEO complète sur toutes les requêtes clés</a:t>
            </a:r>
            <a:endParaRPr lang="en-US" sz="1600" dirty="0"/>
          </a:p>
        </p:txBody>
      </p:sp>
      <p:sp>
        <p:nvSpPr>
          <p:cNvPr id="27" name="Shape 24"/>
          <p:cNvSpPr/>
          <p:nvPr/>
        </p:nvSpPr>
        <p:spPr>
          <a:xfrm>
            <a:off x="6421244" y="2982951"/>
            <a:ext cx="148683" cy="148683"/>
          </a:xfrm>
          <a:custGeom>
            <a:avLst/>
            <a:gdLst/>
            <a:ahLst/>
            <a:cxnLst/>
            <a:rect l="l" t="t" r="r" b="b"/>
            <a:pathLst>
              <a:path w="148683" h="148683">
                <a:moveTo>
                  <a:pt x="18585" y="18585"/>
                </a:moveTo>
                <a:cubicBezTo>
                  <a:pt x="18585" y="13445"/>
                  <a:pt x="14433" y="9293"/>
                  <a:pt x="9293" y="9293"/>
                </a:cubicBezTo>
                <a:cubicBezTo>
                  <a:pt x="4153" y="9293"/>
                  <a:pt x="0" y="13445"/>
                  <a:pt x="0" y="18585"/>
                </a:cubicBezTo>
                <a:lnTo>
                  <a:pt x="0" y="116159"/>
                </a:lnTo>
                <a:cubicBezTo>
                  <a:pt x="0" y="128994"/>
                  <a:pt x="10396" y="139390"/>
                  <a:pt x="23232" y="139390"/>
                </a:cubicBezTo>
                <a:lnTo>
                  <a:pt x="139390" y="139390"/>
                </a:lnTo>
                <a:cubicBezTo>
                  <a:pt x="144530" y="139390"/>
                  <a:pt x="148683" y="135238"/>
                  <a:pt x="148683" y="130098"/>
                </a:cubicBezTo>
                <a:cubicBezTo>
                  <a:pt x="148683" y="124958"/>
                  <a:pt x="144530" y="120805"/>
                  <a:pt x="139390" y="120805"/>
                </a:cubicBezTo>
                <a:lnTo>
                  <a:pt x="23232" y="120805"/>
                </a:lnTo>
                <a:cubicBezTo>
                  <a:pt x="20676" y="120805"/>
                  <a:pt x="18585" y="118714"/>
                  <a:pt x="18585" y="116159"/>
                </a:cubicBezTo>
                <a:lnTo>
                  <a:pt x="18585" y="18585"/>
                </a:lnTo>
                <a:close/>
                <a:moveTo>
                  <a:pt x="136661" y="43734"/>
                </a:moveTo>
                <a:cubicBezTo>
                  <a:pt x="140290" y="40104"/>
                  <a:pt x="140290" y="34209"/>
                  <a:pt x="136661" y="30579"/>
                </a:cubicBezTo>
                <a:cubicBezTo>
                  <a:pt x="133031" y="26949"/>
                  <a:pt x="127136" y="26949"/>
                  <a:pt x="123506" y="30579"/>
                </a:cubicBezTo>
                <a:lnTo>
                  <a:pt x="92927" y="61187"/>
                </a:lnTo>
                <a:lnTo>
                  <a:pt x="76258" y="44547"/>
                </a:lnTo>
                <a:cubicBezTo>
                  <a:pt x="72628" y="40917"/>
                  <a:pt x="66733" y="40917"/>
                  <a:pt x="63103" y="44547"/>
                </a:cubicBezTo>
                <a:lnTo>
                  <a:pt x="35225" y="72425"/>
                </a:lnTo>
                <a:cubicBezTo>
                  <a:pt x="31595" y="76055"/>
                  <a:pt x="31595" y="81950"/>
                  <a:pt x="35225" y="85580"/>
                </a:cubicBezTo>
                <a:cubicBezTo>
                  <a:pt x="38855" y="89210"/>
                  <a:pt x="44750" y="89210"/>
                  <a:pt x="48380" y="85580"/>
                </a:cubicBezTo>
                <a:lnTo>
                  <a:pt x="69695" y="64265"/>
                </a:lnTo>
                <a:lnTo>
                  <a:pt x="86364" y="80933"/>
                </a:lnTo>
                <a:cubicBezTo>
                  <a:pt x="89994" y="84563"/>
                  <a:pt x="95889" y="84563"/>
                  <a:pt x="99519" y="80933"/>
                </a:cubicBezTo>
                <a:lnTo>
                  <a:pt x="136690" y="43763"/>
                </a:lnTo>
                <a:close/>
              </a:path>
            </a:pathLst>
          </a:custGeom>
          <a:solidFill>
            <a:srgbClr val="05DF72"/>
          </a:solidFill>
          <a:ln/>
        </p:spPr>
      </p:sp>
      <p:sp>
        <p:nvSpPr>
          <p:cNvPr id="28" name="Text 25"/>
          <p:cNvSpPr/>
          <p:nvPr/>
        </p:nvSpPr>
        <p:spPr>
          <a:xfrm>
            <a:off x="6700024" y="2945780"/>
            <a:ext cx="2815683"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Acquisition prévisible et rentable via qEEG</a:t>
            </a:r>
            <a:endParaRPr lang="en-US" sz="1600" dirty="0"/>
          </a:p>
        </p:txBody>
      </p:sp>
      <p:sp>
        <p:nvSpPr>
          <p:cNvPr id="29" name="Shape 26"/>
          <p:cNvSpPr/>
          <p:nvPr/>
        </p:nvSpPr>
        <p:spPr>
          <a:xfrm>
            <a:off x="6402659" y="3317488"/>
            <a:ext cx="185854" cy="148683"/>
          </a:xfrm>
          <a:custGeom>
            <a:avLst/>
            <a:gdLst/>
            <a:ahLst/>
            <a:cxnLst/>
            <a:rect l="l" t="t" r="r" b="b"/>
            <a:pathLst>
              <a:path w="185854" h="148683">
                <a:moveTo>
                  <a:pt x="92927" y="4646"/>
                </a:moveTo>
                <a:cubicBezTo>
                  <a:pt x="109595" y="4646"/>
                  <a:pt x="123128" y="18179"/>
                  <a:pt x="123128" y="34848"/>
                </a:cubicBezTo>
                <a:cubicBezTo>
                  <a:pt x="123128" y="51516"/>
                  <a:pt x="109595" y="65049"/>
                  <a:pt x="92927" y="65049"/>
                </a:cubicBezTo>
                <a:cubicBezTo>
                  <a:pt x="76258" y="65049"/>
                  <a:pt x="62726" y="51516"/>
                  <a:pt x="62726" y="34848"/>
                </a:cubicBezTo>
                <a:cubicBezTo>
                  <a:pt x="62726" y="18179"/>
                  <a:pt x="76258" y="4646"/>
                  <a:pt x="92927" y="4646"/>
                </a:cubicBezTo>
                <a:close/>
                <a:moveTo>
                  <a:pt x="27878" y="25555"/>
                </a:moveTo>
                <a:cubicBezTo>
                  <a:pt x="39418" y="25555"/>
                  <a:pt x="48787" y="34924"/>
                  <a:pt x="48787" y="46463"/>
                </a:cubicBezTo>
                <a:cubicBezTo>
                  <a:pt x="48787" y="58003"/>
                  <a:pt x="39418" y="67372"/>
                  <a:pt x="27878" y="67372"/>
                </a:cubicBezTo>
                <a:cubicBezTo>
                  <a:pt x="16338" y="67372"/>
                  <a:pt x="6970" y="58003"/>
                  <a:pt x="6970" y="46463"/>
                </a:cubicBezTo>
                <a:cubicBezTo>
                  <a:pt x="6970" y="34924"/>
                  <a:pt x="16338" y="25555"/>
                  <a:pt x="27878" y="25555"/>
                </a:cubicBezTo>
                <a:close/>
                <a:moveTo>
                  <a:pt x="0" y="120805"/>
                </a:moveTo>
                <a:cubicBezTo>
                  <a:pt x="0" y="100274"/>
                  <a:pt x="16640" y="83634"/>
                  <a:pt x="37171" y="83634"/>
                </a:cubicBezTo>
                <a:cubicBezTo>
                  <a:pt x="40888" y="83634"/>
                  <a:pt x="44489" y="84186"/>
                  <a:pt x="47886" y="85202"/>
                </a:cubicBezTo>
                <a:cubicBezTo>
                  <a:pt x="38332" y="95889"/>
                  <a:pt x="32524" y="110002"/>
                  <a:pt x="32524" y="125451"/>
                </a:cubicBezTo>
                <a:lnTo>
                  <a:pt x="32524" y="130098"/>
                </a:lnTo>
                <a:cubicBezTo>
                  <a:pt x="32524" y="133408"/>
                  <a:pt x="33221" y="136544"/>
                  <a:pt x="34470" y="139390"/>
                </a:cubicBezTo>
                <a:lnTo>
                  <a:pt x="9293" y="139390"/>
                </a:lnTo>
                <a:cubicBezTo>
                  <a:pt x="4153" y="139390"/>
                  <a:pt x="0" y="135238"/>
                  <a:pt x="0" y="130098"/>
                </a:cubicBezTo>
                <a:lnTo>
                  <a:pt x="0" y="120805"/>
                </a:lnTo>
                <a:close/>
                <a:moveTo>
                  <a:pt x="151384" y="139390"/>
                </a:moveTo>
                <a:cubicBezTo>
                  <a:pt x="152632" y="136544"/>
                  <a:pt x="153329" y="133408"/>
                  <a:pt x="153329" y="130098"/>
                </a:cubicBezTo>
                <a:lnTo>
                  <a:pt x="153329" y="125451"/>
                </a:lnTo>
                <a:cubicBezTo>
                  <a:pt x="153329" y="110002"/>
                  <a:pt x="147521" y="95889"/>
                  <a:pt x="137967" y="85202"/>
                </a:cubicBezTo>
                <a:cubicBezTo>
                  <a:pt x="141365" y="84186"/>
                  <a:pt x="144966" y="83634"/>
                  <a:pt x="148683" y="83634"/>
                </a:cubicBezTo>
                <a:cubicBezTo>
                  <a:pt x="169214" y="83634"/>
                  <a:pt x="185854" y="100274"/>
                  <a:pt x="185854" y="120805"/>
                </a:cubicBezTo>
                <a:lnTo>
                  <a:pt x="185854" y="130098"/>
                </a:lnTo>
                <a:cubicBezTo>
                  <a:pt x="185854" y="135238"/>
                  <a:pt x="181701" y="139390"/>
                  <a:pt x="176561" y="139390"/>
                </a:cubicBezTo>
                <a:lnTo>
                  <a:pt x="151384" y="139390"/>
                </a:lnTo>
                <a:close/>
                <a:moveTo>
                  <a:pt x="137067" y="46463"/>
                </a:moveTo>
                <a:cubicBezTo>
                  <a:pt x="137067" y="34924"/>
                  <a:pt x="146436" y="25555"/>
                  <a:pt x="157976" y="25555"/>
                </a:cubicBezTo>
                <a:cubicBezTo>
                  <a:pt x="169515" y="25555"/>
                  <a:pt x="178884" y="34924"/>
                  <a:pt x="178884" y="46463"/>
                </a:cubicBezTo>
                <a:cubicBezTo>
                  <a:pt x="178884" y="58003"/>
                  <a:pt x="169515" y="67372"/>
                  <a:pt x="157976" y="67372"/>
                </a:cubicBezTo>
                <a:cubicBezTo>
                  <a:pt x="146436" y="67372"/>
                  <a:pt x="137067" y="58003"/>
                  <a:pt x="137067" y="46463"/>
                </a:cubicBezTo>
                <a:close/>
                <a:moveTo>
                  <a:pt x="46463" y="125451"/>
                </a:moveTo>
                <a:cubicBezTo>
                  <a:pt x="46463" y="99780"/>
                  <a:pt x="67256" y="78988"/>
                  <a:pt x="92927" y="78988"/>
                </a:cubicBezTo>
                <a:cubicBezTo>
                  <a:pt x="118598" y="78988"/>
                  <a:pt x="139390" y="99780"/>
                  <a:pt x="139390" y="125451"/>
                </a:cubicBezTo>
                <a:lnTo>
                  <a:pt x="139390" y="130098"/>
                </a:lnTo>
                <a:cubicBezTo>
                  <a:pt x="139390" y="135238"/>
                  <a:pt x="135238" y="139390"/>
                  <a:pt x="130098" y="139390"/>
                </a:cubicBezTo>
                <a:lnTo>
                  <a:pt x="55756" y="139390"/>
                </a:lnTo>
                <a:cubicBezTo>
                  <a:pt x="50616" y="139390"/>
                  <a:pt x="46463" y="135238"/>
                  <a:pt x="46463" y="130098"/>
                </a:cubicBezTo>
                <a:lnTo>
                  <a:pt x="46463" y="125451"/>
                </a:lnTo>
                <a:close/>
              </a:path>
            </a:pathLst>
          </a:custGeom>
          <a:solidFill>
            <a:srgbClr val="05DF72"/>
          </a:solidFill>
          <a:ln/>
        </p:spPr>
      </p:sp>
      <p:sp>
        <p:nvSpPr>
          <p:cNvPr id="30" name="Text 27"/>
          <p:cNvSpPr/>
          <p:nvPr/>
        </p:nvSpPr>
        <p:spPr>
          <a:xfrm>
            <a:off x="6700024" y="3280317"/>
            <a:ext cx="2676293" cy="223024"/>
          </a:xfrm>
          <a:prstGeom prst="rect">
            <a:avLst/>
          </a:prstGeom>
          <a:noFill/>
          <a:ln/>
        </p:spPr>
        <p:txBody>
          <a:bodyPr wrap="square" lIns="0" tIns="0" rIns="0" bIns="0" rtlCol="0" anchor="ctr"/>
          <a:lstStyle/>
          <a:p>
            <a:pPr>
              <a:lnSpc>
                <a:spcPct val="130000"/>
              </a:lnSpc>
            </a:pPr>
            <a:r>
              <a:rPr lang="en-US" sz="1171" dirty="0">
                <a:solidFill>
                  <a:srgbClr val="F8F9FA">
                    <a:alpha val="80000"/>
                  </a:srgbClr>
                </a:solidFill>
                <a:latin typeface="Liter" pitchFamily="34" charset="0"/>
                <a:ea typeface="Liter" pitchFamily="34" charset="-122"/>
                <a:cs typeface="Liter" pitchFamily="34" charset="-120"/>
              </a:rPr>
              <a:t>Pipeline de patients qualifiés et fidélisés</a:t>
            </a:r>
            <a:endParaRPr lang="en-US" sz="1600" dirty="0"/>
          </a:p>
        </p:txBody>
      </p:sp>
      <p:sp>
        <p:nvSpPr>
          <p:cNvPr id="31" name="Shape 28"/>
          <p:cNvSpPr/>
          <p:nvPr/>
        </p:nvSpPr>
        <p:spPr>
          <a:xfrm>
            <a:off x="376354" y="3851817"/>
            <a:ext cx="11439293" cy="2183780"/>
          </a:xfrm>
          <a:custGeom>
            <a:avLst/>
            <a:gdLst/>
            <a:ahLst/>
            <a:cxnLst/>
            <a:rect l="l" t="t" r="r" b="b"/>
            <a:pathLst>
              <a:path w="11439293" h="2183780">
                <a:moveTo>
                  <a:pt x="111504" y="0"/>
                </a:moveTo>
                <a:lnTo>
                  <a:pt x="11327789" y="0"/>
                </a:lnTo>
                <a:cubicBezTo>
                  <a:pt x="11389371" y="0"/>
                  <a:pt x="11439293" y="49922"/>
                  <a:pt x="11439293" y="111504"/>
                </a:cubicBezTo>
                <a:lnTo>
                  <a:pt x="11439293" y="2072277"/>
                </a:lnTo>
                <a:cubicBezTo>
                  <a:pt x="11439293" y="2133859"/>
                  <a:pt x="11389371" y="2183780"/>
                  <a:pt x="11327789" y="2183780"/>
                </a:cubicBezTo>
                <a:lnTo>
                  <a:pt x="111504" y="2183780"/>
                </a:lnTo>
                <a:cubicBezTo>
                  <a:pt x="49922" y="2183780"/>
                  <a:pt x="0" y="2133859"/>
                  <a:pt x="0" y="2072277"/>
                </a:cubicBezTo>
                <a:lnTo>
                  <a:pt x="0" y="111504"/>
                </a:lnTo>
                <a:cubicBezTo>
                  <a:pt x="0" y="49963"/>
                  <a:pt x="49963" y="0"/>
                  <a:pt x="111504" y="0"/>
                </a:cubicBezTo>
                <a:close/>
              </a:path>
            </a:pathLst>
          </a:custGeom>
          <a:solidFill>
            <a:srgbClr val="FFFFFF">
              <a:alpha val="10196"/>
            </a:srgbClr>
          </a:solidFill>
          <a:ln w="12700">
            <a:solidFill>
              <a:srgbClr val="FFFFFF">
                <a:alpha val="20000"/>
              </a:srgbClr>
            </a:solidFill>
            <a:prstDash val="solid"/>
          </a:ln>
        </p:spPr>
      </p:sp>
      <p:sp>
        <p:nvSpPr>
          <p:cNvPr id="32" name="Text 29"/>
          <p:cNvSpPr/>
          <p:nvPr/>
        </p:nvSpPr>
        <p:spPr>
          <a:xfrm>
            <a:off x="520390" y="4042317"/>
            <a:ext cx="11151220" cy="260195"/>
          </a:xfrm>
          <a:prstGeom prst="rect">
            <a:avLst/>
          </a:prstGeom>
          <a:noFill/>
          <a:ln/>
        </p:spPr>
        <p:txBody>
          <a:bodyPr wrap="square" lIns="0" tIns="0" rIns="0" bIns="0" rtlCol="0" anchor="ctr"/>
          <a:lstStyle/>
          <a:p>
            <a:pPr algn="ctr">
              <a:lnSpc>
                <a:spcPct val="120000"/>
              </a:lnSpc>
            </a:pPr>
            <a:r>
              <a:rPr lang="en-US" sz="1463" b="1" dirty="0">
                <a:solidFill>
                  <a:srgbClr val="F8F9FA"/>
                </a:solidFill>
                <a:latin typeface="Liter" pitchFamily="34" charset="0"/>
                <a:ea typeface="Liter" pitchFamily="34" charset="-122"/>
                <a:cs typeface="Liter" pitchFamily="34" charset="-120"/>
              </a:rPr>
              <a:t>Résultat Attendu (Plan à 90 Jours)</a:t>
            </a:r>
            <a:endParaRPr lang="en-US" sz="1600" dirty="0"/>
          </a:p>
        </p:txBody>
      </p:sp>
      <p:sp>
        <p:nvSpPr>
          <p:cNvPr id="33" name="Shape 30"/>
          <p:cNvSpPr/>
          <p:nvPr/>
        </p:nvSpPr>
        <p:spPr>
          <a:xfrm>
            <a:off x="2084610" y="4460488"/>
            <a:ext cx="501805" cy="501805"/>
          </a:xfrm>
          <a:custGeom>
            <a:avLst/>
            <a:gdLst/>
            <a:ahLst/>
            <a:cxnLst/>
            <a:rect l="l" t="t" r="r" b="b"/>
            <a:pathLst>
              <a:path w="501805" h="501805">
                <a:moveTo>
                  <a:pt x="250902" y="0"/>
                </a:moveTo>
                <a:lnTo>
                  <a:pt x="250902" y="0"/>
                </a:lnTo>
                <a:cubicBezTo>
                  <a:pt x="389379" y="0"/>
                  <a:pt x="501805" y="112426"/>
                  <a:pt x="501805" y="250902"/>
                </a:cubicBezTo>
                <a:lnTo>
                  <a:pt x="501805" y="250902"/>
                </a:lnTo>
                <a:cubicBezTo>
                  <a:pt x="501805" y="389379"/>
                  <a:pt x="389379" y="501805"/>
                  <a:pt x="250902" y="501805"/>
                </a:cubicBezTo>
                <a:lnTo>
                  <a:pt x="250902" y="501805"/>
                </a:lnTo>
                <a:cubicBezTo>
                  <a:pt x="112426" y="501805"/>
                  <a:pt x="0" y="389379"/>
                  <a:pt x="0" y="250902"/>
                </a:cubicBezTo>
                <a:lnTo>
                  <a:pt x="0" y="250902"/>
                </a:lnTo>
                <a:cubicBezTo>
                  <a:pt x="0" y="112426"/>
                  <a:pt x="112426" y="0"/>
                  <a:pt x="250902" y="0"/>
                </a:cubicBezTo>
                <a:close/>
              </a:path>
            </a:pathLst>
          </a:custGeom>
          <a:solidFill>
            <a:srgbClr val="2B7FFF">
              <a:alpha val="20000"/>
            </a:srgbClr>
          </a:solidFill>
          <a:ln w="25400">
            <a:solidFill>
              <a:srgbClr val="51A2FF"/>
            </a:solidFill>
            <a:prstDash val="solid"/>
          </a:ln>
        </p:spPr>
      </p:sp>
      <p:sp>
        <p:nvSpPr>
          <p:cNvPr id="34" name="Shape 31"/>
          <p:cNvSpPr/>
          <p:nvPr/>
        </p:nvSpPr>
        <p:spPr>
          <a:xfrm>
            <a:off x="2196122" y="4599878"/>
            <a:ext cx="278780" cy="223024"/>
          </a:xfrm>
          <a:custGeom>
            <a:avLst/>
            <a:gdLst/>
            <a:ahLst/>
            <a:cxnLst/>
            <a:rect l="l" t="t" r="r" b="b"/>
            <a:pathLst>
              <a:path w="278780" h="223024">
                <a:moveTo>
                  <a:pt x="181164" y="91693"/>
                </a:moveTo>
                <a:cubicBezTo>
                  <a:pt x="186478" y="90255"/>
                  <a:pt x="192054" y="92782"/>
                  <a:pt x="194449" y="97704"/>
                </a:cubicBezTo>
                <a:lnTo>
                  <a:pt x="202551" y="114082"/>
                </a:lnTo>
                <a:cubicBezTo>
                  <a:pt x="207038" y="114692"/>
                  <a:pt x="211438" y="115912"/>
                  <a:pt x="215576" y="117611"/>
                </a:cubicBezTo>
                <a:lnTo>
                  <a:pt x="230822" y="107461"/>
                </a:lnTo>
                <a:cubicBezTo>
                  <a:pt x="235395" y="104412"/>
                  <a:pt x="241450" y="105022"/>
                  <a:pt x="245327" y="108899"/>
                </a:cubicBezTo>
                <a:lnTo>
                  <a:pt x="253690" y="117262"/>
                </a:lnTo>
                <a:cubicBezTo>
                  <a:pt x="257567" y="121139"/>
                  <a:pt x="258177" y="127237"/>
                  <a:pt x="255128" y="131767"/>
                </a:cubicBezTo>
                <a:lnTo>
                  <a:pt x="244978" y="146970"/>
                </a:lnTo>
                <a:cubicBezTo>
                  <a:pt x="245806" y="149017"/>
                  <a:pt x="246546" y="151151"/>
                  <a:pt x="247156" y="153373"/>
                </a:cubicBezTo>
                <a:cubicBezTo>
                  <a:pt x="247766" y="155594"/>
                  <a:pt x="248158" y="157772"/>
                  <a:pt x="248463" y="159994"/>
                </a:cubicBezTo>
                <a:lnTo>
                  <a:pt x="264885" y="168096"/>
                </a:lnTo>
                <a:cubicBezTo>
                  <a:pt x="269807" y="170535"/>
                  <a:pt x="272334" y="176111"/>
                  <a:pt x="270896" y="181382"/>
                </a:cubicBezTo>
                <a:lnTo>
                  <a:pt x="267847" y="192794"/>
                </a:lnTo>
                <a:cubicBezTo>
                  <a:pt x="266410" y="198065"/>
                  <a:pt x="261487" y="201637"/>
                  <a:pt x="255999" y="201288"/>
                </a:cubicBezTo>
                <a:lnTo>
                  <a:pt x="237704" y="200112"/>
                </a:lnTo>
                <a:cubicBezTo>
                  <a:pt x="234960" y="203640"/>
                  <a:pt x="231780" y="206907"/>
                  <a:pt x="228164" y="209695"/>
                </a:cubicBezTo>
                <a:lnTo>
                  <a:pt x="229341" y="227947"/>
                </a:lnTo>
                <a:cubicBezTo>
                  <a:pt x="229689" y="233435"/>
                  <a:pt x="226117" y="238401"/>
                  <a:pt x="220846" y="239795"/>
                </a:cubicBezTo>
                <a:lnTo>
                  <a:pt x="209434" y="242844"/>
                </a:lnTo>
                <a:cubicBezTo>
                  <a:pt x="204120" y="244281"/>
                  <a:pt x="198588" y="241755"/>
                  <a:pt x="196148" y="236833"/>
                </a:cubicBezTo>
                <a:lnTo>
                  <a:pt x="188046" y="220454"/>
                </a:lnTo>
                <a:cubicBezTo>
                  <a:pt x="183560" y="219845"/>
                  <a:pt x="179160" y="218625"/>
                  <a:pt x="175022" y="216926"/>
                </a:cubicBezTo>
                <a:lnTo>
                  <a:pt x="159776" y="227075"/>
                </a:lnTo>
                <a:cubicBezTo>
                  <a:pt x="155202" y="230125"/>
                  <a:pt x="149148" y="229515"/>
                  <a:pt x="145271" y="225638"/>
                </a:cubicBezTo>
                <a:lnTo>
                  <a:pt x="136907" y="217275"/>
                </a:lnTo>
                <a:cubicBezTo>
                  <a:pt x="133031" y="213398"/>
                  <a:pt x="132421" y="207343"/>
                  <a:pt x="135470" y="202769"/>
                </a:cubicBezTo>
                <a:lnTo>
                  <a:pt x="145619" y="187523"/>
                </a:lnTo>
                <a:cubicBezTo>
                  <a:pt x="144792" y="185476"/>
                  <a:pt x="144051" y="183342"/>
                  <a:pt x="143441" y="181120"/>
                </a:cubicBezTo>
                <a:cubicBezTo>
                  <a:pt x="142831" y="178899"/>
                  <a:pt x="142439" y="176677"/>
                  <a:pt x="142134" y="174499"/>
                </a:cubicBezTo>
                <a:lnTo>
                  <a:pt x="125713" y="166397"/>
                </a:lnTo>
                <a:cubicBezTo>
                  <a:pt x="120790" y="163958"/>
                  <a:pt x="118307" y="158382"/>
                  <a:pt x="119701" y="153111"/>
                </a:cubicBezTo>
                <a:lnTo>
                  <a:pt x="122751" y="141699"/>
                </a:lnTo>
                <a:cubicBezTo>
                  <a:pt x="124188" y="136428"/>
                  <a:pt x="129110" y="132856"/>
                  <a:pt x="134599" y="133205"/>
                </a:cubicBezTo>
                <a:lnTo>
                  <a:pt x="152850" y="134381"/>
                </a:lnTo>
                <a:cubicBezTo>
                  <a:pt x="155594" y="130853"/>
                  <a:pt x="158774" y="127586"/>
                  <a:pt x="162390" y="124798"/>
                </a:cubicBezTo>
                <a:lnTo>
                  <a:pt x="161214" y="106590"/>
                </a:lnTo>
                <a:cubicBezTo>
                  <a:pt x="160865" y="101101"/>
                  <a:pt x="164437" y="96136"/>
                  <a:pt x="169708" y="94742"/>
                </a:cubicBezTo>
                <a:lnTo>
                  <a:pt x="181120" y="91693"/>
                </a:lnTo>
                <a:close/>
                <a:moveTo>
                  <a:pt x="195321" y="148102"/>
                </a:moveTo>
                <a:cubicBezTo>
                  <a:pt x="184742" y="148114"/>
                  <a:pt x="176164" y="156712"/>
                  <a:pt x="176176" y="167290"/>
                </a:cubicBezTo>
                <a:cubicBezTo>
                  <a:pt x="176188" y="177868"/>
                  <a:pt x="184786" y="186446"/>
                  <a:pt x="195364" y="186434"/>
                </a:cubicBezTo>
                <a:cubicBezTo>
                  <a:pt x="205942" y="186422"/>
                  <a:pt x="214521" y="177825"/>
                  <a:pt x="214509" y="167247"/>
                </a:cubicBezTo>
                <a:cubicBezTo>
                  <a:pt x="214496" y="156668"/>
                  <a:pt x="205899" y="148090"/>
                  <a:pt x="195321" y="148102"/>
                </a:cubicBezTo>
                <a:close/>
                <a:moveTo>
                  <a:pt x="97965" y="-19820"/>
                </a:moveTo>
                <a:lnTo>
                  <a:pt x="109378" y="-16770"/>
                </a:lnTo>
                <a:cubicBezTo>
                  <a:pt x="114648" y="-15333"/>
                  <a:pt x="118220" y="-10367"/>
                  <a:pt x="117872" y="-4922"/>
                </a:cubicBezTo>
                <a:lnTo>
                  <a:pt x="116696" y="13286"/>
                </a:lnTo>
                <a:cubicBezTo>
                  <a:pt x="120311" y="16073"/>
                  <a:pt x="123491" y="19297"/>
                  <a:pt x="126235" y="22869"/>
                </a:cubicBezTo>
                <a:lnTo>
                  <a:pt x="144530" y="21693"/>
                </a:lnTo>
                <a:cubicBezTo>
                  <a:pt x="149975" y="21344"/>
                  <a:pt x="154941" y="24916"/>
                  <a:pt x="156378" y="30187"/>
                </a:cubicBezTo>
                <a:lnTo>
                  <a:pt x="159428" y="41599"/>
                </a:lnTo>
                <a:cubicBezTo>
                  <a:pt x="160821" y="46870"/>
                  <a:pt x="158339" y="52446"/>
                  <a:pt x="153416" y="54885"/>
                </a:cubicBezTo>
                <a:lnTo>
                  <a:pt x="136994" y="62987"/>
                </a:lnTo>
                <a:cubicBezTo>
                  <a:pt x="136690" y="65208"/>
                  <a:pt x="136254" y="67430"/>
                  <a:pt x="135688" y="69608"/>
                </a:cubicBezTo>
                <a:cubicBezTo>
                  <a:pt x="135121" y="71786"/>
                  <a:pt x="134337" y="73964"/>
                  <a:pt x="133510" y="76011"/>
                </a:cubicBezTo>
                <a:lnTo>
                  <a:pt x="143659" y="91257"/>
                </a:lnTo>
                <a:cubicBezTo>
                  <a:pt x="146708" y="95831"/>
                  <a:pt x="146098" y="101886"/>
                  <a:pt x="142222" y="105762"/>
                </a:cubicBezTo>
                <a:lnTo>
                  <a:pt x="133858" y="114126"/>
                </a:lnTo>
                <a:cubicBezTo>
                  <a:pt x="129981" y="118003"/>
                  <a:pt x="123927" y="118612"/>
                  <a:pt x="119353" y="115563"/>
                </a:cubicBezTo>
                <a:lnTo>
                  <a:pt x="104107" y="105414"/>
                </a:lnTo>
                <a:cubicBezTo>
                  <a:pt x="99969" y="107113"/>
                  <a:pt x="95569" y="108332"/>
                  <a:pt x="91083" y="108942"/>
                </a:cubicBezTo>
                <a:lnTo>
                  <a:pt x="82981" y="125321"/>
                </a:lnTo>
                <a:cubicBezTo>
                  <a:pt x="80541" y="130243"/>
                  <a:pt x="74966" y="132726"/>
                  <a:pt x="69695" y="131332"/>
                </a:cubicBezTo>
                <a:lnTo>
                  <a:pt x="58283" y="128283"/>
                </a:lnTo>
                <a:cubicBezTo>
                  <a:pt x="52968" y="126845"/>
                  <a:pt x="49440" y="121879"/>
                  <a:pt x="49788" y="116434"/>
                </a:cubicBezTo>
                <a:lnTo>
                  <a:pt x="50965" y="98183"/>
                </a:lnTo>
                <a:cubicBezTo>
                  <a:pt x="47349" y="95395"/>
                  <a:pt x="44169" y="92172"/>
                  <a:pt x="41425" y="88600"/>
                </a:cubicBezTo>
                <a:lnTo>
                  <a:pt x="23130" y="89776"/>
                </a:lnTo>
                <a:cubicBezTo>
                  <a:pt x="17685" y="90125"/>
                  <a:pt x="12719" y="86553"/>
                  <a:pt x="11282" y="81282"/>
                </a:cubicBezTo>
                <a:lnTo>
                  <a:pt x="8233" y="69869"/>
                </a:lnTo>
                <a:cubicBezTo>
                  <a:pt x="6839" y="64599"/>
                  <a:pt x="9322" y="59023"/>
                  <a:pt x="14244" y="56584"/>
                </a:cubicBezTo>
                <a:lnTo>
                  <a:pt x="30666" y="48482"/>
                </a:lnTo>
                <a:cubicBezTo>
                  <a:pt x="30971" y="46260"/>
                  <a:pt x="31406" y="44082"/>
                  <a:pt x="31973" y="41861"/>
                </a:cubicBezTo>
                <a:cubicBezTo>
                  <a:pt x="32582" y="39639"/>
                  <a:pt x="33279" y="37505"/>
                  <a:pt x="34151" y="35457"/>
                </a:cubicBezTo>
                <a:lnTo>
                  <a:pt x="24001" y="20255"/>
                </a:lnTo>
                <a:cubicBezTo>
                  <a:pt x="20952" y="15681"/>
                  <a:pt x="21562" y="9627"/>
                  <a:pt x="25439" y="5750"/>
                </a:cubicBezTo>
                <a:lnTo>
                  <a:pt x="33802" y="-2614"/>
                </a:lnTo>
                <a:cubicBezTo>
                  <a:pt x="37679" y="-6490"/>
                  <a:pt x="43734" y="-7100"/>
                  <a:pt x="48307" y="-4051"/>
                </a:cubicBezTo>
                <a:lnTo>
                  <a:pt x="63553" y="6098"/>
                </a:lnTo>
                <a:cubicBezTo>
                  <a:pt x="67691" y="4400"/>
                  <a:pt x="72091" y="3180"/>
                  <a:pt x="76578" y="2570"/>
                </a:cubicBezTo>
                <a:lnTo>
                  <a:pt x="84680" y="-13808"/>
                </a:lnTo>
                <a:cubicBezTo>
                  <a:pt x="87119" y="-18731"/>
                  <a:pt x="92651" y="-21213"/>
                  <a:pt x="97965" y="-19820"/>
                </a:cubicBezTo>
                <a:close/>
                <a:moveTo>
                  <a:pt x="83808" y="36590"/>
                </a:moveTo>
                <a:cubicBezTo>
                  <a:pt x="73230" y="36590"/>
                  <a:pt x="64642" y="45178"/>
                  <a:pt x="64642" y="55756"/>
                </a:cubicBezTo>
                <a:cubicBezTo>
                  <a:pt x="64642" y="66334"/>
                  <a:pt x="73230" y="74922"/>
                  <a:pt x="83808" y="74922"/>
                </a:cubicBezTo>
                <a:cubicBezTo>
                  <a:pt x="94386" y="74922"/>
                  <a:pt x="102975" y="66334"/>
                  <a:pt x="102975" y="55756"/>
                </a:cubicBezTo>
                <a:cubicBezTo>
                  <a:pt x="102975" y="45178"/>
                  <a:pt x="94386" y="36590"/>
                  <a:pt x="83808" y="36590"/>
                </a:cubicBezTo>
                <a:close/>
              </a:path>
            </a:pathLst>
          </a:custGeom>
          <a:solidFill>
            <a:srgbClr val="51A2FF"/>
          </a:solidFill>
          <a:ln/>
        </p:spPr>
      </p:sp>
      <p:sp>
        <p:nvSpPr>
          <p:cNvPr id="35" name="Text 32"/>
          <p:cNvSpPr/>
          <p:nvPr/>
        </p:nvSpPr>
        <p:spPr>
          <a:xfrm>
            <a:off x="525037" y="5083098"/>
            <a:ext cx="3624146" cy="260195"/>
          </a:xfrm>
          <a:prstGeom prst="rect">
            <a:avLst/>
          </a:prstGeom>
          <a:noFill/>
          <a:ln/>
        </p:spPr>
        <p:txBody>
          <a:bodyPr wrap="square" lIns="0" tIns="0" rIns="0" bIns="0" rtlCol="0" anchor="ctr"/>
          <a:lstStyle/>
          <a:p>
            <a:pPr algn="ctr">
              <a:lnSpc>
                <a:spcPct val="130000"/>
              </a:lnSpc>
            </a:pPr>
            <a:r>
              <a:rPr lang="en-US" sz="1317" b="1" dirty="0">
                <a:solidFill>
                  <a:srgbClr val="F8F9FA"/>
                </a:solidFill>
                <a:latin typeface="Liter" pitchFamily="34" charset="0"/>
                <a:ea typeface="Liter" pitchFamily="34" charset="-122"/>
                <a:cs typeface="Liter" pitchFamily="34" charset="-120"/>
              </a:rPr>
              <a:t>Technique</a:t>
            </a:r>
            <a:endParaRPr lang="en-US" sz="1600" dirty="0"/>
          </a:p>
        </p:txBody>
      </p:sp>
      <p:sp>
        <p:nvSpPr>
          <p:cNvPr id="36" name="Text 33"/>
          <p:cNvSpPr/>
          <p:nvPr/>
        </p:nvSpPr>
        <p:spPr>
          <a:xfrm>
            <a:off x="534329" y="5417634"/>
            <a:ext cx="3605561" cy="427463"/>
          </a:xfrm>
          <a:prstGeom prst="rect">
            <a:avLst/>
          </a:prstGeom>
          <a:noFill/>
          <a:ln/>
        </p:spPr>
        <p:txBody>
          <a:bodyPr wrap="square" lIns="0" tIns="0" rIns="0" bIns="0" rtlCol="0" anchor="ctr"/>
          <a:lstStyle/>
          <a:p>
            <a:pPr algn="ctr">
              <a:lnSpc>
                <a:spcPct val="140000"/>
              </a:lnSpc>
            </a:pPr>
            <a:r>
              <a:rPr lang="en-US" sz="1024" dirty="0">
                <a:solidFill>
                  <a:srgbClr val="F8F9FA">
                    <a:alpha val="80000"/>
                  </a:srgbClr>
                </a:solidFill>
                <a:latin typeface="Liter" pitchFamily="34" charset="0"/>
                <a:ea typeface="Liter" pitchFamily="34" charset="-122"/>
                <a:cs typeface="Liter" pitchFamily="34" charset="-120"/>
              </a:rPr>
              <a:t>Site ultra-rapide et sécurisé qui convertit le trafic organique sans perte</a:t>
            </a:r>
            <a:endParaRPr lang="en-US" sz="1600" dirty="0"/>
          </a:p>
        </p:txBody>
      </p:sp>
      <p:sp>
        <p:nvSpPr>
          <p:cNvPr id="37" name="Shape 34"/>
          <p:cNvSpPr/>
          <p:nvPr/>
        </p:nvSpPr>
        <p:spPr>
          <a:xfrm>
            <a:off x="5845025" y="4460488"/>
            <a:ext cx="501805" cy="501805"/>
          </a:xfrm>
          <a:custGeom>
            <a:avLst/>
            <a:gdLst/>
            <a:ahLst/>
            <a:cxnLst/>
            <a:rect l="l" t="t" r="r" b="b"/>
            <a:pathLst>
              <a:path w="501805" h="501805">
                <a:moveTo>
                  <a:pt x="250902" y="0"/>
                </a:moveTo>
                <a:lnTo>
                  <a:pt x="250902" y="0"/>
                </a:lnTo>
                <a:cubicBezTo>
                  <a:pt x="389379" y="0"/>
                  <a:pt x="501805" y="112426"/>
                  <a:pt x="501805" y="250902"/>
                </a:cubicBezTo>
                <a:lnTo>
                  <a:pt x="501805" y="250902"/>
                </a:lnTo>
                <a:cubicBezTo>
                  <a:pt x="501805" y="389379"/>
                  <a:pt x="389379" y="501805"/>
                  <a:pt x="250902" y="501805"/>
                </a:cubicBezTo>
                <a:lnTo>
                  <a:pt x="250902" y="501805"/>
                </a:lnTo>
                <a:cubicBezTo>
                  <a:pt x="112426" y="501805"/>
                  <a:pt x="0" y="389379"/>
                  <a:pt x="0" y="250902"/>
                </a:cubicBezTo>
                <a:lnTo>
                  <a:pt x="0" y="250902"/>
                </a:lnTo>
                <a:cubicBezTo>
                  <a:pt x="0" y="112426"/>
                  <a:pt x="112426" y="0"/>
                  <a:pt x="250902" y="0"/>
                </a:cubicBezTo>
                <a:close/>
              </a:path>
            </a:pathLst>
          </a:custGeom>
          <a:solidFill>
            <a:srgbClr val="AD46FF">
              <a:alpha val="20000"/>
            </a:srgbClr>
          </a:solidFill>
          <a:ln w="25400">
            <a:solidFill>
              <a:srgbClr val="C27AFF"/>
            </a:solidFill>
            <a:prstDash val="solid"/>
          </a:ln>
        </p:spPr>
      </p:sp>
      <p:sp>
        <p:nvSpPr>
          <p:cNvPr id="38" name="Shape 35"/>
          <p:cNvSpPr/>
          <p:nvPr/>
        </p:nvSpPr>
        <p:spPr>
          <a:xfrm>
            <a:off x="5956537" y="4599878"/>
            <a:ext cx="278780" cy="223024"/>
          </a:xfrm>
          <a:custGeom>
            <a:avLst/>
            <a:gdLst/>
            <a:ahLst/>
            <a:cxnLst/>
            <a:rect l="l" t="t" r="r" b="b"/>
            <a:pathLst>
              <a:path w="278780" h="223024">
                <a:moveTo>
                  <a:pt x="153329" y="0"/>
                </a:moveTo>
                <a:cubicBezTo>
                  <a:pt x="153329" y="-7710"/>
                  <a:pt x="147100" y="-13939"/>
                  <a:pt x="139390" y="-13939"/>
                </a:cubicBezTo>
                <a:cubicBezTo>
                  <a:pt x="131680" y="-13939"/>
                  <a:pt x="125451" y="-7710"/>
                  <a:pt x="125451" y="0"/>
                </a:cubicBezTo>
                <a:lnTo>
                  <a:pt x="125451" y="27878"/>
                </a:lnTo>
                <a:lnTo>
                  <a:pt x="83634" y="27878"/>
                </a:lnTo>
                <a:cubicBezTo>
                  <a:pt x="60548" y="27878"/>
                  <a:pt x="41817" y="46609"/>
                  <a:pt x="41817" y="69695"/>
                </a:cubicBezTo>
                <a:lnTo>
                  <a:pt x="41817" y="167268"/>
                </a:lnTo>
                <a:cubicBezTo>
                  <a:pt x="41817" y="190355"/>
                  <a:pt x="60548" y="209085"/>
                  <a:pt x="83634" y="209085"/>
                </a:cubicBezTo>
                <a:lnTo>
                  <a:pt x="195146" y="209085"/>
                </a:lnTo>
                <a:cubicBezTo>
                  <a:pt x="218233" y="209085"/>
                  <a:pt x="236963" y="190355"/>
                  <a:pt x="236963" y="167268"/>
                </a:cubicBezTo>
                <a:lnTo>
                  <a:pt x="236963" y="69695"/>
                </a:lnTo>
                <a:cubicBezTo>
                  <a:pt x="236963" y="46609"/>
                  <a:pt x="218233" y="27878"/>
                  <a:pt x="195146" y="27878"/>
                </a:cubicBezTo>
                <a:lnTo>
                  <a:pt x="153329" y="27878"/>
                </a:lnTo>
                <a:lnTo>
                  <a:pt x="153329" y="0"/>
                </a:lnTo>
                <a:close/>
                <a:moveTo>
                  <a:pt x="69695" y="160299"/>
                </a:moveTo>
                <a:cubicBezTo>
                  <a:pt x="69695" y="154505"/>
                  <a:pt x="74356" y="149845"/>
                  <a:pt x="80149" y="149845"/>
                </a:cubicBezTo>
                <a:lnTo>
                  <a:pt x="94088" y="149845"/>
                </a:lnTo>
                <a:cubicBezTo>
                  <a:pt x="99882" y="149845"/>
                  <a:pt x="104543" y="154505"/>
                  <a:pt x="104543" y="160299"/>
                </a:cubicBezTo>
                <a:cubicBezTo>
                  <a:pt x="104543" y="166092"/>
                  <a:pt x="99882" y="170753"/>
                  <a:pt x="94088" y="170753"/>
                </a:cubicBezTo>
                <a:lnTo>
                  <a:pt x="80149" y="170753"/>
                </a:lnTo>
                <a:cubicBezTo>
                  <a:pt x="74356" y="170753"/>
                  <a:pt x="69695" y="166092"/>
                  <a:pt x="69695" y="160299"/>
                </a:cubicBezTo>
                <a:close/>
                <a:moveTo>
                  <a:pt x="121966" y="160299"/>
                </a:moveTo>
                <a:cubicBezTo>
                  <a:pt x="121966" y="154505"/>
                  <a:pt x="126627" y="149845"/>
                  <a:pt x="132421" y="149845"/>
                </a:cubicBezTo>
                <a:lnTo>
                  <a:pt x="146360" y="149845"/>
                </a:lnTo>
                <a:cubicBezTo>
                  <a:pt x="152153" y="149845"/>
                  <a:pt x="156814" y="154505"/>
                  <a:pt x="156814" y="160299"/>
                </a:cubicBezTo>
                <a:cubicBezTo>
                  <a:pt x="156814" y="166092"/>
                  <a:pt x="152153" y="170753"/>
                  <a:pt x="146360" y="170753"/>
                </a:cubicBezTo>
                <a:lnTo>
                  <a:pt x="132421" y="170753"/>
                </a:lnTo>
                <a:cubicBezTo>
                  <a:pt x="126627" y="170753"/>
                  <a:pt x="121966" y="166092"/>
                  <a:pt x="121966" y="160299"/>
                </a:cubicBezTo>
                <a:close/>
                <a:moveTo>
                  <a:pt x="174238" y="160299"/>
                </a:moveTo>
                <a:cubicBezTo>
                  <a:pt x="174238" y="154505"/>
                  <a:pt x="178899" y="149845"/>
                  <a:pt x="184692" y="149845"/>
                </a:cubicBezTo>
                <a:lnTo>
                  <a:pt x="198631" y="149845"/>
                </a:lnTo>
                <a:cubicBezTo>
                  <a:pt x="204425" y="149845"/>
                  <a:pt x="209085" y="154505"/>
                  <a:pt x="209085" y="160299"/>
                </a:cubicBezTo>
                <a:cubicBezTo>
                  <a:pt x="209085" y="166092"/>
                  <a:pt x="204425" y="170753"/>
                  <a:pt x="198631" y="170753"/>
                </a:cubicBezTo>
                <a:lnTo>
                  <a:pt x="184692" y="170753"/>
                </a:lnTo>
                <a:cubicBezTo>
                  <a:pt x="178899" y="170753"/>
                  <a:pt x="174238" y="166092"/>
                  <a:pt x="174238" y="160299"/>
                </a:cubicBezTo>
                <a:close/>
                <a:moveTo>
                  <a:pt x="97573" y="76665"/>
                </a:moveTo>
                <a:cubicBezTo>
                  <a:pt x="109113" y="76665"/>
                  <a:pt x="118482" y="86033"/>
                  <a:pt x="118482" y="97573"/>
                </a:cubicBezTo>
                <a:cubicBezTo>
                  <a:pt x="118482" y="109113"/>
                  <a:pt x="109113" y="118482"/>
                  <a:pt x="97573" y="118482"/>
                </a:cubicBezTo>
                <a:cubicBezTo>
                  <a:pt x="86033" y="118482"/>
                  <a:pt x="76665" y="109113"/>
                  <a:pt x="76665" y="97573"/>
                </a:cubicBezTo>
                <a:cubicBezTo>
                  <a:pt x="76665" y="86033"/>
                  <a:pt x="86033" y="76665"/>
                  <a:pt x="97573" y="76665"/>
                </a:cubicBezTo>
                <a:close/>
                <a:moveTo>
                  <a:pt x="160299" y="97573"/>
                </a:moveTo>
                <a:cubicBezTo>
                  <a:pt x="160299" y="86033"/>
                  <a:pt x="169668" y="76665"/>
                  <a:pt x="181207" y="76665"/>
                </a:cubicBezTo>
                <a:cubicBezTo>
                  <a:pt x="192747" y="76665"/>
                  <a:pt x="202116" y="86033"/>
                  <a:pt x="202116" y="97573"/>
                </a:cubicBezTo>
                <a:cubicBezTo>
                  <a:pt x="202116" y="109113"/>
                  <a:pt x="192747" y="118482"/>
                  <a:pt x="181207" y="118482"/>
                </a:cubicBezTo>
                <a:cubicBezTo>
                  <a:pt x="169668" y="118482"/>
                  <a:pt x="160299" y="109113"/>
                  <a:pt x="160299" y="97573"/>
                </a:cubicBezTo>
                <a:close/>
                <a:moveTo>
                  <a:pt x="27878" y="97573"/>
                </a:moveTo>
                <a:cubicBezTo>
                  <a:pt x="27878" y="89863"/>
                  <a:pt x="21649" y="83634"/>
                  <a:pt x="13939" y="83634"/>
                </a:cubicBezTo>
                <a:cubicBezTo>
                  <a:pt x="6229" y="83634"/>
                  <a:pt x="0" y="89863"/>
                  <a:pt x="0" y="97573"/>
                </a:cubicBezTo>
                <a:lnTo>
                  <a:pt x="0" y="139390"/>
                </a:lnTo>
                <a:cubicBezTo>
                  <a:pt x="0" y="147100"/>
                  <a:pt x="6229" y="153329"/>
                  <a:pt x="13939" y="153329"/>
                </a:cubicBezTo>
                <a:cubicBezTo>
                  <a:pt x="21649" y="153329"/>
                  <a:pt x="27878" y="147100"/>
                  <a:pt x="27878" y="139390"/>
                </a:cubicBezTo>
                <a:lnTo>
                  <a:pt x="27878" y="97573"/>
                </a:lnTo>
                <a:close/>
                <a:moveTo>
                  <a:pt x="264841" y="83634"/>
                </a:moveTo>
                <a:cubicBezTo>
                  <a:pt x="257131" y="83634"/>
                  <a:pt x="250902" y="89863"/>
                  <a:pt x="250902" y="97573"/>
                </a:cubicBezTo>
                <a:lnTo>
                  <a:pt x="250902" y="139390"/>
                </a:lnTo>
                <a:cubicBezTo>
                  <a:pt x="250902" y="147100"/>
                  <a:pt x="257131" y="153329"/>
                  <a:pt x="264841" y="153329"/>
                </a:cubicBezTo>
                <a:cubicBezTo>
                  <a:pt x="272551" y="153329"/>
                  <a:pt x="278780" y="147100"/>
                  <a:pt x="278780" y="139390"/>
                </a:cubicBezTo>
                <a:lnTo>
                  <a:pt x="278780" y="97573"/>
                </a:lnTo>
                <a:cubicBezTo>
                  <a:pt x="278780" y="89863"/>
                  <a:pt x="272551" y="83634"/>
                  <a:pt x="264841" y="83634"/>
                </a:cubicBezTo>
                <a:close/>
              </a:path>
            </a:pathLst>
          </a:custGeom>
          <a:solidFill>
            <a:srgbClr val="C27AFF"/>
          </a:solidFill>
          <a:ln/>
        </p:spPr>
      </p:sp>
      <p:sp>
        <p:nvSpPr>
          <p:cNvPr id="39" name="Text 36"/>
          <p:cNvSpPr/>
          <p:nvPr/>
        </p:nvSpPr>
        <p:spPr>
          <a:xfrm>
            <a:off x="4285451" y="5083098"/>
            <a:ext cx="3624146" cy="260195"/>
          </a:xfrm>
          <a:prstGeom prst="rect">
            <a:avLst/>
          </a:prstGeom>
          <a:noFill/>
          <a:ln/>
        </p:spPr>
        <p:txBody>
          <a:bodyPr wrap="square" lIns="0" tIns="0" rIns="0" bIns="0" rtlCol="0" anchor="ctr"/>
          <a:lstStyle/>
          <a:p>
            <a:pPr algn="ctr">
              <a:lnSpc>
                <a:spcPct val="130000"/>
              </a:lnSpc>
            </a:pPr>
            <a:r>
              <a:rPr lang="en-US" sz="1317" b="1" dirty="0">
                <a:solidFill>
                  <a:srgbClr val="F8F9FA"/>
                </a:solidFill>
                <a:latin typeface="Liter" pitchFamily="34" charset="0"/>
                <a:ea typeface="Liter" pitchFamily="34" charset="-122"/>
                <a:cs typeface="Liter" pitchFamily="34" charset="-120"/>
              </a:rPr>
              <a:t>Opérationnel</a:t>
            </a:r>
            <a:endParaRPr lang="en-US" sz="1600" dirty="0"/>
          </a:p>
        </p:txBody>
      </p:sp>
      <p:sp>
        <p:nvSpPr>
          <p:cNvPr id="40" name="Text 37"/>
          <p:cNvSpPr/>
          <p:nvPr/>
        </p:nvSpPr>
        <p:spPr>
          <a:xfrm>
            <a:off x="4294744" y="5417634"/>
            <a:ext cx="3605561" cy="427463"/>
          </a:xfrm>
          <a:prstGeom prst="rect">
            <a:avLst/>
          </a:prstGeom>
          <a:noFill/>
          <a:ln/>
        </p:spPr>
        <p:txBody>
          <a:bodyPr wrap="square" lIns="0" tIns="0" rIns="0" bIns="0" rtlCol="0" anchor="ctr"/>
          <a:lstStyle/>
          <a:p>
            <a:pPr algn="ctr">
              <a:lnSpc>
                <a:spcPct val="140000"/>
              </a:lnSpc>
            </a:pPr>
            <a:r>
              <a:rPr lang="en-US" sz="1024" dirty="0">
                <a:solidFill>
                  <a:srgbClr val="F8F9FA">
                    <a:alpha val="80000"/>
                  </a:srgbClr>
                </a:solidFill>
                <a:latin typeface="Liter" pitchFamily="34" charset="0"/>
                <a:ea typeface="Liter" pitchFamily="34" charset="-122"/>
                <a:cs typeface="Liter" pitchFamily="34" charset="-120"/>
              </a:rPr>
              <a:t>CRM automatisé qui soulage l'administration et relance les patients dormants</a:t>
            </a:r>
            <a:endParaRPr lang="en-US" sz="1600" dirty="0"/>
          </a:p>
        </p:txBody>
      </p:sp>
      <p:sp>
        <p:nvSpPr>
          <p:cNvPr id="41" name="Shape 38"/>
          <p:cNvSpPr/>
          <p:nvPr/>
        </p:nvSpPr>
        <p:spPr>
          <a:xfrm>
            <a:off x="9605440" y="4460488"/>
            <a:ext cx="501805" cy="501805"/>
          </a:xfrm>
          <a:custGeom>
            <a:avLst/>
            <a:gdLst/>
            <a:ahLst/>
            <a:cxnLst/>
            <a:rect l="l" t="t" r="r" b="b"/>
            <a:pathLst>
              <a:path w="501805" h="501805">
                <a:moveTo>
                  <a:pt x="250902" y="0"/>
                </a:moveTo>
                <a:lnTo>
                  <a:pt x="250902" y="0"/>
                </a:lnTo>
                <a:cubicBezTo>
                  <a:pt x="389379" y="0"/>
                  <a:pt x="501805" y="112426"/>
                  <a:pt x="501805" y="250902"/>
                </a:cubicBezTo>
                <a:lnTo>
                  <a:pt x="501805" y="250902"/>
                </a:lnTo>
                <a:cubicBezTo>
                  <a:pt x="501805" y="389379"/>
                  <a:pt x="389379" y="501805"/>
                  <a:pt x="250902" y="501805"/>
                </a:cubicBezTo>
                <a:lnTo>
                  <a:pt x="250902" y="501805"/>
                </a:lnTo>
                <a:cubicBezTo>
                  <a:pt x="112426" y="501805"/>
                  <a:pt x="0" y="389379"/>
                  <a:pt x="0" y="250902"/>
                </a:cubicBezTo>
                <a:lnTo>
                  <a:pt x="0" y="250902"/>
                </a:lnTo>
                <a:cubicBezTo>
                  <a:pt x="0" y="112426"/>
                  <a:pt x="112426" y="0"/>
                  <a:pt x="250902" y="0"/>
                </a:cubicBezTo>
                <a:close/>
              </a:path>
            </a:pathLst>
          </a:custGeom>
          <a:solidFill>
            <a:srgbClr val="00C950">
              <a:alpha val="20000"/>
            </a:srgbClr>
          </a:solidFill>
          <a:ln w="25400">
            <a:solidFill>
              <a:srgbClr val="05DF72"/>
            </a:solidFill>
            <a:prstDash val="solid"/>
          </a:ln>
        </p:spPr>
      </p:sp>
      <p:sp>
        <p:nvSpPr>
          <p:cNvPr id="42" name="Shape 39"/>
          <p:cNvSpPr/>
          <p:nvPr/>
        </p:nvSpPr>
        <p:spPr>
          <a:xfrm>
            <a:off x="9786647" y="4599878"/>
            <a:ext cx="139390" cy="223024"/>
          </a:xfrm>
          <a:custGeom>
            <a:avLst/>
            <a:gdLst/>
            <a:ahLst/>
            <a:cxnLst/>
            <a:rect l="l" t="t" r="r" b="b"/>
            <a:pathLst>
              <a:path w="139390" h="223024">
                <a:moveTo>
                  <a:pt x="59241" y="10454"/>
                </a:moveTo>
                <a:cubicBezTo>
                  <a:pt x="59241" y="4661"/>
                  <a:pt x="63902" y="0"/>
                  <a:pt x="69695" y="0"/>
                </a:cubicBezTo>
                <a:cubicBezTo>
                  <a:pt x="75489" y="0"/>
                  <a:pt x="80149" y="4661"/>
                  <a:pt x="80149" y="10454"/>
                </a:cubicBezTo>
                <a:lnTo>
                  <a:pt x="80149" y="27878"/>
                </a:lnTo>
                <a:lnTo>
                  <a:pt x="104543" y="27878"/>
                </a:lnTo>
                <a:cubicBezTo>
                  <a:pt x="112253" y="27878"/>
                  <a:pt x="118482" y="34107"/>
                  <a:pt x="118482" y="41817"/>
                </a:cubicBezTo>
                <a:cubicBezTo>
                  <a:pt x="118482" y="49527"/>
                  <a:pt x="112253" y="55756"/>
                  <a:pt x="104543" y="55756"/>
                </a:cubicBezTo>
                <a:lnTo>
                  <a:pt x="54493" y="55756"/>
                </a:lnTo>
                <a:cubicBezTo>
                  <a:pt x="43647" y="55756"/>
                  <a:pt x="34848" y="64555"/>
                  <a:pt x="34848" y="75401"/>
                </a:cubicBezTo>
                <a:cubicBezTo>
                  <a:pt x="34848" y="85202"/>
                  <a:pt x="42035" y="93479"/>
                  <a:pt x="51705" y="94872"/>
                </a:cubicBezTo>
                <a:lnTo>
                  <a:pt x="91606" y="100579"/>
                </a:lnTo>
                <a:cubicBezTo>
                  <a:pt x="115041" y="103933"/>
                  <a:pt x="132421" y="123970"/>
                  <a:pt x="132421" y="147623"/>
                </a:cubicBezTo>
                <a:cubicBezTo>
                  <a:pt x="132421" y="173889"/>
                  <a:pt x="111120" y="195146"/>
                  <a:pt x="84897" y="195146"/>
                </a:cubicBezTo>
                <a:lnTo>
                  <a:pt x="80149" y="195146"/>
                </a:lnTo>
                <a:lnTo>
                  <a:pt x="80149" y="212570"/>
                </a:lnTo>
                <a:cubicBezTo>
                  <a:pt x="80149" y="218364"/>
                  <a:pt x="75489" y="223024"/>
                  <a:pt x="69695" y="223024"/>
                </a:cubicBezTo>
                <a:cubicBezTo>
                  <a:pt x="63902" y="223024"/>
                  <a:pt x="59241" y="218364"/>
                  <a:pt x="59241" y="212570"/>
                </a:cubicBezTo>
                <a:lnTo>
                  <a:pt x="59241" y="195146"/>
                </a:lnTo>
                <a:lnTo>
                  <a:pt x="27878" y="195146"/>
                </a:lnTo>
                <a:cubicBezTo>
                  <a:pt x="20168" y="195146"/>
                  <a:pt x="13939" y="188917"/>
                  <a:pt x="13939" y="181207"/>
                </a:cubicBezTo>
                <a:cubicBezTo>
                  <a:pt x="13939" y="173497"/>
                  <a:pt x="20168" y="167268"/>
                  <a:pt x="27878" y="167268"/>
                </a:cubicBezTo>
                <a:lnTo>
                  <a:pt x="84897" y="167268"/>
                </a:lnTo>
                <a:cubicBezTo>
                  <a:pt x="95744" y="167268"/>
                  <a:pt x="104543" y="158469"/>
                  <a:pt x="104543" y="147623"/>
                </a:cubicBezTo>
                <a:cubicBezTo>
                  <a:pt x="104543" y="137822"/>
                  <a:pt x="97355" y="129546"/>
                  <a:pt x="87685" y="128152"/>
                </a:cubicBezTo>
                <a:lnTo>
                  <a:pt x="47785" y="122446"/>
                </a:lnTo>
                <a:cubicBezTo>
                  <a:pt x="24350" y="119135"/>
                  <a:pt x="6970" y="99054"/>
                  <a:pt x="6970" y="75401"/>
                </a:cubicBezTo>
                <a:cubicBezTo>
                  <a:pt x="6970" y="49179"/>
                  <a:pt x="28270" y="27878"/>
                  <a:pt x="54493" y="27878"/>
                </a:cubicBezTo>
                <a:lnTo>
                  <a:pt x="59241" y="27878"/>
                </a:lnTo>
                <a:lnTo>
                  <a:pt x="59241" y="10454"/>
                </a:lnTo>
                <a:close/>
              </a:path>
            </a:pathLst>
          </a:custGeom>
          <a:solidFill>
            <a:srgbClr val="05DF72"/>
          </a:solidFill>
          <a:ln/>
        </p:spPr>
      </p:sp>
      <p:sp>
        <p:nvSpPr>
          <p:cNvPr id="43" name="Text 40"/>
          <p:cNvSpPr/>
          <p:nvPr/>
        </p:nvSpPr>
        <p:spPr>
          <a:xfrm>
            <a:off x="8045866" y="5083098"/>
            <a:ext cx="3624146" cy="260195"/>
          </a:xfrm>
          <a:prstGeom prst="rect">
            <a:avLst/>
          </a:prstGeom>
          <a:noFill/>
          <a:ln/>
        </p:spPr>
        <p:txBody>
          <a:bodyPr wrap="square" lIns="0" tIns="0" rIns="0" bIns="0" rtlCol="0" anchor="ctr"/>
          <a:lstStyle/>
          <a:p>
            <a:pPr algn="ctr">
              <a:lnSpc>
                <a:spcPct val="130000"/>
              </a:lnSpc>
            </a:pPr>
            <a:r>
              <a:rPr lang="en-US" sz="1317" b="1" dirty="0">
                <a:solidFill>
                  <a:srgbClr val="F8F9FA"/>
                </a:solidFill>
                <a:latin typeface="Liter" pitchFamily="34" charset="0"/>
                <a:ea typeface="Liter" pitchFamily="34" charset="-122"/>
                <a:cs typeface="Liter" pitchFamily="34" charset="-120"/>
              </a:rPr>
              <a:t>Financier</a:t>
            </a:r>
            <a:endParaRPr lang="en-US" sz="1600" dirty="0"/>
          </a:p>
        </p:txBody>
      </p:sp>
      <p:sp>
        <p:nvSpPr>
          <p:cNvPr id="44" name="Text 41"/>
          <p:cNvSpPr/>
          <p:nvPr/>
        </p:nvSpPr>
        <p:spPr>
          <a:xfrm>
            <a:off x="8055159" y="5417634"/>
            <a:ext cx="3605561" cy="213732"/>
          </a:xfrm>
          <a:prstGeom prst="rect">
            <a:avLst/>
          </a:prstGeom>
          <a:noFill/>
          <a:ln/>
        </p:spPr>
        <p:txBody>
          <a:bodyPr wrap="square" lIns="0" tIns="0" rIns="0" bIns="0" rtlCol="0" anchor="ctr"/>
          <a:lstStyle/>
          <a:p>
            <a:pPr algn="ctr">
              <a:lnSpc>
                <a:spcPct val="140000"/>
              </a:lnSpc>
            </a:pPr>
            <a:r>
              <a:rPr lang="en-US" sz="1024" dirty="0">
                <a:solidFill>
                  <a:srgbClr val="F8F9FA">
                    <a:alpha val="80000"/>
                  </a:srgbClr>
                </a:solidFill>
                <a:latin typeface="Liter" pitchFamily="34" charset="0"/>
                <a:ea typeface="Liter" pitchFamily="34" charset="-122"/>
                <a:cs typeface="Liter" pitchFamily="34" charset="-120"/>
              </a:rPr>
              <a:t>ROI publicitaire maximisé par focalisation sur qEEG à 350$</a:t>
            </a:r>
            <a:endParaRPr lang="en-US" sz="1600" dirty="0"/>
          </a:p>
        </p:txBody>
      </p:sp>
      <p:sp>
        <p:nvSpPr>
          <p:cNvPr id="45" name="Shape 42"/>
          <p:cNvSpPr/>
          <p:nvPr/>
        </p:nvSpPr>
        <p:spPr>
          <a:xfrm>
            <a:off x="371707" y="6184280"/>
            <a:ext cx="11448585" cy="678366"/>
          </a:xfrm>
          <a:custGeom>
            <a:avLst/>
            <a:gdLst/>
            <a:ahLst/>
            <a:cxnLst/>
            <a:rect l="l" t="t" r="r" b="b"/>
            <a:pathLst>
              <a:path w="11448585" h="678366">
                <a:moveTo>
                  <a:pt x="111510" y="0"/>
                </a:moveTo>
                <a:lnTo>
                  <a:pt x="11337076" y="0"/>
                </a:lnTo>
                <a:cubicBezTo>
                  <a:pt x="11398661" y="0"/>
                  <a:pt x="11448585" y="49925"/>
                  <a:pt x="11448585" y="111510"/>
                </a:cubicBezTo>
                <a:lnTo>
                  <a:pt x="11448585" y="566856"/>
                </a:lnTo>
                <a:cubicBezTo>
                  <a:pt x="11448585" y="628441"/>
                  <a:pt x="11398661" y="678366"/>
                  <a:pt x="11337076" y="678366"/>
                </a:cubicBezTo>
                <a:lnTo>
                  <a:pt x="111510" y="678366"/>
                </a:lnTo>
                <a:cubicBezTo>
                  <a:pt x="49925" y="678366"/>
                  <a:pt x="0" y="628441"/>
                  <a:pt x="0" y="566856"/>
                </a:cubicBezTo>
                <a:lnTo>
                  <a:pt x="0" y="111510"/>
                </a:lnTo>
                <a:cubicBezTo>
                  <a:pt x="0" y="49966"/>
                  <a:pt x="49966" y="0"/>
                  <a:pt x="111510" y="0"/>
                </a:cubicBezTo>
                <a:close/>
              </a:path>
            </a:pathLst>
          </a:custGeom>
          <a:solidFill>
            <a:srgbClr val="C5A065"/>
          </a:solidFill>
          <a:ln/>
        </p:spPr>
      </p:sp>
      <p:sp>
        <p:nvSpPr>
          <p:cNvPr id="46" name="Shape 43"/>
          <p:cNvSpPr/>
          <p:nvPr/>
        </p:nvSpPr>
        <p:spPr>
          <a:xfrm>
            <a:off x="612155" y="6381750"/>
            <a:ext cx="243933" cy="278780"/>
          </a:xfrm>
          <a:custGeom>
            <a:avLst/>
            <a:gdLst/>
            <a:ahLst/>
            <a:cxnLst/>
            <a:rect l="l" t="t" r="r" b="b"/>
            <a:pathLst>
              <a:path w="243933" h="278780">
                <a:moveTo>
                  <a:pt x="0" y="117611"/>
                </a:moveTo>
                <a:cubicBezTo>
                  <a:pt x="0" y="81511"/>
                  <a:pt x="29239" y="52271"/>
                  <a:pt x="65339" y="52271"/>
                </a:cubicBezTo>
                <a:lnTo>
                  <a:pt x="69695" y="52271"/>
                </a:lnTo>
                <a:cubicBezTo>
                  <a:pt x="79333" y="52271"/>
                  <a:pt x="87119" y="60058"/>
                  <a:pt x="87119" y="69695"/>
                </a:cubicBezTo>
                <a:cubicBezTo>
                  <a:pt x="87119" y="79333"/>
                  <a:pt x="79333" y="87119"/>
                  <a:pt x="69695" y="87119"/>
                </a:cubicBezTo>
                <a:lnTo>
                  <a:pt x="65339" y="87119"/>
                </a:lnTo>
                <a:cubicBezTo>
                  <a:pt x="48514" y="87119"/>
                  <a:pt x="34848" y="100786"/>
                  <a:pt x="34848" y="117611"/>
                </a:cubicBezTo>
                <a:lnTo>
                  <a:pt x="34848" y="121966"/>
                </a:lnTo>
                <a:lnTo>
                  <a:pt x="69695" y="121966"/>
                </a:lnTo>
                <a:cubicBezTo>
                  <a:pt x="88916" y="121966"/>
                  <a:pt x="104543" y="137593"/>
                  <a:pt x="104543" y="156814"/>
                </a:cubicBezTo>
                <a:lnTo>
                  <a:pt x="104543" y="191662"/>
                </a:lnTo>
                <a:cubicBezTo>
                  <a:pt x="104543" y="210882"/>
                  <a:pt x="88916" y="226509"/>
                  <a:pt x="69695" y="226509"/>
                </a:cubicBezTo>
                <a:lnTo>
                  <a:pt x="34848" y="226509"/>
                </a:lnTo>
                <a:cubicBezTo>
                  <a:pt x="15627" y="226509"/>
                  <a:pt x="0" y="210882"/>
                  <a:pt x="0" y="191662"/>
                </a:cubicBezTo>
                <a:lnTo>
                  <a:pt x="0" y="117611"/>
                </a:lnTo>
                <a:close/>
                <a:moveTo>
                  <a:pt x="139390" y="117611"/>
                </a:moveTo>
                <a:cubicBezTo>
                  <a:pt x="139390" y="81511"/>
                  <a:pt x="168630" y="52271"/>
                  <a:pt x="204729" y="52271"/>
                </a:cubicBezTo>
                <a:lnTo>
                  <a:pt x="209085" y="52271"/>
                </a:lnTo>
                <a:cubicBezTo>
                  <a:pt x="218723" y="52271"/>
                  <a:pt x="226509" y="60058"/>
                  <a:pt x="226509" y="69695"/>
                </a:cubicBezTo>
                <a:cubicBezTo>
                  <a:pt x="226509" y="79333"/>
                  <a:pt x="218723" y="87119"/>
                  <a:pt x="209085" y="87119"/>
                </a:cubicBezTo>
                <a:lnTo>
                  <a:pt x="204729" y="87119"/>
                </a:lnTo>
                <a:cubicBezTo>
                  <a:pt x="187905" y="87119"/>
                  <a:pt x="174238" y="100786"/>
                  <a:pt x="174238" y="117611"/>
                </a:cubicBezTo>
                <a:lnTo>
                  <a:pt x="174238" y="121966"/>
                </a:lnTo>
                <a:lnTo>
                  <a:pt x="209085" y="121966"/>
                </a:lnTo>
                <a:cubicBezTo>
                  <a:pt x="228306" y="121966"/>
                  <a:pt x="243933" y="137593"/>
                  <a:pt x="243933" y="156814"/>
                </a:cubicBezTo>
                <a:lnTo>
                  <a:pt x="243933" y="191662"/>
                </a:lnTo>
                <a:cubicBezTo>
                  <a:pt x="243933" y="210882"/>
                  <a:pt x="228306" y="226509"/>
                  <a:pt x="209085" y="226509"/>
                </a:cubicBezTo>
                <a:lnTo>
                  <a:pt x="174238" y="226509"/>
                </a:lnTo>
                <a:cubicBezTo>
                  <a:pt x="155017" y="226509"/>
                  <a:pt x="139390" y="210882"/>
                  <a:pt x="139390" y="191662"/>
                </a:cubicBezTo>
                <a:lnTo>
                  <a:pt x="139390" y="117611"/>
                </a:lnTo>
                <a:close/>
              </a:path>
            </a:pathLst>
          </a:custGeom>
          <a:solidFill>
            <a:srgbClr val="FFFFFF">
              <a:alpha val="30196"/>
            </a:srgbClr>
          </a:solidFill>
          <a:ln/>
        </p:spPr>
      </p:sp>
      <p:sp>
        <p:nvSpPr>
          <p:cNvPr id="47" name="Text 44"/>
          <p:cNvSpPr/>
          <p:nvPr/>
        </p:nvSpPr>
        <p:spPr>
          <a:xfrm>
            <a:off x="1008256" y="6370134"/>
            <a:ext cx="10175488" cy="306659"/>
          </a:xfrm>
          <a:prstGeom prst="rect">
            <a:avLst/>
          </a:prstGeom>
          <a:noFill/>
          <a:ln/>
        </p:spPr>
        <p:txBody>
          <a:bodyPr wrap="square" lIns="0" tIns="0" rIns="0" bIns="0" rtlCol="0" anchor="ctr"/>
          <a:lstStyle/>
          <a:p>
            <a:pPr algn="ctr">
              <a:lnSpc>
                <a:spcPct val="140000"/>
              </a:lnSpc>
            </a:pPr>
            <a:r>
              <a:rPr lang="en-US" sz="1463" b="1" dirty="0">
                <a:solidFill>
                  <a:srgbClr val="FFFFFF"/>
                </a:solidFill>
                <a:latin typeface="Liter" pitchFamily="34" charset="0"/>
                <a:ea typeface="Liter" pitchFamily="34" charset="-122"/>
                <a:cs typeface="Liter" pitchFamily="34" charset="-120"/>
              </a:rPr>
              <a:t>Votre excellence clinique mérite un système d'acquisition digital qui opère avec la même précision.</a:t>
            </a:r>
            <a:endParaRPr lang="en-US" sz="1600" dirty="0"/>
          </a:p>
        </p:txBody>
      </p:sp>
      <p:sp>
        <p:nvSpPr>
          <p:cNvPr id="48" name="Shape 45"/>
          <p:cNvSpPr/>
          <p:nvPr/>
        </p:nvSpPr>
        <p:spPr>
          <a:xfrm>
            <a:off x="11340558" y="6381750"/>
            <a:ext cx="243933" cy="278780"/>
          </a:xfrm>
          <a:custGeom>
            <a:avLst/>
            <a:gdLst/>
            <a:ahLst/>
            <a:cxnLst/>
            <a:rect l="l" t="t" r="r" b="b"/>
            <a:pathLst>
              <a:path w="243933" h="278780">
                <a:moveTo>
                  <a:pt x="243933" y="161170"/>
                </a:moveTo>
                <a:cubicBezTo>
                  <a:pt x="243933" y="197270"/>
                  <a:pt x="214694" y="226509"/>
                  <a:pt x="178594" y="226509"/>
                </a:cubicBezTo>
                <a:lnTo>
                  <a:pt x="174238" y="226509"/>
                </a:lnTo>
                <a:cubicBezTo>
                  <a:pt x="164600" y="226509"/>
                  <a:pt x="156814" y="218723"/>
                  <a:pt x="156814" y="209085"/>
                </a:cubicBezTo>
                <a:cubicBezTo>
                  <a:pt x="156814" y="199448"/>
                  <a:pt x="164600" y="191662"/>
                  <a:pt x="174238" y="191662"/>
                </a:cubicBezTo>
                <a:lnTo>
                  <a:pt x="178594" y="191662"/>
                </a:lnTo>
                <a:cubicBezTo>
                  <a:pt x="195419" y="191662"/>
                  <a:pt x="209085" y="177995"/>
                  <a:pt x="209085" y="161170"/>
                </a:cubicBezTo>
                <a:lnTo>
                  <a:pt x="209085" y="156814"/>
                </a:lnTo>
                <a:lnTo>
                  <a:pt x="174238" y="156814"/>
                </a:lnTo>
                <a:cubicBezTo>
                  <a:pt x="155017" y="156814"/>
                  <a:pt x="139390" y="141187"/>
                  <a:pt x="139390" y="121966"/>
                </a:cubicBezTo>
                <a:lnTo>
                  <a:pt x="139390" y="87119"/>
                </a:lnTo>
                <a:cubicBezTo>
                  <a:pt x="139390" y="67898"/>
                  <a:pt x="155017" y="52271"/>
                  <a:pt x="174238" y="52271"/>
                </a:cubicBezTo>
                <a:lnTo>
                  <a:pt x="209085" y="52271"/>
                </a:lnTo>
                <a:cubicBezTo>
                  <a:pt x="228306" y="52271"/>
                  <a:pt x="243933" y="67898"/>
                  <a:pt x="243933" y="87119"/>
                </a:cubicBezTo>
                <a:lnTo>
                  <a:pt x="243933" y="161170"/>
                </a:lnTo>
                <a:close/>
                <a:moveTo>
                  <a:pt x="104543" y="161170"/>
                </a:moveTo>
                <a:cubicBezTo>
                  <a:pt x="104543" y="197270"/>
                  <a:pt x="75303" y="226509"/>
                  <a:pt x="39204" y="226509"/>
                </a:cubicBezTo>
                <a:lnTo>
                  <a:pt x="34848" y="226509"/>
                </a:lnTo>
                <a:cubicBezTo>
                  <a:pt x="25210" y="226509"/>
                  <a:pt x="17424" y="218723"/>
                  <a:pt x="17424" y="209085"/>
                </a:cubicBezTo>
                <a:cubicBezTo>
                  <a:pt x="17424" y="199448"/>
                  <a:pt x="25210" y="191662"/>
                  <a:pt x="34848" y="191662"/>
                </a:cubicBezTo>
                <a:lnTo>
                  <a:pt x="39204" y="191662"/>
                </a:lnTo>
                <a:cubicBezTo>
                  <a:pt x="56028" y="191662"/>
                  <a:pt x="69695" y="177995"/>
                  <a:pt x="69695" y="161170"/>
                </a:cubicBezTo>
                <a:lnTo>
                  <a:pt x="69695" y="156814"/>
                </a:lnTo>
                <a:lnTo>
                  <a:pt x="34848" y="156814"/>
                </a:lnTo>
                <a:cubicBezTo>
                  <a:pt x="15627" y="156814"/>
                  <a:pt x="0" y="141187"/>
                  <a:pt x="0" y="121966"/>
                </a:cubicBezTo>
                <a:lnTo>
                  <a:pt x="0" y="87119"/>
                </a:lnTo>
                <a:cubicBezTo>
                  <a:pt x="0" y="67898"/>
                  <a:pt x="15627" y="52271"/>
                  <a:pt x="34848" y="52271"/>
                </a:cubicBezTo>
                <a:lnTo>
                  <a:pt x="69695" y="52271"/>
                </a:lnTo>
                <a:cubicBezTo>
                  <a:pt x="88916" y="52271"/>
                  <a:pt x="104543" y="67898"/>
                  <a:pt x="104543" y="87119"/>
                </a:cubicBezTo>
                <a:lnTo>
                  <a:pt x="104543" y="161170"/>
                </a:lnTo>
                <a:close/>
              </a:path>
            </a:pathLst>
          </a:custGeom>
          <a:solidFill>
            <a:srgbClr val="FFFFFF">
              <a:alpha val="30196"/>
            </a:srgbClr>
          </a:solidFill>
          <a:ln/>
        </p:spPr>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Digital Neuromaroc: Diagnostic et Plan de Traitement</dc:title>
  <dc:subject>Audit Digital Neuromaroc: Diagnostic et Plan de Traitement</dc:subject>
  <dc:creator>Kimi</dc:creator>
  <cp:lastModifiedBy>Kimi</cp:lastModifiedBy>
  <cp:revision>1</cp:revision>
  <dcterms:created xsi:type="dcterms:W3CDTF">2026-04-14T21:49:33Z</dcterms:created>
  <dcterms:modified xsi:type="dcterms:W3CDTF">2026-04-14T21:49:33Z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{"Label":"Audit Digital Neuromaroc: Diagnostic et Plan de Traitement","ContentProducer":"001191110108MACG2KBH8F10000","ProduceID":"19d8dee7-b262-8b45-8000-00009ca8ca6a","ReservedCode1":"","ContentPropagator":"001191110108MACG2KBH8F20000","PropagateID":"19d8dee7-b262-8b45-8000-00009ca8ca6a","ReservedCode2":""}</vt:lpwstr>
  </property>
</Properties>
</file>